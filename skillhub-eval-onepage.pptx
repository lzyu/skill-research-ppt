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killHub 评测洞察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73050"/>
            <a:ext cx="191899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 / TRACE 评测洞察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10157421" y="273050"/>
            <a:ext cx="159008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2026.10.19 · 公开数据快照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476250"/>
            <a:ext cx="7752258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 SkillHub：用 TRACE 把 Skill 分发从「能装」推向「可评」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457200" y="881360"/>
            <a:ext cx="9155907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用 ClawHub 同步补齐供给、用企业认证补齐专业场景，再用 TRACE 五维评分、双路安全报告与内容签名，把「选哪个 Skill」变成可解释的决策。</a:t>
            </a:r>
            <a:endParaRPr/>
          </a:p>
        </p:txBody>
      </p:sp>
      <p:pic>
        <p:nvPicPr>
          <p:cNvPr id="9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4191"/>
            <a:ext cx="11277600" cy="565150"/>
          </a:xfrm>
          <a:prstGeom prst="rect">
            <a:avLst/>
          </a:prstGeom>
        </p:spPr>
      </p:pic>
      <p:pic>
        <p:nvPicPr>
          <p:cNvPr id="10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4041"/>
            <a:ext cx="2819400" cy="425450"/>
          </a:xfrm>
          <a:prstGeom prst="rect">
            <a:avLst/>
          </a:prstGeom>
        </p:spPr>
      </p:pic>
      <p:sp>
        <p:nvSpPr>
          <p:cNvPr id="11" name="文字 11"/>
          <p:cNvSpPr txBox="1"/>
          <p:nvPr/>
        </p:nvSpPr>
        <p:spPr>
          <a:xfrm>
            <a:off x="457200" y="1182291"/>
            <a:ext cx="972840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199,516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57200" y="1487091"/>
            <a:ext cx="85496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公开 API 技能数</a:t>
            </a:r>
            <a:endParaRPr/>
          </a:p>
        </p:txBody>
      </p:sp>
      <p:pic>
        <p:nvPicPr>
          <p:cNvPr id="13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1214041"/>
            <a:ext cx="2819400" cy="425450"/>
          </a:xfrm>
          <a:prstGeom prst="rect">
            <a:avLst/>
          </a:prstGeom>
        </p:spPr>
      </p:pic>
      <p:sp>
        <p:nvSpPr>
          <p:cNvPr id="14" name="文字 14"/>
          <p:cNvSpPr txBox="1"/>
          <p:nvPr/>
        </p:nvSpPr>
        <p:spPr>
          <a:xfrm>
            <a:off x="3390900" y="1182291"/>
            <a:ext cx="698500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1,993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3390900" y="1487091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入驻企业</a:t>
            </a:r>
            <a:endParaRPr/>
          </a:p>
        </p:txBody>
      </p:sp>
      <p:pic>
        <p:nvPicPr>
          <p:cNvPr id="16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214041"/>
            <a:ext cx="2819400" cy="425450"/>
          </a:xfrm>
          <a:prstGeom prst="rect">
            <a:avLst/>
          </a:prstGeom>
        </p:spPr>
      </p:pic>
      <p:sp>
        <p:nvSpPr>
          <p:cNvPr id="17" name="文字 17"/>
          <p:cNvSpPr txBox="1"/>
          <p:nvPr/>
        </p:nvSpPr>
        <p:spPr>
          <a:xfrm>
            <a:off x="6210300" y="1182291"/>
            <a:ext cx="424260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155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6210300" y="1487091"/>
            <a:ext cx="81905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腾讯官方 Skills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9029700" y="1182291"/>
            <a:ext cx="561380" cy="3048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4.54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9029700" y="1487091"/>
            <a:ext cx="13462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TRACE 均分 · 40 条有效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457200" y="1823641"/>
            <a:ext cx="1546721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 · 资产结构 / 4 层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457200" y="2058591"/>
            <a:ext cx="179179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人格 → 场景 → 方法 → 工具。</a:t>
            </a:r>
            <a:endParaRPr/>
          </a:p>
        </p:txBody>
      </p:sp>
      <p:pic>
        <p:nvPicPr>
          <p:cNvPr id="23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270621"/>
            <a:ext cx="2762250" cy="549771"/>
          </a:xfrm>
          <a:prstGeom prst="rect">
            <a:avLst/>
          </a:prstGeom>
        </p:spPr>
      </p:pic>
      <p:sp>
        <p:nvSpPr>
          <p:cNvPr id="24" name="文字 24"/>
          <p:cNvSpPr txBox="1"/>
          <p:nvPr/>
        </p:nvSpPr>
        <p:spPr>
          <a:xfrm>
            <a:off x="457200" y="2340471"/>
            <a:ext cx="1651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L4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952500" y="2353171"/>
            <a:ext cx="427236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SOUL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952500" y="2570262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人格、表达与协作方式</a:t>
            </a:r>
            <a:endParaRPr/>
          </a:p>
        </p:txBody>
      </p:sp>
      <p:pic>
        <p:nvPicPr>
          <p:cNvPr id="27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820392"/>
            <a:ext cx="2762250" cy="549771"/>
          </a:xfrm>
          <a:prstGeom prst="rect">
            <a:avLst/>
          </a:prstGeom>
        </p:spPr>
      </p:pic>
      <p:sp>
        <p:nvSpPr>
          <p:cNvPr id="28" name="文字 28"/>
          <p:cNvSpPr txBox="1"/>
          <p:nvPr/>
        </p:nvSpPr>
        <p:spPr>
          <a:xfrm>
            <a:off x="457200" y="2890242"/>
            <a:ext cx="1651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L3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952500" y="2902942"/>
            <a:ext cx="1055390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专家包 / 技能包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952500" y="3120033"/>
            <a:ext cx="130393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按场景组合多个 Skills</a:t>
            </a:r>
            <a:endParaRPr/>
          </a:p>
        </p:txBody>
      </p:sp>
      <p:pic>
        <p:nvPicPr>
          <p:cNvPr id="31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370163"/>
            <a:ext cx="2762250" cy="549771"/>
          </a:xfrm>
          <a:prstGeom prst="rect">
            <a:avLst/>
          </a:prstGeom>
        </p:spPr>
      </p:pic>
      <p:sp>
        <p:nvSpPr>
          <p:cNvPr id="32" name="文字 32"/>
          <p:cNvSpPr txBox="1"/>
          <p:nvPr/>
        </p:nvSpPr>
        <p:spPr>
          <a:xfrm>
            <a:off x="457200" y="3440013"/>
            <a:ext cx="1651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L2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952500" y="3452713"/>
            <a:ext cx="342205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952500" y="3669804"/>
            <a:ext cx="1480542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指令 + 脚本 + 参考 + 模板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57200" y="3989785"/>
            <a:ext cx="1651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L1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952500" y="4002484"/>
            <a:ext cx="344587" cy="2222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MCP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952500" y="4219575"/>
            <a:ext cx="14795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连接外部数据与受控动作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457200" y="4526855"/>
            <a:ext cx="16319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分析视图；评测与安全横跨四层。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457200" y="4851400"/>
            <a:ext cx="178286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19.95 万 Skill / 13 类 / 1,993 企业</a:t>
            </a:r>
            <a:endParaRPr/>
          </a:p>
        </p:txBody>
      </p:sp>
      <p:pic>
        <p:nvPicPr>
          <p:cNvPr id="40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1850" y="1798241"/>
            <a:ext cx="3270250" cy="3205559"/>
          </a:xfrm>
          <a:prstGeom prst="rect">
            <a:avLst/>
          </a:prstGeom>
        </p:spPr>
      </p:pic>
      <p:sp>
        <p:nvSpPr>
          <p:cNvPr id="41" name="文字 41"/>
          <p:cNvSpPr txBox="1"/>
          <p:nvPr/>
        </p:nvSpPr>
        <p:spPr>
          <a:xfrm>
            <a:off x="3517900" y="1823641"/>
            <a:ext cx="1546721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 · 资产消费 / 4 环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3517900" y="2058591"/>
            <a:ext cx="26797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从全球同步到云端试跑，入口已铺到宿主内。</a:t>
            </a:r>
            <a:endParaRPr/>
          </a:p>
        </p:txBody>
      </p:sp>
      <p:pic>
        <p:nvPicPr>
          <p:cNvPr id="43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7900" y="2257921"/>
            <a:ext cx="3124200" cy="702767"/>
          </a:xfrm>
          <a:prstGeom prst="rect">
            <a:avLst/>
          </a:prstGeom>
        </p:spPr>
      </p:pic>
      <p:sp>
        <p:nvSpPr>
          <p:cNvPr id="44" name="形状 44"/>
          <p:cNvSpPr/>
          <p:nvPr/>
        </p:nvSpPr>
        <p:spPr>
          <a:xfrm>
            <a:off x="3517900" y="2315071"/>
            <a:ext cx="228600" cy="2286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45" name="文字 45"/>
          <p:cNvSpPr txBox="1"/>
          <p:nvPr/>
        </p:nvSpPr>
        <p:spPr>
          <a:xfrm>
            <a:off x="3559770" y="2349996"/>
            <a:ext cx="15756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3854450" y="2321421"/>
            <a:ext cx="176530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来源：全球同步与本土共建</a:t>
            </a:r>
            <a:endParaRPr/>
          </a:p>
        </p:txBody>
      </p:sp>
      <p:sp>
        <p:nvSpPr>
          <p:cNvPr id="47" name="文字 47"/>
          <p:cNvSpPr txBox="1"/>
          <p:nvPr/>
        </p:nvSpPr>
        <p:spPr>
          <a:xfrm>
            <a:off x="3854450" y="2536627"/>
            <a:ext cx="274369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 同步 / 社区 / 企业；Top50 样本 46%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3854450" y="2723257"/>
            <a:ext cx="748606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/ 28% / 26%</a:t>
            </a:r>
            <a:endParaRPr/>
          </a:p>
        </p:txBody>
      </p:sp>
      <p:pic>
        <p:nvPicPr>
          <p:cNvPr id="49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7900" y="2960688"/>
            <a:ext cx="3124200" cy="516136"/>
          </a:xfrm>
          <a:prstGeom prst="rect">
            <a:avLst/>
          </a:prstGeom>
        </p:spPr>
      </p:pic>
      <p:sp>
        <p:nvSpPr>
          <p:cNvPr id="50" name="形状 50"/>
          <p:cNvSpPr/>
          <p:nvPr/>
        </p:nvSpPr>
        <p:spPr>
          <a:xfrm>
            <a:off x="3517900" y="3017838"/>
            <a:ext cx="228600" cy="2286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1" name="文字 51"/>
          <p:cNvSpPr txBox="1"/>
          <p:nvPr/>
        </p:nvSpPr>
        <p:spPr>
          <a:xfrm>
            <a:off x="3559770" y="3052763"/>
            <a:ext cx="15756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3854450" y="3024188"/>
            <a:ext cx="1741587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发布：目录、ZIP 与团队库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3854450" y="3239393"/>
            <a:ext cx="2739133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网页 / CLI / GitHub；版本、可见性、团队审核</a:t>
            </a:r>
            <a:endParaRPr/>
          </a:p>
        </p:txBody>
      </p:sp>
      <p:pic>
        <p:nvPicPr>
          <p:cNvPr id="54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17900" y="3476823"/>
            <a:ext cx="3124200" cy="516136"/>
          </a:xfrm>
          <a:prstGeom prst="rect">
            <a:avLst/>
          </a:prstGeom>
        </p:spPr>
      </p:pic>
      <p:sp>
        <p:nvSpPr>
          <p:cNvPr id="55" name="形状 55"/>
          <p:cNvSpPr/>
          <p:nvPr/>
        </p:nvSpPr>
        <p:spPr>
          <a:xfrm>
            <a:off x="3517900" y="3533974"/>
            <a:ext cx="228600" cy="2286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56" name="文字 56"/>
          <p:cNvSpPr txBox="1"/>
          <p:nvPr/>
        </p:nvSpPr>
        <p:spPr>
          <a:xfrm>
            <a:off x="3559770" y="3568898"/>
            <a:ext cx="15756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3854450" y="3540323"/>
            <a:ext cx="1828403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消费：CLI / DSH / API / ZIP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3854450" y="3755529"/>
            <a:ext cx="206771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install &lt;slug&gt; --dir ./skills</a:t>
            </a:r>
            <a:endParaRPr/>
          </a:p>
        </p:txBody>
      </p:sp>
      <p:pic>
        <p:nvPicPr>
          <p:cNvPr id="59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17900" y="3992960"/>
            <a:ext cx="3124200" cy="516136"/>
          </a:xfrm>
          <a:prstGeom prst="rect">
            <a:avLst/>
          </a:prstGeom>
        </p:spPr>
      </p:pic>
      <p:sp>
        <p:nvSpPr>
          <p:cNvPr id="60" name="形状 60"/>
          <p:cNvSpPr/>
          <p:nvPr/>
        </p:nvSpPr>
        <p:spPr>
          <a:xfrm>
            <a:off x="3517900" y="4050110"/>
            <a:ext cx="228600" cy="228600"/>
          </a:xfrm>
          <a:prstGeom prst="ellipse">
            <a:avLst/>
          </a:prstGeom>
          <a:noFill/>
          <a:ln w="6350">
            <a:solidFill>
              <a:srgbClr val="C9CDD2">
                <a:alpha val="100000"/>
              </a:srgbClr>
            </a:solidFill>
            <a:prstDash val="solid"/>
          </a:ln>
        </p:spPr>
      </p:sp>
      <p:sp>
        <p:nvSpPr>
          <p:cNvPr id="61" name="文字 61"/>
          <p:cNvSpPr txBox="1"/>
          <p:nvPr/>
        </p:nvSpPr>
        <p:spPr>
          <a:xfrm>
            <a:off x="3559770" y="4085035"/>
            <a:ext cx="15756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3854450" y="4056460"/>
            <a:ext cx="191779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试运行：云端会话 + 运行案例</a:t>
            </a:r>
            <a:endParaRPr/>
          </a:p>
        </p:txBody>
      </p:sp>
      <p:sp>
        <p:nvSpPr>
          <p:cNvPr id="63" name="文字 63"/>
          <p:cNvSpPr txBox="1"/>
          <p:nvPr/>
        </p:nvSpPr>
        <p:spPr>
          <a:xfrm>
            <a:off x="3854450" y="4271665"/>
            <a:ext cx="2384128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前端已实现创建/恢复/加载；本次未实测</a:t>
            </a:r>
            <a:endParaRPr/>
          </a:p>
        </p:txBody>
      </p:sp>
      <p:pic>
        <p:nvPicPr>
          <p:cNvPr id="64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17900" y="4593630"/>
            <a:ext cx="3124200" cy="410170"/>
          </a:xfrm>
          <a:prstGeom prst="rect">
            <a:avLst/>
          </a:prstGeom>
        </p:spPr>
      </p:pic>
      <p:sp>
        <p:nvSpPr>
          <p:cNvPr id="65" name="文字 65"/>
          <p:cNvSpPr txBox="1"/>
          <p:nvPr/>
        </p:nvSpPr>
        <p:spPr>
          <a:xfrm>
            <a:off x="3517900" y="4663480"/>
            <a:ext cx="261878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skillhub install &lt;slug&gt; --dir ./skills</a:t>
            </a:r>
            <a:endParaRPr/>
          </a:p>
        </p:txBody>
      </p:sp>
      <p:sp>
        <p:nvSpPr>
          <p:cNvPr id="66" name="文字 66"/>
          <p:cNvSpPr txBox="1"/>
          <p:nvPr/>
        </p:nvSpPr>
        <p:spPr>
          <a:xfrm>
            <a:off x="3517900" y="4847630"/>
            <a:ext cx="267741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默认 ./skills；DSH ~/.dsh/skills；不自动装依赖。</a:t>
            </a:r>
            <a:endParaRPr/>
          </a:p>
        </p:txBody>
      </p:sp>
      <p:pic>
        <p:nvPicPr>
          <p:cNvPr id="67" name="slide-001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4501" y="1798241"/>
            <a:ext cx="4940300" cy="3205559"/>
          </a:xfrm>
          <a:prstGeom prst="rect">
            <a:avLst/>
          </a:prstGeom>
        </p:spPr>
      </p:pic>
      <p:sp>
        <p:nvSpPr>
          <p:cNvPr id="68" name="文字 68"/>
          <p:cNvSpPr txBox="1"/>
          <p:nvPr/>
        </p:nvSpPr>
        <p:spPr>
          <a:xfrm>
            <a:off x="6940550" y="1823641"/>
            <a:ext cx="1773238" cy="2349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 · 评测机制 / TRACE</a:t>
            </a:r>
            <a:endParaRPr/>
          </a:p>
        </p:txBody>
      </p:sp>
      <p:sp>
        <p:nvSpPr>
          <p:cNvPr id="69" name="文字 69"/>
          <p:cNvSpPr txBox="1"/>
          <p:nvPr/>
        </p:nvSpPr>
        <p:spPr>
          <a:xfrm>
            <a:off x="10501908" y="1874441"/>
            <a:ext cx="124559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5 维 · 15 子项 · 满分 5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6940550" y="2058591"/>
            <a:ext cx="259099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维度内均分，再五维等权；40 条有效样本。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6940550" y="2296021"/>
            <a:ext cx="8513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7012980" y="2283321"/>
            <a:ext cx="575965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可信任度</a:t>
            </a:r>
            <a:endParaRPr/>
          </a:p>
        </p:txBody>
      </p:sp>
      <p:sp>
        <p:nvSpPr>
          <p:cNvPr id="73" name="形状 73"/>
          <p:cNvSpPr/>
          <p:nvPr/>
        </p:nvSpPr>
        <p:spPr>
          <a:xfrm>
            <a:off x="7969250" y="2323902"/>
            <a:ext cx="3359150" cy="88900"/>
          </a:xfrm>
          <a:prstGeom prst="roundRect">
            <a:avLst>
              <a:gd name="adj" fmla="val 21429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74" name="形状 74"/>
          <p:cNvSpPr/>
          <p:nvPr/>
        </p:nvSpPr>
        <p:spPr>
          <a:xfrm>
            <a:off x="7969250" y="2323902"/>
            <a:ext cx="3271738" cy="889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75" name="文字 75"/>
          <p:cNvSpPr txBox="1"/>
          <p:nvPr/>
        </p:nvSpPr>
        <p:spPr>
          <a:xfrm>
            <a:off x="11445181" y="2288977"/>
            <a:ext cx="30232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4.87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6940550" y="2529681"/>
            <a:ext cx="8513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R</a:t>
            </a:r>
            <a:endParaRPr/>
          </a:p>
        </p:txBody>
      </p:sp>
      <p:sp>
        <p:nvSpPr>
          <p:cNvPr id="77" name="文字 77"/>
          <p:cNvSpPr txBox="1"/>
          <p:nvPr/>
        </p:nvSpPr>
        <p:spPr>
          <a:xfrm>
            <a:off x="7012980" y="2516981"/>
            <a:ext cx="4426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可靠性</a:t>
            </a:r>
            <a:endParaRPr/>
          </a:p>
        </p:txBody>
      </p:sp>
      <p:sp>
        <p:nvSpPr>
          <p:cNvPr id="78" name="形状 78"/>
          <p:cNvSpPr/>
          <p:nvPr/>
        </p:nvSpPr>
        <p:spPr>
          <a:xfrm>
            <a:off x="7969250" y="2557562"/>
            <a:ext cx="3359150" cy="88900"/>
          </a:xfrm>
          <a:prstGeom prst="roundRect">
            <a:avLst>
              <a:gd name="adj" fmla="val 21429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79" name="形状 79"/>
          <p:cNvSpPr/>
          <p:nvPr/>
        </p:nvSpPr>
        <p:spPr>
          <a:xfrm>
            <a:off x="7969250" y="2557562"/>
            <a:ext cx="2922389" cy="889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0" name="文字 80"/>
          <p:cNvSpPr txBox="1"/>
          <p:nvPr/>
        </p:nvSpPr>
        <p:spPr>
          <a:xfrm>
            <a:off x="11445181" y="2522637"/>
            <a:ext cx="30232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4.35</a:t>
            </a:r>
            <a:endParaRPr/>
          </a:p>
        </p:txBody>
      </p:sp>
      <p:sp>
        <p:nvSpPr>
          <p:cNvPr id="81" name="文字 81"/>
          <p:cNvSpPr txBox="1"/>
          <p:nvPr/>
        </p:nvSpPr>
        <p:spPr>
          <a:xfrm>
            <a:off x="6940550" y="2763341"/>
            <a:ext cx="8513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7012980" y="2750642"/>
            <a:ext cx="4426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适应性</a:t>
            </a:r>
            <a:endParaRPr/>
          </a:p>
        </p:txBody>
      </p:sp>
      <p:sp>
        <p:nvSpPr>
          <p:cNvPr id="83" name="形状 83"/>
          <p:cNvSpPr/>
          <p:nvPr/>
        </p:nvSpPr>
        <p:spPr>
          <a:xfrm>
            <a:off x="7969250" y="2791222"/>
            <a:ext cx="3359150" cy="88900"/>
          </a:xfrm>
          <a:prstGeom prst="roundRect">
            <a:avLst>
              <a:gd name="adj" fmla="val 21429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4" name="形状 84"/>
          <p:cNvSpPr/>
          <p:nvPr/>
        </p:nvSpPr>
        <p:spPr>
          <a:xfrm>
            <a:off x="7969250" y="2791222"/>
            <a:ext cx="3009702" cy="889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85" name="文字 85"/>
          <p:cNvSpPr txBox="1"/>
          <p:nvPr/>
        </p:nvSpPr>
        <p:spPr>
          <a:xfrm>
            <a:off x="11445181" y="2756297"/>
            <a:ext cx="30232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4.48</a:t>
            </a:r>
            <a:endParaRPr/>
          </a:p>
        </p:txBody>
      </p:sp>
      <p:sp>
        <p:nvSpPr>
          <p:cNvPr id="86" name="文字 86"/>
          <p:cNvSpPr txBox="1"/>
          <p:nvPr/>
        </p:nvSpPr>
        <p:spPr>
          <a:xfrm>
            <a:off x="6940550" y="2997002"/>
            <a:ext cx="8513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</a:t>
            </a:r>
            <a:endParaRPr/>
          </a:p>
        </p:txBody>
      </p:sp>
      <p:sp>
        <p:nvSpPr>
          <p:cNvPr id="87" name="文字 87"/>
          <p:cNvSpPr txBox="1"/>
          <p:nvPr/>
        </p:nvSpPr>
        <p:spPr>
          <a:xfrm>
            <a:off x="7012980" y="2984302"/>
            <a:ext cx="4426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规范性</a:t>
            </a:r>
            <a:endParaRPr/>
          </a:p>
        </p:txBody>
      </p:sp>
      <p:sp>
        <p:nvSpPr>
          <p:cNvPr id="88" name="形状 88"/>
          <p:cNvSpPr/>
          <p:nvPr/>
        </p:nvSpPr>
        <p:spPr>
          <a:xfrm>
            <a:off x="7969250" y="3024882"/>
            <a:ext cx="3359150" cy="88900"/>
          </a:xfrm>
          <a:prstGeom prst="roundRect">
            <a:avLst>
              <a:gd name="adj" fmla="val 21429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89" name="形状 89"/>
          <p:cNvSpPr/>
          <p:nvPr/>
        </p:nvSpPr>
        <p:spPr>
          <a:xfrm>
            <a:off x="7969250" y="3024882"/>
            <a:ext cx="2942531" cy="889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90" name="文字 90"/>
          <p:cNvSpPr txBox="1"/>
          <p:nvPr/>
        </p:nvSpPr>
        <p:spPr>
          <a:xfrm>
            <a:off x="11445181" y="2989957"/>
            <a:ext cx="30232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4.38</a:t>
            </a:r>
            <a:endParaRPr/>
          </a:p>
        </p:txBody>
      </p:sp>
      <p:sp>
        <p:nvSpPr>
          <p:cNvPr id="91" name="文字 91"/>
          <p:cNvSpPr txBox="1"/>
          <p:nvPr/>
        </p:nvSpPr>
        <p:spPr>
          <a:xfrm>
            <a:off x="6940550" y="3230662"/>
            <a:ext cx="8513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E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7012980" y="3217962"/>
            <a:ext cx="442614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有效性</a:t>
            </a:r>
            <a:endParaRPr/>
          </a:p>
        </p:txBody>
      </p:sp>
      <p:sp>
        <p:nvSpPr>
          <p:cNvPr id="93" name="形状 93"/>
          <p:cNvSpPr/>
          <p:nvPr/>
        </p:nvSpPr>
        <p:spPr>
          <a:xfrm>
            <a:off x="7969250" y="3258542"/>
            <a:ext cx="3359150" cy="88900"/>
          </a:xfrm>
          <a:prstGeom prst="roundRect">
            <a:avLst>
              <a:gd name="adj" fmla="val 21429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94" name="形状 94"/>
          <p:cNvSpPr/>
          <p:nvPr/>
        </p:nvSpPr>
        <p:spPr>
          <a:xfrm>
            <a:off x="7969250" y="3258542"/>
            <a:ext cx="3097113" cy="889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95" name="文字 95"/>
          <p:cNvSpPr txBox="1"/>
          <p:nvPr/>
        </p:nvSpPr>
        <p:spPr>
          <a:xfrm>
            <a:off x="11445181" y="3223617"/>
            <a:ext cx="30232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4.61</a:t>
            </a:r>
            <a:endParaRPr/>
          </a:p>
        </p:txBody>
      </p:sp>
      <p:sp>
        <p:nvSpPr>
          <p:cNvPr id="96" name="形状 96"/>
          <p:cNvSpPr/>
          <p:nvPr/>
        </p:nvSpPr>
        <p:spPr>
          <a:xfrm>
            <a:off x="6940550" y="3464322"/>
            <a:ext cx="1312863" cy="260350"/>
          </a:xfrm>
          <a:prstGeom prst="roundRect">
            <a:avLst>
              <a:gd name="adj" fmla="val 9756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97" name="文字 97"/>
          <p:cNvSpPr txBox="1"/>
          <p:nvPr/>
        </p:nvSpPr>
        <p:spPr>
          <a:xfrm>
            <a:off x="7023100" y="3496072"/>
            <a:ext cx="378519" cy="1968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4.54</a:t>
            </a:r>
            <a:endParaRPr/>
          </a:p>
        </p:txBody>
      </p:sp>
      <p:sp>
        <p:nvSpPr>
          <p:cNvPr id="98" name="文字 98"/>
          <p:cNvSpPr txBox="1"/>
          <p:nvPr/>
        </p:nvSpPr>
        <p:spPr>
          <a:xfrm>
            <a:off x="7388920" y="3534172"/>
            <a:ext cx="79464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/ 5 · 五维等权</a:t>
            </a:r>
            <a:endParaRPr/>
          </a:p>
        </p:txBody>
      </p:sp>
      <p:sp>
        <p:nvSpPr>
          <p:cNvPr id="99" name="文字 99"/>
          <p:cNvSpPr txBox="1"/>
          <p:nvPr/>
        </p:nvSpPr>
        <p:spPr>
          <a:xfrm>
            <a:off x="8342313" y="3530997"/>
            <a:ext cx="2538611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中位 4.56 · 72.5% ≥4.5 · 最低 4.12 · 0 条 &lt;4.0</a:t>
            </a:r>
            <a:endParaRPr/>
          </a:p>
        </p:txBody>
      </p:sp>
      <p:sp>
        <p:nvSpPr>
          <p:cNvPr id="100" name="文字 100"/>
          <p:cNvSpPr txBox="1"/>
          <p:nvPr/>
        </p:nvSpPr>
        <p:spPr>
          <a:xfrm>
            <a:off x="6940550" y="3807222"/>
            <a:ext cx="2026345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评测覆盖：企业最高，ClawHub 空白</a:t>
            </a:r>
            <a:endParaRPr/>
          </a:p>
        </p:txBody>
      </p:sp>
      <p:sp>
        <p:nvSpPr>
          <p:cNvPr id="101" name="文字 101"/>
          <p:cNvSpPr txBox="1"/>
          <p:nvPr/>
        </p:nvSpPr>
        <p:spPr>
          <a:xfrm>
            <a:off x="6940550" y="4004072"/>
            <a:ext cx="2540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</a:t>
            </a:r>
            <a:endParaRPr/>
          </a:p>
        </p:txBody>
      </p:sp>
      <p:sp>
        <p:nvSpPr>
          <p:cNvPr id="102" name="形状 102"/>
          <p:cNvSpPr/>
          <p:nvPr/>
        </p:nvSpPr>
        <p:spPr>
          <a:xfrm>
            <a:off x="7499350" y="4035822"/>
            <a:ext cx="3854450" cy="69850"/>
          </a:xfrm>
          <a:prstGeom prst="roundRect">
            <a:avLst>
              <a:gd name="adj" fmla="val 27273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103" name="形状 103"/>
          <p:cNvSpPr/>
          <p:nvPr/>
        </p:nvSpPr>
        <p:spPr>
          <a:xfrm>
            <a:off x="7499350" y="4035822"/>
            <a:ext cx="3854450" cy="6985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104" name="文字 104"/>
          <p:cNvSpPr txBox="1"/>
          <p:nvPr/>
        </p:nvSpPr>
        <p:spPr>
          <a:xfrm>
            <a:off x="11475641" y="4000897"/>
            <a:ext cx="27186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100%</a:t>
            </a:r>
            <a:endParaRPr/>
          </a:p>
        </p:txBody>
      </p:sp>
      <p:sp>
        <p:nvSpPr>
          <p:cNvPr id="105" name="文字 105"/>
          <p:cNvSpPr txBox="1"/>
          <p:nvPr/>
        </p:nvSpPr>
        <p:spPr>
          <a:xfrm>
            <a:off x="6940550" y="4213622"/>
            <a:ext cx="2540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社区</a:t>
            </a:r>
            <a:endParaRPr/>
          </a:p>
        </p:txBody>
      </p:sp>
      <p:sp>
        <p:nvSpPr>
          <p:cNvPr id="106" name="形状 106"/>
          <p:cNvSpPr/>
          <p:nvPr/>
        </p:nvSpPr>
        <p:spPr>
          <a:xfrm>
            <a:off x="7499350" y="4245372"/>
            <a:ext cx="3854450" cy="69850"/>
          </a:xfrm>
          <a:prstGeom prst="roundRect">
            <a:avLst>
              <a:gd name="adj" fmla="val 27273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107" name="形状 107"/>
          <p:cNvSpPr/>
          <p:nvPr/>
        </p:nvSpPr>
        <p:spPr>
          <a:xfrm>
            <a:off x="7499350" y="4245372"/>
            <a:ext cx="2852242" cy="698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108" name="文字 108"/>
          <p:cNvSpPr txBox="1"/>
          <p:nvPr/>
        </p:nvSpPr>
        <p:spPr>
          <a:xfrm>
            <a:off x="11540431" y="4210447"/>
            <a:ext cx="20707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74%</a:t>
            </a:r>
            <a:endParaRPr/>
          </a:p>
        </p:txBody>
      </p:sp>
      <p:sp>
        <p:nvSpPr>
          <p:cNvPr id="109" name="文字 109"/>
          <p:cNvSpPr txBox="1"/>
          <p:nvPr/>
        </p:nvSpPr>
        <p:spPr>
          <a:xfrm>
            <a:off x="6940550" y="4423172"/>
            <a:ext cx="52437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</a:t>
            </a:r>
            <a:endParaRPr/>
          </a:p>
        </p:txBody>
      </p:sp>
      <p:sp>
        <p:nvSpPr>
          <p:cNvPr id="110" name="形状 110"/>
          <p:cNvSpPr/>
          <p:nvPr/>
        </p:nvSpPr>
        <p:spPr>
          <a:xfrm>
            <a:off x="7499350" y="4454922"/>
            <a:ext cx="3854450" cy="69850"/>
          </a:xfrm>
          <a:prstGeom prst="roundRect">
            <a:avLst>
              <a:gd name="adj" fmla="val 27273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111" name="文字 111"/>
          <p:cNvSpPr txBox="1"/>
          <p:nvPr/>
        </p:nvSpPr>
        <p:spPr>
          <a:xfrm>
            <a:off x="11605220" y="4419997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0%</a:t>
            </a:r>
            <a:endParaRPr/>
          </a:p>
        </p:txBody>
      </p:sp>
      <p:sp>
        <p:nvSpPr>
          <p:cNvPr id="112" name="文字 112"/>
          <p:cNvSpPr txBox="1"/>
          <p:nvPr/>
        </p:nvSpPr>
        <p:spPr>
          <a:xfrm>
            <a:off x="6940550" y="4620022"/>
            <a:ext cx="3227586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抽样 60：企业 20/20、社区 20/27、ClawHub 0/6；去重 53，有效 40。</a:t>
            </a:r>
            <a:endParaRPr/>
          </a:p>
        </p:txBody>
      </p:sp>
      <p:pic>
        <p:nvPicPr>
          <p:cNvPr id="113" name="slide-001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0550" y="4750792"/>
            <a:ext cx="4794251" cy="406995"/>
          </a:xfrm>
          <a:prstGeom prst="rect">
            <a:avLst/>
          </a:prstGeom>
        </p:spPr>
      </p:pic>
      <p:sp>
        <p:nvSpPr>
          <p:cNvPr id="114" name="文字 114"/>
          <p:cNvSpPr txBox="1"/>
          <p:nvPr/>
        </p:nvSpPr>
        <p:spPr>
          <a:xfrm>
            <a:off x="6940550" y="4826992"/>
            <a:ext cx="3746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证据：</a:t>
            </a:r>
            <a:endParaRPr/>
          </a:p>
        </p:txBody>
      </p:sp>
      <p:sp>
        <p:nvSpPr>
          <p:cNvPr id="115" name="文字 115"/>
          <p:cNvSpPr txBox="1"/>
          <p:nvPr/>
        </p:nvSpPr>
        <p:spPr>
          <a:xfrm>
            <a:off x="7302500" y="4826992"/>
            <a:ext cx="332501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科恩/云鼎双报告 · 内容指纹 · 数字签名（逐文件 SHA-256）</a:t>
            </a:r>
            <a:endParaRPr/>
          </a:p>
        </p:txBody>
      </p:sp>
      <p:sp>
        <p:nvSpPr>
          <p:cNvPr id="116" name="文字 116"/>
          <p:cNvSpPr txBox="1"/>
          <p:nvPr/>
        </p:nvSpPr>
        <p:spPr>
          <a:xfrm>
            <a:off x="6940550" y="5001915"/>
            <a:ext cx="3746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示例：</a:t>
            </a:r>
            <a:endParaRPr/>
          </a:p>
        </p:txBody>
      </p:sp>
      <p:sp>
        <p:nvSpPr>
          <p:cNvPr id="117" name="文字 117"/>
          <p:cNvSpPr txBox="1"/>
          <p:nvPr/>
        </p:nvSpPr>
        <p:spPr>
          <a:xfrm>
            <a:off x="7302500" y="5001915"/>
            <a:ext cx="2794694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编程专家Pro 4.4/5；274.5K tokens/次（沙箱预估）</a:t>
            </a:r>
            <a:endParaRPr/>
          </a:p>
        </p:txBody>
      </p:sp>
      <p:pic>
        <p:nvPicPr>
          <p:cNvPr id="118" name="slide-001-image-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5105400"/>
            <a:ext cx="11277600" cy="1447800"/>
          </a:xfrm>
          <a:prstGeom prst="rect">
            <a:avLst/>
          </a:prstGeom>
        </p:spPr>
      </p:pic>
      <p:sp>
        <p:nvSpPr>
          <p:cNvPr id="119" name="文字 119"/>
          <p:cNvSpPr txBox="1"/>
          <p:nvPr/>
        </p:nvSpPr>
        <p:spPr>
          <a:xfrm>
            <a:off x="457200" y="5213350"/>
            <a:ext cx="1065808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 · 生态画像</a:t>
            </a:r>
            <a:endParaRPr/>
          </a:p>
        </p:txBody>
      </p:sp>
      <p:sp>
        <p:nvSpPr>
          <p:cNvPr id="120" name="文字 120"/>
          <p:cNvSpPr txBox="1"/>
          <p:nvPr/>
        </p:nvSpPr>
        <p:spPr>
          <a:xfrm>
            <a:off x="5049242" y="5270500"/>
            <a:ext cx="1138734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6C707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Top50 样本，不代表全量</a:t>
            </a:r>
            <a:endParaRPr/>
          </a:p>
        </p:txBody>
      </p:sp>
      <p:sp>
        <p:nvSpPr>
          <p:cNvPr id="121" name="文字 121"/>
          <p:cNvSpPr txBox="1"/>
          <p:nvPr/>
        </p:nvSpPr>
        <p:spPr>
          <a:xfrm>
            <a:off x="457200" y="5486400"/>
            <a:ext cx="4699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来源结构</a:t>
            </a:r>
            <a:endParaRPr/>
          </a:p>
        </p:txBody>
      </p:sp>
      <p:sp>
        <p:nvSpPr>
          <p:cNvPr id="122" name="形状 122"/>
          <p:cNvSpPr/>
          <p:nvPr/>
        </p:nvSpPr>
        <p:spPr>
          <a:xfrm>
            <a:off x="457200" y="5664200"/>
            <a:ext cx="1282998" cy="8890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123" name="形状 123"/>
          <p:cNvSpPr/>
          <p:nvPr/>
        </p:nvSpPr>
        <p:spPr>
          <a:xfrm>
            <a:off x="1740198" y="5664200"/>
            <a:ext cx="780951" cy="8890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124" name="形状 124"/>
          <p:cNvSpPr/>
          <p:nvPr/>
        </p:nvSpPr>
        <p:spPr>
          <a:xfrm>
            <a:off x="2521148" y="5664200"/>
            <a:ext cx="725091" cy="88900"/>
          </a:xfrm>
          <a:prstGeom prst="rect">
            <a:avLst/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125" name="文字 125"/>
          <p:cNvSpPr txBox="1"/>
          <p:nvPr/>
        </p:nvSpPr>
        <p:spPr>
          <a:xfrm>
            <a:off x="457200" y="5797550"/>
            <a:ext cx="445095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社区 46%</a:t>
            </a:r>
            <a:endParaRPr/>
          </a:p>
        </p:txBody>
      </p:sp>
      <p:sp>
        <p:nvSpPr>
          <p:cNvPr id="126" name="文字 126"/>
          <p:cNvSpPr txBox="1"/>
          <p:nvPr/>
        </p:nvSpPr>
        <p:spPr>
          <a:xfrm>
            <a:off x="1521718" y="5797550"/>
            <a:ext cx="672802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ClawHub 28%</a:t>
            </a:r>
            <a:endParaRPr/>
          </a:p>
        </p:txBody>
      </p:sp>
      <p:sp>
        <p:nvSpPr>
          <p:cNvPr id="127" name="文字 127"/>
          <p:cNvSpPr txBox="1"/>
          <p:nvPr/>
        </p:nvSpPr>
        <p:spPr>
          <a:xfrm>
            <a:off x="2813943" y="5797550"/>
            <a:ext cx="445095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企业 26%</a:t>
            </a:r>
            <a:endParaRPr/>
          </a:p>
        </p:txBody>
      </p:sp>
      <p:sp>
        <p:nvSpPr>
          <p:cNvPr id="128" name="文字 128"/>
          <p:cNvSpPr txBox="1"/>
          <p:nvPr/>
        </p:nvSpPr>
        <p:spPr>
          <a:xfrm>
            <a:off x="3386038" y="5486400"/>
            <a:ext cx="4699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下载类别</a:t>
            </a:r>
            <a:endParaRPr/>
          </a:p>
        </p:txBody>
      </p:sp>
      <p:sp>
        <p:nvSpPr>
          <p:cNvPr id="129" name="文字 129"/>
          <p:cNvSpPr txBox="1"/>
          <p:nvPr/>
        </p:nvSpPr>
        <p:spPr>
          <a:xfrm>
            <a:off x="3386038" y="5683250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开发编程</a:t>
            </a:r>
            <a:endParaRPr/>
          </a:p>
        </p:txBody>
      </p:sp>
      <p:sp>
        <p:nvSpPr>
          <p:cNvPr id="130" name="形状 130"/>
          <p:cNvSpPr/>
          <p:nvPr/>
        </p:nvSpPr>
        <p:spPr>
          <a:xfrm>
            <a:off x="3989288" y="5708650"/>
            <a:ext cx="1785938" cy="82550"/>
          </a:xfrm>
          <a:prstGeom prst="roundRect">
            <a:avLst>
              <a:gd name="adj" fmla="val 23077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131" name="形状 131"/>
          <p:cNvSpPr/>
          <p:nvPr/>
        </p:nvSpPr>
        <p:spPr>
          <a:xfrm>
            <a:off x="3989288" y="5708650"/>
            <a:ext cx="659011" cy="82550"/>
          </a:xfrm>
          <a:prstGeom prst="rect">
            <a:avLst/>
          </a:prstGeom>
          <a:solidFill>
            <a:srgbClr val="B5333B">
              <a:alpha val="100000"/>
            </a:srgbClr>
          </a:solidFill>
          <a:ln>
            <a:noFill/>
          </a:ln>
        </p:spPr>
      </p:sp>
      <p:sp>
        <p:nvSpPr>
          <p:cNvPr id="132" name="文字 132"/>
          <p:cNvSpPr txBox="1"/>
          <p:nvPr/>
        </p:nvSpPr>
        <p:spPr>
          <a:xfrm>
            <a:off x="5851426" y="5680075"/>
            <a:ext cx="33655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36.9%</a:t>
            </a:r>
            <a:endParaRPr/>
          </a:p>
        </p:txBody>
      </p:sp>
      <p:sp>
        <p:nvSpPr>
          <p:cNvPr id="133" name="文字 133"/>
          <p:cNvSpPr txBox="1"/>
          <p:nvPr/>
        </p:nvSpPr>
        <p:spPr>
          <a:xfrm>
            <a:off x="3386038" y="5905500"/>
            <a:ext cx="47347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Agent</a:t>
            </a:r>
            <a:endParaRPr/>
          </a:p>
        </p:txBody>
      </p:sp>
      <p:sp>
        <p:nvSpPr>
          <p:cNvPr id="134" name="形状 134"/>
          <p:cNvSpPr/>
          <p:nvPr/>
        </p:nvSpPr>
        <p:spPr>
          <a:xfrm>
            <a:off x="3989288" y="5930900"/>
            <a:ext cx="1785938" cy="82550"/>
          </a:xfrm>
          <a:prstGeom prst="roundRect">
            <a:avLst>
              <a:gd name="adj" fmla="val 23077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135" name="形状 135"/>
          <p:cNvSpPr/>
          <p:nvPr/>
        </p:nvSpPr>
        <p:spPr>
          <a:xfrm>
            <a:off x="3989288" y="5930900"/>
            <a:ext cx="235744" cy="825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136" name="文字 136"/>
          <p:cNvSpPr txBox="1"/>
          <p:nvPr/>
        </p:nvSpPr>
        <p:spPr>
          <a:xfrm>
            <a:off x="5851426" y="5902325"/>
            <a:ext cx="33655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13.2%</a:t>
            </a:r>
            <a:endParaRPr/>
          </a:p>
        </p:txBody>
      </p:sp>
      <p:sp>
        <p:nvSpPr>
          <p:cNvPr id="137" name="文字 137"/>
          <p:cNvSpPr txBox="1"/>
          <p:nvPr/>
        </p:nvSpPr>
        <p:spPr>
          <a:xfrm>
            <a:off x="3386038" y="6127750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知识管理</a:t>
            </a:r>
            <a:endParaRPr/>
          </a:p>
        </p:txBody>
      </p:sp>
      <p:sp>
        <p:nvSpPr>
          <p:cNvPr id="138" name="形状 138"/>
          <p:cNvSpPr/>
          <p:nvPr/>
        </p:nvSpPr>
        <p:spPr>
          <a:xfrm>
            <a:off x="3989288" y="6153150"/>
            <a:ext cx="1785938" cy="82550"/>
          </a:xfrm>
          <a:prstGeom prst="roundRect">
            <a:avLst>
              <a:gd name="adj" fmla="val 23077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139" name="形状 139"/>
          <p:cNvSpPr/>
          <p:nvPr/>
        </p:nvSpPr>
        <p:spPr>
          <a:xfrm>
            <a:off x="3989288" y="6153150"/>
            <a:ext cx="182166" cy="82550"/>
          </a:xfrm>
          <a:prstGeom prst="rect">
            <a:avLst/>
          </a:prstGeom>
          <a:solidFill>
            <a:srgbClr val="566472">
              <a:alpha val="100000"/>
            </a:srgbClr>
          </a:solidFill>
          <a:ln>
            <a:noFill/>
          </a:ln>
        </p:spPr>
      </p:sp>
      <p:sp>
        <p:nvSpPr>
          <p:cNvPr id="140" name="文字 140"/>
          <p:cNvSpPr txBox="1"/>
          <p:nvPr/>
        </p:nvSpPr>
        <p:spPr>
          <a:xfrm>
            <a:off x="5851426" y="6124575"/>
            <a:ext cx="33655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10.2%</a:t>
            </a:r>
            <a:endParaRPr/>
          </a:p>
        </p:txBody>
      </p:sp>
      <p:sp>
        <p:nvSpPr>
          <p:cNvPr id="141" name="文字 141"/>
          <p:cNvSpPr txBox="1"/>
          <p:nvPr/>
        </p:nvSpPr>
        <p:spPr>
          <a:xfrm>
            <a:off x="3386038" y="6350000"/>
            <a:ext cx="2540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其他</a:t>
            </a:r>
            <a:endParaRPr/>
          </a:p>
        </p:txBody>
      </p:sp>
      <p:sp>
        <p:nvSpPr>
          <p:cNvPr id="142" name="形状 142"/>
          <p:cNvSpPr/>
          <p:nvPr/>
        </p:nvSpPr>
        <p:spPr>
          <a:xfrm>
            <a:off x="3989288" y="6375400"/>
            <a:ext cx="1785938" cy="82550"/>
          </a:xfrm>
          <a:prstGeom prst="roundRect">
            <a:avLst>
              <a:gd name="adj" fmla="val 23077"/>
            </a:avLst>
          </a:prstGeom>
          <a:solidFill>
            <a:srgbClr val="F0F1F3">
              <a:alpha val="100000"/>
            </a:srgbClr>
          </a:solidFill>
          <a:ln>
            <a:noFill/>
          </a:ln>
        </p:spPr>
      </p:sp>
      <p:sp>
        <p:nvSpPr>
          <p:cNvPr id="143" name="形状 143"/>
          <p:cNvSpPr/>
          <p:nvPr/>
        </p:nvSpPr>
        <p:spPr>
          <a:xfrm>
            <a:off x="3989288" y="6375400"/>
            <a:ext cx="709017" cy="82550"/>
          </a:xfrm>
          <a:prstGeom prst="rect">
            <a:avLst/>
          </a:prstGeom>
          <a:solidFill>
            <a:srgbClr val="A5ACB4">
              <a:alpha val="100000"/>
            </a:srgbClr>
          </a:solidFill>
          <a:ln>
            <a:noFill/>
          </a:ln>
        </p:spPr>
      </p:sp>
      <p:sp>
        <p:nvSpPr>
          <p:cNvPr id="144" name="文字 144"/>
          <p:cNvSpPr txBox="1"/>
          <p:nvPr/>
        </p:nvSpPr>
        <p:spPr>
          <a:xfrm>
            <a:off x="5851426" y="6346825"/>
            <a:ext cx="33655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39.7%</a:t>
            </a:r>
            <a:endParaRPr/>
          </a:p>
        </p:txBody>
      </p:sp>
      <p:pic>
        <p:nvPicPr>
          <p:cNvPr id="145" name="slide-001-image-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40376" y="5187950"/>
            <a:ext cx="5394425" cy="1365250"/>
          </a:xfrm>
          <a:prstGeom prst="rect">
            <a:avLst/>
          </a:prstGeom>
        </p:spPr>
      </p:pic>
      <p:sp>
        <p:nvSpPr>
          <p:cNvPr id="146" name="文字 146"/>
          <p:cNvSpPr txBox="1"/>
          <p:nvPr/>
        </p:nvSpPr>
        <p:spPr>
          <a:xfrm>
            <a:off x="6486426" y="5213350"/>
            <a:ext cx="1487785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05 · 结论 / 3 个判断</a:t>
            </a:r>
            <a:endParaRPr/>
          </a:p>
        </p:txBody>
      </p:sp>
      <p:sp>
        <p:nvSpPr>
          <p:cNvPr id="147" name="文字 147"/>
          <p:cNvSpPr txBox="1"/>
          <p:nvPr/>
        </p:nvSpPr>
        <p:spPr>
          <a:xfrm>
            <a:off x="6486426" y="5441950"/>
            <a:ext cx="13464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148" name="文字 148"/>
          <p:cNvSpPr txBox="1"/>
          <p:nvPr/>
        </p:nvSpPr>
        <p:spPr>
          <a:xfrm>
            <a:off x="6486426" y="5594350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评测成为分发的一部分</a:t>
            </a:r>
            <a:endParaRPr/>
          </a:p>
        </p:txBody>
      </p:sp>
      <p:sp>
        <p:nvSpPr>
          <p:cNvPr id="149" name="文字 149"/>
          <p:cNvSpPr txBox="1"/>
          <p:nvPr/>
        </p:nvSpPr>
        <p:spPr>
          <a:xfrm>
            <a:off x="6486426" y="5793085"/>
            <a:ext cx="1581051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TRACE 五维/15 子项 + 双路安</a:t>
            </a:r>
            <a:endParaRPr/>
          </a:p>
        </p:txBody>
      </p:sp>
      <p:sp>
        <p:nvSpPr>
          <p:cNvPr id="150" name="文字 150"/>
          <p:cNvSpPr txBox="1"/>
          <p:nvPr/>
        </p:nvSpPr>
        <p:spPr>
          <a:xfrm>
            <a:off x="6486426" y="5961955"/>
            <a:ext cx="1628775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 + 内容指纹/签名，把「选」</a:t>
            </a:r>
            <a:endParaRPr/>
          </a:p>
        </p:txBody>
      </p:sp>
      <p:sp>
        <p:nvSpPr>
          <p:cNvPr id="151" name="文字 151"/>
          <p:cNvSpPr txBox="1"/>
          <p:nvPr/>
        </p:nvSpPr>
        <p:spPr>
          <a:xfrm>
            <a:off x="6486426" y="6130826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从下载量变成证据链。</a:t>
            </a:r>
            <a:endParaRPr/>
          </a:p>
        </p:txBody>
      </p:sp>
      <p:sp>
        <p:nvSpPr>
          <p:cNvPr id="152" name="文字 152"/>
          <p:cNvSpPr txBox="1"/>
          <p:nvPr/>
        </p:nvSpPr>
        <p:spPr>
          <a:xfrm>
            <a:off x="8269684" y="5441950"/>
            <a:ext cx="134640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153" name="文字 153"/>
          <p:cNvSpPr txBox="1"/>
          <p:nvPr/>
        </p:nvSpPr>
        <p:spPr>
          <a:xfrm>
            <a:off x="8269684" y="5594350"/>
            <a:ext cx="13462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评测与企业供给强绑定</a:t>
            </a:r>
            <a:endParaRPr/>
          </a:p>
        </p:txBody>
      </p:sp>
      <p:sp>
        <p:nvSpPr>
          <p:cNvPr id="154" name="文字 154"/>
          <p:cNvSpPr txBox="1"/>
          <p:nvPr/>
        </p:nvSpPr>
        <p:spPr>
          <a:xfrm>
            <a:off x="8269684" y="5793085"/>
            <a:ext cx="131703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抽样中企业 100%、社区</a:t>
            </a:r>
            <a:endParaRPr/>
          </a:p>
        </p:txBody>
      </p:sp>
      <p:sp>
        <p:nvSpPr>
          <p:cNvPr id="155" name="文字 155"/>
          <p:cNvSpPr txBox="1"/>
          <p:nvPr/>
        </p:nvSpPr>
        <p:spPr>
          <a:xfrm>
            <a:off x="8269684" y="5961955"/>
            <a:ext cx="1577975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74%、ClawHub 0%；高分集</a:t>
            </a:r>
            <a:endParaRPr/>
          </a:p>
        </p:txBody>
      </p:sp>
      <p:sp>
        <p:nvSpPr>
          <p:cNvPr id="156" name="文字 156"/>
          <p:cNvSpPr txBox="1"/>
          <p:nvPr/>
        </p:nvSpPr>
        <p:spPr>
          <a:xfrm>
            <a:off x="8269684" y="6130826"/>
            <a:ext cx="103554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中，72.5% ≥4.5。</a:t>
            </a:r>
            <a:endParaRPr/>
          </a:p>
        </p:txBody>
      </p:sp>
      <p:sp>
        <p:nvSpPr>
          <p:cNvPr id="157" name="文字 157"/>
          <p:cNvSpPr txBox="1"/>
          <p:nvPr/>
        </p:nvSpPr>
        <p:spPr>
          <a:xfrm>
            <a:off x="10053043" y="5441950"/>
            <a:ext cx="134639" cy="133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158" name="文字 158"/>
          <p:cNvSpPr txBox="1"/>
          <p:nvPr/>
        </p:nvSpPr>
        <p:spPr>
          <a:xfrm>
            <a:off x="10053043" y="5594350"/>
            <a:ext cx="121285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下一关是可信规模化</a:t>
            </a:r>
            <a:endParaRPr/>
          </a:p>
        </p:txBody>
      </p:sp>
      <p:sp>
        <p:nvSpPr>
          <p:cNvPr id="159" name="文字 159"/>
          <p:cNvSpPr txBox="1"/>
          <p:nvPr/>
        </p:nvSpPr>
        <p:spPr>
          <a:xfrm>
            <a:off x="10053043" y="5793085"/>
            <a:ext cx="15811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全量覆盖、版本一致、评测与</a:t>
            </a:r>
            <a:endParaRPr/>
          </a:p>
        </p:txBody>
      </p:sp>
      <p:sp>
        <p:nvSpPr>
          <p:cNvPr id="160" name="文字 160"/>
          <p:cNvSpPr txBox="1"/>
          <p:nvPr/>
        </p:nvSpPr>
        <p:spPr>
          <a:xfrm>
            <a:off x="10053043" y="5961955"/>
            <a:ext cx="15811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包内容对齐；否则评测只是精</a:t>
            </a:r>
            <a:endParaRPr/>
          </a:p>
        </p:txBody>
      </p:sp>
      <p:sp>
        <p:nvSpPr>
          <p:cNvPr id="161" name="文字 161"/>
          <p:cNvSpPr txBox="1"/>
          <p:nvPr/>
        </p:nvSpPr>
        <p:spPr>
          <a:xfrm>
            <a:off x="10053043" y="6130826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品标签。</a:t>
            </a:r>
            <a:endParaRPr/>
          </a:p>
        </p:txBody>
      </p:sp>
      <p:sp>
        <p:nvSpPr>
          <p:cNvPr id="162" name="文字 162"/>
          <p:cNvSpPr txBox="1"/>
          <p:nvPr/>
        </p:nvSpPr>
        <p:spPr>
          <a:xfrm>
            <a:off x="457200" y="6610350"/>
            <a:ext cx="4570909" cy="12065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来源：腾讯 SkillHub 官网 / 公开 API / Tencent/skillhub 官方仓库，2026-10-19 只读核查；完整口径与链接见伴生调研笔记。</a:t>
            </a:r>
            <a:endParaRPr/>
          </a:p>
        </p:txBody>
      </p:sp>
      <p:pic>
        <p:nvPicPr>
          <p:cNvPr id="163" name="slide-001-image-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98678" y="6590135"/>
            <a:ext cx="680240" cy="1534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