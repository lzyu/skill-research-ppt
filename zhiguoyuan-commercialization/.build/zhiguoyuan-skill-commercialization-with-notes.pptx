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notesMaster" Target="notesMasters/notesMaster1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.xml" /></ns0:Relationships>
</file>

<file path=ppt/notesSlides/_rels/notesSlide2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2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1. 核心判断</a:t>
            </a:r>
          </a:p>
          <a:p/>
          <a:p>
            <a:r>
              <a:t>**智果园应沿用已经具备的资产共享与访问审批能力，优先连接华为云现有商业底座，把 Skill 资产、可售商品、买家权益及任务履约串起来。** 支付渠道可以接入，云商店交易设施可以评估复用，但 Skill “卖什么、谁能用、能用多久或多少次、失败如何继续”的规则，需要智果园统一组织。</a:t>
            </a:r>
          </a:p>
          <a:p/>
          <a:p>
            <a:r>
              <a:t>两家平台提供了互补的参照：</a:t>
            </a:r>
          </a:p>
          <a:p/>
          <a:p>
            <a:r>
              <a:t>- **阿里的长处在商品经营和知识交付。** SkillPay 将完整文件买断与受保护订阅分开，配套试用、权益验证、版本及持续交付。MachinePay 则提供 API/数字资源的 Agent 收款与验付协议，不能把它等同一套完整的 Skill 商品市场。[SkillPay 技术博客](https://skillpay.alipay.com/blog/good-world-skills-get-paid)、[MachinePay 接入指南](https://aipay.alipay.com/docs/ai-receive/MACHINE_PAY.html)</a:t>
            </a:r>
          </a:p>
          <a:p>
            <a:r>
              <a:t>- **腾讯的长处在服务供给、分发及支付协同。** SkillHub 把企业认证、商户身份、定价审核、安装入口和支付宿主连接起来。典型商品允许免费获得 Skill 调用说明，远程服务在验付后提供业务价值。商户仍承担业务后端和结果交付。[SkillHub SkillPay](https://skillhub.cn/skillpay)、[官方接入教程](https://skillhub.cn/tutorials#enterprise-best-practice)、[WorkRally Skill 契约](https://api.skillhub.cn/api/v1/skills/workrally-image/file?path=SKILL.md)</a:t>
            </a:r>
          </a:p>
          <a:p/>
          <a:p>
            <a:r>
              <a:t>对智果园，首期最可控的路径是 **免费 Skill 调用入口＋付费远程服务**。理由是核心服务端有持续访问控制点，并已有可评估接入的云商店 Agents 网关。知识型 Skill 的源码买断、受保护订阅可按真实需求扩展，避免一开始就同时建设全部交付形态。</a:t>
            </a:r>
          </a:p>
          <a:p/>
          <a:p/>
          <a:p>
            <a:r>
              <a:t>## 2. 智果园的实际基线：哪些已经有，哪些不能混写</a:t>
            </a:r>
          </a:p>
          <a:p/>
          <a:p>
            <a:r>
              <a:t>本次对象是智果园入口连接的 **新版 AI 资产广场**，即 `pangu.huaweicloud.com/gallery/`，对应官方 ModelArts “AI资产广场（新版）”的 Skill 文档。AgentArts 产品内资产广场、旧 HiLens 技能市场、云商店历史“AI资产”商品属于相邻能力，需分开归属。[智果园入口](https://agentorchard.huaweicloud.com/)、[新版广场](https://pangu.huaweicloud.com/gallery/homepage.html)</a:t>
            </a:r>
          </a:p>
          <a:p/>
          <a:p>
            <a:r>
              <a:t>| 现有能力 | 直接沿用的价值 | 商业化还需要的连接 |</a:t>
            </a:r>
          </a:p>
          <a:p>
            <a:r>
              <a:t>|---|---|---|</a:t>
            </a:r>
          </a:p>
          <a:p>
            <a:r>
              <a:t>| Skill 独立仓库、文件管理、README 与 SKILL.md 规范 | 持续作为制品与描述的来源，沿用 name/description、许可、环境依赖等字段 | 把制品版本与商业版本/价格方案关联；环境声明不等于运行隔离 |</a:t>
            </a:r>
          </a:p>
          <a:p>
            <a:r>
              <a:t>| 行业、任务、语言等分类与发布审核 | 沿用发现、供给组织及发布状态 | 对收费能力增加效果、价格一致性、支付后交付等测试，不能将上架审核直接说成商业质量认证 |</a:t>
            </a:r>
          </a:p>
          <a:p>
            <a:r>
              <a:t>| “指定用户可见”及“申请用户可用” | 保留企业共享与授权审批，不必重做共享体系 | 与买家组织、合同/订单及权益期限绑定，在真正提供服务或交付文件时校验 |</a:t>
            </a:r>
          </a:p>
          <a:p>
            <a:r>
              <a:t>| 审批、拒绝、撤销及下架 | 可作访问治理和售后管理的基础 | 约定退款/到期如何影响未来使用。已交付源码无法仅靠撤销平台审批回收本地副本 |</a:t>
            </a:r>
          </a:p>
          <a:p>
            <a:r>
              <a:t>| 官方 GitHub 与行业 pangu URL 安装入口 | 继续提供跨宿主发现与安装入口 | 增加商业声明、宿主兼容及登录/授权绑定；安装成功与拥有付费服务权益分开记录 |</a:t>
            </a:r>
          </a:p>
          <a:p/>
          <a:p>
            <a:r>
              <a:t>依据：[托管 Skill](https://support.huaweicloud.com/aimarket-modelarts/ma_gallery_0011.html)、[发布 Skill](https://support.huaweicloud.com/aimarket-modelarts/ma_gallery_0012.html)、[管理 Skill](https://support.huaweicloud.com/aimarket-modelarts/ma_gallery_0013.html)、[首页安装样例](https://pangu.huaweicloud.com/gallery/homepage.html)。</a:t>
            </a:r>
          </a:p>
          <a:p/>
          <a:p>
            <a:r>
              <a:t>**现状表述的限制：**公开 Skill 创建、发布、管理流程尚未充分披露价格、SKU、支付订单、试用扣次、作者收益和结算闭环。共享前端中能看到通用定价相关代码，但未证明 Skill 已启用该流程。因此不能写“华为完全没有商业化”，也不能据整个平台的“交易”定位认定 Skill 已全链路收费。详细取证见 [华为现状基线](research-huawei-baseline.md)。</a:t>
            </a:r>
          </a:p>
          <a:p/>
          <a:p/>
          <a:p>
            <a:r>
              <a:t>## 3. 阿里做得好的地方，以及应学到哪一层</a:t>
            </a:r>
          </a:p>
          <a:p/>
          <a:p>
            <a:r>
              <a:t>| 值得借鉴的机制 | 平台创造的价值 | 智果园应如何采用 |</a:t>
            </a:r>
          </a:p>
          <a:p>
            <a:r>
              <a:t>|---|---|---|</a:t>
            </a:r>
          </a:p>
          <a:p>
            <a:r>
              <a:t>| 将买断文件与周期使用权区分 | 同一知识资产可以有不同商品契约和交付方式 | 资产 ID 与商品 SKU 分开。每个 SKU 明确交付物、版本、有效期、许可和退款规则 |</a:t>
            </a:r>
          </a:p>
          <a:p>
            <a:r>
              <a:t>| 试用、订阅、版本更新及权益联动 | 降低买前不确定性，让作者持续维护有经营回报 | 把试用额度做成服务端权益，不依赖提示词“提醒已用几次”；明确试用计的是请求、成功任务还是其他单位 |</a:t>
            </a:r>
          </a:p>
          <a:p>
            <a:r>
              <a:t>| 402 后恢复原请求 | 购买后能继续正在做的任务 | 由宿主保留原 URL、方法、业务参数和任务标识，付款后恢复原任务，避免让用户重复提交数据或重复购买 |</a:t>
            </a:r>
          </a:p>
          <a:p>
            <a:r>
              <a:t>| 订阅原文云端隔离、按任务返回指导 | 减少完整知识原文落地和批量复制风险 | 仅在高价值知识型商品需要时建设。评估信息外传、可用性和套取防护，不能用“云端”承诺绝对不可复制 |</a:t>
            </a:r>
          </a:p>
          <a:p>
            <a:r>
              <a:t>| MachinePay 的签名报价、在线验付与回执 | 提供资源请求原生的收款与验真协议 | 作为候选支付适配层。还要做订单匹配、参数绑定、结果持久化、并发幂等，不能只判断 `active=true` 就放行 |</a:t>
            </a:r>
          </a:p>
          <a:p/>
          <a:p>
            <a:r>
              <a:t>来源：[SkillPay 博客](https://skillpay.alipay.com/blog/good-world-skills-get-paid)、[上架页](https://skillpay.alipay.com/creator/product-new)、[更新日志](https://skillpay.alipay.com/changelog)、[MachinePay 正式指南](https://aipay.alipay.com/docs/ai-receive/MACHINE_PAY.html)、[支付宝官方代码](https://github.com/alipay/ai)。详细原理及代码版本见既有 [阿里深度调研](../alipay-research/alipay-mechanisms.md)。</a:t>
            </a:r>
          </a:p>
          <a:p/>
          <a:p>
            <a:r>
              <a:t>需要保留的边界：SkillPay 云端返回任务指导，本地 Agent 继续运行工具与形成最终产物，并非云端代执行整个 Skill；当前周期订阅并不自动续费。其云端保护是否向第三方平台提供可直接嵌入的开放服务，公开证据不足。不能把“借鉴商品模式”写成“可直接拿阿里保护服务来用”。</a:t>
            </a:r>
          </a:p>
          <a:p/>
          <a:p/>
          <a:p>
            <a:r>
              <a:t>## 4. 腾讯做得好的地方，以及应学到哪一层</a:t>
            </a:r>
          </a:p>
          <a:p/>
          <a:p>
            <a:r>
              <a:t>| 值得借鉴的机制 | 平台创造的价值 | 智果园应如何采用 |</a:t>
            </a:r>
          </a:p>
          <a:p>
            <a:r>
              <a:t>|---|---|---|</a:t>
            </a:r>
          </a:p>
          <a:p>
            <a:r>
              <a:t>| 免费包承接发现，服务端承接付费价值 | 无需靠隐藏安装文件才能收费。WorkRally 图像生成样例展示 0.36 元/次 | 免费安装行业 Skill，使用时调用受控远程服务。需要自有 API Key 的云服务消费与向 Skill 作者付费单列 |</a:t>
            </a:r>
          </a:p>
          <a:p>
            <a:r>
              <a:t>| 企业认证、商户绑定、开发者身份和价格审核 | 让可信供给能够用较一致的方式进入支付链路 | 复用云商店伙伴机制，建立服务主体、售后责任及商品声明，不把实名认证当业务效果保证 |</a:t>
            </a:r>
          </a:p>
          <a:p>
            <a:r>
              <a:t>| 官方与第三方收费样例、站点/CLI 分发 | 给供给方接入参照，也给用户明确消费入口 | 选择官方和行业伙伴的标杆任务验证完整链路，提供标准 Skill 包、商户适配及故障恢复示例 |</a:t>
            </a:r>
          </a:p>
          <a:p>
            <a:r>
              <a:t>| 微信订单与 AI 支付入口衔接 | 既有商户支付能力可以被支持的 Agent 宿主承接 | 普通扫码、AI 支付工具、用户授权、支付后台验真分别建设。不能只接一个支付链接就宣传任务内 AI 支付已完成 |</a:t>
            </a:r>
          </a:p>
          <a:p>
            <a:r>
              <a:t>| 用稳定任务标识继续取结果 | 支付与长任务生成分开，网络重试可延续原任务 | 持久记录订单、任务、结果和退款状态。重试返同一结果，异步执行失败有补偿和售后 |</a:t>
            </a:r>
          </a:p>
          <a:p/>
          <a:p>
            <a:r>
              <a:t>来源：[SkillPay FAQ](https://skillhub.cn/skillpay)、[SkillHub 教程](https://skillhub.cn/tutorials)、[WorkRally Skill](https://api.skillhub.cn/api/v1/skills/workrally-image/file?path=SKILL.md)、[调用时序](https://api.skillhub.cn/api/v1/skills/workrally-image/file?path=references%2Finvoke-flow.md)、[微信开发准备](https://pay.wechatpay.cn/doc/v3/merchant/4035576711)。详见 [腾讯原理 v2](../skillhub/skillpay/skillpay-principles-v2.md)。</a:t>
            </a:r>
          </a:p>
          <a:p/>
          <a:p>
            <a:r>
              <a:t>商户仍需验付及履约，`payment_code` 只是拉起入口，不是付款证明。官网称当前暂不收技术服务费、用户款项直接支付给创作者，不能据此推断平台永久免费或商户无支付成本。付费标签数量及下载量也不能推算 GMV，官网示例收益卡不作为经营证据。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5. 哪些能复用，哪些需要智果园补齐</a:t>
            </a:r>
          </a:p>
          <a:p/>
          <a:p>
            <a:r>
              <a:t>### 5.1 无需重建，但必须完成产品接入的商业底座</a:t>
            </a:r>
          </a:p>
          <a:p/>
          <a:p>
            <a:r>
              <a:t>华为云云商店已有按商品类型区分的订购、交付、售后和结算制度。Agents 网关已有路由、用户鉴权和根据 `usage` 解析用量的计费能力，当前文档限定默认北京四。此处说明**相邻底座可评估复用**，不声称 Skill 广场已经接通。[商品接入类型](https://support.huaweicloud.com/usermanual-marketplace/sp_topic_0000016.html)、[Agents 网关](https://support.huaweicloud.com/usermanual-marketplace/zh-cn_topic_0000002497990256.html)、[华为支付及分账公告](https://support.huaweicloud.com/bulletin-marketplace/zh-cn_topic_0000002527868130.html)</a:t>
            </a:r>
          </a:p>
          <a:p/>
          <a:p>
            <a:r>
              <a:t>通用/联营商品、API/SaaS/文件等形态支持的计费及退订方式不同，需先确定合作与商品模式。网关用量可以计费，但用量事件本身不证明用户业务任务成功，退款和结果质量仍需约定。完整条件见 [商业底座专项研究](research-commerce-foundations.md)。</a:t>
            </a:r>
          </a:p>
          <a:p/>
          <a:p>
            <a:r>
              <a:t>### 5.2 智果园必须统一的五项商业能力</a:t>
            </a:r>
          </a:p>
          <a:p/>
          <a:p>
            <a:r>
              <a:t>| 能力 | 建议由谁承担 | 可审查交付物与验收 |</a:t>
            </a:r>
          </a:p>
          <a:p>
            <a:r>
              <a:t>|---|---|---|</a:t>
            </a:r>
          </a:p>
          <a:p>
            <a:r>
              <a:t>| Skill 商业契约与商品映射 | 智果园产品编排，连接云商店商品 | `asset_id + artifact_version → product_id/SKU + price_version`，说明卖文件/访问/结果、许可、计费单位与试用 |</a:t>
            </a:r>
          </a:p>
          <a:p>
            <a:r>
              <a:t>| 订单驱动权益 | 智果园权益服务与交易适配方 | 买家/组织、商品、范围、期限、额度可查；仅从可信订单/合同事件发权，退款/到期同步未来访问 |</a:t>
            </a:r>
          </a:p>
          <a:p>
            <a:r>
              <a:t>| 服务端控制与计量 | 网关基础设施与业务提供方，智果园统一口径 | 权益在实际服务端执行；计量事件有可信生产端；调用、重试、失败/部分成功的收费规则一致 |</a:t>
            </a:r>
          </a:p>
          <a:p>
            <a:r>
              <a:t>| 幂等履约及补偿 | 业务提供方保存结果，智果园提供恢复契约与对账 | `execution_id ↔ order_id ↔ entitlement_id` 可追溯；同一业务重试不重复扣费，已付未交付能恢复或进入售后 |</a:t>
            </a:r>
          </a:p>
          <a:p>
            <a:r>
              <a:t>| 供给质量与作者经营 | 智果园运营、伙伴/云商店体系 | 发布具备可运行任务样例、依赖及权限声明、付费链路检查；作者可看订单、有效消费、退款、收益与问题反馈 |</a:t>
            </a:r>
          </a:p>
          <a:p/>
          <a:p>
            <a:r>
              <a:t>这里的“必须统一”不要求全部由智果园重写底层系统。可以购买、复用或由伙伴实现，但平台需要给出稳定对象、接口责任和一致用户体验。</a:t>
            </a:r>
          </a:p>
          <a:p/>
          <a:p>
            <a:r>
              <a:t>### 5.3 外部支付的可接入程度</a:t>
            </a:r>
          </a:p>
          <a:p/>
          <a:p>
            <a:r>
              <a:t>- **MachinePay：有外部服务商接入路径。** 官方指南支持自研应用及第三方授权代调用。可作为候选，但签约、应用/服务登记、买方宿主支付能力和授权都需要验证。它不自带智果园的试用、订阅和跨宿主权益。[正式指南](https://aipay.alipay.com/docs/ai-receive/MACHINE_PAY.html)</a:t>
            </a:r>
          </a:p>
          <a:p>
            <a:r>
              <a:t>- **微信 AI 支付：现行公开路径包含 SkillHub。** 官方准备流程涉及 SkillHub 认证、开通与开发者密钥。智果园独立平台能否接入、怎样签发身份及支持宿主，要另向渠道确认。普通微信扫码的可用性不能替代该结论。[微信开发准备](https://pay.wechatpay.cn/doc/v3/merchant/4035576711)、[微信开发指引](https://pay.wechatpay.cn/doc/v3/merchant/4035576716)</a:t>
            </a:r>
          </a:p>
          <a:p>
            <a:r>
              <a:t>- **阿里 SkillPay 云端保护：可借鉴模式，未证实可直接嵌入。** 需确认开放服务、合作方式和数据边界；不能将支付 API 的开放性延伸到知识保护产品。</a:t>
            </a:r>
          </a:p>
          <a:p/>
          <a:p/>
          <a:p>
            <a:r>
              <a:t>## 6. 建设次序与首期验收</a:t>
            </a:r>
          </a:p>
          <a:p/>
          <a:p>
            <a:r>
              <a:t>**首期建议：选择少量可远程交付、输出可验证的官方及行业伙伴服务，跑通同一业务任务的完整商业闭环。** 本次不设未经评估的日期或收入目标。</a:t>
            </a:r>
          </a:p>
          <a:p/>
          <a:p>
            <a:r>
              <a:t>原理图见演示页与伴生文档。</a:t>
            </a:r>
          </a:p>
          <a:p/>
          <a:p>
            <a:r>
              <a:t>首期需以以下场景验收：</a:t>
            </a:r>
          </a:p>
          <a:p/>
          <a:p>
            <a:r>
              <a:t>1. 用户可在购买前读到提供方、价格单位、依赖、许可与失败处理规则；免费安装不被误解为服务永久免费。</a:t>
            </a:r>
          </a:p>
          <a:p>
            <a:r>
              <a:t>2. 有效权益可继续调用；到期、额度耗尽、退款或撤销后的行为符合商品契约，不能仅靠 Agent 自觉遵守提示词。</a:t>
            </a:r>
          </a:p>
          <a:p>
            <a:r>
              <a:t>3. 重复请求、回调重复和断线重试均不重复扣费/扣次。已产生的业务结果可恢复获取，不重新触发付费生成。</a:t>
            </a:r>
          </a:p>
          <a:p>
            <a:r>
              <a:t>4. 已付款但未交付、服务超时、部分成功、退款处理中有明确可查询状态及处理责任。</a:t>
            </a:r>
          </a:p>
          <a:p>
            <a:r>
              <a:t>5. 任一消费可关联到商品、价格版本、买家、订单、任务和计量记录，作者收益与平台对账可解释。</a:t>
            </a:r>
          </a:p>
          <a:p/>
          <a:p>
            <a:r>
              <a:t>第二阶段再加入组织订阅/席位预算、跨宿主权益和高价值知识保护。观测与商业验收分开：AgentArts 的 Trace/Metric 可以用于排障，但不直接当扣费账本；CodeArts/OfficeAce 可作为消费触点，但同一资产与权益跨端衔接需要实测。[Skill 观测](https://support.huaweicloud.com/bestpractice-agentarts/agentarts_06_0037.html)、[OfficeAce Skill](https://support.huaweicloud.com/usermanual-officeace/officeace_02_0006.html)</a:t>
            </a:r>
          </a:p>
          <a:p/>
          <a:p>
            <a:r>
              <a:t>经营评估建议看实际闭环：试用到付费、支付到有效权益、付费到成功交付、重试重复收费、退款/投诉、活跃付费组织、复购及作者持续更新。付费资产占比和下载量只作供给/分发参考，不替代交易与履约成效。</a:t>
            </a:r>
          </a:p>
          <a:p/>
          <a:p/>
          <a:p>
            <a:r>
              <a:t>## 7. 证据与内部对齐事项</a:t>
            </a:r>
          </a:p>
          <a:p/>
          <a:p>
            <a:r>
              <a:t>需要内部确认的关键问题包括：新版 Skill 是否已有未公开商业流程；云商店何种商品/合作模式适用；Skill 资产与商品是否可复用同一组织身份；主消费宿主范围；计量单位和失败计费；服务方/平台的收款、售后、发票责任；高价值知识是否允许进入保护服务。</a:t>
            </a:r>
          </a:p>
          <a:p/>
          <a:p>
            <a:r>
              <a:t>原始材料保存在 `sources/huawei/` 与 `sources/commerce/`，附各自清单。阿里、腾讯沿用工作区原始官方资料，详细版本与证据差异见对应深度报告。部分文档更新日期及协议样例存在差异，正文采用稳定机制；本次没有用示例代码承诺生产系统的幂等、资金或规模结果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image" Target="../media/image3.png" /><ns0:Relationship Id="rId5" Type="http://schemas.openxmlformats.org/officeDocument/2006/relationships/image" Target="../media/image4.png" /><ns0:Relationship Id="rId6" Type="http://schemas.openxmlformats.org/officeDocument/2006/relationships/image" Target="../media/image5.png" /><ns0:Relationship Id="rId7" Type="http://schemas.openxmlformats.org/officeDocument/2006/relationships/image" Target="../media/image6.png" /><ns0:Relationship Id="rId8" Type="http://schemas.openxmlformats.org/officeDocument/2006/relationships/image" Target="../media/image7.png" /><ns0:Relationship Id="rId9" Type="http://schemas.openxmlformats.org/officeDocument/2006/relationships/image" Target="../media/image8.png" /><ns0:Relationship Id="rId10" Type="http://schemas.openxmlformats.org/officeDocument/2006/relationships/image" Target="../media/image9.png" /><ns0:Relationship Id="rId11" Type="http://schemas.openxmlformats.org/officeDocument/2006/relationships/image" Target="../media/image10.png" /><ns0:Relationship Id="rId12" Type="http://schemas.openxmlformats.org/officeDocument/2006/relationships/image" Target="../media/image11.png" /><ns0:Relationship Id="rId13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2.png" /><ns0:Relationship Id="rId3" Type="http://schemas.openxmlformats.org/officeDocument/2006/relationships/image" Target="../media/image13.png" /><ns0:Relationship Id="rId4" Type="http://schemas.openxmlformats.org/officeDocument/2006/relationships/image" Target="../media/image14.png" /><ns0:Relationship Id="rId5" Type="http://schemas.openxmlformats.org/officeDocument/2006/relationships/image" Target="../media/image15.png" /><ns0:Relationship Id="rId6" Type="http://schemas.openxmlformats.org/officeDocument/2006/relationships/image" Target="../media/image16.png" /><ns0:Relationship Id="rId7" Type="http://schemas.openxmlformats.org/officeDocument/2006/relationships/image" Target="../media/image17.png" /><ns0:Relationship Id="rId8" Type="http://schemas.openxmlformats.org/officeDocument/2006/relationships/image" Target="../media/image18.png" /><ns0:Relationship Id="rId9" Type="http://schemas.openxmlformats.org/officeDocument/2006/relationships/image" Target="../media/image19.png" /><ns0:Relationship Id="rId10" Type="http://schemas.openxmlformats.org/officeDocument/2006/relationships/image" Target="../media/image20.png" /><ns0:Relationship Id="rId11" Type="http://schemas.openxmlformats.org/officeDocument/2006/relationships/image" Target="../media/image11.png" /><ns0:Relationship Id="rId12" Type="http://schemas.openxmlformats.org/officeDocument/2006/relationships/notesSlide" Target="../notesSlides/notesSlide2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平台优势与现状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5510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Skill 资产商业化演进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1/2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1443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阿里经营 Skill 商品权益，腾讯连接付费服务与生态分发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4067969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71860"/>
            <a:ext cx="2751633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阿里：SkillPay + MachinePay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89360"/>
            <a:ext cx="2146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把知识交付与支付协议分别做深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6273800" y="1071860"/>
            <a:ext cx="2251770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腾讯：SkillHub SkillPay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6273800" y="1389360"/>
            <a:ext cx="237738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让免费 Skill 连接可收费的远程服务</a:t>
            </a:r>
            <a:endParaRPr/>
          </a:p>
        </p:txBody>
      </p:sp>
      <p:pic>
        <p:nvPicPr>
          <p:cNvPr id="13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2810"/>
            <a:ext cx="6350" cy="3409950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457200" y="1770360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卖什么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1524000" y="1770360"/>
            <a:ext cx="42618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买断交付完整源文件；周期订阅把原文留云端，按任务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1524000" y="1991320"/>
            <a:ext cx="186313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给指导，本地 Agent 执行。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273800" y="1770360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卖什么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7340600" y="1770360"/>
            <a:ext cx="404197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包负责发现和调用；远程业务后端提供付费能力。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7340600" y="1991320"/>
            <a:ext cx="271194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图像生成展示价 0.36 元/次。</a:t>
            </a:r>
            <a:endParaRPr/>
          </a:p>
        </p:txBody>
      </p:sp>
      <p:pic>
        <p:nvPicPr>
          <p:cNvPr id="20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60"/>
            <a:ext cx="5397500" cy="12700"/>
          </a:xfrm>
          <a:prstGeom prst="rect">
            <a:avLst/>
          </a:prstGeom>
        </p:spPr>
      </p:pic>
      <p:pic>
        <p:nvPicPr>
          <p:cNvPr id="21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2468860"/>
            <a:ext cx="5397500" cy="12700"/>
          </a:xfrm>
          <a:prstGeom prst="rect">
            <a:avLst/>
          </a:prstGeom>
        </p:spPr>
      </p:pic>
      <p:sp>
        <p:nvSpPr>
          <p:cNvPr id="22" name="文字 22"/>
          <p:cNvSpPr txBox="1"/>
          <p:nvPr/>
        </p:nvSpPr>
        <p:spPr>
          <a:xfrm>
            <a:off x="457200" y="26212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平台做得好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1524000" y="2621260"/>
            <a:ext cx="426313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商品模式、试用、价格、版本和权益统一经营。402 付款后恢复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1524000" y="2842220"/>
            <a:ext cx="2146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原任务，按权益完成对应交付。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6273800" y="26212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平台做得好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7340600" y="2621260"/>
            <a:ext cx="41275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企业认证、商户绑定、开发者身份、定价审核与分发相连接；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340600" y="2842220"/>
            <a:ext cx="2908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平台官方样例与第三方服务共同示范收费。</a:t>
            </a:r>
            <a:endParaRPr/>
          </a:p>
        </p:txBody>
      </p:sp>
      <p:pic>
        <p:nvPicPr>
          <p:cNvPr id="28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19760"/>
            <a:ext cx="5397500" cy="12700"/>
          </a:xfrm>
          <a:prstGeom prst="rect">
            <a:avLst/>
          </a:prstGeom>
        </p:spPr>
      </p:pic>
      <p:pic>
        <p:nvPicPr>
          <p:cNvPr id="29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800" y="3319760"/>
            <a:ext cx="5397500" cy="12700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457200" y="34721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交易与履约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524000" y="3472160"/>
            <a:ext cx="425261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以签名报价、付款凭证、在线验付和履约回执服务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1524000" y="3693120"/>
            <a:ext cx="271889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API 收款；商户仍须做业务核对与幂等。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6273800" y="347216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交易与履约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7340600" y="3472160"/>
            <a:ext cx="418058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微信订单登记为 AI 支付码，用户逐笔确认。商户验付后交付；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7340600" y="3693120"/>
            <a:ext cx="274508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WorkRally 用同一任务标识恢复取结果。</a:t>
            </a:r>
            <a:endParaRPr/>
          </a:p>
        </p:txBody>
      </p:sp>
      <p:pic>
        <p:nvPicPr>
          <p:cNvPr id="36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70660"/>
            <a:ext cx="5397500" cy="12700"/>
          </a:xfrm>
          <a:prstGeom prst="rect">
            <a:avLst/>
          </a:prstGeom>
        </p:spPr>
      </p:pic>
      <p:pic>
        <p:nvPicPr>
          <p:cNvPr id="37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800" y="4170660"/>
            <a:ext cx="5397500" cy="12700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457200" y="438656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值得借鉴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1524000" y="4386560"/>
            <a:ext cx="4127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先定义购买权益与交付形态，再把试用、续购和持续更新连成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1524000" y="4607521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商品经营。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273800" y="438656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值得借鉴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7340600" y="4386560"/>
            <a:ext cx="3975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保留低门槛安装入口，把收费控制放在持续提供价值的服务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7340600" y="4607521"/>
            <a:ext cx="3175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端。</a:t>
            </a:r>
            <a:endParaRPr/>
          </a:p>
        </p:txBody>
      </p:sp>
      <p:pic>
        <p:nvPicPr>
          <p:cNvPr id="44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012829"/>
            <a:ext cx="11277600" cy="12700"/>
          </a:xfrm>
          <a:prstGeom prst="rect">
            <a:avLst/>
          </a:prstGeom>
        </p:spPr>
      </p:pic>
      <p:sp>
        <p:nvSpPr>
          <p:cNvPr id="45" name="文字 45"/>
          <p:cNvSpPr txBox="1"/>
          <p:nvPr/>
        </p:nvSpPr>
        <p:spPr>
          <a:xfrm>
            <a:off x="457200" y="5146179"/>
            <a:ext cx="1968500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智果园已有可沿用的起点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57200" y="5450979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资产共享与访问授权已具备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457200" y="5717679"/>
            <a:ext cx="522228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独立仓库、SKILL.md 与元数据、许可证、发布审核；指定用户可见、申请审批与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457200" y="5929412"/>
            <a:ext cx="14732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撤销、公开安装入口。</a:t>
            </a:r>
            <a:endParaRPr/>
          </a:p>
        </p:txBody>
      </p:sp>
      <p:pic>
        <p:nvPicPr>
          <p:cNvPr id="49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5431929"/>
            <a:ext cx="6350" cy="838200"/>
          </a:xfrm>
          <a:prstGeom prst="rect">
            <a:avLst/>
          </a:prstGeom>
        </p:spPr>
      </p:pic>
      <p:sp>
        <p:nvSpPr>
          <p:cNvPr id="50" name="文字 50"/>
          <p:cNvSpPr txBox="1"/>
          <p:nvPr/>
        </p:nvSpPr>
        <p:spPr>
          <a:xfrm>
            <a:off x="6273800" y="5450979"/>
            <a:ext cx="205323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交易闭环仍需核实与打通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6273800" y="5717679"/>
            <a:ext cx="5334596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Skill 文档尚未充分披露价格、订单、付费权益、计量和结算；“允许使用”仍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273800" y="5929412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需连接可核验的购买权益。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57200" y="6445250"/>
            <a:ext cx="6490792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来源：支付宝 SkillPay 博客/上架与 MachinePay 指南；SkillHub 官网/教程、WorkRally 契约；华为新版 Skill 托管/发布/管理文档。 逐项依据与产品边界见备注及伴生研究文档。</a:t>
            </a:r>
            <a:endParaRPr/>
          </a:p>
        </p:txBody>
      </p:sp>
      <p:pic>
        <p:nvPicPr>
          <p:cNvPr id="54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复用与补齐路线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5510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54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 Skill 资产商业化演进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826353" y="298450"/>
            <a:ext cx="9211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2/2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71443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智果园复用资产与云商店底座，重点补齐 Skill 商业编排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300990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97260"/>
            <a:ext cx="18986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直接沿用：新版资产广场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465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资产供给与分发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7195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仓库、标准包、元数据、许可证、审核、安装入口。继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1931293"/>
            <a:ext cx="150465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续兼容免费开源 Skill。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57200" y="22910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访问范围与审批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457200" y="2545060"/>
            <a:ext cx="342909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沿用可见/可用分离及申请撤销；保留企业共享和指定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457200" y="2756793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用户授权。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57200" y="311656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复用边界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33705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既有审批控制访问；付费权益还须绑定买家、商品、版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57200" y="3582293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本及可用额度。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292600" y="1097260"/>
            <a:ext cx="20701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对接复用：华为云商业底座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292600" y="1465560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云商店订购与结算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292600" y="1719560"/>
            <a:ext cx="3371851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按商品类型和合作模式复用订购、退订及结算；补齐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292600" y="1931293"/>
            <a:ext cx="156180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与商品/订单映射。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292600" y="2291060"/>
            <a:ext cx="161399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Agents 网关鉴权与计量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292600" y="2545060"/>
            <a:ext cx="3517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已有路由、鉴权、用量解析；适配后端与计费口径。当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4292600" y="2756793"/>
            <a:ext cx="10350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前默认北京四。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292600" y="3116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宿主与外部支付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4292600" y="3370560"/>
            <a:ext cx="3499048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打通 CodeArts / OfficeAce 等消费端；外部支付另核签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292600" y="3582293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约、宿主工具及身份接入。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8128001" y="1097260"/>
            <a:ext cx="2136874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智果园补齐：Skill 商业编排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8128001" y="14655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商品、试用与服务端权益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8128001" y="1719560"/>
            <a:ext cx="3365004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区分买断文件/订阅/远程按量；定义 SKU、价格和许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8128001" y="1931293"/>
            <a:ext cx="132714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可，订单驱动授权。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8128001" y="2291060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任务履约与异常恢复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8128001" y="2545060"/>
            <a:ext cx="3371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固定请求和订单，验付、验权后执行；重试不重复扣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8128001" y="2756793"/>
            <a:ext cx="16192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次，失败可恢复或补偿。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128001" y="3116560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质量与作者经营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128001" y="3370560"/>
            <a:ext cx="3486348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上架需补任务效果/安全/收费测试；提供订单收益、退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8128001" y="3582293"/>
            <a:ext cx="132714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款对账及申诉入口。</a:t>
            </a:r>
            <a:endParaRPr/>
          </a:p>
        </p:txBody>
      </p:sp>
      <p:pic>
        <p:nvPicPr>
          <p:cNvPr id="39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0" y="1078210"/>
            <a:ext cx="6350" cy="2679700"/>
          </a:xfrm>
          <a:prstGeom prst="rect">
            <a:avLst/>
          </a:prstGeom>
        </p:spPr>
      </p:pic>
      <p:pic>
        <p:nvPicPr>
          <p:cNvPr id="40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50" y="1078210"/>
            <a:ext cx="6350" cy="2679700"/>
          </a:xfrm>
          <a:prstGeom prst="rect">
            <a:avLst/>
          </a:prstGeom>
        </p:spPr>
      </p:pic>
      <p:pic>
        <p:nvPicPr>
          <p:cNvPr id="41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4760"/>
            <a:ext cx="11277600" cy="12700"/>
          </a:xfrm>
          <a:prstGeom prst="rect">
            <a:avLst/>
          </a:prstGeom>
        </p:spPr>
      </p:pic>
      <p:sp>
        <p:nvSpPr>
          <p:cNvPr id="42" name="文字 42"/>
          <p:cNvSpPr txBox="1"/>
          <p:nvPr/>
        </p:nvSpPr>
        <p:spPr>
          <a:xfrm>
            <a:off x="457200" y="4094460"/>
            <a:ext cx="5819577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首期建议：免费 Skill 入口 + 付费远程能力，先完成一条可对账的交易闭环</a:t>
            </a:r>
            <a:endParaRPr/>
          </a:p>
        </p:txBody>
      </p:sp>
      <p:sp>
        <p:nvSpPr>
          <p:cNvPr id="43" name="形状 43"/>
          <p:cNvSpPr/>
          <p:nvPr/>
        </p:nvSpPr>
        <p:spPr>
          <a:xfrm>
            <a:off x="4572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4" name="文字 44"/>
          <p:cNvSpPr txBox="1"/>
          <p:nvPr/>
        </p:nvSpPr>
        <p:spPr>
          <a:xfrm>
            <a:off x="5524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发现与安装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552450" y="4770041"/>
            <a:ext cx="120372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绑定 asset_id / 版本</a:t>
            </a:r>
            <a:endParaRPr/>
          </a:p>
        </p:txBody>
      </p:sp>
      <p:pic>
        <p:nvPicPr>
          <p:cNvPr id="46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3150" y="4761210"/>
            <a:ext cx="374650" cy="12700"/>
          </a:xfrm>
          <a:prstGeom prst="rect">
            <a:avLst/>
          </a:prstGeom>
        </p:spPr>
      </p:pic>
      <p:sp>
        <p:nvSpPr>
          <p:cNvPr id="47" name="文字 47"/>
          <p:cNvSpPr/>
          <p:nvPr/>
        </p:nvSpPr>
        <p:spPr>
          <a:xfrm rot="5400000">
            <a:off x="2628900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48" name="形状 48"/>
          <p:cNvSpPr/>
          <p:nvPr/>
        </p:nvSpPr>
        <p:spPr>
          <a:xfrm>
            <a:off x="27178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49" name="文字 49"/>
          <p:cNvSpPr txBox="1"/>
          <p:nvPr/>
        </p:nvSpPr>
        <p:spPr>
          <a:xfrm>
            <a:off x="28130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试用或购买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2813050" y="477004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关联商品、订单与买家</a:t>
            </a:r>
            <a:endParaRPr/>
          </a:p>
        </p:txBody>
      </p:sp>
      <p:pic>
        <p:nvPicPr>
          <p:cNvPr id="51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750" y="4761210"/>
            <a:ext cx="374650" cy="12700"/>
          </a:xfrm>
          <a:prstGeom prst="rect">
            <a:avLst/>
          </a:prstGeom>
        </p:spPr>
      </p:pic>
      <p:sp>
        <p:nvSpPr>
          <p:cNvPr id="52" name="文字 52"/>
          <p:cNvSpPr/>
          <p:nvPr/>
        </p:nvSpPr>
        <p:spPr>
          <a:xfrm rot="5400000">
            <a:off x="4889500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53" name="形状 53"/>
          <p:cNvSpPr/>
          <p:nvPr/>
        </p:nvSpPr>
        <p:spPr>
          <a:xfrm>
            <a:off x="49784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4" name="文字 54"/>
          <p:cNvSpPr txBox="1"/>
          <p:nvPr/>
        </p:nvSpPr>
        <p:spPr>
          <a:xfrm>
            <a:off x="50736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服务端验权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5073650" y="477004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限额、有效期与请求绑定</a:t>
            </a:r>
            <a:endParaRPr/>
          </a:p>
        </p:txBody>
      </p:sp>
      <p:pic>
        <p:nvPicPr>
          <p:cNvPr id="56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4350" y="4761210"/>
            <a:ext cx="374650" cy="12700"/>
          </a:xfrm>
          <a:prstGeom prst="rect">
            <a:avLst/>
          </a:prstGeom>
        </p:spPr>
      </p:pic>
      <p:sp>
        <p:nvSpPr>
          <p:cNvPr id="57" name="文字 57"/>
          <p:cNvSpPr/>
          <p:nvPr/>
        </p:nvSpPr>
        <p:spPr>
          <a:xfrm rot="5400000">
            <a:off x="7150100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58" name="形状 58"/>
          <p:cNvSpPr/>
          <p:nvPr/>
        </p:nvSpPr>
        <p:spPr>
          <a:xfrm>
            <a:off x="7239000" y="4431010"/>
            <a:ext cx="188595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9" name="文字 59"/>
          <p:cNvSpPr txBox="1"/>
          <p:nvPr/>
        </p:nvSpPr>
        <p:spPr>
          <a:xfrm>
            <a:off x="73342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执行与计量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334250" y="477004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同一任务只记一次消费</a:t>
            </a:r>
            <a:endParaRPr/>
          </a:p>
        </p:txBody>
      </p:sp>
      <p:pic>
        <p:nvPicPr>
          <p:cNvPr id="61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4950" y="4761210"/>
            <a:ext cx="374650" cy="12700"/>
          </a:xfrm>
          <a:prstGeom prst="rect">
            <a:avLst/>
          </a:prstGeom>
        </p:spPr>
      </p:pic>
      <p:sp>
        <p:nvSpPr>
          <p:cNvPr id="62" name="文字 62"/>
          <p:cNvSpPr/>
          <p:nvPr/>
        </p:nvSpPr>
        <p:spPr>
          <a:xfrm rot="5400000">
            <a:off x="9410701" y="4735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</p:sp>
      <p:sp>
        <p:nvSpPr>
          <p:cNvPr id="63" name="形状 63"/>
          <p:cNvSpPr/>
          <p:nvPr/>
        </p:nvSpPr>
        <p:spPr>
          <a:xfrm>
            <a:off x="9499600" y="4431010"/>
            <a:ext cx="2235200" cy="660400"/>
          </a:xfrm>
          <a:prstGeom prst="roundRect">
            <a:avLst>
              <a:gd name="adj" fmla="val 1346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64" name="文字 64"/>
          <p:cNvSpPr txBox="1"/>
          <p:nvPr/>
        </p:nvSpPr>
        <p:spPr>
          <a:xfrm>
            <a:off x="9594850" y="45262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交付与对账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9594850" y="4770041"/>
            <a:ext cx="13032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失败恢复 / 补偿 / 售后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457200" y="5237460"/>
            <a:ext cx="6146801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验收以付费任务履约为准：重复请求不重复扣费，已付未交付可恢复，退款与权益及账单一致。</a:t>
            </a:r>
            <a:endParaRPr/>
          </a:p>
        </p:txBody>
      </p:sp>
      <p:pic>
        <p:nvPicPr>
          <p:cNvPr id="67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650210"/>
            <a:ext cx="11277600" cy="12700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457200" y="577721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后续演进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1695450" y="5777210"/>
            <a:ext cx="7233246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知识型高价值 Skill 再评估云端原文保护与组织订阅。源文件买断需讲清许可，保护范围不应承诺超出交付方式。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57200" y="6405860"/>
            <a:ext cx="6621165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对接复用均为建议，未据此认定 Skill 广场已集成。云商店商品能力依类型/合作模式而异；阿里云端保护不等于可直接嵌入的开放服务。 逐项依据与产品边界见备注及伴生研究文档。</a:t>
            </a:r>
            <a:endParaRPr/>
          </a:p>
        </p:txBody>
      </p:sp>
      <p:pic>
        <p:nvPicPr>
          <p:cNvPr id="71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