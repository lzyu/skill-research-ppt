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平台优势与现状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1/2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阿里经营 Skill 商品权益，腾讯连接付费服务与生态分发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4067969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71860"/>
            <a:ext cx="2751633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阿里：SkillPay + MachinePay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8936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把知识交付与支付协议分别做深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6273800" y="1071860"/>
            <a:ext cx="225177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腾讯：SkillHub SkillPay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6273800" y="1389360"/>
            <a:ext cx="237738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让免费 Skill 连接可收费的远程服务</a:t>
            </a:r>
            <a:endParaRPr/>
          </a:p>
        </p:txBody>
      </p:sp>
      <p:pic>
        <p:nvPicPr>
          <p:cNvPr id="13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2810"/>
            <a:ext cx="6350" cy="340995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4572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524000" y="1770360"/>
            <a:ext cx="42618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买断交付完整源文件；周期订阅把原文留云端，按任务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1524000" y="1991320"/>
            <a:ext cx="186313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给指导，本地 Agent 执行。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2738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7340600" y="1770360"/>
            <a:ext cx="404197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包负责发现和调用；远程业务后端提供付费能力。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7340600" y="1991320"/>
            <a:ext cx="271194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图像生成展示价 0.36 元/次。</a:t>
            </a:r>
            <a:endParaRPr/>
          </a:p>
        </p:txBody>
      </p:sp>
      <p:pic>
        <p:nvPicPr>
          <p:cNvPr id="20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60"/>
            <a:ext cx="5397500" cy="12700"/>
          </a:xfrm>
          <a:prstGeom prst="rect">
            <a:avLst/>
          </a:prstGeom>
        </p:spPr>
      </p:pic>
      <p:pic>
        <p:nvPicPr>
          <p:cNvPr id="2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2468860"/>
            <a:ext cx="5397500" cy="12700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4572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1524000" y="2621260"/>
            <a:ext cx="426313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商品模式、试用、价格、版本和权益统一经营。402 付款后恢复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524000" y="284222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原任务，按权益完成对应交付。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62738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7340600" y="2621260"/>
            <a:ext cx="412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企业认证、商户绑定、开发者身份、定价审核与分发相连接；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340600" y="2842220"/>
            <a:ext cx="2908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平台官方样例与第三方服务共同示范收费。</a:t>
            </a:r>
            <a:endParaRPr/>
          </a:p>
        </p:txBody>
      </p:sp>
      <p:pic>
        <p:nvPicPr>
          <p:cNvPr id="28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19760"/>
            <a:ext cx="5397500" cy="12700"/>
          </a:xfrm>
          <a:prstGeom prst="rect">
            <a:avLst/>
          </a:prstGeom>
        </p:spPr>
      </p:pic>
      <p:pic>
        <p:nvPicPr>
          <p:cNvPr id="29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800" y="3319760"/>
            <a:ext cx="5397500" cy="12700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4572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24000" y="3472160"/>
            <a:ext cx="425261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以签名报价、付款凭证、在线验付和履约回执服务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1524000" y="3693120"/>
            <a:ext cx="27188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API 收款；商户仍须做业务核对与幂等。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62738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7340600" y="3472160"/>
            <a:ext cx="418058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微信订单登记为 AI 支付码，用户逐笔确认。商户验付后交付；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7340600" y="3693120"/>
            <a:ext cx="274508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用同一任务标识恢复取结果。</a:t>
            </a:r>
            <a:endParaRPr/>
          </a:p>
        </p:txBody>
      </p:sp>
      <p:pic>
        <p:nvPicPr>
          <p:cNvPr id="36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70660"/>
            <a:ext cx="5397500" cy="12700"/>
          </a:xfrm>
          <a:prstGeom prst="rect">
            <a:avLst/>
          </a:prstGeom>
        </p:spPr>
      </p:pic>
      <p:pic>
        <p:nvPicPr>
          <p:cNvPr id="37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800" y="4170660"/>
            <a:ext cx="5397500" cy="1270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4572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1524000" y="4386560"/>
            <a:ext cx="412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先定义购买权益与交付形态，再把试用、续购和持续更新连成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524000" y="4607521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商品经营。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2738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7340600" y="4386560"/>
            <a:ext cx="3975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保留低门槛安装入口，把收费控制放在持续提供价值的服务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7340600" y="4607521"/>
            <a:ext cx="31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端。</a:t>
            </a:r>
            <a:endParaRPr/>
          </a:p>
        </p:txBody>
      </p:sp>
      <p:pic>
        <p:nvPicPr>
          <p:cNvPr id="44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012829"/>
            <a:ext cx="11277600" cy="12700"/>
          </a:xfrm>
          <a:prstGeom prst="rect">
            <a:avLst/>
          </a:prstGeom>
        </p:spPr>
      </p:pic>
      <p:sp>
        <p:nvSpPr>
          <p:cNvPr id="45" name="文字 45"/>
          <p:cNvSpPr txBox="1"/>
          <p:nvPr/>
        </p:nvSpPr>
        <p:spPr>
          <a:xfrm>
            <a:off x="457200" y="5146179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智果园已有可沿用的起点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57200" y="5450979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资产共享与访问授权已具备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57200" y="5717679"/>
            <a:ext cx="522228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独立仓库、SKILL.md 与元数据、许可证、发布审核；指定用户可见、申请审批与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457200" y="5929412"/>
            <a:ext cx="14732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撤销、公开安装入口。</a:t>
            </a:r>
            <a:endParaRPr/>
          </a:p>
        </p:txBody>
      </p:sp>
      <p:pic>
        <p:nvPicPr>
          <p:cNvPr id="49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5431929"/>
            <a:ext cx="6350" cy="838200"/>
          </a:xfrm>
          <a:prstGeom prst="rect">
            <a:avLst/>
          </a:prstGeom>
        </p:spPr>
      </p:pic>
      <p:sp>
        <p:nvSpPr>
          <p:cNvPr id="50" name="文字 50"/>
          <p:cNvSpPr txBox="1"/>
          <p:nvPr/>
        </p:nvSpPr>
        <p:spPr>
          <a:xfrm>
            <a:off x="6273800" y="5450979"/>
            <a:ext cx="205323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交易闭环仍需核实与打通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273800" y="5717679"/>
            <a:ext cx="533459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文档尚未充分披露价格、订单、付费权益、计量和结算；“允许使用”仍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273800" y="5929412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需连接可核验的购买权益。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57200" y="6445250"/>
            <a:ext cx="649079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SkillPay 博客/上架与 MachinePay 指南；SkillHub 官网/教程、WorkRally 契约；华为新版 Skill 托管/发布/管理文档。 逐项依据与产品边界见备注及伴生研究文档。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复用与补齐路线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2/2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智果园复用资产与云商店底座，重点补齐 Skill 商业编排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30099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972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直接沿用：新版资产广场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465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资产供给与分发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719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仓库、标准包、元数据、许可证、审核、安装入口。继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1931293"/>
            <a:ext cx="150465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续兼容免费开源 Skill。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57200" y="22910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访问范围与审批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457200" y="2545060"/>
            <a:ext cx="342909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沿用可见/可用分离及申请撤销；保留企业共享和指定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457200" y="2756793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用户授权。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311656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复用边界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3370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既有审批控制访问；付费权益还须绑定买家、商品、版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35822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本及可用额度。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292600" y="1097260"/>
            <a:ext cx="20701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对接复用：华为云商业底座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292600" y="146556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云商店订购与结算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292600" y="1719560"/>
            <a:ext cx="337185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按商品类型和合作模式复用订购、退订及结算；补齐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292600" y="1931293"/>
            <a:ext cx="156180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与商品/订单映射。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292600" y="2291060"/>
            <a:ext cx="16139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Agents 网关鉴权与计量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292600" y="25450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已有路由、鉴权、用量解析；适配后端与计费口径。当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4292600" y="27567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前默认北京四。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292600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宿主与外部支付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292600" y="3370560"/>
            <a:ext cx="34990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打通 CodeArts / OfficeAce 等消费端；外部支付另核签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292600" y="3582293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约、宿主工具及身份接入。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8128001" y="1097260"/>
            <a:ext cx="2136874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智果园补齐：Skill 商业编排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8128001" y="14655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商品、试用与服务端权益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8128001" y="1719560"/>
            <a:ext cx="3365004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区分买断文件/订阅/远程按量；定义 SKU、价格和许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8128001" y="1931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可，订单驱动授权。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8128001" y="2291060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任务履约与异常恢复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8128001" y="2545060"/>
            <a:ext cx="3371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固定请求和订单，验付、验权后执行；重试不重复扣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128001" y="2756793"/>
            <a:ext cx="16192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次，失败可恢复或补偿。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128001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质量与作者经营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128001" y="3370560"/>
            <a:ext cx="34863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上架需补任务效果/安全/收费测试；提供订单收益、退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8128001" y="3582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款对账及申诉入口。</a:t>
            </a:r>
            <a:endParaRPr/>
          </a:p>
        </p:txBody>
      </p:sp>
      <p:pic>
        <p:nvPicPr>
          <p:cNvPr id="39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0" y="1078210"/>
            <a:ext cx="6350" cy="2679700"/>
          </a:xfrm>
          <a:prstGeom prst="rect">
            <a:avLst/>
          </a:prstGeom>
        </p:spPr>
      </p:pic>
      <p:pic>
        <p:nvPicPr>
          <p:cNvPr id="40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1078210"/>
            <a:ext cx="6350" cy="2679700"/>
          </a:xfrm>
          <a:prstGeom prst="rect">
            <a:avLst/>
          </a:prstGeom>
        </p:spPr>
      </p:pic>
      <p:pic>
        <p:nvPicPr>
          <p:cNvPr id="41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4760"/>
            <a:ext cx="11277600" cy="12700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457200" y="4094460"/>
            <a:ext cx="5819577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首期建议：免费 Skill 入口 + 付费远程能力，先完成一条可对账的交易闭环</a:t>
            </a:r>
            <a:endParaRPr/>
          </a:p>
        </p:txBody>
      </p:sp>
      <p:sp>
        <p:nvSpPr>
          <p:cNvPr id="43" name="形状 43"/>
          <p:cNvSpPr/>
          <p:nvPr/>
        </p:nvSpPr>
        <p:spPr>
          <a:xfrm>
            <a:off x="4572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4" name="文字 44"/>
          <p:cNvSpPr txBox="1"/>
          <p:nvPr/>
        </p:nvSpPr>
        <p:spPr>
          <a:xfrm>
            <a:off x="5524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发现与安装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552450" y="4770041"/>
            <a:ext cx="120372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绑定 asset_id / 版本</a:t>
            </a:r>
            <a:endParaRPr/>
          </a:p>
        </p:txBody>
      </p:sp>
      <p:pic>
        <p:nvPicPr>
          <p:cNvPr id="46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3150" y="4761210"/>
            <a:ext cx="374650" cy="12700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2667000" y="4685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8" name="形状 48"/>
          <p:cNvSpPr/>
          <p:nvPr/>
        </p:nvSpPr>
        <p:spPr>
          <a:xfrm>
            <a:off x="27178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28130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试用或购买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28130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关联商品、订单与买家</a:t>
            </a:r>
            <a:endParaRPr/>
          </a:p>
        </p:txBody>
      </p:sp>
      <p:pic>
        <p:nvPicPr>
          <p:cNvPr id="51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750" y="4761210"/>
            <a:ext cx="374650" cy="12700"/>
          </a:xfrm>
          <a:prstGeom prst="rect">
            <a:avLst/>
          </a:prstGeom>
        </p:spPr>
      </p:pic>
      <p:sp>
        <p:nvSpPr>
          <p:cNvPr id="52" name="文字 52"/>
          <p:cNvSpPr txBox="1"/>
          <p:nvPr/>
        </p:nvSpPr>
        <p:spPr>
          <a:xfrm>
            <a:off x="4927600" y="4685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49784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50736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服务端验权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5073650" y="477004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限额、有效期与请求绑定</a:t>
            </a:r>
            <a:endParaRPr/>
          </a:p>
        </p:txBody>
      </p:sp>
      <p:pic>
        <p:nvPicPr>
          <p:cNvPr id="5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4350" y="4761210"/>
            <a:ext cx="374650" cy="12700"/>
          </a:xfrm>
          <a:prstGeom prst="rect">
            <a:avLst/>
          </a:prstGeom>
        </p:spPr>
      </p:pic>
      <p:sp>
        <p:nvSpPr>
          <p:cNvPr id="57" name="文字 57"/>
          <p:cNvSpPr txBox="1"/>
          <p:nvPr/>
        </p:nvSpPr>
        <p:spPr>
          <a:xfrm>
            <a:off x="7188200" y="4685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58" name="形状 58"/>
          <p:cNvSpPr/>
          <p:nvPr/>
        </p:nvSpPr>
        <p:spPr>
          <a:xfrm>
            <a:off x="72390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9" name="文字 59"/>
          <p:cNvSpPr txBox="1"/>
          <p:nvPr/>
        </p:nvSpPr>
        <p:spPr>
          <a:xfrm>
            <a:off x="73342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执行与计量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3342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同一任务只记一次消费</a:t>
            </a:r>
            <a:endParaRPr/>
          </a:p>
        </p:txBody>
      </p:sp>
      <p:pic>
        <p:nvPicPr>
          <p:cNvPr id="61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4950" y="4761210"/>
            <a:ext cx="374650" cy="12700"/>
          </a:xfrm>
          <a:prstGeom prst="rect">
            <a:avLst/>
          </a:prstGeom>
        </p:spPr>
      </p:pic>
      <p:sp>
        <p:nvSpPr>
          <p:cNvPr id="62" name="文字 62"/>
          <p:cNvSpPr txBox="1"/>
          <p:nvPr/>
        </p:nvSpPr>
        <p:spPr>
          <a:xfrm>
            <a:off x="9448801" y="46850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63" name="形状 63"/>
          <p:cNvSpPr/>
          <p:nvPr/>
        </p:nvSpPr>
        <p:spPr>
          <a:xfrm>
            <a:off x="9499600" y="4431010"/>
            <a:ext cx="223520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4" name="文字 64"/>
          <p:cNvSpPr txBox="1"/>
          <p:nvPr/>
        </p:nvSpPr>
        <p:spPr>
          <a:xfrm>
            <a:off x="95948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交付与对账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9594850" y="4770041"/>
            <a:ext cx="13032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失败恢复 / 补偿 / 售后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457200" y="5237460"/>
            <a:ext cx="614680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验收以付费任务履约为准：重复请求不重复扣费，已付未交付可恢复，退款与权益及账单一致。</a:t>
            </a:r>
            <a:endParaRPr/>
          </a:p>
        </p:txBody>
      </p:sp>
      <p:pic>
        <p:nvPicPr>
          <p:cNvPr id="67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650210"/>
            <a:ext cx="11277600" cy="12700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457200" y="577721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后续演进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1695450" y="5777210"/>
            <a:ext cx="723324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知识型高价值 Skill 再评估云端原文保护与组织订阅。源文件买断需讲清许可，保护范围不应承诺超出交付方式。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405860"/>
            <a:ext cx="662116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对接复用均为建议，未据此认定 Skill 广场已集成。云商店商品能力依类型/合作模式而异；阿里云端保护不等于可直接嵌入的开放服务。 逐项依据与产品边界见备注及伴生研究文档。</a:t>
            </a:r>
            <a:endParaRPr/>
          </a:p>
        </p:txBody>
      </p:sp>
      <p:pic>
        <p:nvPicPr>
          <p:cNvPr id="71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