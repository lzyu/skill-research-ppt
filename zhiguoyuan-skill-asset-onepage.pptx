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autoCompressPictures="0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!-- 空白母版、版式与主题取自 python-pptx 1.0.2 的默认有效文稿；母版只保留空白版式。 --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!-- 空白母版、版式与主题取自 python-pptx 1.0.2 的默认有效文稿；母版只保留空白版式。 -->
<p:sldMaster xmlns:a="http://schemas.openxmlformats.org/drawingml/2006/main" xmlns:ns2="http://schemas.microsoft.com/office/powerpoint/2010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ns2:creationId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 name="智果园 Skill 资产">
    <p:spTree>
      <p:nvGrpSpPr>
        <p:cNvPr id="1" name=""/>
        <p:cNvGrpSpPr/>
        <p:nvPr/>
      </p:nvGrpSpPr>
      <p:grpSpPr/>
      <p:sp>
        <p:nvSpPr>
          <p:cNvPr id="2" name="形状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3" name="形状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4" name="形状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5" name="文字 5"/>
          <p:cNvSpPr txBox="1"/>
          <p:nvPr/>
        </p:nvSpPr>
        <p:spPr>
          <a:xfrm>
            <a:off x="457200" y="273050"/>
            <a:ext cx="2991247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9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智果园 AI 资产广场 / Skill 资产建设启示 · 2026.10</a:t>
            </a:r>
            <a:endParaRPr/>
          </a:p>
        </p:txBody>
      </p:sp>
      <p:sp>
        <p:nvSpPr>
          <p:cNvPr id="6" name="文字 6"/>
          <p:cNvSpPr txBox="1"/>
          <p:nvPr/>
        </p:nvSpPr>
        <p:spPr>
          <a:xfrm>
            <a:off x="457200" y="488950"/>
            <a:ext cx="6683871" cy="3873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 u="none" spc="-42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从魔搭、SkillHub 到智果园：Skill 资产平台的四个必答题</a:t>
            </a:r>
            <a:endParaRPr/>
          </a:p>
        </p:txBody>
      </p:sp>
      <p:sp>
        <p:nvSpPr>
          <p:cNvPr id="7" name="文字 7"/>
          <p:cNvSpPr txBox="1"/>
          <p:nvPr/>
        </p:nvSpPr>
        <p:spPr>
          <a:xfrm>
            <a:off x="457200" y="866081"/>
            <a:ext cx="9178032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魔搭证明开放标准能起量，SkillHub 证明评测与商品化能建立信任；智果园已有标准、审核、优化与多平台分发，下一步是把质量信号、供给运营和商业闭环补齐。</a:t>
            </a:r>
            <a:endParaRPr/>
          </a:p>
        </p:txBody>
      </p:sp>
      <p:sp>
        <p:nvSpPr>
          <p:cNvPr id="8" name="形状 8"/>
          <p:cNvSpPr/>
          <p:nvPr/>
        </p:nvSpPr>
        <p:spPr>
          <a:xfrm>
            <a:off x="457200" y="1107380"/>
            <a:ext cx="3699867" cy="1013222"/>
          </a:xfrm>
          <a:prstGeom prst="roundRect">
            <a:avLst>
              <a:gd name="adj" fmla="val 5014"/>
            </a:avLst>
          </a:prstGeom>
          <a:noFill/>
          <a:ln w="6350">
            <a:solidFill>
              <a:srgbClr val="D5D9DE">
                <a:alpha val="100000"/>
              </a:srgbClr>
            </a:solidFill>
            <a:prstDash val="solid"/>
          </a:ln>
        </p:spPr>
      </p:sp>
      <p:sp>
        <p:nvSpPr>
          <p:cNvPr id="9" name="文字 9"/>
          <p:cNvSpPr txBox="1"/>
          <p:nvPr/>
        </p:nvSpPr>
        <p:spPr>
          <a:xfrm>
            <a:off x="558800" y="1189931"/>
            <a:ext cx="915789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魔搭 Skills 中心</a:t>
            </a:r>
            <a:endParaRPr/>
          </a:p>
        </p:txBody>
      </p:sp>
      <p:sp>
        <p:nvSpPr>
          <p:cNvPr id="10" name="文字 10"/>
          <p:cNvSpPr txBox="1"/>
          <p:nvPr/>
        </p:nvSpPr>
        <p:spPr>
          <a:xfrm>
            <a:off x="558800" y="1380430"/>
            <a:ext cx="1351359" cy="1397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83,509 skills · 10 类</a:t>
            </a:r>
            <a:endParaRPr/>
          </a:p>
        </p:txBody>
      </p:sp>
      <p:sp>
        <p:nvSpPr>
          <p:cNvPr id="11" name="文字 11"/>
          <p:cNvSpPr txBox="1"/>
          <p:nvPr/>
        </p:nvSpPr>
        <p:spPr>
          <a:xfrm>
            <a:off x="558800" y="1564581"/>
            <a:ext cx="127000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强</a:t>
            </a:r>
            <a:endParaRPr/>
          </a:p>
        </p:txBody>
      </p:sp>
      <p:sp>
        <p:nvSpPr>
          <p:cNvPr id="12" name="文字 12"/>
          <p:cNvSpPr txBox="1"/>
          <p:nvPr/>
        </p:nvSpPr>
        <p:spPr>
          <a:xfrm>
            <a:off x="698698" y="1564581"/>
            <a:ext cx="2218631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Agent Skills 标准、CLI 多宿主、规模与长尾</a:t>
            </a:r>
            <a:endParaRPr/>
          </a:p>
        </p:txBody>
      </p:sp>
      <p:sp>
        <p:nvSpPr>
          <p:cNvPr id="13" name="文字 13"/>
          <p:cNvSpPr txBox="1"/>
          <p:nvPr/>
        </p:nvSpPr>
        <p:spPr>
          <a:xfrm>
            <a:off x="558800" y="1737221"/>
            <a:ext cx="127000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弱</a:t>
            </a:r>
            <a:endParaRPr/>
          </a:p>
        </p:txBody>
      </p:sp>
      <p:sp>
        <p:nvSpPr>
          <p:cNvPr id="14" name="文字 14"/>
          <p:cNvSpPr txBox="1"/>
          <p:nvPr/>
        </p:nvSpPr>
        <p:spPr>
          <a:xfrm>
            <a:off x="698698" y="1737221"/>
            <a:ext cx="2369840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无技能级试运行；30.9% 聚合镜像，官方 0.4%</a:t>
            </a:r>
            <a:endParaRPr/>
          </a:p>
        </p:txBody>
      </p:sp>
      <p:sp>
        <p:nvSpPr>
          <p:cNvPr id="15" name="形状 15"/>
          <p:cNvSpPr/>
          <p:nvPr/>
        </p:nvSpPr>
        <p:spPr>
          <a:xfrm>
            <a:off x="4245967" y="1107380"/>
            <a:ext cx="3699966" cy="1013222"/>
          </a:xfrm>
          <a:prstGeom prst="roundRect">
            <a:avLst>
              <a:gd name="adj" fmla="val 5014"/>
            </a:avLst>
          </a:prstGeom>
          <a:noFill/>
          <a:ln w="6350">
            <a:solidFill>
              <a:srgbClr val="D5D9DE">
                <a:alpha val="100000"/>
              </a:srgbClr>
            </a:solidFill>
            <a:prstDash val="solid"/>
          </a:ln>
        </p:spPr>
      </p:sp>
      <p:sp>
        <p:nvSpPr>
          <p:cNvPr id="16" name="文字 16"/>
          <p:cNvSpPr txBox="1"/>
          <p:nvPr/>
        </p:nvSpPr>
        <p:spPr>
          <a:xfrm>
            <a:off x="4347567" y="1189931"/>
            <a:ext cx="828973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腾讯 SkillHub</a:t>
            </a:r>
            <a:endParaRPr/>
          </a:p>
        </p:txBody>
      </p:sp>
      <p:sp>
        <p:nvSpPr>
          <p:cNvPr id="17" name="文字 17"/>
          <p:cNvSpPr txBox="1"/>
          <p:nvPr/>
        </p:nvSpPr>
        <p:spPr>
          <a:xfrm>
            <a:off x="4347567" y="1380430"/>
            <a:ext cx="2214959" cy="1397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199,516 skills · 1,993 企业 · 13 类</a:t>
            </a:r>
            <a:endParaRPr/>
          </a:p>
        </p:txBody>
      </p:sp>
      <p:sp>
        <p:nvSpPr>
          <p:cNvPr id="18" name="文字 18"/>
          <p:cNvSpPr txBox="1"/>
          <p:nvPr/>
        </p:nvSpPr>
        <p:spPr>
          <a:xfrm>
            <a:off x="4347567" y="1564581"/>
            <a:ext cx="127000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强</a:t>
            </a:r>
            <a:endParaRPr/>
          </a:p>
        </p:txBody>
      </p:sp>
      <p:sp>
        <p:nvSpPr>
          <p:cNvPr id="19" name="文字 19"/>
          <p:cNvSpPr txBox="1"/>
          <p:nvPr/>
        </p:nvSpPr>
        <p:spPr>
          <a:xfrm>
            <a:off x="4487466" y="1564581"/>
            <a:ext cx="3191967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TRACE 5 维/15 子项 + 双路安全 + 签名；抽样企业 100% 覆盖；</a:t>
            </a:r>
            <a:endParaRPr/>
          </a:p>
        </p:txBody>
      </p:sp>
      <p:sp>
        <p:nvSpPr>
          <p:cNvPr id="20" name="文字 20"/>
          <p:cNvSpPr txBox="1"/>
          <p:nvPr/>
        </p:nvSpPr>
        <p:spPr>
          <a:xfrm>
            <a:off x="4347567" y="1724521"/>
            <a:ext cx="799306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SkillPay 商品化</a:t>
            </a:r>
            <a:endParaRPr/>
          </a:p>
        </p:txBody>
      </p:sp>
      <p:sp>
        <p:nvSpPr>
          <p:cNvPr id="21" name="文字 21"/>
          <p:cNvSpPr txBox="1"/>
          <p:nvPr/>
        </p:nvSpPr>
        <p:spPr>
          <a:xfrm>
            <a:off x="4347567" y="1897162"/>
            <a:ext cx="127000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弱</a:t>
            </a:r>
            <a:endParaRPr/>
          </a:p>
        </p:txBody>
      </p:sp>
      <p:sp>
        <p:nvSpPr>
          <p:cNvPr id="22" name="文字 22"/>
          <p:cNvSpPr txBox="1"/>
          <p:nvPr/>
        </p:nvSpPr>
        <p:spPr>
          <a:xfrm>
            <a:off x="4487466" y="1897162"/>
            <a:ext cx="3175893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抽样：社区 74%、ClawHub 0%；72.5% ≥4.5；评测错配风险</a:t>
            </a:r>
            <a:endParaRPr/>
          </a:p>
        </p:txBody>
      </p:sp>
      <p:sp>
        <p:nvSpPr>
          <p:cNvPr id="23" name="形状 23"/>
          <p:cNvSpPr/>
          <p:nvPr/>
        </p:nvSpPr>
        <p:spPr>
          <a:xfrm>
            <a:off x="8034834" y="1107380"/>
            <a:ext cx="3699967" cy="1013222"/>
          </a:xfrm>
          <a:prstGeom prst="roundRect">
            <a:avLst>
              <a:gd name="adj" fmla="val 5014"/>
            </a:avLst>
          </a:prstGeom>
          <a:noFill/>
          <a:ln w="6350">
            <a:solidFill>
              <a:srgbClr val="D5D9DE">
                <a:alpha val="100000"/>
              </a:srgbClr>
            </a:solidFill>
            <a:prstDash val="solid"/>
          </a:ln>
        </p:spPr>
      </p:sp>
      <p:sp>
        <p:nvSpPr>
          <p:cNvPr id="24" name="文字 24"/>
          <p:cNvSpPr txBox="1"/>
          <p:nvPr/>
        </p:nvSpPr>
        <p:spPr>
          <a:xfrm>
            <a:off x="8136434" y="1189931"/>
            <a:ext cx="1336675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华为智果园 AI 资产广场</a:t>
            </a:r>
            <a:endParaRPr/>
          </a:p>
        </p:txBody>
      </p:sp>
      <p:sp>
        <p:nvSpPr>
          <p:cNvPr id="25" name="文字 25"/>
          <p:cNvSpPr txBox="1"/>
          <p:nvPr/>
        </p:nvSpPr>
        <p:spPr>
          <a:xfrm>
            <a:off x="8136434" y="1380430"/>
            <a:ext cx="1999060" cy="1397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239 Skills · 行业 / 云服务 / 通用</a:t>
            </a:r>
            <a:endParaRPr/>
          </a:p>
        </p:txBody>
      </p:sp>
      <p:sp>
        <p:nvSpPr>
          <p:cNvPr id="26" name="文字 26"/>
          <p:cNvSpPr txBox="1"/>
          <p:nvPr/>
        </p:nvSpPr>
        <p:spPr>
          <a:xfrm>
            <a:off x="8136434" y="1564581"/>
            <a:ext cx="127000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强</a:t>
            </a:r>
            <a:endParaRPr/>
          </a:p>
        </p:txBody>
      </p:sp>
      <p:sp>
        <p:nvSpPr>
          <p:cNvPr id="27" name="文字 27"/>
          <p:cNvSpPr txBox="1"/>
          <p:nvPr/>
        </p:nvSpPr>
        <p:spPr>
          <a:xfrm>
            <a:off x="8276332" y="1564581"/>
            <a:ext cx="3323233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Agent Skills 标准、10MB 包规范、完整度评估、trace 驱动优化、</a:t>
            </a:r>
            <a:endParaRPr/>
          </a:p>
        </p:txBody>
      </p:sp>
      <p:sp>
        <p:nvSpPr>
          <p:cNvPr id="28" name="文字 28"/>
          <p:cNvSpPr txBox="1"/>
          <p:nvPr/>
        </p:nvSpPr>
        <p:spPr>
          <a:xfrm>
            <a:off x="8136434" y="1724521"/>
            <a:ext cx="1155700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多平台分发、商店变现</a:t>
            </a:r>
            <a:endParaRPr/>
          </a:p>
        </p:txBody>
      </p:sp>
      <p:sp>
        <p:nvSpPr>
          <p:cNvPr id="29" name="文字 29"/>
          <p:cNvSpPr txBox="1"/>
          <p:nvPr/>
        </p:nvSpPr>
        <p:spPr>
          <a:xfrm>
            <a:off x="8136434" y="1897162"/>
            <a:ext cx="127000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弱</a:t>
            </a:r>
            <a:endParaRPr/>
          </a:p>
        </p:txBody>
      </p:sp>
      <p:sp>
        <p:nvSpPr>
          <p:cNvPr id="30" name="文字 30"/>
          <p:cNvSpPr txBox="1"/>
          <p:nvPr/>
        </p:nvSpPr>
        <p:spPr>
          <a:xfrm>
            <a:off x="8276332" y="1897162"/>
            <a:ext cx="3074095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规模早期、仅贵阳一、导入/管理/浏览为主、部分需申请使用</a:t>
            </a:r>
            <a:endParaRPr/>
          </a:p>
        </p:txBody>
      </p:sp>
      <p:pic>
        <p:nvPicPr>
          <p:cNvPr id="31" name="slide-001-imag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09502"/>
            <a:ext cx="5549900" cy="740966"/>
          </a:xfrm>
          <a:prstGeom prst="rect">
            <a:avLst/>
          </a:prstGeom>
        </p:spPr>
      </p:pic>
      <p:sp>
        <p:nvSpPr>
          <p:cNvPr id="32" name="文字 32"/>
          <p:cNvSpPr txBox="1"/>
          <p:nvPr/>
        </p:nvSpPr>
        <p:spPr>
          <a:xfrm>
            <a:off x="457200" y="2260302"/>
            <a:ext cx="127000" cy="1270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01</a:t>
            </a:r>
            <a:endParaRPr/>
          </a:p>
        </p:txBody>
      </p:sp>
      <p:sp>
        <p:nvSpPr>
          <p:cNvPr id="33" name="文字 33"/>
          <p:cNvSpPr txBox="1"/>
          <p:nvPr/>
        </p:nvSpPr>
        <p:spPr>
          <a:xfrm>
            <a:off x="457200" y="2412702"/>
            <a:ext cx="2108200" cy="2032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标准与分发：一个包，多平台触达</a:t>
            </a:r>
            <a:endParaRPr/>
          </a:p>
        </p:txBody>
      </p:sp>
      <p:sp>
        <p:nvSpPr>
          <p:cNvPr id="34" name="文字 34"/>
          <p:cNvSpPr txBox="1"/>
          <p:nvPr/>
        </p:nvSpPr>
        <p:spPr>
          <a:xfrm>
            <a:off x="457200" y="2619673"/>
            <a:ext cx="5279727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沿用 Agent Skills 标准与 ZIP（≤10MB）；npx skills add / skills.sh 安装；一发布分发 CodeArts、</a:t>
            </a:r>
            <a:endParaRPr/>
          </a:p>
        </p:txBody>
      </p:sp>
      <p:sp>
        <p:nvSpPr>
          <p:cNvPr id="35" name="文字 35"/>
          <p:cNvSpPr txBox="1"/>
          <p:nvPr/>
        </p:nvSpPr>
        <p:spPr>
          <a:xfrm>
            <a:off x="457200" y="2794595"/>
            <a:ext cx="3537248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ModelArts、AgentArts、CloudRobo；版本/可见性/许可证齐全。</a:t>
            </a:r>
            <a:endParaRPr/>
          </a:p>
        </p:txBody>
      </p:sp>
      <p:pic>
        <p:nvPicPr>
          <p:cNvPr id="36" name="slide-001-image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4900" y="2209502"/>
            <a:ext cx="5549901" cy="740966"/>
          </a:xfrm>
          <a:prstGeom prst="rect">
            <a:avLst/>
          </a:prstGeom>
        </p:spPr>
      </p:pic>
      <p:sp>
        <p:nvSpPr>
          <p:cNvPr id="37" name="文字 37"/>
          <p:cNvSpPr txBox="1"/>
          <p:nvPr/>
        </p:nvSpPr>
        <p:spPr>
          <a:xfrm>
            <a:off x="6184900" y="2260302"/>
            <a:ext cx="127000" cy="1270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02</a:t>
            </a:r>
            <a:endParaRPr/>
          </a:p>
        </p:txBody>
      </p:sp>
      <p:sp>
        <p:nvSpPr>
          <p:cNvPr id="38" name="文字 38"/>
          <p:cNvSpPr txBox="1"/>
          <p:nvPr/>
        </p:nvSpPr>
        <p:spPr>
          <a:xfrm>
            <a:off x="6184900" y="2412702"/>
            <a:ext cx="2108200" cy="2032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质量与信任：把证据放在分数前面</a:t>
            </a:r>
            <a:endParaRPr/>
          </a:p>
        </p:txBody>
      </p:sp>
      <p:sp>
        <p:nvSpPr>
          <p:cNvPr id="39" name="文字 39"/>
          <p:cNvSpPr txBox="1"/>
          <p:nvPr/>
        </p:nvSpPr>
        <p:spPr>
          <a:xfrm>
            <a:off x="6184900" y="2619673"/>
            <a:ext cx="5484019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完整度评估（步骤/输入输出/前置条件/错误处理）+ 安全审核 + 内容指纹/签名；评测报告公开、绑定版</a:t>
            </a:r>
            <a:endParaRPr/>
          </a:p>
        </p:txBody>
      </p:sp>
      <p:sp>
        <p:nvSpPr>
          <p:cNvPr id="40" name="文字 40"/>
          <p:cNvSpPr txBox="1"/>
          <p:nvPr/>
        </p:nvSpPr>
        <p:spPr>
          <a:xfrm>
            <a:off x="6184900" y="2794595"/>
            <a:ext cx="170180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本，避免高分集中和黑箱评分。</a:t>
            </a:r>
            <a:endParaRPr/>
          </a:p>
        </p:txBody>
      </p:sp>
      <p:pic>
        <p:nvPicPr>
          <p:cNvPr id="41" name="slide-001-image-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090168"/>
            <a:ext cx="5549900" cy="740966"/>
          </a:xfrm>
          <a:prstGeom prst="rect">
            <a:avLst/>
          </a:prstGeom>
        </p:spPr>
      </p:pic>
      <p:sp>
        <p:nvSpPr>
          <p:cNvPr id="42" name="文字 42"/>
          <p:cNvSpPr txBox="1"/>
          <p:nvPr/>
        </p:nvSpPr>
        <p:spPr>
          <a:xfrm>
            <a:off x="457200" y="3140968"/>
            <a:ext cx="127000" cy="1270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03</a:t>
            </a:r>
            <a:endParaRPr/>
          </a:p>
        </p:txBody>
      </p:sp>
      <p:sp>
        <p:nvSpPr>
          <p:cNvPr id="43" name="文字 43"/>
          <p:cNvSpPr txBox="1"/>
          <p:nvPr/>
        </p:nvSpPr>
        <p:spPr>
          <a:xfrm>
            <a:off x="457200" y="3293368"/>
            <a:ext cx="2260203" cy="2032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供给与生态：官方 + 行业 + 社区三层</a:t>
            </a:r>
            <a:endParaRPr/>
          </a:p>
        </p:txBody>
      </p:sp>
      <p:sp>
        <p:nvSpPr>
          <p:cNvPr id="44" name="文字 44"/>
          <p:cNvSpPr txBox="1"/>
          <p:nvPr/>
        </p:nvSpPr>
        <p:spPr>
          <a:xfrm>
            <a:off x="457200" y="3500338"/>
            <a:ext cx="5554266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官方做标杆，行业/企业做深度，社区做长尾；239 个只是起点，先做 5–10 个垂直行业标杆，再补分类、</a:t>
            </a:r>
            <a:endParaRPr/>
          </a:p>
        </p:txBody>
      </p:sp>
      <p:sp>
        <p:nvSpPr>
          <p:cNvPr id="45" name="文字 45"/>
          <p:cNvSpPr txBox="1"/>
          <p:nvPr/>
        </p:nvSpPr>
        <p:spPr>
          <a:xfrm>
            <a:off x="457200" y="3675261"/>
            <a:ext cx="109855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搜索、榜单、合集。</a:t>
            </a:r>
            <a:endParaRPr/>
          </a:p>
        </p:txBody>
      </p:sp>
      <p:pic>
        <p:nvPicPr>
          <p:cNvPr id="46" name="slide-001-image-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4900" y="3090168"/>
            <a:ext cx="5549901" cy="740966"/>
          </a:xfrm>
          <a:prstGeom prst="rect">
            <a:avLst/>
          </a:prstGeom>
        </p:spPr>
      </p:pic>
      <p:sp>
        <p:nvSpPr>
          <p:cNvPr id="47" name="文字 47"/>
          <p:cNvSpPr txBox="1"/>
          <p:nvPr/>
        </p:nvSpPr>
        <p:spPr>
          <a:xfrm>
            <a:off x="6184900" y="3140968"/>
            <a:ext cx="127000" cy="1270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04</a:t>
            </a:r>
            <a:endParaRPr/>
          </a:p>
        </p:txBody>
      </p:sp>
      <p:sp>
        <p:nvSpPr>
          <p:cNvPr id="48" name="文字 48"/>
          <p:cNvSpPr txBox="1"/>
          <p:nvPr/>
        </p:nvSpPr>
        <p:spPr>
          <a:xfrm>
            <a:off x="6184900" y="3293368"/>
            <a:ext cx="1689100" cy="2032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商业与治理：从能用到能卖</a:t>
            </a:r>
            <a:endParaRPr/>
          </a:p>
        </p:txBody>
      </p:sp>
      <p:sp>
        <p:nvSpPr>
          <p:cNvPr id="49" name="文字 49"/>
          <p:cNvSpPr txBox="1"/>
          <p:nvPr/>
        </p:nvSpPr>
        <p:spPr>
          <a:xfrm>
            <a:off x="6184900" y="3500338"/>
            <a:ext cx="5491262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商店上架 + 调用收益 + 持续创收；license/来源/退款/争议要可追溯；下载不等于用户，跨平台数据口径</a:t>
            </a:r>
            <a:endParaRPr/>
          </a:p>
        </p:txBody>
      </p:sp>
      <p:sp>
        <p:nvSpPr>
          <p:cNvPr id="50" name="文字 50"/>
          <p:cNvSpPr txBox="1"/>
          <p:nvPr/>
        </p:nvSpPr>
        <p:spPr>
          <a:xfrm>
            <a:off x="6184900" y="3675261"/>
            <a:ext cx="49530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要统一。</a:t>
            </a:r>
            <a:endParaRPr/>
          </a:p>
        </p:txBody>
      </p:sp>
      <p:sp>
        <p:nvSpPr>
          <p:cNvPr id="51" name="形状 51"/>
          <p:cNvSpPr/>
          <p:nvPr/>
        </p:nvSpPr>
        <p:spPr>
          <a:xfrm>
            <a:off x="457200" y="3920034"/>
            <a:ext cx="3699867" cy="987822"/>
          </a:xfrm>
          <a:prstGeom prst="roundRect">
            <a:avLst>
              <a:gd name="adj" fmla="val 5143"/>
            </a:avLst>
          </a:prstGeom>
          <a:noFill/>
          <a:ln w="6350">
            <a:solidFill>
              <a:srgbClr val="E2E4E7">
                <a:alpha val="100000"/>
              </a:srgbClr>
            </a:solidFill>
            <a:prstDash val="solid"/>
          </a:ln>
        </p:spPr>
      </p:sp>
      <p:sp>
        <p:nvSpPr>
          <p:cNvPr id="52" name="文字 52"/>
          <p:cNvSpPr txBox="1"/>
          <p:nvPr/>
        </p:nvSpPr>
        <p:spPr>
          <a:xfrm>
            <a:off x="546100" y="3996234"/>
            <a:ext cx="488950" cy="1270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P0 · 现在</a:t>
            </a:r>
            <a:endParaRPr/>
          </a:p>
        </p:txBody>
      </p:sp>
      <p:sp>
        <p:nvSpPr>
          <p:cNvPr id="53" name="文字 53"/>
          <p:cNvSpPr txBox="1"/>
          <p:nvPr/>
        </p:nvSpPr>
        <p:spPr>
          <a:xfrm>
            <a:off x="546100" y="4142284"/>
            <a:ext cx="901700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统一入口与证据</a:t>
            </a:r>
            <a:endParaRPr/>
          </a:p>
        </p:txBody>
      </p:sp>
      <p:sp>
        <p:nvSpPr>
          <p:cNvPr id="54" name="文字 54"/>
          <p:cNvSpPr txBox="1"/>
          <p:nvPr/>
        </p:nvSpPr>
        <p:spPr>
          <a:xfrm>
            <a:off x="546100" y="4339134"/>
            <a:ext cx="1613694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· 包规范/导入导出/版本可见性</a:t>
            </a:r>
            <a:endParaRPr/>
          </a:p>
        </p:txBody>
      </p:sp>
      <p:sp>
        <p:nvSpPr>
          <p:cNvPr id="55" name="文字 55"/>
          <p:cNvSpPr txBox="1"/>
          <p:nvPr/>
        </p:nvSpPr>
        <p:spPr>
          <a:xfrm>
            <a:off x="546100" y="4518124"/>
            <a:ext cx="2209999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· 详情页补安装命令、文件、许可证、作者</a:t>
            </a:r>
            <a:endParaRPr/>
          </a:p>
        </p:txBody>
      </p:sp>
      <p:sp>
        <p:nvSpPr>
          <p:cNvPr id="56" name="文字 56"/>
          <p:cNvSpPr txBox="1"/>
          <p:nvPr/>
        </p:nvSpPr>
        <p:spPr>
          <a:xfrm>
            <a:off x="546100" y="4697115"/>
            <a:ext cx="1081980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· 接入 skills.sh 分发</a:t>
            </a:r>
            <a:endParaRPr/>
          </a:p>
        </p:txBody>
      </p:sp>
      <p:sp>
        <p:nvSpPr>
          <p:cNvPr id="57" name="形状 57"/>
          <p:cNvSpPr/>
          <p:nvPr/>
        </p:nvSpPr>
        <p:spPr>
          <a:xfrm>
            <a:off x="4245967" y="3920034"/>
            <a:ext cx="3699966" cy="987822"/>
          </a:xfrm>
          <a:prstGeom prst="roundRect">
            <a:avLst>
              <a:gd name="adj" fmla="val 5143"/>
            </a:avLst>
          </a:prstGeom>
          <a:noFill/>
          <a:ln w="6350">
            <a:solidFill>
              <a:srgbClr val="E2E4E7">
                <a:alpha val="100000"/>
              </a:srgbClr>
            </a:solidFill>
            <a:prstDash val="solid"/>
          </a:ln>
        </p:spPr>
      </p:sp>
      <p:sp>
        <p:nvSpPr>
          <p:cNvPr id="58" name="文字 58"/>
          <p:cNvSpPr txBox="1"/>
          <p:nvPr/>
        </p:nvSpPr>
        <p:spPr>
          <a:xfrm>
            <a:off x="4334867" y="3996234"/>
            <a:ext cx="717550" cy="1270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P1 · 3–6 个月</a:t>
            </a:r>
            <a:endParaRPr/>
          </a:p>
        </p:txBody>
      </p:sp>
      <p:sp>
        <p:nvSpPr>
          <p:cNvPr id="59" name="文字 59"/>
          <p:cNvSpPr txBox="1"/>
          <p:nvPr/>
        </p:nvSpPr>
        <p:spPr>
          <a:xfrm>
            <a:off x="4334867" y="4142284"/>
            <a:ext cx="901700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质量与供给运营</a:t>
            </a:r>
            <a:endParaRPr/>
          </a:p>
        </p:txBody>
      </p:sp>
      <p:sp>
        <p:nvSpPr>
          <p:cNvPr id="60" name="文字 60"/>
          <p:cNvSpPr txBox="1"/>
          <p:nvPr/>
        </p:nvSpPr>
        <p:spPr>
          <a:xfrm>
            <a:off x="4334867" y="4339134"/>
            <a:ext cx="1867594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· 完整度评测 + 安全审核 + 评测报告</a:t>
            </a:r>
            <a:endParaRPr/>
          </a:p>
        </p:txBody>
      </p:sp>
      <p:sp>
        <p:nvSpPr>
          <p:cNvPr id="61" name="文字 61"/>
          <p:cNvSpPr txBox="1"/>
          <p:nvPr/>
        </p:nvSpPr>
        <p:spPr>
          <a:xfrm>
            <a:off x="4334867" y="4518124"/>
            <a:ext cx="1409700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· trace 驱动 Skill 优化闭环</a:t>
            </a:r>
            <a:endParaRPr/>
          </a:p>
        </p:txBody>
      </p:sp>
      <p:sp>
        <p:nvSpPr>
          <p:cNvPr id="62" name="文字 62"/>
          <p:cNvSpPr txBox="1"/>
          <p:nvPr/>
        </p:nvSpPr>
        <p:spPr>
          <a:xfrm>
            <a:off x="4334867" y="4697115"/>
            <a:ext cx="1454646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· 企业/行业供给与分类榜单</a:t>
            </a:r>
            <a:endParaRPr/>
          </a:p>
        </p:txBody>
      </p:sp>
      <p:sp>
        <p:nvSpPr>
          <p:cNvPr id="63" name="形状 63"/>
          <p:cNvSpPr/>
          <p:nvPr/>
        </p:nvSpPr>
        <p:spPr>
          <a:xfrm>
            <a:off x="8034834" y="3920034"/>
            <a:ext cx="3699967" cy="987822"/>
          </a:xfrm>
          <a:prstGeom prst="roundRect">
            <a:avLst>
              <a:gd name="adj" fmla="val 5143"/>
            </a:avLst>
          </a:prstGeom>
          <a:noFill/>
          <a:ln w="6350">
            <a:solidFill>
              <a:srgbClr val="E2E4E7">
                <a:alpha val="100000"/>
              </a:srgbClr>
            </a:solidFill>
            <a:prstDash val="solid"/>
          </a:ln>
        </p:spPr>
      </p:sp>
      <p:sp>
        <p:nvSpPr>
          <p:cNvPr id="64" name="文字 64"/>
          <p:cNvSpPr txBox="1"/>
          <p:nvPr/>
        </p:nvSpPr>
        <p:spPr>
          <a:xfrm>
            <a:off x="8123734" y="3996234"/>
            <a:ext cx="774700" cy="1270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P2 · 6–12 个月</a:t>
            </a:r>
            <a:endParaRPr/>
          </a:p>
        </p:txBody>
      </p:sp>
      <p:sp>
        <p:nvSpPr>
          <p:cNvPr id="65" name="文字 65"/>
          <p:cNvSpPr txBox="1"/>
          <p:nvPr/>
        </p:nvSpPr>
        <p:spPr>
          <a:xfrm>
            <a:off x="8123734" y="4142284"/>
            <a:ext cx="647700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商业与生态</a:t>
            </a:r>
            <a:endParaRPr/>
          </a:p>
        </p:txBody>
      </p:sp>
      <p:sp>
        <p:nvSpPr>
          <p:cNvPr id="66" name="文字 66"/>
          <p:cNvSpPr txBox="1"/>
          <p:nvPr/>
        </p:nvSpPr>
        <p:spPr>
          <a:xfrm>
            <a:off x="8123734" y="4339134"/>
            <a:ext cx="1385094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· 商店上架/调用计费/分成</a:t>
            </a:r>
            <a:endParaRPr/>
          </a:p>
        </p:txBody>
      </p:sp>
      <p:sp>
        <p:nvSpPr>
          <p:cNvPr id="67" name="文字 67"/>
          <p:cNvSpPr txBox="1"/>
          <p:nvPr/>
        </p:nvSpPr>
        <p:spPr>
          <a:xfrm>
            <a:off x="8123734" y="4518124"/>
            <a:ext cx="952699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· 跨平台分发数据</a:t>
            </a:r>
            <a:endParaRPr/>
          </a:p>
        </p:txBody>
      </p:sp>
      <p:sp>
        <p:nvSpPr>
          <p:cNvPr id="68" name="文字 68"/>
          <p:cNvSpPr txBox="1"/>
          <p:nvPr/>
        </p:nvSpPr>
        <p:spPr>
          <a:xfrm>
            <a:off x="8123734" y="4697115"/>
            <a:ext cx="1181299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· 生态指标与治理机制</a:t>
            </a:r>
            <a:endParaRPr/>
          </a:p>
        </p:txBody>
      </p:sp>
      <p:pic>
        <p:nvPicPr>
          <p:cNvPr id="69" name="slide-001-image-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4984055"/>
            <a:ext cx="11277600" cy="413941"/>
          </a:xfrm>
          <a:prstGeom prst="rect">
            <a:avLst/>
          </a:prstGeom>
        </p:spPr>
      </p:pic>
      <p:sp>
        <p:nvSpPr>
          <p:cNvPr id="70" name="文字 70"/>
          <p:cNvSpPr txBox="1"/>
          <p:nvPr/>
        </p:nvSpPr>
        <p:spPr>
          <a:xfrm>
            <a:off x="457200" y="5060255"/>
            <a:ext cx="774700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标准是入场券</a:t>
            </a:r>
            <a:endParaRPr/>
          </a:p>
        </p:txBody>
      </p:sp>
      <p:sp>
        <p:nvSpPr>
          <p:cNvPr id="71" name="文字 71"/>
          <p:cNvSpPr txBox="1"/>
          <p:nvPr/>
        </p:nvSpPr>
        <p:spPr>
          <a:xfrm>
            <a:off x="457200" y="5250756"/>
            <a:ext cx="3053259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三平台都遵循 Agent Skills；差异不在格式，在分发与治理。</a:t>
            </a:r>
            <a:endParaRPr/>
          </a:p>
        </p:txBody>
      </p:sp>
      <p:sp>
        <p:nvSpPr>
          <p:cNvPr id="72" name="文字 72"/>
          <p:cNvSpPr txBox="1"/>
          <p:nvPr/>
        </p:nvSpPr>
        <p:spPr>
          <a:xfrm>
            <a:off x="4254500" y="5060255"/>
            <a:ext cx="647700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评测是信任</a:t>
            </a:r>
            <a:endParaRPr/>
          </a:p>
        </p:txBody>
      </p:sp>
      <p:sp>
        <p:nvSpPr>
          <p:cNvPr id="73" name="文字 73"/>
          <p:cNvSpPr txBox="1"/>
          <p:nvPr/>
        </p:nvSpPr>
        <p:spPr>
          <a:xfrm>
            <a:off x="4254500" y="5250756"/>
            <a:ext cx="3074095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都在补评测/安全/签名；覆盖、口径与版本一致性才是难点。</a:t>
            </a:r>
            <a:endParaRPr/>
          </a:p>
        </p:txBody>
      </p:sp>
      <p:sp>
        <p:nvSpPr>
          <p:cNvPr id="74" name="文字 74"/>
          <p:cNvSpPr txBox="1"/>
          <p:nvPr/>
        </p:nvSpPr>
        <p:spPr>
          <a:xfrm>
            <a:off x="8051800" y="5060255"/>
            <a:ext cx="647700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生态是规模</a:t>
            </a:r>
            <a:endParaRPr/>
          </a:p>
        </p:txBody>
      </p:sp>
      <p:sp>
        <p:nvSpPr>
          <p:cNvPr id="75" name="文字 75"/>
          <p:cNvSpPr txBox="1"/>
          <p:nvPr/>
        </p:nvSpPr>
        <p:spPr>
          <a:xfrm>
            <a:off x="8051800" y="5250756"/>
            <a:ext cx="2642195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官方 + 企业 + 社区三层；商业化决定能否持续供给。</a:t>
            </a:r>
            <a:endParaRPr/>
          </a:p>
        </p:txBody>
      </p:sp>
      <p:pic>
        <p:nvPicPr>
          <p:cNvPr id="76" name="slide-001-image-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6324600"/>
            <a:ext cx="11277600" cy="254001"/>
          </a:xfrm>
          <a:prstGeom prst="rect">
            <a:avLst/>
          </a:prstGeom>
        </p:spPr>
      </p:pic>
      <p:sp>
        <p:nvSpPr>
          <p:cNvPr id="77" name="文字 77"/>
          <p:cNvSpPr txBox="1"/>
          <p:nvPr/>
        </p:nvSpPr>
        <p:spPr>
          <a:xfrm>
            <a:off x="457200" y="6407150"/>
            <a:ext cx="5461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一句话：</a:t>
            </a:r>
            <a:endParaRPr/>
          </a:p>
        </p:txBody>
      </p:sp>
      <p:sp>
        <p:nvSpPr>
          <p:cNvPr id="78" name="文字 78"/>
          <p:cNvSpPr txBox="1"/>
          <p:nvPr/>
        </p:nvSpPr>
        <p:spPr>
          <a:xfrm>
            <a:off x="1054100" y="6407150"/>
            <a:ext cx="8948143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智果园不必重造一个市场，而应把「标准入口 + 质量证据 + 行业供给 + 商业闭环」做成可复用的能力层；评测和分发是两条护城河，供给运营是胜负手。</a:t>
            </a:r>
            <a:endParaRPr/>
          </a:p>
        </p:txBody>
      </p:sp>
      <p:sp>
        <p:nvSpPr>
          <p:cNvPr id="79" name="文字 79"/>
          <p:cNvSpPr txBox="1"/>
          <p:nvPr/>
        </p:nvSpPr>
        <p:spPr>
          <a:xfrm>
            <a:off x="457200" y="6648450"/>
            <a:ext cx="6639620" cy="1206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650" b="0" i="0" u="none" spc="0">
                <a:solidFill>
                  <a:srgbClr val="8B8E9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来源：ModelScope 公开 API/文档、腾讯 SkillHub 官网/公开 API/官方仓库、华为云 AgentArts / AI 资产广场文档与公开页面；2026-10-19/20 只读核查，详见 references/ 调研笔记。</a:t>
            </a:r>
            <a:endParaRPr/>
          </a:p>
        </p:txBody>
      </p:sp>
      <p:pic>
        <p:nvPicPr>
          <p:cNvPr id="80" name="slide-001-image-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498678" y="6590135"/>
            <a:ext cx="680240" cy="15340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!-- 空白母版、版式与主题取自 python-pptx 1.0.2 的默认有效文稿；母版只保留空白版式。 --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