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autoCompressPictures="0">
  <p:sldMasterIdLst>
    <p:sldMasterId id="2147483648" r:id="rId1"/>
  </p:sldMasterIdLst>
  <p:sldIdLst>
    <p:sldId id="276" r:id="rId22"/>
    <p:sldId id="279" r:id="rId6"/>
    <p:sldId id="280" r:id="rId23"/>
    <p:sldId id="257" r:id="rId3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7" r:id="rId20"/>
    <p:sldId id="278" r:id="rId21"/>
  </p:sldIdLst>
  <p:sldSz cx="12192000" cy="6858000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21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1.xml"/><Relationship Id="rId23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2:creationId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image" Target="../media/image15.png"/><Relationship Id="rId12" Type="http://schemas.openxmlformats.org/officeDocument/2006/relationships/image" Target="../media/image16.png"/><Relationship Id="rId13" Type="http://schemas.openxmlformats.org/officeDocument/2006/relationships/image" Target="../media/image17.png"/><Relationship Id="rId14" Type="http://schemas.openxmlformats.org/officeDocument/2006/relationships/image" Target="../media/image18.png"/><Relationship Id="rId15" Type="http://schemas.openxmlformats.org/officeDocument/2006/relationships/image" Target="../media/image19.png"/><Relationship Id="rId1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Relationship Id="rId10" Type="http://schemas.openxmlformats.org/officeDocument/2006/relationships/image" Target="../media/image26.png"/><Relationship Id="rId11" Type="http://schemas.openxmlformats.org/officeDocument/2006/relationships/image" Target="../media/image27.png"/><Relationship Id="rId12" Type="http://schemas.openxmlformats.org/officeDocument/2006/relationships/image" Target="../media/image28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Relationship Id="rId17" Type="http://schemas.openxmlformats.org/officeDocument/2006/relationships/image" Target="../media/image17.png"/><Relationship Id="rId18" Type="http://schemas.openxmlformats.org/officeDocument/2006/relationships/image" Target="../media/image18.png"/><Relationship Id="rId19" Type="http://schemas.openxmlformats.org/officeDocument/2006/relationships/image" Target="../media/image19.png"/><Relationship Id="rId20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Relationship Id="rId11" Type="http://schemas.openxmlformats.org/officeDocument/2006/relationships/image" Target="../media/image38.png"/><Relationship Id="rId12" Type="http://schemas.openxmlformats.org/officeDocument/2006/relationships/image" Target="../media/image39.png"/><Relationship Id="rId13" Type="http://schemas.openxmlformats.org/officeDocument/2006/relationships/image" Target="../media/image40.png"/><Relationship Id="rId14" Type="http://schemas.openxmlformats.org/officeDocument/2006/relationships/image" Target="../media/image41.png"/><Relationship Id="rId15" Type="http://schemas.openxmlformats.org/officeDocument/2006/relationships/image" Target="../media/image42.png"/><Relationship Id="rId16" Type="http://schemas.openxmlformats.org/officeDocument/2006/relationships/image" Target="../media/image43.png"/><Relationship Id="rId17" Type="http://schemas.openxmlformats.org/officeDocument/2006/relationships/image" Target="../media/image44.png"/><Relationship Id="rId18" Type="http://schemas.openxmlformats.org/officeDocument/2006/relationships/image" Target="../media/image45.png"/><Relationship Id="rId19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Relationship Id="rId11" Type="http://schemas.openxmlformats.org/officeDocument/2006/relationships/image" Target="../media/image96.png"/><Relationship Id="rId12" Type="http://schemas.openxmlformats.org/officeDocument/2006/relationships/image" Target="../media/image97.png"/><Relationship Id="rId1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Relationship Id="rId4" Type="http://schemas.openxmlformats.org/officeDocument/2006/relationships/image" Target="../media/image100.png"/><Relationship Id="rId5" Type="http://schemas.openxmlformats.org/officeDocument/2006/relationships/image" Target="../media/image101.png"/><Relationship Id="rId6" Type="http://schemas.openxmlformats.org/officeDocument/2006/relationships/image" Target="../media/image102.png"/><Relationship Id="rId7" Type="http://schemas.openxmlformats.org/officeDocument/2006/relationships/image" Target="../media/image103.png"/><Relationship Id="rId8" Type="http://schemas.openxmlformats.org/officeDocument/2006/relationships/image" Target="../media/image104.png"/><Relationship Id="rId9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Relationship Id="rId19" Type="http://schemas.openxmlformats.org/officeDocument/2006/relationships/image" Target="../media/image122.png"/><Relationship Id="rId20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3.png"/><Relationship Id="rId3" Type="http://schemas.openxmlformats.org/officeDocument/2006/relationships/image" Target="../media/image124.png"/><Relationship Id="rId4" Type="http://schemas.openxmlformats.org/officeDocument/2006/relationships/image" Target="../media/image125.png"/><Relationship Id="rId5" Type="http://schemas.openxmlformats.org/officeDocument/2006/relationships/image" Target="../media/image126.png"/><Relationship Id="rId6" Type="http://schemas.openxmlformats.org/officeDocument/2006/relationships/image" Target="../media/image127.png"/><Relationship Id="rId7" Type="http://schemas.openxmlformats.org/officeDocument/2006/relationships/image" Target="../media/image128.png"/><Relationship Id="rId8" Type="http://schemas.openxmlformats.org/officeDocument/2006/relationships/image" Target="../media/image129.png"/><Relationship Id="rId9" Type="http://schemas.openxmlformats.org/officeDocument/2006/relationships/image" Target="../media/image130.png"/><Relationship Id="rId10" Type="http://schemas.openxmlformats.org/officeDocument/2006/relationships/image" Target="../media/image131.png"/><Relationship Id="rId11" Type="http://schemas.openxmlformats.org/officeDocument/2006/relationships/image" Target="../media/image132.png"/><Relationship Id="rId12" Type="http://schemas.openxmlformats.org/officeDocument/2006/relationships/image" Target="../media/image133.png"/><Relationship Id="rId1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Relationship Id="rId6" Type="http://schemas.openxmlformats.org/officeDocument/2006/relationships/image" Target="../media/image138.png"/><Relationship Id="rId7" Type="http://schemas.openxmlformats.org/officeDocument/2006/relationships/image" Target="../media/image139.png"/><Relationship Id="rId8" Type="http://schemas.openxmlformats.org/officeDocument/2006/relationships/image" Target="../media/image140.png"/><Relationship Id="rId9" Type="http://schemas.openxmlformats.org/officeDocument/2006/relationships/image" Target="../media/image141.png"/><Relationship Id="rId10" Type="http://schemas.openxmlformats.org/officeDocument/2006/relationships/image" Target="../media/image142.png"/><Relationship Id="rId11" Type="http://schemas.openxmlformats.org/officeDocument/2006/relationships/image" Target="../media/image143.png"/><Relationship Id="rId12" Type="http://schemas.openxmlformats.org/officeDocument/2006/relationships/image" Target="../media/image144.png"/><Relationship Id="rId13" Type="http://schemas.openxmlformats.org/officeDocument/2006/relationships/image" Target="../media/image145.png"/><Relationship Id="rId14" Type="http://schemas.openxmlformats.org/officeDocument/2006/relationships/image" Target="../media/image14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7.png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7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Relationship Id="rId5" Type="http://schemas.openxmlformats.org/officeDocument/2006/relationships/image" Target="../media/image170.png"/><Relationship Id="rId6" Type="http://schemas.openxmlformats.org/officeDocument/2006/relationships/image" Target="../media/image171.png"/><Relationship Id="rId7" Type="http://schemas.openxmlformats.org/officeDocument/2006/relationships/image" Target="../media/image172.png"/><Relationship Id="rId8" Type="http://schemas.openxmlformats.org/officeDocument/2006/relationships/image" Target="../media/image173.png"/><Relationship Id="rId9" Type="http://schemas.openxmlformats.org/officeDocument/2006/relationships/image" Target="../media/image174.png"/><Relationship Id="rId10" Type="http://schemas.openxmlformats.org/officeDocument/2006/relationships/image" Target="../media/image175.png"/><Relationship Id="rId11" Type="http://schemas.openxmlformats.org/officeDocument/2006/relationships/image" Target="../media/image176.png"/><Relationship Id="rId12" Type="http://schemas.openxmlformats.org/officeDocument/2006/relationships/image" Target="../media/image17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 资产生命周期：生产 → 分发 → 安装 → 使用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097280"/>
            <a:ext cx="10728960" cy="0"/>
          </a:xfrm>
          <a:prstGeom prst="line">
            <a:avLst/>
          </a:prstGeom>
          <a:ln w="12700">
            <a:solidFill>
              <a:srgbClr val="C9C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6720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7408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50720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7408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把经验变成可复用的方法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7408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7408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定任务：目标 / 输入输出 / 边界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起稿：$skill-creator 生成草稿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补步骤/异常/验收，配资源跑三类任务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73024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7408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触发准 / 边界清 / 样例与评测齐全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320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方法包 + 样例 + 评测 + 依赖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2566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83254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00246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6566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 / 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3254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让合适的人拿到明确版本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3254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3254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打包：Git / ZIP，附来源/版本/许可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写说明页：场景/示例/环境/限制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上架：市场 / Plugin / 托管 API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458870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83254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22166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展示=实得 / 来源可追 / 版本可回滚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83254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22166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发布包 + 说明页 + 来源/版本/许可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8412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9100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6092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2412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宿主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9100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在宿主 Agent 中安装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9100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9100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复制到 ~/.agents/skills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npx skills add &lt;repo&gt; -g -a codex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查依赖 / 权限，跑最小任务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344716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369100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08012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宿主可见 / 依赖权限 / 最小任务通过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9100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08012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安装实例 + 就绪检查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84259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54947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71939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8259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用户 / Agent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54947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在任务中调用并反馈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54947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4947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提任务：目标 / 输入 / 约束 / 验收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自动匹配，或点名 /pdf-processing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渐进加载 references/scripts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230563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254947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3859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已加载 / 已执行 / 已验收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54947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3859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任务结果 + 验收结论 + 使用记录</a:t>
            </a:r>
          </a:p>
        </p:txBody>
      </p:sp>
      <p:sp>
        <p:nvSpPr>
          <p:cNvPr id="52" name="Oval 51"/>
          <p:cNvSpPr/>
          <p:nvPr/>
        </p:nvSpPr>
        <p:spPr>
          <a:xfrm>
            <a:off x="1671828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2083308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57674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4969154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443520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7855000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329367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cxnSp>
        <p:nvCxnSpPr>
          <p:cNvPr id="59" name="Connector 58"/>
          <p:cNvCxnSpPr/>
          <p:nvPr/>
        </p:nvCxnSpPr>
        <p:spPr>
          <a:xfrm flipH="1">
            <a:off x="853440" y="3977639"/>
            <a:ext cx="10485120" cy="0"/>
          </a:xfrm>
          <a:prstGeom prst="line">
            <a:avLst/>
          </a:prstGeom>
          <a:ln w="12700">
            <a:solidFill>
              <a:srgbClr val="A5AC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Left Arrow 59"/>
          <p:cNvSpPr/>
          <p:nvPr/>
        </p:nvSpPr>
        <p:spPr>
          <a:xfrm>
            <a:off x="609600" y="3929633"/>
            <a:ext cx="207264" cy="96012"/>
          </a:xfrm>
          <a:prstGeom prst="leftArrow">
            <a:avLst/>
          </a:prstGeom>
          <a:solidFill>
            <a:srgbClr val="A5A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89120" y="3867911"/>
            <a:ext cx="3413760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用后反馈 → 修订 → 新版本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6720" y="4217670"/>
            <a:ext cx="11338560" cy="137160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24256" y="4341114"/>
            <a:ext cx="48768" cy="1124712"/>
          </a:xfrm>
          <a:prstGeom prst="roundRect">
            <a:avLst>
              <a:gd name="adj" fmla="val 5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0560" y="4286250"/>
            <a:ext cx="24384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智果园示例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0560" y="4423410"/>
            <a:ext cx="67056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从生产到 CodeArts Agent 的一条链路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0560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0560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本地或 CodeArts 生产 Skill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2609088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828544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45536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828544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智果园 AI 资产广场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4767072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86528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520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86528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CodeArts Agent</a:t>
            </a:r>
          </a:p>
        </p:txBody>
      </p:sp>
      <p:sp>
        <p:nvSpPr>
          <p:cNvPr id="77" name="Right Arrow 76"/>
          <p:cNvSpPr/>
          <p:nvPr/>
        </p:nvSpPr>
        <p:spPr>
          <a:xfrm>
            <a:off x="6925056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44512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61504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调用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44512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任务中按需加载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9083040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302496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19488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反馈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02496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使用记录 → v1.1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0560" y="5301234"/>
            <a:ext cx="1072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验收：能装 · 能跑 · 能验收 · 能回滚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7680" y="586359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72896" y="586359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平台的价值不在“存资产”，而在让 Skill 可发现、可安装、可运行、可迭代。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将技能分发扩展到场景组合与云端验证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982960"/>
            <a:ext cx="812800" cy="355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257300" y="1097260"/>
            <a:ext cx="1997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万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344910"/>
            <a:ext cx="13174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API 条目数 199,511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2489200" y="982960"/>
            <a:ext cx="332780" cy="355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13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809280" y="1097260"/>
            <a:ext cx="1997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类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2489200" y="1344910"/>
            <a:ext cx="14605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一级分类，覆盖通用与行业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305300" y="1060351"/>
            <a:ext cx="2498328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面向中国用户的 Agent 能力供给网络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05300" y="1296491"/>
            <a:ext cx="3213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全球同步扩大覆盖，本土共建与企业服务补充专业能力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57200" y="17703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资产结构：四层分析视图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57200" y="2043410"/>
            <a:ext cx="18224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职责可组合，非官方强制依赖层级</a:t>
            </a:r>
            <a:endParaRPr/>
          </a:p>
        </p:txBody>
      </p:sp>
      <p:sp>
        <p:nvSpPr>
          <p:cNvPr id="20" name="形状 20"/>
          <p:cNvSpPr/>
          <p:nvPr/>
        </p:nvSpPr>
        <p:spPr>
          <a:xfrm>
            <a:off x="457200" y="2297410"/>
            <a:ext cx="2794000" cy="598091"/>
          </a:xfrm>
          <a:prstGeom prst="roundRect">
            <a:avLst>
              <a:gd name="adj" fmla="val 849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形状 21"/>
          <p:cNvSpPr/>
          <p:nvPr/>
        </p:nvSpPr>
        <p:spPr>
          <a:xfrm>
            <a:off x="463550" y="2303760"/>
            <a:ext cx="482600" cy="585391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632420" y="2425006"/>
            <a:ext cx="15755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L4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71500" y="2594471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角色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1041400" y="2400895"/>
            <a:ext cx="4272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SOUL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1041400" y="2630686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人格、表达与协作方式</a:t>
            </a:r>
            <a:endParaRPr/>
          </a:p>
        </p:txBody>
      </p:sp>
      <p:sp>
        <p:nvSpPr>
          <p:cNvPr id="26" name="形状 26"/>
          <p:cNvSpPr/>
          <p:nvPr/>
        </p:nvSpPr>
        <p:spPr>
          <a:xfrm>
            <a:off x="457200" y="2971701"/>
            <a:ext cx="2794000" cy="598091"/>
          </a:xfrm>
          <a:prstGeom prst="roundRect">
            <a:avLst>
              <a:gd name="adj" fmla="val 849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形状 27"/>
          <p:cNvSpPr/>
          <p:nvPr/>
        </p:nvSpPr>
        <p:spPr>
          <a:xfrm>
            <a:off x="463550" y="2978051"/>
            <a:ext cx="482600" cy="585391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8" name="文字 28"/>
          <p:cNvSpPr txBox="1"/>
          <p:nvPr/>
        </p:nvSpPr>
        <p:spPr>
          <a:xfrm>
            <a:off x="632420" y="3099296"/>
            <a:ext cx="15755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L3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571500" y="3268762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组合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1041400" y="3075186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专家包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041400" y="3304977"/>
            <a:ext cx="130393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按场景组织多个 Skills</a:t>
            </a:r>
            <a:endParaRPr/>
          </a:p>
        </p:txBody>
      </p:sp>
      <p:sp>
        <p:nvSpPr>
          <p:cNvPr id="32" name="形状 32"/>
          <p:cNvSpPr/>
          <p:nvPr/>
        </p:nvSpPr>
        <p:spPr>
          <a:xfrm>
            <a:off x="457200" y="3645992"/>
            <a:ext cx="2794000" cy="598091"/>
          </a:xfrm>
          <a:prstGeom prst="roundRect">
            <a:avLst>
              <a:gd name="adj" fmla="val 849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形状 33"/>
          <p:cNvSpPr/>
          <p:nvPr/>
        </p:nvSpPr>
        <p:spPr>
          <a:xfrm>
            <a:off x="463550" y="3652342"/>
            <a:ext cx="482600" cy="585391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632420" y="3773587"/>
            <a:ext cx="15755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L2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571500" y="3943052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方法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1041400" y="3749477"/>
            <a:ext cx="34220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1041400" y="3979267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指令、脚本、参考与模板</a:t>
            </a:r>
            <a:endParaRPr/>
          </a:p>
        </p:txBody>
      </p:sp>
      <p:sp>
        <p:nvSpPr>
          <p:cNvPr id="38" name="形状 38"/>
          <p:cNvSpPr/>
          <p:nvPr/>
        </p:nvSpPr>
        <p:spPr>
          <a:xfrm>
            <a:off x="457200" y="4320282"/>
            <a:ext cx="2794000" cy="598091"/>
          </a:xfrm>
          <a:prstGeom prst="roundRect">
            <a:avLst>
              <a:gd name="adj" fmla="val 849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形状 39"/>
          <p:cNvSpPr/>
          <p:nvPr/>
        </p:nvSpPr>
        <p:spPr>
          <a:xfrm>
            <a:off x="463550" y="4326632"/>
            <a:ext cx="482600" cy="585391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0" name="文字 40"/>
          <p:cNvSpPr txBox="1"/>
          <p:nvPr/>
        </p:nvSpPr>
        <p:spPr>
          <a:xfrm>
            <a:off x="632420" y="4447877"/>
            <a:ext cx="15755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L1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571500" y="4617343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工具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1041400" y="4423767"/>
            <a:ext cx="34458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MCP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1041400" y="4653558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连接外部数据与受控动作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57200" y="5013623"/>
            <a:ext cx="270589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Plugin 可跨层交付，运行仍依赖宿主与授权。</a:t>
            </a:r>
            <a:endParaRPr/>
          </a:p>
        </p:txBody>
      </p:sp>
      <p:pic>
        <p:nvPicPr>
          <p:cNvPr id="45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9950" y="1744960"/>
            <a:ext cx="3492500" cy="3442593"/>
          </a:xfrm>
          <a:prstGeom prst="rect">
            <a:avLst/>
          </a:prstGeom>
        </p:spPr>
      </p:pic>
      <p:sp>
        <p:nvSpPr>
          <p:cNvPr id="46" name="文字 46"/>
          <p:cNvSpPr txBox="1"/>
          <p:nvPr/>
        </p:nvSpPr>
        <p:spPr>
          <a:xfrm>
            <a:off x="3575050" y="17703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资产消费：从获取到验证</a:t>
            </a:r>
            <a:endParaRPr/>
          </a:p>
        </p:txBody>
      </p:sp>
      <p:sp>
        <p:nvSpPr>
          <p:cNvPr id="47" name="形状 47"/>
          <p:cNvSpPr/>
          <p:nvPr/>
        </p:nvSpPr>
        <p:spPr>
          <a:xfrm>
            <a:off x="3575050" y="2119610"/>
            <a:ext cx="254000" cy="2540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文字 48"/>
          <p:cNvSpPr txBox="1"/>
          <p:nvPr/>
        </p:nvSpPr>
        <p:spPr>
          <a:xfrm>
            <a:off x="3621981" y="2160885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3937000" y="2132310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来源：全球同步与本土共建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3937000" y="2362101"/>
            <a:ext cx="194161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ClawHub 同步，个人与企业发布</a:t>
            </a:r>
            <a:endParaRPr/>
          </a:p>
        </p:txBody>
      </p:sp>
      <p:sp>
        <p:nvSpPr>
          <p:cNvPr id="51" name="形状 51"/>
          <p:cNvSpPr/>
          <p:nvPr/>
        </p:nvSpPr>
        <p:spPr>
          <a:xfrm>
            <a:off x="3575050" y="2843014"/>
            <a:ext cx="254000" cy="2540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3621981" y="2884289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3937000" y="2855714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发布：导入、版本与可见性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3937000" y="3085505"/>
            <a:ext cx="20723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文件 / GitHub / CLI，组织内技能库</a:t>
            </a:r>
            <a:endParaRPr/>
          </a:p>
        </p:txBody>
      </p:sp>
      <p:sp>
        <p:nvSpPr>
          <p:cNvPr id="55" name="形状 55"/>
          <p:cNvSpPr/>
          <p:nvPr/>
        </p:nvSpPr>
        <p:spPr>
          <a:xfrm>
            <a:off x="3575050" y="3566517"/>
            <a:ext cx="254000" cy="2540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6" name="文字 56"/>
          <p:cNvSpPr txBox="1"/>
          <p:nvPr/>
        </p:nvSpPr>
        <p:spPr>
          <a:xfrm>
            <a:off x="3621981" y="3607792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3937000" y="3579217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消费：发现后进入目标宿主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3937000" y="3809008"/>
            <a:ext cx="228818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中文搜索与榜单，ZIP / CLI / API / DSH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3575050" y="4289921"/>
            <a:ext cx="254000" cy="2540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3621981" y="4331196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3937000" y="4302621"/>
            <a:ext cx="1993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试运行：云端会话与运行案例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3937000" y="4532412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流式结果与案例留存；代码已核，未实跑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3575050" y="4826992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体验重点：发现入口与宿主内消费衔接，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3575050" y="5013623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运行案例补充选用依据。</a:t>
            </a:r>
            <a:endParaRPr/>
          </a:p>
        </p:txBody>
      </p:sp>
      <p:pic>
        <p:nvPicPr>
          <p:cNvPr id="65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1200" y="1744960"/>
            <a:ext cx="4673601" cy="3442593"/>
          </a:xfrm>
          <a:prstGeom prst="rect">
            <a:avLst/>
          </a:prstGeom>
        </p:spPr>
      </p:pic>
      <p:sp>
        <p:nvSpPr>
          <p:cNvPr id="66" name="文字 66"/>
          <p:cNvSpPr txBox="1"/>
          <p:nvPr/>
        </p:nvSpPr>
        <p:spPr>
          <a:xfrm>
            <a:off x="7226300" y="17703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生态画像：三类供需并存</a:t>
            </a:r>
            <a:endParaRPr/>
          </a:p>
        </p:txBody>
      </p:sp>
      <p:pic>
        <p:nvPicPr>
          <p:cNvPr id="67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6300" y="2024360"/>
            <a:ext cx="4508501" cy="507901"/>
          </a:xfrm>
          <a:prstGeom prst="rect">
            <a:avLst/>
          </a:prstGeom>
        </p:spPr>
      </p:pic>
      <p:sp>
        <p:nvSpPr>
          <p:cNvPr id="68" name="文字 68"/>
          <p:cNvSpPr txBox="1"/>
          <p:nvPr/>
        </p:nvSpPr>
        <p:spPr>
          <a:xfrm>
            <a:off x="7226300" y="2106910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官方与产品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7988300" y="2106910"/>
            <a:ext cx="184824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腾讯文档、ima、平台查找技能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7988300" y="2305943"/>
            <a:ext cx="18224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需求：产品连接、办公与知识协作</a:t>
            </a:r>
            <a:endParaRPr/>
          </a:p>
        </p:txBody>
      </p:sp>
      <p:pic>
        <p:nvPicPr>
          <p:cNvPr id="71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26300" y="2532261"/>
            <a:ext cx="4508501" cy="507901"/>
          </a:xfrm>
          <a:prstGeom prst="rect">
            <a:avLst/>
          </a:prstGeom>
        </p:spPr>
      </p:pic>
      <p:sp>
        <p:nvSpPr>
          <p:cNvPr id="72" name="文字 72"/>
          <p:cNvSpPr txBox="1"/>
          <p:nvPr/>
        </p:nvSpPr>
        <p:spPr>
          <a:xfrm>
            <a:off x="7226300" y="261481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垂直专业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7988300" y="261481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钢联智能问数、电子印章平台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7988300" y="2813844"/>
            <a:ext cx="17018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需求：行业数据与专业业务流程</a:t>
            </a:r>
            <a:endParaRPr/>
          </a:p>
        </p:txBody>
      </p:sp>
      <p:pic>
        <p:nvPicPr>
          <p:cNvPr id="75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26300" y="3040162"/>
            <a:ext cx="4508501" cy="507901"/>
          </a:xfrm>
          <a:prstGeom prst="rect">
            <a:avLst/>
          </a:prstGeom>
        </p:spPr>
      </p:pic>
      <p:sp>
        <p:nvSpPr>
          <p:cNvPr id="76" name="文字 76"/>
          <p:cNvSpPr txBox="1"/>
          <p:nvPr/>
        </p:nvSpPr>
        <p:spPr>
          <a:xfrm>
            <a:off x="7226300" y="3122712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社区泛用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988300" y="3122712"/>
            <a:ext cx="20794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Find Skills、Agent Browser、摘要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7988300" y="3321745"/>
            <a:ext cx="193327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需求：Agent 研发、检索与通用效率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226300" y="3675063"/>
            <a:ext cx="204132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下载榜 Top50：样本下载记录占比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7226300" y="3941763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开发编程</a:t>
            </a:r>
            <a:endParaRPr/>
          </a:p>
        </p:txBody>
      </p:sp>
      <p:sp>
        <p:nvSpPr>
          <p:cNvPr id="81" name="形状 81"/>
          <p:cNvSpPr/>
          <p:nvPr/>
        </p:nvSpPr>
        <p:spPr>
          <a:xfrm>
            <a:off x="7886700" y="3960813"/>
            <a:ext cx="3352800" cy="95250"/>
          </a:xfrm>
          <a:prstGeom prst="roundRect">
            <a:avLst>
              <a:gd name="adj" fmla="val 2000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2" name="形状 82"/>
          <p:cNvSpPr/>
          <p:nvPr/>
        </p:nvSpPr>
        <p:spPr>
          <a:xfrm>
            <a:off x="7886700" y="3960813"/>
            <a:ext cx="1237159" cy="95250"/>
          </a:xfrm>
          <a:prstGeom prst="roundRect">
            <a:avLst>
              <a:gd name="adj" fmla="val 20000"/>
            </a:avLst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3" name="文字 83"/>
          <p:cNvSpPr txBox="1"/>
          <p:nvPr/>
        </p:nvSpPr>
        <p:spPr>
          <a:xfrm>
            <a:off x="11372850" y="392906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36.9%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7226300" y="4170363"/>
            <a:ext cx="47347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Agent</a:t>
            </a:r>
            <a:endParaRPr/>
          </a:p>
        </p:txBody>
      </p:sp>
      <p:sp>
        <p:nvSpPr>
          <p:cNvPr id="85" name="形状 85"/>
          <p:cNvSpPr/>
          <p:nvPr/>
        </p:nvSpPr>
        <p:spPr>
          <a:xfrm>
            <a:off x="7886700" y="4189413"/>
            <a:ext cx="3352800" cy="95250"/>
          </a:xfrm>
          <a:prstGeom prst="roundRect">
            <a:avLst>
              <a:gd name="adj" fmla="val 2000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6" name="形状 86"/>
          <p:cNvSpPr/>
          <p:nvPr/>
        </p:nvSpPr>
        <p:spPr>
          <a:xfrm>
            <a:off x="7886700" y="4189413"/>
            <a:ext cx="442515" cy="95250"/>
          </a:xfrm>
          <a:prstGeom prst="roundRect">
            <a:avLst>
              <a:gd name="adj" fmla="val 20000"/>
            </a:avLst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7" name="文字 87"/>
          <p:cNvSpPr txBox="1"/>
          <p:nvPr/>
        </p:nvSpPr>
        <p:spPr>
          <a:xfrm>
            <a:off x="11372850" y="4157663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13.2%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7226300" y="4398963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知识管理</a:t>
            </a:r>
            <a:endParaRPr/>
          </a:p>
        </p:txBody>
      </p:sp>
      <p:sp>
        <p:nvSpPr>
          <p:cNvPr id="89" name="形状 89"/>
          <p:cNvSpPr/>
          <p:nvPr/>
        </p:nvSpPr>
        <p:spPr>
          <a:xfrm>
            <a:off x="7886700" y="4418013"/>
            <a:ext cx="3352800" cy="95250"/>
          </a:xfrm>
          <a:prstGeom prst="roundRect">
            <a:avLst>
              <a:gd name="adj" fmla="val 2000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0" name="形状 90"/>
          <p:cNvSpPr/>
          <p:nvPr/>
        </p:nvSpPr>
        <p:spPr>
          <a:xfrm>
            <a:off x="7886700" y="4418013"/>
            <a:ext cx="338534" cy="95250"/>
          </a:xfrm>
          <a:prstGeom prst="roundRect">
            <a:avLst>
              <a:gd name="adj" fmla="val 20000"/>
            </a:avLst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1" name="文字 91"/>
          <p:cNvSpPr txBox="1"/>
          <p:nvPr/>
        </p:nvSpPr>
        <p:spPr>
          <a:xfrm>
            <a:off x="11372850" y="4386263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10.1%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7226300" y="4627563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其他</a:t>
            </a:r>
            <a:endParaRPr/>
          </a:p>
        </p:txBody>
      </p:sp>
      <p:sp>
        <p:nvSpPr>
          <p:cNvPr id="93" name="形状 93"/>
          <p:cNvSpPr/>
          <p:nvPr/>
        </p:nvSpPr>
        <p:spPr>
          <a:xfrm>
            <a:off x="7886700" y="4646612"/>
            <a:ext cx="3352800" cy="95250"/>
          </a:xfrm>
          <a:prstGeom prst="roundRect">
            <a:avLst>
              <a:gd name="adj" fmla="val 2000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4" name="形状 94"/>
          <p:cNvSpPr/>
          <p:nvPr/>
        </p:nvSpPr>
        <p:spPr>
          <a:xfrm>
            <a:off x="7886700" y="4646612"/>
            <a:ext cx="1331019" cy="95250"/>
          </a:xfrm>
          <a:prstGeom prst="roundRect">
            <a:avLst>
              <a:gd name="adj" fmla="val 20000"/>
            </a:avLst>
          </a:prstGeom>
          <a:solidFill>
            <a:srgbClr val="A5ACB4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5" name="文字 95"/>
          <p:cNvSpPr txBox="1"/>
          <p:nvPr/>
        </p:nvSpPr>
        <p:spPr>
          <a:xfrm>
            <a:off x="11372850" y="4614863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39.7%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7226300" y="4862513"/>
            <a:ext cx="255736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编程类 5 条贡献 36.9%；消费画像按任务推断，</a:t>
            </a:r>
            <a:endParaRPr/>
          </a:p>
        </p:txBody>
      </p:sp>
      <p:sp>
        <p:nvSpPr>
          <p:cNvPr id="97" name="文字 97"/>
          <p:cNvSpPr txBox="1"/>
          <p:nvPr/>
        </p:nvSpPr>
        <p:spPr>
          <a:xfrm>
            <a:off x="7226300" y="5031383"/>
            <a:ext cx="20637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下载记录不代表活跃用户或任务成功。</a:t>
            </a:r>
            <a:endParaRPr/>
          </a:p>
        </p:txBody>
      </p:sp>
      <p:pic>
        <p:nvPicPr>
          <p:cNvPr id="98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5333603"/>
            <a:ext cx="11277600" cy="1181497"/>
          </a:xfrm>
          <a:prstGeom prst="rect">
            <a:avLst/>
          </a:prstGeom>
        </p:spPr>
      </p:pic>
      <p:sp>
        <p:nvSpPr>
          <p:cNvPr id="99" name="文字 99"/>
          <p:cNvSpPr txBox="1"/>
          <p:nvPr/>
        </p:nvSpPr>
        <p:spPr>
          <a:xfrm>
            <a:off x="457200" y="5479653"/>
            <a:ext cx="148222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五维质量评测 </a:t>
            </a:r>
            <a:endParaRPr/>
          </a:p>
        </p:txBody>
      </p:sp>
      <p:sp>
        <p:nvSpPr>
          <p:cNvPr id="100" name="文字 100"/>
          <p:cNvSpPr txBox="1"/>
          <p:nvPr/>
        </p:nvSpPr>
        <p:spPr>
          <a:xfrm>
            <a:off x="1926729" y="5511403"/>
            <a:ext cx="13398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维度内均分后，五维等权</a:t>
            </a:r>
            <a:endParaRPr/>
          </a:p>
        </p:txBody>
      </p:sp>
      <p:pic>
        <p:nvPicPr>
          <p:cNvPr id="101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5759053"/>
            <a:ext cx="1337568" cy="435571"/>
          </a:xfrm>
          <a:prstGeom prst="rect">
            <a:avLst/>
          </a:prstGeom>
        </p:spPr>
      </p:pic>
      <p:sp>
        <p:nvSpPr>
          <p:cNvPr id="102" name="文字 102"/>
          <p:cNvSpPr txBox="1"/>
          <p:nvPr/>
        </p:nvSpPr>
        <p:spPr>
          <a:xfrm>
            <a:off x="457200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</a:t>
            </a:r>
            <a:endParaRPr/>
          </a:p>
        </p:txBody>
      </p:sp>
      <p:sp>
        <p:nvSpPr>
          <p:cNvPr id="103" name="文字 103"/>
          <p:cNvSpPr txBox="1"/>
          <p:nvPr/>
        </p:nvSpPr>
        <p:spPr>
          <a:xfrm>
            <a:off x="548680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可信度</a:t>
            </a:r>
            <a:endParaRPr/>
          </a:p>
        </p:txBody>
      </p:sp>
      <p:sp>
        <p:nvSpPr>
          <p:cNvPr id="104" name="文字 104"/>
          <p:cNvSpPr txBox="1"/>
          <p:nvPr/>
        </p:nvSpPr>
        <p:spPr>
          <a:xfrm>
            <a:off x="457200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安全与本土可用</a:t>
            </a:r>
            <a:endParaRPr/>
          </a:p>
        </p:txBody>
      </p:sp>
      <p:pic>
        <p:nvPicPr>
          <p:cNvPr id="105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70968" y="5759053"/>
            <a:ext cx="1337568" cy="435571"/>
          </a:xfrm>
          <a:prstGeom prst="rect">
            <a:avLst/>
          </a:prstGeom>
        </p:spPr>
      </p:pic>
      <p:sp>
        <p:nvSpPr>
          <p:cNvPr id="106" name="文字 106"/>
          <p:cNvSpPr txBox="1"/>
          <p:nvPr/>
        </p:nvSpPr>
        <p:spPr>
          <a:xfrm>
            <a:off x="1870968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</a:t>
            </a:r>
            <a:endParaRPr/>
          </a:p>
        </p:txBody>
      </p:sp>
      <p:sp>
        <p:nvSpPr>
          <p:cNvPr id="107" name="文字 107"/>
          <p:cNvSpPr txBox="1"/>
          <p:nvPr/>
        </p:nvSpPr>
        <p:spPr>
          <a:xfrm>
            <a:off x="1962448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可靠性</a:t>
            </a:r>
            <a:endParaRPr/>
          </a:p>
        </p:txBody>
      </p:sp>
      <p:sp>
        <p:nvSpPr>
          <p:cNvPr id="108" name="文字 108"/>
          <p:cNvSpPr txBox="1"/>
          <p:nvPr/>
        </p:nvSpPr>
        <p:spPr>
          <a:xfrm>
            <a:off x="1870968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功能与异常处理</a:t>
            </a:r>
            <a:endParaRPr/>
          </a:p>
        </p:txBody>
      </p:sp>
      <p:pic>
        <p:nvPicPr>
          <p:cNvPr id="109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84736" y="5759053"/>
            <a:ext cx="1337568" cy="435571"/>
          </a:xfrm>
          <a:prstGeom prst="rect">
            <a:avLst/>
          </a:prstGeom>
        </p:spPr>
      </p:pic>
      <p:sp>
        <p:nvSpPr>
          <p:cNvPr id="110" name="文字 110"/>
          <p:cNvSpPr txBox="1"/>
          <p:nvPr/>
        </p:nvSpPr>
        <p:spPr>
          <a:xfrm>
            <a:off x="3284736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</a:t>
            </a:r>
            <a:endParaRPr/>
          </a:p>
        </p:txBody>
      </p:sp>
      <p:sp>
        <p:nvSpPr>
          <p:cNvPr id="111" name="文字 111"/>
          <p:cNvSpPr txBox="1"/>
          <p:nvPr/>
        </p:nvSpPr>
        <p:spPr>
          <a:xfrm>
            <a:off x="3376216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适应性</a:t>
            </a:r>
            <a:endParaRPr/>
          </a:p>
        </p:txBody>
      </p:sp>
      <p:sp>
        <p:nvSpPr>
          <p:cNvPr id="112" name="文字 112"/>
          <p:cNvSpPr txBox="1"/>
          <p:nvPr/>
        </p:nvSpPr>
        <p:spPr>
          <a:xfrm>
            <a:off x="3284736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触发条件与边界</a:t>
            </a:r>
            <a:endParaRPr/>
          </a:p>
        </p:txBody>
      </p:sp>
      <p:pic>
        <p:nvPicPr>
          <p:cNvPr id="113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98504" y="5759053"/>
            <a:ext cx="1337568" cy="435571"/>
          </a:xfrm>
          <a:prstGeom prst="rect">
            <a:avLst/>
          </a:prstGeom>
        </p:spPr>
      </p:pic>
      <p:sp>
        <p:nvSpPr>
          <p:cNvPr id="114" name="文字 114"/>
          <p:cNvSpPr txBox="1"/>
          <p:nvPr/>
        </p:nvSpPr>
        <p:spPr>
          <a:xfrm>
            <a:off x="4698504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</a:t>
            </a:r>
            <a:endParaRPr/>
          </a:p>
        </p:txBody>
      </p:sp>
      <p:sp>
        <p:nvSpPr>
          <p:cNvPr id="115" name="文字 115"/>
          <p:cNvSpPr txBox="1"/>
          <p:nvPr/>
        </p:nvSpPr>
        <p:spPr>
          <a:xfrm>
            <a:off x="4789984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规范性</a:t>
            </a:r>
            <a:endParaRPr/>
          </a:p>
        </p:txBody>
      </p:sp>
      <p:sp>
        <p:nvSpPr>
          <p:cNvPr id="116" name="文字 116"/>
          <p:cNvSpPr txBox="1"/>
          <p:nvPr/>
        </p:nvSpPr>
        <p:spPr>
          <a:xfrm>
            <a:off x="4698504" y="6038453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结构与文档</a:t>
            </a:r>
            <a:endParaRPr/>
          </a:p>
        </p:txBody>
      </p:sp>
      <p:pic>
        <p:nvPicPr>
          <p:cNvPr id="117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12272" y="5759053"/>
            <a:ext cx="1337667" cy="435571"/>
          </a:xfrm>
          <a:prstGeom prst="rect">
            <a:avLst/>
          </a:prstGeom>
        </p:spPr>
      </p:pic>
      <p:sp>
        <p:nvSpPr>
          <p:cNvPr id="118" name="文字 118"/>
          <p:cNvSpPr txBox="1"/>
          <p:nvPr/>
        </p:nvSpPr>
        <p:spPr>
          <a:xfrm>
            <a:off x="6112272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</a:t>
            </a:r>
            <a:endParaRPr/>
          </a:p>
        </p:txBody>
      </p:sp>
      <p:sp>
        <p:nvSpPr>
          <p:cNvPr id="119" name="文字 119"/>
          <p:cNvSpPr txBox="1"/>
          <p:nvPr/>
        </p:nvSpPr>
        <p:spPr>
          <a:xfrm>
            <a:off x="6203752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有效性</a:t>
            </a:r>
            <a:endParaRPr/>
          </a:p>
        </p:txBody>
      </p:sp>
      <p:sp>
        <p:nvSpPr>
          <p:cNvPr id="120" name="文字 120"/>
          <p:cNvSpPr txBox="1"/>
          <p:nvPr/>
        </p:nvSpPr>
        <p:spPr>
          <a:xfrm>
            <a:off x="6112272" y="6038453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准确、完整、可用</a:t>
            </a:r>
            <a:endParaRPr/>
          </a:p>
        </p:txBody>
      </p:sp>
      <p:sp>
        <p:nvSpPr>
          <p:cNvPr id="121" name="文字 121"/>
          <p:cNvSpPr txBox="1"/>
          <p:nvPr/>
        </p:nvSpPr>
        <p:spPr>
          <a:xfrm>
            <a:off x="457200" y="6296223"/>
            <a:ext cx="338832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热度 score、TRACE 质量分与双路安全报告分别表达不同信号。</a:t>
            </a:r>
            <a:endParaRPr/>
          </a:p>
        </p:txBody>
      </p:sp>
      <p:pic>
        <p:nvPicPr>
          <p:cNvPr id="122" name="slide-001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21389" y="5454253"/>
            <a:ext cx="4113411" cy="1060846"/>
          </a:xfrm>
          <a:prstGeom prst="rect">
            <a:avLst/>
          </a:prstGeom>
        </p:spPr>
      </p:pic>
      <p:sp>
        <p:nvSpPr>
          <p:cNvPr id="123" name="文字 123"/>
          <p:cNvSpPr txBox="1"/>
          <p:nvPr/>
        </p:nvSpPr>
        <p:spPr>
          <a:xfrm>
            <a:off x="7773790" y="5479653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平台建设启示</a:t>
            </a:r>
            <a:endParaRPr/>
          </a:p>
        </p:txBody>
      </p:sp>
      <p:sp>
        <p:nvSpPr>
          <p:cNvPr id="124" name="文字 124"/>
          <p:cNvSpPr txBox="1"/>
          <p:nvPr/>
        </p:nvSpPr>
        <p:spPr>
          <a:xfrm>
            <a:off x="7773790" y="5746353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多类资产与宿主消费共同建设，</a:t>
            </a:r>
            <a:endParaRPr/>
          </a:p>
        </p:txBody>
      </p:sp>
      <p:sp>
        <p:nvSpPr>
          <p:cNvPr id="125" name="文字 125"/>
          <p:cNvSpPr txBox="1"/>
          <p:nvPr/>
        </p:nvSpPr>
        <p:spPr>
          <a:xfrm>
            <a:off x="7773790" y="5939631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把版本、质量证据和实际任务结果关联。</a:t>
            </a:r>
            <a:endParaRPr/>
          </a:p>
        </p:txBody>
      </p:sp>
      <p:sp>
        <p:nvSpPr>
          <p:cNvPr id="126" name="文字 126"/>
          <p:cNvSpPr txBox="1"/>
          <p:nvPr/>
        </p:nvSpPr>
        <p:spPr>
          <a:xfrm>
            <a:off x="7773790" y="6190060"/>
            <a:ext cx="20637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待核查：统计口径与评测版本一致性；</a:t>
            </a:r>
            <a:endParaRPr/>
          </a:p>
        </p:txBody>
      </p:sp>
      <p:sp>
        <p:nvSpPr>
          <p:cNvPr id="127" name="文字 127"/>
          <p:cNvSpPr txBox="1"/>
          <p:nvPr/>
        </p:nvSpPr>
        <p:spPr>
          <a:xfrm>
            <a:off x="7773790" y="6358930"/>
            <a:ext cx="204598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开源 evaluator 不等于全量动态实测。</a:t>
            </a:r>
            <a:endParaRPr/>
          </a:p>
        </p:txBody>
      </p:sp>
      <p:pic>
        <p:nvPicPr>
          <p:cNvPr id="129" name="slide-001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围绕 Skill 打通生态供给、可信分发与宿主安装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982960"/>
            <a:ext cx="812800" cy="355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257300" y="1097260"/>
            <a:ext cx="1997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万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344910"/>
            <a:ext cx="13174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API 条目数 199,514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2489200" y="982960"/>
            <a:ext cx="332780" cy="355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13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809280" y="1097260"/>
            <a:ext cx="1997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类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2489200" y="1344910"/>
            <a:ext cx="14605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一级分类，覆盖通用与行业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305300" y="1060351"/>
            <a:ext cx="254506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面向中国用户的 Skill 发现与分发平台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05300" y="1296491"/>
            <a:ext cx="3213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全球同步补齐长尾，本土原创与企业供给扩展任务覆盖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57200" y="1770360"/>
            <a:ext cx="22415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生态供给：同步、原创与企业</a:t>
            </a:r>
            <a:endParaRPr/>
          </a:p>
        </p:txBody>
      </p:sp>
      <p:pic>
        <p:nvPicPr>
          <p:cNvPr id="19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011660"/>
            <a:ext cx="3016250" cy="562471"/>
          </a:xfrm>
          <a:prstGeom prst="rect">
            <a:avLst/>
          </a:prstGeom>
        </p:spPr>
      </p:pic>
      <p:sp>
        <p:nvSpPr>
          <p:cNvPr id="20" name="文字 20"/>
          <p:cNvSpPr txBox="1"/>
          <p:nvPr/>
        </p:nvSpPr>
        <p:spPr>
          <a:xfrm>
            <a:off x="457200" y="2100560"/>
            <a:ext cx="145484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全球同步：ClawHub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57200" y="2317651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中文描述与国内下载，补齐长尾覆盖</a:t>
            </a:r>
            <a:endParaRPr/>
          </a:p>
        </p:txBody>
      </p:sp>
      <p:pic>
        <p:nvPicPr>
          <p:cNvPr id="22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574131"/>
            <a:ext cx="3016250" cy="575171"/>
          </a:xfrm>
          <a:prstGeom prst="rect">
            <a:avLst/>
          </a:prstGeom>
        </p:spPr>
      </p:pic>
      <p:sp>
        <p:nvSpPr>
          <p:cNvPr id="23" name="文字 23"/>
          <p:cNvSpPr txBox="1"/>
          <p:nvPr/>
        </p:nvSpPr>
        <p:spPr>
          <a:xfrm>
            <a:off x="457200" y="266303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个人与社区发布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2892822"/>
            <a:ext cx="260885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本土工具、Prompt 与 SOP，网页 / CLI 接入</a:t>
            </a:r>
            <a:endParaRPr/>
          </a:p>
        </p:txBody>
      </p:sp>
      <p:pic>
        <p:nvPicPr>
          <p:cNvPr id="25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149303"/>
            <a:ext cx="3016250" cy="780851"/>
          </a:xfrm>
          <a:prstGeom prst="rect">
            <a:avLst/>
          </a:prstGeom>
        </p:spPr>
      </p:pic>
      <p:sp>
        <p:nvSpPr>
          <p:cNvPr id="26" name="文字 26"/>
          <p:cNvSpPr txBox="1"/>
          <p:nvPr/>
        </p:nvSpPr>
        <p:spPr>
          <a:xfrm>
            <a:off x="457200" y="3238202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企业与产品团队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457200" y="3467993"/>
            <a:ext cx="158154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官方产品：腾讯文档、ima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457200" y="367367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垂直领域：钢联问数、电子印章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457200" y="4019054"/>
            <a:ext cx="218241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平台自供给：技能查找、TRACE 评测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457200" y="4476750"/>
            <a:ext cx="151358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下载榜 Top50 来源条目占比</a:t>
            </a:r>
            <a:endParaRPr/>
          </a:p>
        </p:txBody>
      </p:sp>
      <p:sp>
        <p:nvSpPr>
          <p:cNvPr id="31" name="形状 31"/>
          <p:cNvSpPr/>
          <p:nvPr/>
        </p:nvSpPr>
        <p:spPr>
          <a:xfrm>
            <a:off x="457200" y="4679950"/>
            <a:ext cx="1387475" cy="1016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2" name="形状 32"/>
          <p:cNvSpPr/>
          <p:nvPr/>
        </p:nvSpPr>
        <p:spPr>
          <a:xfrm>
            <a:off x="1844675" y="4679950"/>
            <a:ext cx="844550" cy="1016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3" name="形状 33"/>
          <p:cNvSpPr/>
          <p:nvPr/>
        </p:nvSpPr>
        <p:spPr>
          <a:xfrm>
            <a:off x="2689225" y="4679950"/>
            <a:ext cx="784225" cy="101600"/>
          </a:xfrm>
          <a:prstGeom prst="rect">
            <a:avLst/>
          </a:prstGeom>
          <a:solidFill>
            <a:srgbClr val="A5ACB4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457200" y="4845050"/>
            <a:ext cx="52615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社区 46%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1573411" y="4845050"/>
            <a:ext cx="79652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ClawHub 28%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2959993" y="4845050"/>
            <a:ext cx="52615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 26%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457200" y="5048250"/>
            <a:ext cx="15240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供给渠道样本，不代表全量结构</a:t>
            </a:r>
            <a:endParaRPr/>
          </a:p>
        </p:txBody>
      </p:sp>
      <p:pic>
        <p:nvPicPr>
          <p:cNvPr id="38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32200" y="1744960"/>
            <a:ext cx="3873500" cy="3442593"/>
          </a:xfrm>
          <a:prstGeom prst="rect">
            <a:avLst/>
          </a:prstGeom>
        </p:spPr>
      </p:pic>
      <p:sp>
        <p:nvSpPr>
          <p:cNvPr id="39" name="文字 39"/>
          <p:cNvSpPr txBox="1"/>
          <p:nvPr/>
        </p:nvSpPr>
        <p:spPr>
          <a:xfrm>
            <a:off x="3797300" y="17703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分发安装：从平台到宿主</a:t>
            </a:r>
            <a:endParaRPr/>
          </a:p>
        </p:txBody>
      </p:sp>
      <p:sp>
        <p:nvSpPr>
          <p:cNvPr id="40" name="形状 40"/>
          <p:cNvSpPr/>
          <p:nvPr/>
        </p:nvSpPr>
        <p:spPr>
          <a:xfrm>
            <a:off x="3797300" y="2119610"/>
            <a:ext cx="241300" cy="2413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3837881" y="2154535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4140200" y="2132310"/>
            <a:ext cx="1546523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发布：目录或 ZIP 入库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4140200" y="2362101"/>
            <a:ext cx="24223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网页 / CLI / Agent 发布，版本审核后可见</a:t>
            </a:r>
            <a:endParaRPr/>
          </a:p>
        </p:txBody>
      </p:sp>
      <p:sp>
        <p:nvSpPr>
          <p:cNvPr id="44" name="形状 44"/>
          <p:cNvSpPr/>
          <p:nvPr/>
        </p:nvSpPr>
        <p:spPr>
          <a:xfrm>
            <a:off x="3797300" y="2807891"/>
            <a:ext cx="241300" cy="2413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3837881" y="2842816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140200" y="282059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分发：检索后获取版本包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4140200" y="3050381"/>
            <a:ext cx="224403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榜单、搜索与 API；指定版本 ZIP 下载</a:t>
            </a:r>
            <a:endParaRPr/>
          </a:p>
        </p:txBody>
      </p:sp>
      <p:sp>
        <p:nvSpPr>
          <p:cNvPr id="48" name="形状 48"/>
          <p:cNvSpPr/>
          <p:nvPr/>
        </p:nvSpPr>
        <p:spPr>
          <a:xfrm>
            <a:off x="3797300" y="3496171"/>
            <a:ext cx="241300" cy="2413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3837881" y="3531096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140200" y="350887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安装：文件落到宿主目录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140200" y="3738662"/>
            <a:ext cx="241607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CLI 默认 ./skills；DSH 默认 ~/.dsh/skills</a:t>
            </a:r>
            <a:endParaRPr/>
          </a:p>
        </p:txBody>
      </p:sp>
      <p:sp>
        <p:nvSpPr>
          <p:cNvPr id="52" name="形状 52"/>
          <p:cNvSpPr/>
          <p:nvPr/>
        </p:nvSpPr>
        <p:spPr>
          <a:xfrm>
            <a:off x="3797300" y="4184452"/>
            <a:ext cx="241300" cy="2413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" name="文字 53"/>
          <p:cNvSpPr txBox="1"/>
          <p:nvPr/>
        </p:nvSpPr>
        <p:spPr>
          <a:xfrm>
            <a:off x="3837881" y="4219377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4140200" y="4197152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使用：宿主加载并执行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4140200" y="4426942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依赖与账号需就绪；云端案例未实跑</a:t>
            </a:r>
            <a:endParaRPr/>
          </a:p>
        </p:txBody>
      </p:sp>
      <p:pic>
        <p:nvPicPr>
          <p:cNvPr id="56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97300" y="4708823"/>
            <a:ext cx="3708400" cy="478730"/>
          </a:xfrm>
          <a:prstGeom prst="rect">
            <a:avLst/>
          </a:prstGeom>
        </p:spPr>
      </p:pic>
      <p:sp>
        <p:nvSpPr>
          <p:cNvPr id="57" name="文字 57"/>
          <p:cNvSpPr txBox="1"/>
          <p:nvPr/>
        </p:nvSpPr>
        <p:spPr>
          <a:xfrm>
            <a:off x="3797300" y="4791373"/>
            <a:ext cx="276354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install &lt;slug&gt; --dir ./skills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3797300" y="5013623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不自动装依赖，安装目录须被宿主发现。</a:t>
            </a:r>
            <a:endParaRPr/>
          </a:p>
        </p:txBody>
      </p:sp>
      <p:pic>
        <p:nvPicPr>
          <p:cNvPr id="59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64450" y="1744960"/>
            <a:ext cx="4070350" cy="3442593"/>
          </a:xfrm>
          <a:prstGeom prst="rect">
            <a:avLst/>
          </a:prstGeom>
        </p:spPr>
      </p:pic>
      <p:sp>
        <p:nvSpPr>
          <p:cNvPr id="60" name="文字 60"/>
          <p:cNvSpPr txBox="1"/>
          <p:nvPr/>
        </p:nvSpPr>
        <p:spPr>
          <a:xfrm>
            <a:off x="7829550" y="1770360"/>
            <a:ext cx="2413001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消费画像：通用任务与专业服务</a:t>
            </a:r>
            <a:endParaRPr/>
          </a:p>
        </p:txBody>
      </p:sp>
      <p:pic>
        <p:nvPicPr>
          <p:cNvPr id="61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29550" y="2043410"/>
            <a:ext cx="3905251" cy="345380"/>
          </a:xfrm>
          <a:prstGeom prst="rect">
            <a:avLst/>
          </a:prstGeom>
        </p:spPr>
      </p:pic>
      <p:sp>
        <p:nvSpPr>
          <p:cNvPr id="62" name="文字 62"/>
          <p:cNvSpPr txBox="1"/>
          <p:nvPr/>
        </p:nvSpPr>
        <p:spPr>
          <a:xfrm>
            <a:off x="7829550" y="213231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研发任务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8528050" y="2132310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编程、浏览器操作、技能发现与自改进</a:t>
            </a:r>
            <a:endParaRPr/>
          </a:p>
        </p:txBody>
      </p:sp>
      <p:pic>
        <p:nvPicPr>
          <p:cNvPr id="64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29550" y="2388791"/>
            <a:ext cx="3905251" cy="345381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7829550" y="247769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知识办公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8528050" y="24776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摘要、文档协作、数据与内容处理</a:t>
            </a:r>
            <a:endParaRPr/>
          </a:p>
        </p:txBody>
      </p:sp>
      <p:pic>
        <p:nvPicPr>
          <p:cNvPr id="67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29550" y="2734171"/>
            <a:ext cx="3905251" cy="345380"/>
          </a:xfrm>
          <a:prstGeom prst="rect">
            <a:avLst/>
          </a:prstGeom>
        </p:spPr>
      </p:pic>
      <p:sp>
        <p:nvSpPr>
          <p:cNvPr id="68" name="文字 68"/>
          <p:cNvSpPr txBox="1"/>
          <p:nvPr/>
        </p:nvSpPr>
        <p:spPr>
          <a:xfrm>
            <a:off x="7829550" y="282307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行业业务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8528050" y="2823071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专业数据查询、业务接口与服务对接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7829550" y="3225601"/>
            <a:ext cx="2174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Top50 样本内，下载记录的类别占比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7829550" y="3517702"/>
            <a:ext cx="4953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开发编程</a:t>
            </a:r>
            <a:endParaRPr/>
          </a:p>
        </p:txBody>
      </p:sp>
      <p:sp>
        <p:nvSpPr>
          <p:cNvPr id="72" name="形状 72"/>
          <p:cNvSpPr/>
          <p:nvPr/>
        </p:nvSpPr>
        <p:spPr>
          <a:xfrm>
            <a:off x="8489950" y="3533577"/>
            <a:ext cx="2749550" cy="101600"/>
          </a:xfrm>
          <a:prstGeom prst="roundRect">
            <a:avLst>
              <a:gd name="adj" fmla="val 1875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3" name="形状 73"/>
          <p:cNvSpPr/>
          <p:nvPr/>
        </p:nvSpPr>
        <p:spPr>
          <a:xfrm>
            <a:off x="8489950" y="3533577"/>
            <a:ext cx="1015108" cy="101600"/>
          </a:xfrm>
          <a:prstGeom prst="roundRect">
            <a:avLst>
              <a:gd name="adj" fmla="val 18750"/>
            </a:avLst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4" name="文字 74"/>
          <p:cNvSpPr txBox="1"/>
          <p:nvPr/>
        </p:nvSpPr>
        <p:spPr>
          <a:xfrm>
            <a:off x="11372850" y="350500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36.9%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829550" y="3765352"/>
            <a:ext cx="47347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Agent</a:t>
            </a:r>
            <a:endParaRPr/>
          </a:p>
        </p:txBody>
      </p:sp>
      <p:sp>
        <p:nvSpPr>
          <p:cNvPr id="76" name="形状 76"/>
          <p:cNvSpPr/>
          <p:nvPr/>
        </p:nvSpPr>
        <p:spPr>
          <a:xfrm>
            <a:off x="8489950" y="3781227"/>
            <a:ext cx="2749550" cy="101600"/>
          </a:xfrm>
          <a:prstGeom prst="roundRect">
            <a:avLst>
              <a:gd name="adj" fmla="val 1875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7" name="形状 77"/>
          <p:cNvSpPr/>
          <p:nvPr/>
        </p:nvSpPr>
        <p:spPr>
          <a:xfrm>
            <a:off x="8489950" y="3781227"/>
            <a:ext cx="363736" cy="101600"/>
          </a:xfrm>
          <a:prstGeom prst="roundRect">
            <a:avLst>
              <a:gd name="adj" fmla="val 18750"/>
            </a:avLst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8" name="文字 78"/>
          <p:cNvSpPr txBox="1"/>
          <p:nvPr/>
        </p:nvSpPr>
        <p:spPr>
          <a:xfrm>
            <a:off x="11372850" y="375265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13.2%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829550" y="4013002"/>
            <a:ext cx="4953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知识管理</a:t>
            </a:r>
            <a:endParaRPr/>
          </a:p>
        </p:txBody>
      </p:sp>
      <p:sp>
        <p:nvSpPr>
          <p:cNvPr id="80" name="形状 80"/>
          <p:cNvSpPr/>
          <p:nvPr/>
        </p:nvSpPr>
        <p:spPr>
          <a:xfrm>
            <a:off x="8489950" y="4028877"/>
            <a:ext cx="2749550" cy="101600"/>
          </a:xfrm>
          <a:prstGeom prst="roundRect">
            <a:avLst>
              <a:gd name="adj" fmla="val 1875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1" name="形状 81"/>
          <p:cNvSpPr/>
          <p:nvPr/>
        </p:nvSpPr>
        <p:spPr>
          <a:xfrm>
            <a:off x="8489950" y="4028877"/>
            <a:ext cx="279599" cy="101600"/>
          </a:xfrm>
          <a:prstGeom prst="roundRect">
            <a:avLst>
              <a:gd name="adj" fmla="val 18750"/>
            </a:avLst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2" name="文字 82"/>
          <p:cNvSpPr txBox="1"/>
          <p:nvPr/>
        </p:nvSpPr>
        <p:spPr>
          <a:xfrm>
            <a:off x="11372850" y="400030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10.2%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829550" y="4260652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其他</a:t>
            </a:r>
            <a:endParaRPr/>
          </a:p>
        </p:txBody>
      </p:sp>
      <p:sp>
        <p:nvSpPr>
          <p:cNvPr id="84" name="形状 84"/>
          <p:cNvSpPr/>
          <p:nvPr/>
        </p:nvSpPr>
        <p:spPr>
          <a:xfrm>
            <a:off x="8489950" y="4276527"/>
            <a:ext cx="2749550" cy="101600"/>
          </a:xfrm>
          <a:prstGeom prst="roundRect">
            <a:avLst>
              <a:gd name="adj" fmla="val 1875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5" name="形状 85"/>
          <p:cNvSpPr/>
          <p:nvPr/>
        </p:nvSpPr>
        <p:spPr>
          <a:xfrm>
            <a:off x="8489950" y="4276527"/>
            <a:ext cx="1091010" cy="101600"/>
          </a:xfrm>
          <a:prstGeom prst="roundRect">
            <a:avLst>
              <a:gd name="adj" fmla="val 18750"/>
            </a:avLst>
          </a:prstGeom>
          <a:solidFill>
            <a:srgbClr val="A5ACB4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6" name="文字 86"/>
          <p:cNvSpPr txBox="1"/>
          <p:nvPr/>
        </p:nvSpPr>
        <p:spPr>
          <a:xfrm>
            <a:off x="11372850" y="424795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39.7%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7829550" y="4521002"/>
            <a:ext cx="238849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编程类 5 条贡献 36.9%，AI Agent 有 11 条。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7829550" y="4689872"/>
            <a:ext cx="182245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下载不代表活跃用户或任务成功。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7829550" y="5048250"/>
            <a:ext cx="20637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消费需求按技能能力推断，非真实用户分群</a:t>
            </a:r>
            <a:endParaRPr/>
          </a:p>
        </p:txBody>
      </p:sp>
      <p:pic>
        <p:nvPicPr>
          <p:cNvPr id="90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5333603"/>
            <a:ext cx="11277600" cy="1181497"/>
          </a:xfrm>
          <a:prstGeom prst="rect">
            <a:avLst/>
          </a:prstGeom>
        </p:spPr>
      </p:pic>
      <p:sp>
        <p:nvSpPr>
          <p:cNvPr id="91" name="文字 91"/>
          <p:cNvSpPr txBox="1"/>
          <p:nvPr/>
        </p:nvSpPr>
        <p:spPr>
          <a:xfrm>
            <a:off x="457200" y="5479653"/>
            <a:ext cx="148222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五维质量评测 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1926729" y="5511403"/>
            <a:ext cx="13398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维度内均分后，五维等权</a:t>
            </a:r>
            <a:endParaRPr/>
          </a:p>
        </p:txBody>
      </p:sp>
      <p:pic>
        <p:nvPicPr>
          <p:cNvPr id="93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" y="5759053"/>
            <a:ext cx="1337568" cy="435571"/>
          </a:xfrm>
          <a:prstGeom prst="rect">
            <a:avLst/>
          </a:prstGeom>
        </p:spPr>
      </p:pic>
      <p:sp>
        <p:nvSpPr>
          <p:cNvPr id="94" name="文字 94"/>
          <p:cNvSpPr txBox="1"/>
          <p:nvPr/>
        </p:nvSpPr>
        <p:spPr>
          <a:xfrm>
            <a:off x="457200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548680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可信度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457200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安全与本土可用</a:t>
            </a:r>
            <a:endParaRPr/>
          </a:p>
        </p:txBody>
      </p:sp>
      <p:pic>
        <p:nvPicPr>
          <p:cNvPr id="97" name="slide-001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870968" y="5759053"/>
            <a:ext cx="1337568" cy="435571"/>
          </a:xfrm>
          <a:prstGeom prst="rect">
            <a:avLst/>
          </a:prstGeom>
        </p:spPr>
      </p:pic>
      <p:sp>
        <p:nvSpPr>
          <p:cNvPr id="98" name="文字 98"/>
          <p:cNvSpPr txBox="1"/>
          <p:nvPr/>
        </p:nvSpPr>
        <p:spPr>
          <a:xfrm>
            <a:off x="1870968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</a:t>
            </a:r>
            <a:endParaRPr/>
          </a:p>
        </p:txBody>
      </p:sp>
      <p:sp>
        <p:nvSpPr>
          <p:cNvPr id="99" name="文字 99"/>
          <p:cNvSpPr txBox="1"/>
          <p:nvPr/>
        </p:nvSpPr>
        <p:spPr>
          <a:xfrm>
            <a:off x="1962448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可靠性</a:t>
            </a:r>
            <a:endParaRPr/>
          </a:p>
        </p:txBody>
      </p:sp>
      <p:sp>
        <p:nvSpPr>
          <p:cNvPr id="100" name="文字 100"/>
          <p:cNvSpPr txBox="1"/>
          <p:nvPr/>
        </p:nvSpPr>
        <p:spPr>
          <a:xfrm>
            <a:off x="1870968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功能与异常处理</a:t>
            </a:r>
            <a:endParaRPr/>
          </a:p>
        </p:txBody>
      </p:sp>
      <p:pic>
        <p:nvPicPr>
          <p:cNvPr id="101" name="slide-001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284736" y="5759053"/>
            <a:ext cx="1337568" cy="435571"/>
          </a:xfrm>
          <a:prstGeom prst="rect">
            <a:avLst/>
          </a:prstGeom>
        </p:spPr>
      </p:pic>
      <p:sp>
        <p:nvSpPr>
          <p:cNvPr id="102" name="文字 102"/>
          <p:cNvSpPr txBox="1"/>
          <p:nvPr/>
        </p:nvSpPr>
        <p:spPr>
          <a:xfrm>
            <a:off x="3284736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</a:t>
            </a:r>
            <a:endParaRPr/>
          </a:p>
        </p:txBody>
      </p:sp>
      <p:sp>
        <p:nvSpPr>
          <p:cNvPr id="103" name="文字 103"/>
          <p:cNvSpPr txBox="1"/>
          <p:nvPr/>
        </p:nvSpPr>
        <p:spPr>
          <a:xfrm>
            <a:off x="3376216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适应性</a:t>
            </a:r>
            <a:endParaRPr/>
          </a:p>
        </p:txBody>
      </p:sp>
      <p:sp>
        <p:nvSpPr>
          <p:cNvPr id="104" name="文字 104"/>
          <p:cNvSpPr txBox="1"/>
          <p:nvPr/>
        </p:nvSpPr>
        <p:spPr>
          <a:xfrm>
            <a:off x="3284736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触发条件与边界</a:t>
            </a:r>
            <a:endParaRPr/>
          </a:p>
        </p:txBody>
      </p:sp>
      <p:pic>
        <p:nvPicPr>
          <p:cNvPr id="105" name="slide-001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698504" y="5759053"/>
            <a:ext cx="1337568" cy="435571"/>
          </a:xfrm>
          <a:prstGeom prst="rect">
            <a:avLst/>
          </a:prstGeom>
        </p:spPr>
      </p:pic>
      <p:sp>
        <p:nvSpPr>
          <p:cNvPr id="106" name="文字 106"/>
          <p:cNvSpPr txBox="1"/>
          <p:nvPr/>
        </p:nvSpPr>
        <p:spPr>
          <a:xfrm>
            <a:off x="4698504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</a:t>
            </a:r>
            <a:endParaRPr/>
          </a:p>
        </p:txBody>
      </p:sp>
      <p:sp>
        <p:nvSpPr>
          <p:cNvPr id="107" name="文字 107"/>
          <p:cNvSpPr txBox="1"/>
          <p:nvPr/>
        </p:nvSpPr>
        <p:spPr>
          <a:xfrm>
            <a:off x="4789984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规范性</a:t>
            </a:r>
            <a:endParaRPr/>
          </a:p>
        </p:txBody>
      </p:sp>
      <p:sp>
        <p:nvSpPr>
          <p:cNvPr id="108" name="文字 108"/>
          <p:cNvSpPr txBox="1"/>
          <p:nvPr/>
        </p:nvSpPr>
        <p:spPr>
          <a:xfrm>
            <a:off x="4698504" y="6038453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结构与文档</a:t>
            </a:r>
            <a:endParaRPr/>
          </a:p>
        </p:txBody>
      </p:sp>
      <p:pic>
        <p:nvPicPr>
          <p:cNvPr id="109" name="slide-001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12272" y="5759053"/>
            <a:ext cx="1337667" cy="435571"/>
          </a:xfrm>
          <a:prstGeom prst="rect">
            <a:avLst/>
          </a:prstGeom>
        </p:spPr>
      </p:pic>
      <p:sp>
        <p:nvSpPr>
          <p:cNvPr id="110" name="文字 110"/>
          <p:cNvSpPr txBox="1"/>
          <p:nvPr/>
        </p:nvSpPr>
        <p:spPr>
          <a:xfrm>
            <a:off x="6112272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</a:t>
            </a:r>
            <a:endParaRPr/>
          </a:p>
        </p:txBody>
      </p:sp>
      <p:sp>
        <p:nvSpPr>
          <p:cNvPr id="111" name="文字 111"/>
          <p:cNvSpPr txBox="1"/>
          <p:nvPr/>
        </p:nvSpPr>
        <p:spPr>
          <a:xfrm>
            <a:off x="6203752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有效性</a:t>
            </a:r>
            <a:endParaRPr/>
          </a:p>
        </p:txBody>
      </p:sp>
      <p:sp>
        <p:nvSpPr>
          <p:cNvPr id="112" name="文字 112"/>
          <p:cNvSpPr txBox="1"/>
          <p:nvPr/>
        </p:nvSpPr>
        <p:spPr>
          <a:xfrm>
            <a:off x="6112272" y="6038453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准确、完整、可用</a:t>
            </a:r>
            <a:endParaRPr/>
          </a:p>
        </p:txBody>
      </p:sp>
      <p:sp>
        <p:nvSpPr>
          <p:cNvPr id="113" name="文字 113"/>
          <p:cNvSpPr txBox="1"/>
          <p:nvPr/>
        </p:nvSpPr>
        <p:spPr>
          <a:xfrm>
            <a:off x="457200" y="6296223"/>
            <a:ext cx="338832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热度 score、TRACE 质量分与双路安全报告分别表达不同信号。</a:t>
            </a:r>
            <a:endParaRPr/>
          </a:p>
        </p:txBody>
      </p:sp>
      <p:pic>
        <p:nvPicPr>
          <p:cNvPr id="114" name="slide-001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621389" y="5454253"/>
            <a:ext cx="4113411" cy="1060846"/>
          </a:xfrm>
          <a:prstGeom prst="rect">
            <a:avLst/>
          </a:prstGeom>
        </p:spPr>
      </p:pic>
      <p:sp>
        <p:nvSpPr>
          <p:cNvPr id="115" name="文字 115"/>
          <p:cNvSpPr txBox="1"/>
          <p:nvPr/>
        </p:nvSpPr>
        <p:spPr>
          <a:xfrm>
            <a:off x="7773790" y="5479653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平台建设启示</a:t>
            </a:r>
            <a:endParaRPr/>
          </a:p>
        </p:txBody>
      </p:sp>
      <p:sp>
        <p:nvSpPr>
          <p:cNvPr id="116" name="文字 116"/>
          <p:cNvSpPr txBox="1"/>
          <p:nvPr/>
        </p:nvSpPr>
        <p:spPr>
          <a:xfrm>
            <a:off x="7773790" y="5746353"/>
            <a:ext cx="22048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以 Skill 为管理单元，贯通来源版本、</a:t>
            </a:r>
            <a:endParaRPr/>
          </a:p>
        </p:txBody>
      </p:sp>
      <p:sp>
        <p:nvSpPr>
          <p:cNvPr id="117" name="文字 117"/>
          <p:cNvSpPr txBox="1"/>
          <p:nvPr/>
        </p:nvSpPr>
        <p:spPr>
          <a:xfrm>
            <a:off x="7773790" y="5939631"/>
            <a:ext cx="227964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安装条件、质量证据和实际任务结果。</a:t>
            </a:r>
            <a:endParaRPr/>
          </a:p>
        </p:txBody>
      </p:sp>
      <p:sp>
        <p:nvSpPr>
          <p:cNvPr id="118" name="文字 118"/>
          <p:cNvSpPr txBox="1"/>
          <p:nvPr/>
        </p:nvSpPr>
        <p:spPr>
          <a:xfrm>
            <a:off x="7773790" y="6190060"/>
            <a:ext cx="20637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待核查：统计口径与评测版本一致性；</a:t>
            </a:r>
            <a:endParaRPr/>
          </a:p>
        </p:txBody>
      </p:sp>
      <p:sp>
        <p:nvSpPr>
          <p:cNvPr id="119" name="文字 119"/>
          <p:cNvSpPr txBox="1"/>
          <p:nvPr/>
        </p:nvSpPr>
        <p:spPr>
          <a:xfrm>
            <a:off x="7773790" y="6358930"/>
            <a:ext cx="204598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开源 evaluator 不等于全量动态实测。</a:t>
            </a:r>
            <a:endParaRPr/>
          </a:p>
        </p:txBody>
      </p:sp>
      <p:pic>
        <p:nvPicPr>
          <p:cNvPr id="121" name="slide-001-image-19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SkillHub：用 TRACE 把 Skill 分发从「能装」推向「可评」</a:t>
            </a:r>
            <a:endParaRPr/>
          </a:p>
        </p:txBody>
      </p:sp>
      <p:pic>
        <p:nvPicPr>
          <p:cNvPr id="10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14041"/>
            <a:ext cx="2819400" cy="425450"/>
          </a:xfrm>
          <a:prstGeom prst="rect">
            <a:avLst/>
          </a:prstGeom>
        </p:spPr>
      </p:pic>
      <p:sp>
        <p:nvSpPr>
          <p:cNvPr id="11" name="文字 11"/>
          <p:cNvSpPr txBox="1"/>
          <p:nvPr/>
        </p:nvSpPr>
        <p:spPr>
          <a:xfrm>
            <a:off x="457200" y="1182291"/>
            <a:ext cx="972840" cy="3048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199,516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57200" y="1487091"/>
            <a:ext cx="85496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API 技能数</a:t>
            </a:r>
            <a:endParaRPr/>
          </a:p>
        </p:txBody>
      </p:sp>
      <p:pic>
        <p:nvPicPr>
          <p:cNvPr id="13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6600" y="1214041"/>
            <a:ext cx="2819400" cy="425450"/>
          </a:xfrm>
          <a:prstGeom prst="rect">
            <a:avLst/>
          </a:prstGeom>
        </p:spPr>
      </p:pic>
      <p:sp>
        <p:nvSpPr>
          <p:cNvPr id="14" name="文字 14"/>
          <p:cNvSpPr txBox="1"/>
          <p:nvPr/>
        </p:nvSpPr>
        <p:spPr>
          <a:xfrm>
            <a:off x="3390900" y="1182291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1,993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3390900" y="148709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入驻企业</a:t>
            </a:r>
            <a:endParaRPr/>
          </a:p>
        </p:txBody>
      </p:sp>
      <p:pic>
        <p:nvPicPr>
          <p:cNvPr id="16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1214041"/>
            <a:ext cx="2819400" cy="425450"/>
          </a:xfrm>
          <a:prstGeom prst="rect">
            <a:avLst/>
          </a:prstGeom>
        </p:spPr>
      </p:pic>
      <p:sp>
        <p:nvSpPr>
          <p:cNvPr id="17" name="文字 17"/>
          <p:cNvSpPr txBox="1"/>
          <p:nvPr/>
        </p:nvSpPr>
        <p:spPr>
          <a:xfrm>
            <a:off x="6210300" y="1182291"/>
            <a:ext cx="424260" cy="3048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155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6210300" y="1487091"/>
            <a:ext cx="81905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腾讯官方 Skills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9029700" y="1182291"/>
            <a:ext cx="561380" cy="3048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4.54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9029700" y="1487091"/>
            <a:ext cx="1346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均分 · 40 条有效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57200" y="1823641"/>
            <a:ext cx="1546721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 · 资产结构 / 4 层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57200" y="2058591"/>
            <a:ext cx="179179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人格 → 场景 → 方法 → 工具。</a:t>
            </a:r>
            <a:endParaRPr/>
          </a:p>
        </p:txBody>
      </p:sp>
      <p:pic>
        <p:nvPicPr>
          <p:cNvPr id="23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270621"/>
            <a:ext cx="2762250" cy="549771"/>
          </a:xfrm>
          <a:prstGeom prst="rect">
            <a:avLst/>
          </a:prstGeom>
        </p:spPr>
      </p:pic>
      <p:sp>
        <p:nvSpPr>
          <p:cNvPr id="24" name="文字 24"/>
          <p:cNvSpPr txBox="1"/>
          <p:nvPr/>
        </p:nvSpPr>
        <p:spPr>
          <a:xfrm>
            <a:off x="457200" y="2340471"/>
            <a:ext cx="1651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L4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952500" y="2353171"/>
            <a:ext cx="4272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SOUL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952500" y="2570262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人格、表达与协作方式</a:t>
            </a:r>
            <a:endParaRPr/>
          </a:p>
        </p:txBody>
      </p:sp>
      <p:pic>
        <p:nvPicPr>
          <p:cNvPr id="27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2820392"/>
            <a:ext cx="2762250" cy="549771"/>
          </a:xfrm>
          <a:prstGeom prst="rect">
            <a:avLst/>
          </a:prstGeom>
        </p:spPr>
      </p:pic>
      <p:sp>
        <p:nvSpPr>
          <p:cNvPr id="28" name="文字 28"/>
          <p:cNvSpPr txBox="1"/>
          <p:nvPr/>
        </p:nvSpPr>
        <p:spPr>
          <a:xfrm>
            <a:off x="457200" y="2890242"/>
            <a:ext cx="1651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L3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952500" y="2902942"/>
            <a:ext cx="10553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专家包 / 技能包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952500" y="3120033"/>
            <a:ext cx="130393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按场景组合多个 Skills</a:t>
            </a:r>
            <a:endParaRPr/>
          </a:p>
        </p:txBody>
      </p:sp>
      <p:pic>
        <p:nvPicPr>
          <p:cNvPr id="31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3370163"/>
            <a:ext cx="2762250" cy="549771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3440013"/>
            <a:ext cx="1651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L2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952500" y="3452713"/>
            <a:ext cx="34220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952500" y="3669804"/>
            <a:ext cx="148054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指令 + 脚本 + 参考 + 模板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3989785"/>
            <a:ext cx="1651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L1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952500" y="4002484"/>
            <a:ext cx="34458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MCP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952500" y="4219575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连接外部数据与受控动作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457200" y="4526855"/>
            <a:ext cx="16319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6C7078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分析视图；评测与安全横跨四层。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457200" y="4851400"/>
            <a:ext cx="178286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 万 Skill / 13 类 / 1,993 企业</a:t>
            </a:r>
            <a:endParaRPr/>
          </a:p>
        </p:txBody>
      </p:sp>
      <p:pic>
        <p:nvPicPr>
          <p:cNvPr id="40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71850" y="1798241"/>
            <a:ext cx="3270250" cy="3205559"/>
          </a:xfrm>
          <a:prstGeom prst="rect">
            <a:avLst/>
          </a:prstGeom>
        </p:spPr>
      </p:pic>
      <p:sp>
        <p:nvSpPr>
          <p:cNvPr id="41" name="文字 41"/>
          <p:cNvSpPr txBox="1"/>
          <p:nvPr/>
        </p:nvSpPr>
        <p:spPr>
          <a:xfrm>
            <a:off x="3517900" y="1823641"/>
            <a:ext cx="1546721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 · 资产消费 / 4 环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3517900" y="2058591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从全球同步到云端试跑，入口已铺到宿主内。</a:t>
            </a:r>
            <a:endParaRPr/>
          </a:p>
        </p:txBody>
      </p:sp>
      <p:pic>
        <p:nvPicPr>
          <p:cNvPr id="43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17900" y="2257921"/>
            <a:ext cx="3124200" cy="702767"/>
          </a:xfrm>
          <a:prstGeom prst="rect">
            <a:avLst/>
          </a:prstGeom>
        </p:spPr>
      </p:pic>
      <p:sp>
        <p:nvSpPr>
          <p:cNvPr id="44" name="形状 44"/>
          <p:cNvSpPr/>
          <p:nvPr/>
        </p:nvSpPr>
        <p:spPr>
          <a:xfrm>
            <a:off x="3517900" y="2315071"/>
            <a:ext cx="228600" cy="2286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3559770" y="2349996"/>
            <a:ext cx="15756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3854450" y="2321421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来源：全球同步与本土共建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3854450" y="2536627"/>
            <a:ext cx="274369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ClawHub 同步 / 社区 / 企业；Top50 样本 46%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3854450" y="2723257"/>
            <a:ext cx="74860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/ 28% / 26%</a:t>
            </a:r>
            <a:endParaRPr/>
          </a:p>
        </p:txBody>
      </p:sp>
      <p:pic>
        <p:nvPicPr>
          <p:cNvPr id="49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17900" y="2960688"/>
            <a:ext cx="3124200" cy="516136"/>
          </a:xfrm>
          <a:prstGeom prst="rect">
            <a:avLst/>
          </a:prstGeom>
        </p:spPr>
      </p:pic>
      <p:sp>
        <p:nvSpPr>
          <p:cNvPr id="50" name="形状 50"/>
          <p:cNvSpPr/>
          <p:nvPr/>
        </p:nvSpPr>
        <p:spPr>
          <a:xfrm>
            <a:off x="3517900" y="3017838"/>
            <a:ext cx="228600" cy="2286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文字 51"/>
          <p:cNvSpPr txBox="1"/>
          <p:nvPr/>
        </p:nvSpPr>
        <p:spPr>
          <a:xfrm>
            <a:off x="3559770" y="3052763"/>
            <a:ext cx="15756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3854450" y="3024188"/>
            <a:ext cx="1741587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发布：目录、ZIP 与团队库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3854450" y="3239393"/>
            <a:ext cx="273913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网页 / CLI / GitHub；版本、可见性、团队审核</a:t>
            </a:r>
            <a:endParaRPr/>
          </a:p>
        </p:txBody>
      </p:sp>
      <p:pic>
        <p:nvPicPr>
          <p:cNvPr id="54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17900" y="3476823"/>
            <a:ext cx="3124200" cy="516136"/>
          </a:xfrm>
          <a:prstGeom prst="rect">
            <a:avLst/>
          </a:prstGeom>
        </p:spPr>
      </p:pic>
      <p:sp>
        <p:nvSpPr>
          <p:cNvPr id="55" name="形状 55"/>
          <p:cNvSpPr/>
          <p:nvPr/>
        </p:nvSpPr>
        <p:spPr>
          <a:xfrm>
            <a:off x="3517900" y="3533974"/>
            <a:ext cx="228600" cy="2286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6" name="文字 56"/>
          <p:cNvSpPr txBox="1"/>
          <p:nvPr/>
        </p:nvSpPr>
        <p:spPr>
          <a:xfrm>
            <a:off x="3559770" y="3568898"/>
            <a:ext cx="15756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3854450" y="3540323"/>
            <a:ext cx="182840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消费：CLI / DSH / API / ZIP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3854450" y="3755529"/>
            <a:ext cx="206771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install &lt;slug&gt; --dir ./skills</a:t>
            </a:r>
            <a:endParaRPr/>
          </a:p>
        </p:txBody>
      </p:sp>
      <p:pic>
        <p:nvPicPr>
          <p:cNvPr id="59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17900" y="3992960"/>
            <a:ext cx="3124200" cy="516136"/>
          </a:xfrm>
          <a:prstGeom prst="rect">
            <a:avLst/>
          </a:prstGeom>
        </p:spPr>
      </p:pic>
      <p:sp>
        <p:nvSpPr>
          <p:cNvPr id="60" name="形状 60"/>
          <p:cNvSpPr/>
          <p:nvPr/>
        </p:nvSpPr>
        <p:spPr>
          <a:xfrm>
            <a:off x="3517900" y="4050110"/>
            <a:ext cx="228600" cy="2286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1" name="文字 61"/>
          <p:cNvSpPr txBox="1"/>
          <p:nvPr/>
        </p:nvSpPr>
        <p:spPr>
          <a:xfrm>
            <a:off x="3559770" y="4085035"/>
            <a:ext cx="15756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3854450" y="4056460"/>
            <a:ext cx="191779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试运行：云端会话 + 运行案例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3854450" y="4271665"/>
            <a:ext cx="238412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前端已实现创建/恢复/加载；本次未实测</a:t>
            </a:r>
            <a:endParaRPr/>
          </a:p>
        </p:txBody>
      </p:sp>
      <p:pic>
        <p:nvPicPr>
          <p:cNvPr id="64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17900" y="4593630"/>
            <a:ext cx="3124200" cy="410170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3517900" y="4663480"/>
            <a:ext cx="261878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install &lt;slug&gt; --dir ./skills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3517900" y="4847630"/>
            <a:ext cx="267741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默认 ./skills；DSH ~/.dsh/skills；不自动装依赖。</a:t>
            </a:r>
            <a:endParaRPr/>
          </a:p>
        </p:txBody>
      </p:sp>
      <p:pic>
        <p:nvPicPr>
          <p:cNvPr id="67" name="slide-001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94501" y="1798241"/>
            <a:ext cx="4940300" cy="3205559"/>
          </a:xfrm>
          <a:prstGeom prst="rect">
            <a:avLst/>
          </a:prstGeom>
        </p:spPr>
      </p:pic>
      <p:sp>
        <p:nvSpPr>
          <p:cNvPr id="68" name="文字 68"/>
          <p:cNvSpPr txBox="1"/>
          <p:nvPr/>
        </p:nvSpPr>
        <p:spPr>
          <a:xfrm>
            <a:off x="6940550" y="1823641"/>
            <a:ext cx="1773238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 · 评测机制 / TRACE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10501908" y="1874441"/>
            <a:ext cx="12455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6C7078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5 维 · 15 子项 · 满分 5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6940550" y="2058591"/>
            <a:ext cx="25909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维度内均分，再五维等权；40 条有效样本。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940550" y="2296021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7012980" y="2283321"/>
            <a:ext cx="57596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可信任度</a:t>
            </a:r>
            <a:endParaRPr/>
          </a:p>
        </p:txBody>
      </p:sp>
      <p:sp>
        <p:nvSpPr>
          <p:cNvPr id="73" name="形状 73"/>
          <p:cNvSpPr/>
          <p:nvPr/>
        </p:nvSpPr>
        <p:spPr>
          <a:xfrm>
            <a:off x="7969250" y="232390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4" name="形状 74"/>
          <p:cNvSpPr/>
          <p:nvPr/>
        </p:nvSpPr>
        <p:spPr>
          <a:xfrm>
            <a:off x="7969250" y="2323902"/>
            <a:ext cx="3271738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5" name="文字 75"/>
          <p:cNvSpPr txBox="1"/>
          <p:nvPr/>
        </p:nvSpPr>
        <p:spPr>
          <a:xfrm>
            <a:off x="11445181" y="228897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4.87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6940550" y="2529681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012980" y="2516981"/>
            <a:ext cx="4426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可靠性</a:t>
            </a:r>
            <a:endParaRPr/>
          </a:p>
        </p:txBody>
      </p:sp>
      <p:sp>
        <p:nvSpPr>
          <p:cNvPr id="78" name="形状 78"/>
          <p:cNvSpPr/>
          <p:nvPr/>
        </p:nvSpPr>
        <p:spPr>
          <a:xfrm>
            <a:off x="7969250" y="255756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9" name="形状 79"/>
          <p:cNvSpPr/>
          <p:nvPr/>
        </p:nvSpPr>
        <p:spPr>
          <a:xfrm>
            <a:off x="7969250" y="2557562"/>
            <a:ext cx="2922389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0" name="文字 80"/>
          <p:cNvSpPr txBox="1"/>
          <p:nvPr/>
        </p:nvSpPr>
        <p:spPr>
          <a:xfrm>
            <a:off x="11445181" y="252263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4.35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6940550" y="2763341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7012980" y="2750642"/>
            <a:ext cx="4426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适应性</a:t>
            </a:r>
            <a:endParaRPr/>
          </a:p>
        </p:txBody>
      </p:sp>
      <p:sp>
        <p:nvSpPr>
          <p:cNvPr id="83" name="形状 83"/>
          <p:cNvSpPr/>
          <p:nvPr/>
        </p:nvSpPr>
        <p:spPr>
          <a:xfrm>
            <a:off x="7969250" y="279122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4" name="形状 84"/>
          <p:cNvSpPr/>
          <p:nvPr/>
        </p:nvSpPr>
        <p:spPr>
          <a:xfrm>
            <a:off x="7969250" y="2791222"/>
            <a:ext cx="3009702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5" name="文字 85"/>
          <p:cNvSpPr txBox="1"/>
          <p:nvPr/>
        </p:nvSpPr>
        <p:spPr>
          <a:xfrm>
            <a:off x="11445181" y="275629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4.48</a:t>
            </a:r>
            <a:endParaRPr/>
          </a:p>
        </p:txBody>
      </p:sp>
      <p:sp>
        <p:nvSpPr>
          <p:cNvPr id="86" name="文字 86"/>
          <p:cNvSpPr txBox="1"/>
          <p:nvPr/>
        </p:nvSpPr>
        <p:spPr>
          <a:xfrm>
            <a:off x="6940550" y="2997002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7012980" y="2984302"/>
            <a:ext cx="4426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规范性</a:t>
            </a:r>
            <a:endParaRPr/>
          </a:p>
        </p:txBody>
      </p:sp>
      <p:sp>
        <p:nvSpPr>
          <p:cNvPr id="88" name="形状 88"/>
          <p:cNvSpPr/>
          <p:nvPr/>
        </p:nvSpPr>
        <p:spPr>
          <a:xfrm>
            <a:off x="7969250" y="302488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9" name="形状 89"/>
          <p:cNvSpPr/>
          <p:nvPr/>
        </p:nvSpPr>
        <p:spPr>
          <a:xfrm>
            <a:off x="7969250" y="3024882"/>
            <a:ext cx="2942531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0" name="文字 90"/>
          <p:cNvSpPr txBox="1"/>
          <p:nvPr/>
        </p:nvSpPr>
        <p:spPr>
          <a:xfrm>
            <a:off x="11445181" y="298995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4.38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940550" y="3230662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7012980" y="3217962"/>
            <a:ext cx="4426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有效性</a:t>
            </a:r>
            <a:endParaRPr/>
          </a:p>
        </p:txBody>
      </p:sp>
      <p:sp>
        <p:nvSpPr>
          <p:cNvPr id="93" name="形状 93"/>
          <p:cNvSpPr/>
          <p:nvPr/>
        </p:nvSpPr>
        <p:spPr>
          <a:xfrm>
            <a:off x="7969250" y="325854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4" name="形状 94"/>
          <p:cNvSpPr/>
          <p:nvPr/>
        </p:nvSpPr>
        <p:spPr>
          <a:xfrm>
            <a:off x="7969250" y="3258542"/>
            <a:ext cx="3097113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5" name="文字 95"/>
          <p:cNvSpPr txBox="1"/>
          <p:nvPr/>
        </p:nvSpPr>
        <p:spPr>
          <a:xfrm>
            <a:off x="11445181" y="322361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4.61</a:t>
            </a:r>
            <a:endParaRPr/>
          </a:p>
        </p:txBody>
      </p:sp>
      <p:sp>
        <p:nvSpPr>
          <p:cNvPr id="96" name="形状 96"/>
          <p:cNvSpPr/>
          <p:nvPr/>
        </p:nvSpPr>
        <p:spPr>
          <a:xfrm>
            <a:off x="6940550" y="3464322"/>
            <a:ext cx="1312863" cy="260350"/>
          </a:xfrm>
          <a:prstGeom prst="roundRect">
            <a:avLst>
              <a:gd name="adj" fmla="val 9756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7" name="文字 97"/>
          <p:cNvSpPr txBox="1"/>
          <p:nvPr/>
        </p:nvSpPr>
        <p:spPr>
          <a:xfrm>
            <a:off x="7023100" y="3496072"/>
            <a:ext cx="378519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4.54</a:t>
            </a:r>
            <a:endParaRPr/>
          </a:p>
        </p:txBody>
      </p:sp>
      <p:sp>
        <p:nvSpPr>
          <p:cNvPr id="98" name="文字 98"/>
          <p:cNvSpPr txBox="1"/>
          <p:nvPr/>
        </p:nvSpPr>
        <p:spPr>
          <a:xfrm>
            <a:off x="7388920" y="3534172"/>
            <a:ext cx="79464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/ 5 · 五维等权</a:t>
            </a:r>
            <a:endParaRPr/>
          </a:p>
        </p:txBody>
      </p:sp>
      <p:sp>
        <p:nvSpPr>
          <p:cNvPr id="99" name="文字 99"/>
          <p:cNvSpPr txBox="1"/>
          <p:nvPr/>
        </p:nvSpPr>
        <p:spPr>
          <a:xfrm>
            <a:off x="8342313" y="3530997"/>
            <a:ext cx="253861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中位 4.56 · 72.5% ≥4.5 · 最低 4.12 · 0 条 &lt;4.0</a:t>
            </a:r>
            <a:endParaRPr/>
          </a:p>
        </p:txBody>
      </p:sp>
      <p:sp>
        <p:nvSpPr>
          <p:cNvPr id="100" name="文字 100"/>
          <p:cNvSpPr txBox="1"/>
          <p:nvPr/>
        </p:nvSpPr>
        <p:spPr>
          <a:xfrm>
            <a:off x="6940550" y="3807222"/>
            <a:ext cx="202634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评测覆盖：企业最高，ClawHub 空白</a:t>
            </a:r>
            <a:endParaRPr/>
          </a:p>
        </p:txBody>
      </p:sp>
      <p:sp>
        <p:nvSpPr>
          <p:cNvPr id="101" name="文字 101"/>
          <p:cNvSpPr txBox="1"/>
          <p:nvPr/>
        </p:nvSpPr>
        <p:spPr>
          <a:xfrm>
            <a:off x="6940550" y="4004072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</a:t>
            </a:r>
            <a:endParaRPr/>
          </a:p>
        </p:txBody>
      </p:sp>
      <p:sp>
        <p:nvSpPr>
          <p:cNvPr id="102" name="形状 102"/>
          <p:cNvSpPr/>
          <p:nvPr/>
        </p:nvSpPr>
        <p:spPr>
          <a:xfrm>
            <a:off x="7499350" y="4035822"/>
            <a:ext cx="3854450" cy="69850"/>
          </a:xfrm>
          <a:prstGeom prst="roundRect">
            <a:avLst>
              <a:gd name="adj" fmla="val 27273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3" name="形状 103"/>
          <p:cNvSpPr/>
          <p:nvPr/>
        </p:nvSpPr>
        <p:spPr>
          <a:xfrm>
            <a:off x="7499350" y="4035822"/>
            <a:ext cx="3854450" cy="6985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4" name="文字 104"/>
          <p:cNvSpPr txBox="1"/>
          <p:nvPr/>
        </p:nvSpPr>
        <p:spPr>
          <a:xfrm>
            <a:off x="11475641" y="4000897"/>
            <a:ext cx="27186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100%</a:t>
            </a:r>
            <a:endParaRPr/>
          </a:p>
        </p:txBody>
      </p:sp>
      <p:sp>
        <p:nvSpPr>
          <p:cNvPr id="105" name="文字 105"/>
          <p:cNvSpPr txBox="1"/>
          <p:nvPr/>
        </p:nvSpPr>
        <p:spPr>
          <a:xfrm>
            <a:off x="6940550" y="4213622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社区</a:t>
            </a:r>
            <a:endParaRPr/>
          </a:p>
        </p:txBody>
      </p:sp>
      <p:sp>
        <p:nvSpPr>
          <p:cNvPr id="106" name="形状 106"/>
          <p:cNvSpPr/>
          <p:nvPr/>
        </p:nvSpPr>
        <p:spPr>
          <a:xfrm>
            <a:off x="7499350" y="4245372"/>
            <a:ext cx="3854450" cy="69850"/>
          </a:xfrm>
          <a:prstGeom prst="roundRect">
            <a:avLst>
              <a:gd name="adj" fmla="val 27273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7" name="形状 107"/>
          <p:cNvSpPr/>
          <p:nvPr/>
        </p:nvSpPr>
        <p:spPr>
          <a:xfrm>
            <a:off x="7499350" y="4245372"/>
            <a:ext cx="2852242" cy="698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8" name="文字 108"/>
          <p:cNvSpPr txBox="1"/>
          <p:nvPr/>
        </p:nvSpPr>
        <p:spPr>
          <a:xfrm>
            <a:off x="11540431" y="4210447"/>
            <a:ext cx="20707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74%</a:t>
            </a:r>
            <a:endParaRPr/>
          </a:p>
        </p:txBody>
      </p:sp>
      <p:sp>
        <p:nvSpPr>
          <p:cNvPr id="109" name="文字 109"/>
          <p:cNvSpPr txBox="1"/>
          <p:nvPr/>
        </p:nvSpPr>
        <p:spPr>
          <a:xfrm>
            <a:off x="6940550" y="4423172"/>
            <a:ext cx="52437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ClawHub</a:t>
            </a:r>
            <a:endParaRPr/>
          </a:p>
        </p:txBody>
      </p:sp>
      <p:sp>
        <p:nvSpPr>
          <p:cNvPr id="110" name="形状 110"/>
          <p:cNvSpPr/>
          <p:nvPr/>
        </p:nvSpPr>
        <p:spPr>
          <a:xfrm>
            <a:off x="7499350" y="4454922"/>
            <a:ext cx="3854450" cy="69850"/>
          </a:xfrm>
          <a:prstGeom prst="roundRect">
            <a:avLst>
              <a:gd name="adj" fmla="val 27273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11" name="文字 111"/>
          <p:cNvSpPr txBox="1"/>
          <p:nvPr/>
        </p:nvSpPr>
        <p:spPr>
          <a:xfrm>
            <a:off x="11605220" y="4419997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0%</a:t>
            </a:r>
            <a:endParaRPr/>
          </a:p>
        </p:txBody>
      </p:sp>
      <p:sp>
        <p:nvSpPr>
          <p:cNvPr id="112" name="文字 112"/>
          <p:cNvSpPr txBox="1"/>
          <p:nvPr/>
        </p:nvSpPr>
        <p:spPr>
          <a:xfrm>
            <a:off x="6940550" y="4620022"/>
            <a:ext cx="32275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6C7078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抽样 60：企业 20/20、社区 20/27、ClawHub 0/6；去重 53，有效 40。</a:t>
            </a:r>
            <a:endParaRPr/>
          </a:p>
        </p:txBody>
      </p:sp>
      <p:pic>
        <p:nvPicPr>
          <p:cNvPr id="113" name="slide-001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40550" y="4750792"/>
            <a:ext cx="4794251" cy="406995"/>
          </a:xfrm>
          <a:prstGeom prst="rect">
            <a:avLst/>
          </a:prstGeom>
        </p:spPr>
      </p:pic>
      <p:sp>
        <p:nvSpPr>
          <p:cNvPr id="114" name="文字 114"/>
          <p:cNvSpPr txBox="1"/>
          <p:nvPr/>
        </p:nvSpPr>
        <p:spPr>
          <a:xfrm>
            <a:off x="6940550" y="4826992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证据：</a:t>
            </a:r>
            <a:endParaRPr/>
          </a:p>
        </p:txBody>
      </p:sp>
      <p:sp>
        <p:nvSpPr>
          <p:cNvPr id="115" name="文字 115"/>
          <p:cNvSpPr txBox="1"/>
          <p:nvPr/>
        </p:nvSpPr>
        <p:spPr>
          <a:xfrm>
            <a:off x="7302500" y="4826992"/>
            <a:ext cx="332501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科恩/云鼎双报告 · 内容指纹 · 数字签名（逐文件 SHA-256）</a:t>
            </a:r>
            <a:endParaRPr/>
          </a:p>
        </p:txBody>
      </p:sp>
      <p:sp>
        <p:nvSpPr>
          <p:cNvPr id="116" name="文字 116"/>
          <p:cNvSpPr txBox="1"/>
          <p:nvPr/>
        </p:nvSpPr>
        <p:spPr>
          <a:xfrm>
            <a:off x="6940550" y="5001915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示例：</a:t>
            </a:r>
            <a:endParaRPr/>
          </a:p>
        </p:txBody>
      </p:sp>
      <p:sp>
        <p:nvSpPr>
          <p:cNvPr id="117" name="文字 117"/>
          <p:cNvSpPr txBox="1"/>
          <p:nvPr/>
        </p:nvSpPr>
        <p:spPr>
          <a:xfrm>
            <a:off x="7302500" y="5001915"/>
            <a:ext cx="279469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编程专家Pro 4.4/5；274.5K tokens/次（沙箱预估）</a:t>
            </a:r>
            <a:endParaRPr/>
          </a:p>
        </p:txBody>
      </p:sp>
      <p:pic>
        <p:nvPicPr>
          <p:cNvPr id="118" name="slide-001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7200" y="5105400"/>
            <a:ext cx="11277600" cy="1447800"/>
          </a:xfrm>
          <a:prstGeom prst="rect">
            <a:avLst/>
          </a:prstGeom>
        </p:spPr>
      </p:pic>
      <p:sp>
        <p:nvSpPr>
          <p:cNvPr id="119" name="文字 119"/>
          <p:cNvSpPr txBox="1"/>
          <p:nvPr/>
        </p:nvSpPr>
        <p:spPr>
          <a:xfrm>
            <a:off x="457200" y="5213350"/>
            <a:ext cx="106580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 · 生态画像</a:t>
            </a:r>
            <a:endParaRPr/>
          </a:p>
        </p:txBody>
      </p:sp>
      <p:sp>
        <p:nvSpPr>
          <p:cNvPr id="120" name="文字 120"/>
          <p:cNvSpPr txBox="1"/>
          <p:nvPr/>
        </p:nvSpPr>
        <p:spPr>
          <a:xfrm>
            <a:off x="5049242" y="5270500"/>
            <a:ext cx="113873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6C7078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Top50 样本，不代表全量</a:t>
            </a:r>
            <a:endParaRPr/>
          </a:p>
        </p:txBody>
      </p:sp>
      <p:sp>
        <p:nvSpPr>
          <p:cNvPr id="121" name="文字 121"/>
          <p:cNvSpPr txBox="1"/>
          <p:nvPr/>
        </p:nvSpPr>
        <p:spPr>
          <a:xfrm>
            <a:off x="457200" y="548640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来源结构</a:t>
            </a:r>
            <a:endParaRPr/>
          </a:p>
        </p:txBody>
      </p:sp>
      <p:sp>
        <p:nvSpPr>
          <p:cNvPr id="122" name="形状 122"/>
          <p:cNvSpPr/>
          <p:nvPr/>
        </p:nvSpPr>
        <p:spPr>
          <a:xfrm>
            <a:off x="457200" y="5664200"/>
            <a:ext cx="1282998" cy="889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23" name="形状 123"/>
          <p:cNvSpPr/>
          <p:nvPr/>
        </p:nvSpPr>
        <p:spPr>
          <a:xfrm>
            <a:off x="1740198" y="5664200"/>
            <a:ext cx="780951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24" name="形状 124"/>
          <p:cNvSpPr/>
          <p:nvPr/>
        </p:nvSpPr>
        <p:spPr>
          <a:xfrm>
            <a:off x="2521148" y="5664200"/>
            <a:ext cx="725091" cy="88900"/>
          </a:xfrm>
          <a:prstGeom prst="rect">
            <a:avLst/>
          </a:prstGeom>
          <a:solidFill>
            <a:srgbClr val="A5ACB4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25" name="文字 125"/>
          <p:cNvSpPr txBox="1"/>
          <p:nvPr/>
        </p:nvSpPr>
        <p:spPr>
          <a:xfrm>
            <a:off x="457200" y="5797550"/>
            <a:ext cx="445095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社区 46%</a:t>
            </a:r>
            <a:endParaRPr/>
          </a:p>
        </p:txBody>
      </p:sp>
      <p:sp>
        <p:nvSpPr>
          <p:cNvPr id="126" name="文字 126"/>
          <p:cNvSpPr txBox="1"/>
          <p:nvPr/>
        </p:nvSpPr>
        <p:spPr>
          <a:xfrm>
            <a:off x="1521718" y="5797550"/>
            <a:ext cx="672802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ClawHub 28%</a:t>
            </a:r>
            <a:endParaRPr/>
          </a:p>
        </p:txBody>
      </p:sp>
      <p:sp>
        <p:nvSpPr>
          <p:cNvPr id="127" name="文字 127"/>
          <p:cNvSpPr txBox="1"/>
          <p:nvPr/>
        </p:nvSpPr>
        <p:spPr>
          <a:xfrm>
            <a:off x="2813943" y="5797550"/>
            <a:ext cx="445095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 26%</a:t>
            </a:r>
            <a:endParaRPr/>
          </a:p>
        </p:txBody>
      </p:sp>
      <p:sp>
        <p:nvSpPr>
          <p:cNvPr id="128" name="文字 128"/>
          <p:cNvSpPr txBox="1"/>
          <p:nvPr/>
        </p:nvSpPr>
        <p:spPr>
          <a:xfrm>
            <a:off x="3386038" y="548640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下载类别</a:t>
            </a:r>
            <a:endParaRPr/>
          </a:p>
        </p:txBody>
      </p:sp>
      <p:sp>
        <p:nvSpPr>
          <p:cNvPr id="129" name="文字 129"/>
          <p:cNvSpPr txBox="1"/>
          <p:nvPr/>
        </p:nvSpPr>
        <p:spPr>
          <a:xfrm>
            <a:off x="3386038" y="56832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开发编程</a:t>
            </a:r>
            <a:endParaRPr/>
          </a:p>
        </p:txBody>
      </p:sp>
      <p:sp>
        <p:nvSpPr>
          <p:cNvPr id="130" name="形状 130"/>
          <p:cNvSpPr/>
          <p:nvPr/>
        </p:nvSpPr>
        <p:spPr>
          <a:xfrm>
            <a:off x="3989288" y="5708650"/>
            <a:ext cx="1785938" cy="82550"/>
          </a:xfrm>
          <a:prstGeom prst="roundRect">
            <a:avLst>
              <a:gd name="adj" fmla="val 23077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1" name="形状 131"/>
          <p:cNvSpPr/>
          <p:nvPr/>
        </p:nvSpPr>
        <p:spPr>
          <a:xfrm>
            <a:off x="3989288" y="5708650"/>
            <a:ext cx="659011" cy="8255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2" name="文字 132"/>
          <p:cNvSpPr txBox="1"/>
          <p:nvPr/>
        </p:nvSpPr>
        <p:spPr>
          <a:xfrm>
            <a:off x="5851426" y="5680075"/>
            <a:ext cx="33655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36.9%</a:t>
            </a:r>
            <a:endParaRPr/>
          </a:p>
        </p:txBody>
      </p:sp>
      <p:sp>
        <p:nvSpPr>
          <p:cNvPr id="133" name="文字 133"/>
          <p:cNvSpPr txBox="1"/>
          <p:nvPr/>
        </p:nvSpPr>
        <p:spPr>
          <a:xfrm>
            <a:off x="3386038" y="5905500"/>
            <a:ext cx="47347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Agent</a:t>
            </a:r>
            <a:endParaRPr/>
          </a:p>
        </p:txBody>
      </p:sp>
      <p:sp>
        <p:nvSpPr>
          <p:cNvPr id="134" name="形状 134"/>
          <p:cNvSpPr/>
          <p:nvPr/>
        </p:nvSpPr>
        <p:spPr>
          <a:xfrm>
            <a:off x="3989288" y="5930900"/>
            <a:ext cx="1785938" cy="82550"/>
          </a:xfrm>
          <a:prstGeom prst="roundRect">
            <a:avLst>
              <a:gd name="adj" fmla="val 23077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5" name="形状 135"/>
          <p:cNvSpPr/>
          <p:nvPr/>
        </p:nvSpPr>
        <p:spPr>
          <a:xfrm>
            <a:off x="3989288" y="5930900"/>
            <a:ext cx="235744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6" name="文字 136"/>
          <p:cNvSpPr txBox="1"/>
          <p:nvPr/>
        </p:nvSpPr>
        <p:spPr>
          <a:xfrm>
            <a:off x="5851426" y="5902325"/>
            <a:ext cx="33655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13.2%</a:t>
            </a:r>
            <a:endParaRPr/>
          </a:p>
        </p:txBody>
      </p:sp>
      <p:sp>
        <p:nvSpPr>
          <p:cNvPr id="137" name="文字 137"/>
          <p:cNvSpPr txBox="1"/>
          <p:nvPr/>
        </p:nvSpPr>
        <p:spPr>
          <a:xfrm>
            <a:off x="3386038" y="61277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知识管理</a:t>
            </a:r>
            <a:endParaRPr/>
          </a:p>
        </p:txBody>
      </p:sp>
      <p:sp>
        <p:nvSpPr>
          <p:cNvPr id="138" name="形状 138"/>
          <p:cNvSpPr/>
          <p:nvPr/>
        </p:nvSpPr>
        <p:spPr>
          <a:xfrm>
            <a:off x="3989288" y="6153150"/>
            <a:ext cx="1785938" cy="82550"/>
          </a:xfrm>
          <a:prstGeom prst="roundRect">
            <a:avLst>
              <a:gd name="adj" fmla="val 23077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9" name="形状 139"/>
          <p:cNvSpPr/>
          <p:nvPr/>
        </p:nvSpPr>
        <p:spPr>
          <a:xfrm>
            <a:off x="3989288" y="6153150"/>
            <a:ext cx="182166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40" name="文字 140"/>
          <p:cNvSpPr txBox="1"/>
          <p:nvPr/>
        </p:nvSpPr>
        <p:spPr>
          <a:xfrm>
            <a:off x="5851426" y="6124575"/>
            <a:ext cx="33655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10.2%</a:t>
            </a:r>
            <a:endParaRPr/>
          </a:p>
        </p:txBody>
      </p:sp>
      <p:sp>
        <p:nvSpPr>
          <p:cNvPr id="141" name="文字 141"/>
          <p:cNvSpPr txBox="1"/>
          <p:nvPr/>
        </p:nvSpPr>
        <p:spPr>
          <a:xfrm>
            <a:off x="3386038" y="6350000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其他</a:t>
            </a:r>
            <a:endParaRPr/>
          </a:p>
        </p:txBody>
      </p:sp>
      <p:sp>
        <p:nvSpPr>
          <p:cNvPr id="142" name="形状 142"/>
          <p:cNvSpPr/>
          <p:nvPr/>
        </p:nvSpPr>
        <p:spPr>
          <a:xfrm>
            <a:off x="3989288" y="6375400"/>
            <a:ext cx="1785938" cy="82550"/>
          </a:xfrm>
          <a:prstGeom prst="roundRect">
            <a:avLst>
              <a:gd name="adj" fmla="val 23077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43" name="形状 143"/>
          <p:cNvSpPr/>
          <p:nvPr/>
        </p:nvSpPr>
        <p:spPr>
          <a:xfrm>
            <a:off x="3989288" y="6375400"/>
            <a:ext cx="709017" cy="82550"/>
          </a:xfrm>
          <a:prstGeom prst="rect">
            <a:avLst/>
          </a:prstGeom>
          <a:solidFill>
            <a:srgbClr val="A5ACB4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44" name="文字 144"/>
          <p:cNvSpPr txBox="1"/>
          <p:nvPr/>
        </p:nvSpPr>
        <p:spPr>
          <a:xfrm>
            <a:off x="5851426" y="6346825"/>
            <a:ext cx="33655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39.7%</a:t>
            </a:r>
            <a:endParaRPr/>
          </a:p>
        </p:txBody>
      </p:sp>
      <p:pic>
        <p:nvPicPr>
          <p:cNvPr id="145" name="slide-001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40376" y="5187950"/>
            <a:ext cx="5394425" cy="1365250"/>
          </a:xfrm>
          <a:prstGeom prst="rect">
            <a:avLst/>
          </a:prstGeom>
        </p:spPr>
      </p:pic>
      <p:sp>
        <p:nvSpPr>
          <p:cNvPr id="146" name="文字 146"/>
          <p:cNvSpPr txBox="1"/>
          <p:nvPr/>
        </p:nvSpPr>
        <p:spPr>
          <a:xfrm>
            <a:off x="6486426" y="5213350"/>
            <a:ext cx="1487785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05 · 结论 / 3 个判断</a:t>
            </a:r>
            <a:endParaRPr/>
          </a:p>
        </p:txBody>
      </p:sp>
      <p:sp>
        <p:nvSpPr>
          <p:cNvPr id="147" name="文字 147"/>
          <p:cNvSpPr txBox="1"/>
          <p:nvPr/>
        </p:nvSpPr>
        <p:spPr>
          <a:xfrm>
            <a:off x="6486426" y="5441950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48" name="文字 148"/>
          <p:cNvSpPr txBox="1"/>
          <p:nvPr/>
        </p:nvSpPr>
        <p:spPr>
          <a:xfrm>
            <a:off x="6486426" y="559435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评测成为分发的一部分</a:t>
            </a:r>
            <a:endParaRPr/>
          </a:p>
        </p:txBody>
      </p:sp>
      <p:sp>
        <p:nvSpPr>
          <p:cNvPr id="149" name="文字 149"/>
          <p:cNvSpPr txBox="1"/>
          <p:nvPr/>
        </p:nvSpPr>
        <p:spPr>
          <a:xfrm>
            <a:off x="6486426" y="5793085"/>
            <a:ext cx="158105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五维/15 子项 + 双路安</a:t>
            </a:r>
            <a:endParaRPr/>
          </a:p>
        </p:txBody>
      </p:sp>
      <p:sp>
        <p:nvSpPr>
          <p:cNvPr id="150" name="文字 150"/>
          <p:cNvSpPr txBox="1"/>
          <p:nvPr/>
        </p:nvSpPr>
        <p:spPr>
          <a:xfrm>
            <a:off x="6486426" y="5961955"/>
            <a:ext cx="16287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 + 内容指纹/签名，把「选」</a:t>
            </a:r>
            <a:endParaRPr/>
          </a:p>
        </p:txBody>
      </p:sp>
      <p:sp>
        <p:nvSpPr>
          <p:cNvPr id="151" name="文字 151"/>
          <p:cNvSpPr txBox="1"/>
          <p:nvPr/>
        </p:nvSpPr>
        <p:spPr>
          <a:xfrm>
            <a:off x="6486426" y="6130826"/>
            <a:ext cx="1219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从下载量变成证据链。</a:t>
            </a:r>
            <a:endParaRPr/>
          </a:p>
        </p:txBody>
      </p:sp>
      <p:sp>
        <p:nvSpPr>
          <p:cNvPr id="152" name="文字 152"/>
          <p:cNvSpPr txBox="1"/>
          <p:nvPr/>
        </p:nvSpPr>
        <p:spPr>
          <a:xfrm>
            <a:off x="8269684" y="5441950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53" name="文字 153"/>
          <p:cNvSpPr txBox="1"/>
          <p:nvPr/>
        </p:nvSpPr>
        <p:spPr>
          <a:xfrm>
            <a:off x="8269684" y="559435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评测与企业供给强绑定</a:t>
            </a:r>
            <a:endParaRPr/>
          </a:p>
        </p:txBody>
      </p:sp>
      <p:sp>
        <p:nvSpPr>
          <p:cNvPr id="154" name="文字 154"/>
          <p:cNvSpPr txBox="1"/>
          <p:nvPr/>
        </p:nvSpPr>
        <p:spPr>
          <a:xfrm>
            <a:off x="8269684" y="5793085"/>
            <a:ext cx="131703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抽样中企业 100%、社区</a:t>
            </a:r>
            <a:endParaRPr/>
          </a:p>
        </p:txBody>
      </p:sp>
      <p:sp>
        <p:nvSpPr>
          <p:cNvPr id="155" name="文字 155"/>
          <p:cNvSpPr txBox="1"/>
          <p:nvPr/>
        </p:nvSpPr>
        <p:spPr>
          <a:xfrm>
            <a:off x="8269684" y="5961955"/>
            <a:ext cx="15779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74%、ClawHub 0%；高分集</a:t>
            </a:r>
            <a:endParaRPr/>
          </a:p>
        </p:txBody>
      </p:sp>
      <p:sp>
        <p:nvSpPr>
          <p:cNvPr id="156" name="文字 156"/>
          <p:cNvSpPr txBox="1"/>
          <p:nvPr/>
        </p:nvSpPr>
        <p:spPr>
          <a:xfrm>
            <a:off x="8269684" y="6130826"/>
            <a:ext cx="103554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中，72.5% ≥4.5。</a:t>
            </a:r>
            <a:endParaRPr/>
          </a:p>
        </p:txBody>
      </p:sp>
      <p:sp>
        <p:nvSpPr>
          <p:cNvPr id="157" name="文字 157"/>
          <p:cNvSpPr txBox="1"/>
          <p:nvPr/>
        </p:nvSpPr>
        <p:spPr>
          <a:xfrm>
            <a:off x="10053043" y="5441950"/>
            <a:ext cx="134639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158" name="文字 158"/>
          <p:cNvSpPr txBox="1"/>
          <p:nvPr/>
        </p:nvSpPr>
        <p:spPr>
          <a:xfrm>
            <a:off x="10053043" y="559435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下一关是可信规模化</a:t>
            </a:r>
            <a:endParaRPr/>
          </a:p>
        </p:txBody>
      </p:sp>
      <p:sp>
        <p:nvSpPr>
          <p:cNvPr id="159" name="文字 159"/>
          <p:cNvSpPr txBox="1"/>
          <p:nvPr/>
        </p:nvSpPr>
        <p:spPr>
          <a:xfrm>
            <a:off x="10053043" y="5793085"/>
            <a:ext cx="15811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全量覆盖、版本一致、评测与</a:t>
            </a:r>
            <a:endParaRPr/>
          </a:p>
        </p:txBody>
      </p:sp>
      <p:sp>
        <p:nvSpPr>
          <p:cNvPr id="160" name="文字 160"/>
          <p:cNvSpPr txBox="1"/>
          <p:nvPr/>
        </p:nvSpPr>
        <p:spPr>
          <a:xfrm>
            <a:off x="10053043" y="5961955"/>
            <a:ext cx="15811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包内容对齐；否则评测只是精</a:t>
            </a:r>
            <a:endParaRPr/>
          </a:p>
        </p:txBody>
      </p:sp>
      <p:sp>
        <p:nvSpPr>
          <p:cNvPr id="161" name="文字 161"/>
          <p:cNvSpPr txBox="1"/>
          <p:nvPr/>
        </p:nvSpPr>
        <p:spPr>
          <a:xfrm>
            <a:off x="10053043" y="6130826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品标签。</a:t>
            </a:r>
            <a:endParaRPr/>
          </a:p>
        </p:txBody>
      </p:sp>
      <p:pic>
        <p:nvPicPr>
          <p:cNvPr id="163" name="slide-001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从魔搭、SkillHub 到智果园：Skill 资产平台的四个必答题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107380"/>
            <a:ext cx="36998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58800" y="1189931"/>
            <a:ext cx="91578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魔搭 Skills 中心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558800" y="1380430"/>
            <a:ext cx="13513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83,509 skills · 10 类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558800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698698" y="1564581"/>
            <a:ext cx="22186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标准、CLI 多宿主、规模与长尾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58800" y="173722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698698" y="1737221"/>
            <a:ext cx="236984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无技能级试运行；30.9% 聚合镜像，官方 0.4%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4245967" y="1107380"/>
            <a:ext cx="3699966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4347567" y="1189931"/>
            <a:ext cx="82897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47567" y="1380430"/>
            <a:ext cx="22149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199,516 skills · 1,993 企业 · 13 类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347567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487466" y="1564581"/>
            <a:ext cx="319196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5 维/15 子项 + 双路安全 + 签名；抽样企业 100% 覆盖；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347567" y="1724521"/>
            <a:ext cx="7993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347567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87466" y="1897162"/>
            <a:ext cx="31758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抽样：社区 74%、ClawHub 0%；72.5% ≥4.5；评测错配风险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8034834" y="1107380"/>
            <a:ext cx="36999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8136434" y="1189931"/>
            <a:ext cx="133667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华为智果园 AI 资产广场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136434" y="1380430"/>
            <a:ext cx="199906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239 Skills · 行业 / 云服务 / 通用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8136434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8276332" y="1564581"/>
            <a:ext cx="332323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标准、10MB 包规范、完整度评估、trace 驱动优化、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8136434" y="1724521"/>
            <a:ext cx="1155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多平台分发、商店变现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8136434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8276332" y="1897162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规模早期、仅贵阳一、导入/管理/浏览为主、部分需申请使用</a:t>
            </a:r>
            <a:endParaRPr/>
          </a:p>
        </p:txBody>
      </p:sp>
      <p:pic>
        <p:nvPicPr>
          <p:cNvPr id="31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09502"/>
            <a:ext cx="5549900" cy="740966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标准与分发：一个包，多平台触达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2619673"/>
            <a:ext cx="52797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Agent Skills 标准与 ZIP（≤10MB）；npx skills add / skills.sh 安装；一发布分发 CodeArts、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2794595"/>
            <a:ext cx="353724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ModelArts、AgentArts、CloudRobo；版本/可见性/许可证齐全。</a:t>
            </a:r>
            <a:endParaRPr/>
          </a:p>
        </p:txBody>
      </p:sp>
      <p:pic>
        <p:nvPicPr>
          <p:cNvPr id="3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2209502"/>
            <a:ext cx="5549901" cy="740966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1849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1849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质量与信任：把证据放在分数前面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6184900" y="2619673"/>
            <a:ext cx="548401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完整度评估（步骤/输入输出/前置条件/错误处理）+ 安全审核 + 内容指纹/签名；评测报告公开、绑定版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6184900" y="2794595"/>
            <a:ext cx="17018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本，避免高分集中和黑箱评分。</a:t>
            </a:r>
            <a:endParaRPr/>
          </a:p>
        </p:txBody>
      </p:sp>
      <p:pic>
        <p:nvPicPr>
          <p:cNvPr id="41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90168"/>
            <a:ext cx="5549900" cy="740966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4572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457200" y="3293368"/>
            <a:ext cx="2260203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供给与生态：官方 + 行业 + 社区三层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57200" y="3500338"/>
            <a:ext cx="555426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官方做标杆，行业/企业做深度，社区做长尾；239 个只是起点，先做 5–10 个垂直行业标杆，再补分类、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57200" y="3675261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搜索、榜单、合集。</a:t>
            </a:r>
            <a:endParaRPr/>
          </a:p>
        </p:txBody>
      </p:sp>
      <p:pic>
        <p:nvPicPr>
          <p:cNvPr id="46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4900" y="3090168"/>
            <a:ext cx="5549901" cy="740966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1849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184900" y="3293368"/>
            <a:ext cx="1689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商业与治理：从能用到能卖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184900" y="3500338"/>
            <a:ext cx="549126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商店上架 + 调用收益 + 持续创收；license/来源/退款/争议要可追溯；下载不等于用户，跨平台数据口径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184900" y="367526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要统一。</a:t>
            </a:r>
            <a:endParaRPr/>
          </a:p>
        </p:txBody>
      </p:sp>
      <p:sp>
        <p:nvSpPr>
          <p:cNvPr id="51" name="形状 51"/>
          <p:cNvSpPr/>
          <p:nvPr/>
        </p:nvSpPr>
        <p:spPr>
          <a:xfrm>
            <a:off x="457200" y="3920034"/>
            <a:ext cx="36998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546100" y="3996234"/>
            <a:ext cx="4889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P0 · 现在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546100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统一入口与证据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546100" y="4339134"/>
            <a:ext cx="16136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包规范/导入导出/版本可见性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546100" y="4518124"/>
            <a:ext cx="22099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详情页补安装命令、文件、许可证、作者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546100" y="4697115"/>
            <a:ext cx="108198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接入 skills.sh 分发</a:t>
            </a:r>
            <a:endParaRPr/>
          </a:p>
        </p:txBody>
      </p:sp>
      <p:sp>
        <p:nvSpPr>
          <p:cNvPr id="57" name="形状 57"/>
          <p:cNvSpPr/>
          <p:nvPr/>
        </p:nvSpPr>
        <p:spPr>
          <a:xfrm>
            <a:off x="4245967" y="3920034"/>
            <a:ext cx="3699966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334867" y="3996234"/>
            <a:ext cx="7175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P1 · 3–6 个月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334867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质量与供给运营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4334867" y="4339134"/>
            <a:ext cx="18675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完整度评测 + 安全审核 + 评测报告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4334867" y="4518124"/>
            <a:ext cx="1409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trace 驱动 Skill 优化闭环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4334867" y="4697115"/>
            <a:ext cx="145464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企业/行业供给与分类榜单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8034834" y="3920034"/>
            <a:ext cx="36999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8123734" y="3996234"/>
            <a:ext cx="7747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P2 · 6–12 个月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8123734" y="4142284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商业与生态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8123734" y="4339134"/>
            <a:ext cx="13850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商店上架/调用计费/分成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8123734" y="4518124"/>
            <a:ext cx="9526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跨平台分发数据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123734" y="4697115"/>
            <a:ext cx="11812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生态指标与治理机制</a:t>
            </a:r>
            <a:endParaRPr/>
          </a:p>
        </p:txBody>
      </p:sp>
      <p:pic>
        <p:nvPicPr>
          <p:cNvPr id="69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984055"/>
            <a:ext cx="11277600" cy="413941"/>
          </a:xfrm>
          <a:prstGeom prst="rect">
            <a:avLst/>
          </a:prstGeom>
        </p:spPr>
      </p:pic>
      <p:sp>
        <p:nvSpPr>
          <p:cNvPr id="70" name="文字 70"/>
          <p:cNvSpPr txBox="1"/>
          <p:nvPr/>
        </p:nvSpPr>
        <p:spPr>
          <a:xfrm>
            <a:off x="457200" y="5060255"/>
            <a:ext cx="774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标准是入场券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250756"/>
            <a:ext cx="305325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三平台都遵循 Agent Skills；差异不在格式，在分发与治理。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42545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评测是信任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4254500" y="5250756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都在补评测/安全/签名；覆盖、口径与版本一致性才是难点。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0518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生态是规模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051800" y="5250756"/>
            <a:ext cx="26421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+ 企业 + 社区三层；商业化决定能否持续供给。</a:t>
            </a:r>
            <a:endParaRPr/>
          </a:p>
        </p:txBody>
      </p:sp>
      <p:pic>
        <p:nvPicPr>
          <p:cNvPr id="76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324600"/>
            <a:ext cx="11277600" cy="254001"/>
          </a:xfrm>
          <a:prstGeom prst="rect">
            <a:avLst/>
          </a:prstGeom>
        </p:spPr>
      </p:pic>
      <p:sp>
        <p:nvSpPr>
          <p:cNvPr id="77" name="文字 77"/>
          <p:cNvSpPr txBox="1"/>
          <p:nvPr/>
        </p:nvSpPr>
        <p:spPr>
          <a:xfrm>
            <a:off x="457200" y="640715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一句话：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1054100" y="6407150"/>
            <a:ext cx="8948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智果园不必重造一个市场，而应把「标准入口 + 质量证据 + 行业供给 + 商业闭环」做成可复用的能力层；评测和分发是两条护城河，供给运营是胜负手。</a:t>
            </a:r>
            <a:endParaRPr/>
          </a:p>
        </p:txBody>
      </p:sp>
      <p:pic>
        <p:nvPicPr>
          <p:cNvPr id="80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已有按次收费供给，平台暂不收技术服务费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21060"/>
            <a:ext cx="83185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327150" y="1141710"/>
            <a:ext cx="317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万条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17538"/>
            <a:ext cx="13825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Skill 条目 199,545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290417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10.0%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290417" y="1417538"/>
            <a:ext cx="11463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19,962 条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123734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19.3%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23734" y="1417538"/>
            <a:ext cx="15355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标签 38,568 条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57200" y="1862038"/>
            <a:ext cx="13843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付费供给约占一成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186484"/>
            <a:ext cx="2170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10.0%，其余条目约 90.0%</a:t>
            </a:r>
            <a:endParaRPr/>
          </a:p>
        </p:txBody>
      </p:sp>
      <p:sp>
        <p:nvSpPr>
          <p:cNvPr id="18" name="形状 18"/>
          <p:cNvSpPr/>
          <p:nvPr/>
        </p:nvSpPr>
        <p:spPr>
          <a:xfrm>
            <a:off x="457200" y="2455664"/>
            <a:ext cx="282277" cy="1651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739477" y="2455664"/>
            <a:ext cx="47823" cy="1651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787301" y="2455664"/>
            <a:ext cx="2971800" cy="165100"/>
          </a:xfrm>
          <a:prstGeom prst="rect">
            <a:avLst/>
          </a:prstGeom>
          <a:solidFill>
            <a:srgbClr val="E9EBEE">
              <a:alpha val="100000"/>
            </a:srgbClr>
          </a:solidFill>
          <a:ln>
            <a:noFill/>
          </a:ln>
        </p:spPr>
        <p:txBody>
          <a:bodyPr/>
          <a:p/>
        </p:txBody>
      </p:sp>
      <p:pic>
        <p:nvPicPr>
          <p:cNvPr id="21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16014"/>
            <a:ext cx="3302000" cy="361950"/>
          </a:xfrm>
          <a:prstGeom prst="rect">
            <a:avLst/>
          </a:prstGeom>
        </p:spPr>
      </p:pic>
      <p:sp>
        <p:nvSpPr>
          <p:cNvPr id="22" name="文字 22"/>
          <p:cNvSpPr txBox="1"/>
          <p:nvPr/>
        </p:nvSpPr>
        <p:spPr>
          <a:xfrm>
            <a:off x="457200" y="2817614"/>
            <a:ext cx="59809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paid 标签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2641600" y="2817614"/>
            <a:ext cx="420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17,061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3263900" y="281761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8.5%</a:t>
            </a:r>
            <a:endParaRPr/>
          </a:p>
        </p:txBody>
      </p:sp>
      <p:pic>
        <p:nvPicPr>
          <p:cNvPr id="25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77964"/>
            <a:ext cx="3302000" cy="361950"/>
          </a:xfrm>
          <a:prstGeom prst="rect">
            <a:avLst/>
          </a:prstGeom>
        </p:spPr>
      </p:pic>
      <p:sp>
        <p:nvSpPr>
          <p:cNvPr id="26" name="文字 26"/>
          <p:cNvSpPr txBox="1"/>
          <p:nvPr/>
        </p:nvSpPr>
        <p:spPr>
          <a:xfrm>
            <a:off x="457200" y="3179564"/>
            <a:ext cx="7095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alipay 标签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2641600" y="3179564"/>
            <a:ext cx="34597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2,901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3263900" y="317956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1.5%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457200" y="354786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两标签是官网付费识别的两种取值。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457200" y="3747889"/>
            <a:ext cx="249386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 Skill 目录另计 19,974 条，口径不同。</a:t>
            </a:r>
            <a:endParaRPr/>
          </a:p>
        </p:txBody>
      </p:sp>
      <p:pic>
        <p:nvPicPr>
          <p:cNvPr id="31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074914"/>
            <a:ext cx="3302000" cy="323850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4201914"/>
            <a:ext cx="197911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API Key 依赖与付费分别统计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4474964"/>
            <a:ext cx="23129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Key 占 19.3%，表示外部凭证依赖。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4674989"/>
            <a:ext cx="189468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与付费标签交叉的仅约 332 条，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4875014"/>
            <a:ext cx="216783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不能将需 Key 的条目全部算成付费。</a:t>
            </a:r>
            <a:endParaRPr/>
          </a:p>
        </p:txBody>
      </p:sp>
      <p:pic>
        <p:nvPicPr>
          <p:cNvPr id="36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0650" y="1849338"/>
            <a:ext cx="3619500" cy="3282255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4108450" y="1862038"/>
            <a:ext cx="17272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主要收费点在远程服务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4108450" y="2199184"/>
            <a:ext cx="21382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典型模式：Skill 包免费获取，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4108450" y="242937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商户后端按服务调用收费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108450" y="2723059"/>
            <a:ext cx="34365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商家自主设定单次价格。Agent 按技能指令调用 API，用户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4108450" y="292308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在支付工具中授权。</a:t>
            </a:r>
            <a:endParaRPr/>
          </a:p>
        </p:txBody>
      </p:sp>
      <p:pic>
        <p:nvPicPr>
          <p:cNvPr id="42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8450" y="3250108"/>
            <a:ext cx="3441700" cy="787400"/>
          </a:xfrm>
          <a:prstGeom prst="rect">
            <a:avLst/>
          </a:prstGeom>
        </p:spPr>
      </p:pic>
      <p:sp>
        <p:nvSpPr>
          <p:cNvPr id="43" name="文字 43"/>
          <p:cNvSpPr txBox="1"/>
          <p:nvPr/>
        </p:nvSpPr>
        <p:spPr>
          <a:xfrm>
            <a:off x="4108450" y="3389809"/>
            <a:ext cx="142557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WorkRally 图片生成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6860580" y="3389809"/>
            <a:ext cx="70227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¥0.36 / 次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108450" y="36565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腾讯科技（深圳）有限公司认证供给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108450" y="3856534"/>
            <a:ext cx="237232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Key，远程生成并交付图片</a:t>
            </a:r>
            <a:endParaRPr/>
          </a:p>
        </p:txBody>
      </p:sp>
      <p:pic>
        <p:nvPicPr>
          <p:cNvPr id="47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08450" y="4164509"/>
            <a:ext cx="3441700" cy="78740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4108450" y="4304209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喜鹊标书解读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7089775" y="4304209"/>
            <a:ext cx="47307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¥1 / 次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108450" y="45709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北京喜鹊云智科技有限公司认证供给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108450" y="4770934"/>
            <a:ext cx="24657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Key，交付摘要和三份 Word</a:t>
            </a:r>
            <a:endParaRPr/>
          </a:p>
        </p:txBody>
      </p:sp>
      <p:pic>
        <p:nvPicPr>
          <p:cNvPr id="52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1600" y="1849338"/>
            <a:ext cx="4013201" cy="3282255"/>
          </a:xfrm>
          <a:prstGeom prst="rect">
            <a:avLst/>
          </a:prstGeom>
        </p:spPr>
      </p:pic>
      <p:sp>
        <p:nvSpPr>
          <p:cNvPr id="53" name="文字 53"/>
          <p:cNvSpPr txBox="1"/>
          <p:nvPr/>
        </p:nvSpPr>
        <p:spPr>
          <a:xfrm>
            <a:off x="7899400" y="1862038"/>
            <a:ext cx="22415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服务商变现，平台暂免服务费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899400" y="2122984"/>
            <a:ext cx="229890" cy="476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8205490" y="2326184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当前平台技术服务费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899400" y="264368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官网明确暂不收取技术服务费。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99400" y="28437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支付渠道费用及结算仍按渠道规则。</a:t>
            </a:r>
            <a:endParaRPr/>
          </a:p>
        </p:txBody>
      </p:sp>
      <p:pic>
        <p:nvPicPr>
          <p:cNvPr id="58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99400" y="3164384"/>
            <a:ext cx="3835401" cy="349250"/>
          </a:xfrm>
          <a:prstGeom prst="rect">
            <a:avLst/>
          </a:prstGeom>
        </p:spPr>
      </p:pic>
      <p:sp>
        <p:nvSpPr>
          <p:cNvPr id="59" name="文字 59"/>
          <p:cNvSpPr txBox="1"/>
          <p:nvPr/>
        </p:nvSpPr>
        <p:spPr>
          <a:xfrm>
            <a:off x="7899400" y="3310434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用户直接付款给创作者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99400" y="3589834"/>
            <a:ext cx="376892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提供展示、投诉处理及平台服务；交易款按渠道规则结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99400" y="3789859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算至绑定账户。</a:t>
            </a:r>
            <a:endParaRPr/>
          </a:p>
        </p:txBody>
      </p:sp>
      <p:pic>
        <p:nvPicPr>
          <p:cNvPr id="62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99400" y="4116884"/>
            <a:ext cx="3835401" cy="3492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7899400" y="4262934"/>
            <a:ext cx="2235201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已证实供给，成交规模仍待披露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99400" y="4542334"/>
            <a:ext cx="231963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全站 GMV、付费转化、复购和平台收入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899400" y="4742359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未见公开可核验数据。</a:t>
            </a:r>
            <a:endParaRPr/>
          </a:p>
        </p:txBody>
      </p:sp>
      <p:pic>
        <p:nvPicPr>
          <p:cNvPr id="66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258594"/>
            <a:ext cx="11277600" cy="1072356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385594"/>
            <a:ext cx="271581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将服务供给接入 Agent 的工作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696744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身份与支付准入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963444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457200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个人提供支付宝接入路径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3319463" y="5696744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资产商品化与审核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3319463" y="596344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版本包、按次定价和费用说明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3319463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校验支付链路后审核上架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6181725" y="5696744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发现、分发与宿主接入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6181725" y="5963444"/>
            <a:ext cx="15175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官网、CLI / API 获取 Skill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6181725" y="6156722"/>
            <a:ext cx="149850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向支持支付的 Agent 分发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9043988" y="5696744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支付身份与售后协同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9043988" y="5963444"/>
            <a:ext cx="16128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提供开发者密钥和接入指南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9043988" y="615672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展示交易边界、协助投诉退款</a:t>
            </a:r>
            <a:endParaRPr/>
          </a:p>
        </p:txBody>
      </p:sp>
      <p:pic>
        <p:nvPicPr>
          <p:cNvPr id="81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 SkillPay 将微信订单接入 Agent，商户验付后履约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71860"/>
            <a:ext cx="246181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在交易前完成接入与分发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38560"/>
            <a:ext cx="81648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企业认证及微信商户绑定，提供开发者密钥，配置按次价格，审核并发布 Skill，接入支持支付的 Agent。实际服务与订单由商户后端承接。</a:t>
            </a:r>
            <a:endParaRPr/>
          </a:p>
        </p:txBody>
      </p:sp>
      <p:pic>
        <p:nvPicPr>
          <p:cNvPr id="11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41785"/>
            <a:ext cx="11277600" cy="393700"/>
          </a:xfrm>
          <a:prstGeom prst="rect">
            <a:avLst/>
          </a:prstGeom>
        </p:spPr>
      </p:pic>
      <p:sp>
        <p:nvSpPr>
          <p:cNvPr id="12" name="文字 12"/>
          <p:cNvSpPr txBox="1"/>
          <p:nvPr/>
        </p:nvSpPr>
        <p:spPr>
          <a:xfrm>
            <a:off x="1536700" y="1830685"/>
            <a:ext cx="1016992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457700" y="1830685"/>
            <a:ext cx="10033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商户业务后端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204200" y="1830685"/>
            <a:ext cx="673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15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135485"/>
            <a:ext cx="11277600" cy="858937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457200" y="225613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548235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创建订单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1536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调用付费业务接口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1536700" y="2512616"/>
            <a:ext cx="22048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读取 Skill 指令，向商户发起业务请求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457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先下传统微信订单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457700" y="2512616"/>
            <a:ext cx="1817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金额、商户订单号、notify_url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57700" y="2705894"/>
            <a:ext cx="18416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Native / JSAPI 等现有支付接口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8204200" y="2256135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返回微信预支付标识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8204200" y="2512616"/>
            <a:ext cx="129599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204200" y="2705894"/>
            <a:ext cx="17462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保留原有微信订单及收款主体</a:t>
            </a:r>
            <a:endParaRPr/>
          </a:p>
        </p:txBody>
      </p:sp>
      <p:pic>
        <p:nvPicPr>
          <p:cNvPr id="26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994422"/>
            <a:ext cx="11277600" cy="858937"/>
          </a:xfrm>
          <a:prstGeom prst="rect">
            <a:avLst/>
          </a:prstGeom>
        </p:spPr>
      </p:pic>
      <p:sp>
        <p:nvSpPr>
          <p:cNvPr id="27" name="文字 27"/>
          <p:cNvSpPr txBox="1"/>
          <p:nvPr/>
        </p:nvSpPr>
        <p:spPr>
          <a:xfrm>
            <a:off x="457200" y="3115072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457200" y="340717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申请支付码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1536700" y="3115072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等待商户返回支付请求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1536700" y="3371552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商户的签名私钥保留在后端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536700" y="3564831"/>
            <a:ext cx="15569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不下发给 Agent 或 Skill 包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457700" y="3115072"/>
            <a:ext cx="1199158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再做 x402 预下单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457700" y="3371552"/>
            <a:ext cx="19676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 SkillHub 开发者 RSA 密钥签名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457700" y="3564831"/>
            <a:ext cx="219273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将既有微信预支付标识登记到 AI 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8204200" y="3115072"/>
            <a:ext cx="268456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校验开发者身份，返回 payment_code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8204200" y="3371552"/>
            <a:ext cx="235406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此码用于拉起支付，有效期最长 15 分钟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8204200" y="3564831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它本身不证明付款成功</a:t>
            </a:r>
            <a:endParaRPr/>
          </a:p>
        </p:txBody>
      </p:sp>
      <p:pic>
        <p:nvPicPr>
          <p:cNvPr id="38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53359"/>
            <a:ext cx="11277600" cy="858937"/>
          </a:xfrm>
          <a:prstGeom prst="rect">
            <a:avLst/>
          </a:prstGeom>
        </p:spPr>
      </p:pic>
      <p:sp>
        <p:nvSpPr>
          <p:cNvPr id="39" name="文字 39"/>
          <p:cNvSpPr txBox="1"/>
          <p:nvPr/>
        </p:nvSpPr>
        <p:spPr>
          <a:xfrm>
            <a:off x="457200" y="3974009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57200" y="4266109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用户授权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1536700" y="3974009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支付工具拉起卡片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1536700" y="4230489"/>
            <a:ext cx="170596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宿主须支持 weixinpay_ 工具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1536700" y="44237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保留支付码原文，避免模型改写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457700" y="3974009"/>
            <a:ext cx="168027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HTTP 402 + 支付码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457700" y="4230489"/>
            <a:ext cx="225325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WeixinPay-Required: payment_code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57700" y="4423767"/>
            <a:ext cx="15990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也支持 HTTP 200 兼容投递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8204200" y="3974009"/>
            <a:ext cx="232489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用户扫码到微信 Liteapp 逐笔确认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8204200" y="4230489"/>
            <a:ext cx="1259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 AI 专属卡余额支付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204200" y="4423767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与用户微信主账户资金隔离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712295"/>
            <a:ext cx="11277600" cy="858937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483294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125046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验付交付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536700" y="4832945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继续原任务，获取业务结果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1536700" y="5089426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可沿用原订单关联取回结果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1536700" y="528270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具体重试方式由服务接口约定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457700" y="4832945"/>
            <a:ext cx="18173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以微信回调 / 查单结果验付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4457700" y="5089426"/>
            <a:ext cx="2085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验证签名、订单、金额及 SUCCESS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44577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履约并幂等保存结果，失败按需退款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8204200" y="483294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通知商户支付结果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8204200" y="5089426"/>
            <a:ext cx="195867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notify_url / 微信查单与退款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2042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资金按渠道规则结算至商户绑定账户</a:t>
            </a:r>
            <a:endParaRPr/>
          </a:p>
        </p:txBody>
      </p:sp>
      <p:pic>
        <p:nvPicPr>
          <p:cNvPr id="62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5568950"/>
            <a:ext cx="11277600" cy="7683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457200" y="5695950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三类凭证用途不同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5956300"/>
            <a:ext cx="56848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 API Key 用于外部服务接入；SkillHub RSA 密钥签名 AI 预下单；微信商户证书与 APIv3 密钥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457200" y="6156325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处理支付请求和回调。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416675" y="569595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落地需对齐官方接口版本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6416675" y="5956300"/>
            <a:ext cx="524113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与 SkillHub 教程 / Demo 的端点、鉴权位置和报文结构不同。不能混接；本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416675" y="6156325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次依据官方文档和源码，未真实交易。</a:t>
            </a:r>
            <a:endParaRPr/>
          </a:p>
        </p:txBody>
      </p:sp>
      <p:pic>
        <p:nvPicPr>
          <p:cNvPr id="7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两次下单接入 Agent，SkillHub 提供商户验签与分发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46460"/>
            <a:ext cx="1485503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付费标签约 10.0%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19510"/>
            <a:ext cx="20954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19,962 / 199,545 条，含 paid 与 alipay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667647" y="1046460"/>
            <a:ext cx="1686322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约 19.3%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667647" y="1319510"/>
            <a:ext cx="221793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38,568 条，外部凭证依赖与付费分别统计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8374162" y="1046460"/>
            <a:ext cx="1612900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平台技术服务费暂免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374162" y="1319510"/>
            <a:ext cx="25463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真实成交、复购与平台收入尚无可核验全站数据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671711" y="1706860"/>
            <a:ext cx="9170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/ 用户</a:t>
            </a:r>
            <a:endParaRPr/>
          </a:p>
        </p:txBody>
      </p:sp>
      <p:pic>
        <p:nvPicPr>
          <p:cNvPr id="1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950" y="1960860"/>
            <a:ext cx="6350" cy="3549650"/>
          </a:xfrm>
          <a:prstGeom prst="rect">
            <a:avLst/>
          </a:prstGeom>
        </p:spPr>
      </p:pic>
      <p:sp>
        <p:nvSpPr>
          <p:cNvPr id="17" name="文字 17"/>
          <p:cNvSpPr txBox="1"/>
          <p:nvPr/>
        </p:nvSpPr>
        <p:spPr>
          <a:xfrm>
            <a:off x="30289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</a:t>
            </a:r>
            <a:endParaRPr/>
          </a:p>
        </p:txBody>
      </p:sp>
      <p:pic>
        <p:nvPicPr>
          <p:cNvPr id="18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450" y="1960860"/>
            <a:ext cx="6350" cy="354965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53784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950" y="1960860"/>
            <a:ext cx="6350" cy="354965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7267575" y="1706860"/>
            <a:ext cx="679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</a:t>
            </a:r>
            <a:endParaRPr/>
          </a:p>
        </p:txBody>
      </p:sp>
      <p:pic>
        <p:nvPicPr>
          <p:cNvPr id="22" name="slide-001-image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0950" y="1960860"/>
            <a:ext cx="6350" cy="3549650"/>
          </a:xfrm>
          <a:prstGeom prst="rect">
            <a:avLst/>
          </a:prstGeom>
        </p:spPr>
      </p:pic>
      <p:pic>
        <p:nvPicPr>
          <p:cNvPr id="23" name="slide-001-image-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3950" y="2202160"/>
            <a:ext cx="2222500" cy="12700"/>
          </a:xfrm>
          <a:prstGeom prst="rect">
            <a:avLst/>
          </a:prstGeom>
        </p:spPr>
      </p:pic>
      <p:sp>
        <p:nvSpPr>
          <p:cNvPr id="24" name="文字 24"/>
          <p:cNvSpPr/>
          <p:nvPr/>
        </p:nvSpPr>
        <p:spPr>
          <a:xfrm rot="5400000">
            <a:off x="3257550" y="21704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5" name="形状 25"/>
          <p:cNvSpPr/>
          <p:nvPr/>
        </p:nvSpPr>
        <p:spPr>
          <a:xfrm>
            <a:off x="1200150" y="1992610"/>
            <a:ext cx="2070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1753394" y="2005310"/>
            <a:ext cx="9762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调用付费服务</a:t>
            </a:r>
            <a:endParaRPr/>
          </a:p>
        </p:txBody>
      </p:sp>
      <p:pic>
        <p:nvPicPr>
          <p:cNvPr id="27" name="slide-001-image-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6450" y="2500610"/>
            <a:ext cx="2349500" cy="12700"/>
          </a:xfrm>
          <a:prstGeom prst="rect">
            <a:avLst/>
          </a:prstGeom>
        </p:spPr>
      </p:pic>
      <p:sp>
        <p:nvSpPr>
          <p:cNvPr id="28" name="文字 28"/>
          <p:cNvSpPr/>
          <p:nvPr/>
        </p:nvSpPr>
        <p:spPr>
          <a:xfrm rot="5400000">
            <a:off x="5607050" y="2468860"/>
            <a:ext cx="88900" cy="88900"/>
          </a:xfrm>
          <a:prstGeom prst="triangle">
            <a:avLst/>
          </a:prstGeom>
          <a:solidFill>
            <a:srgbClr val="1A1A1C"/>
          </a:solidFill>
          <a:ln>
            <a:noFill/>
          </a:ln>
        </p:spPr>
        <p:txBody>
          <a:bodyPr/>
          <a:p/>
        </p:txBody>
      </p:sp>
      <p:sp>
        <p:nvSpPr>
          <p:cNvPr id="29" name="形状 29"/>
          <p:cNvSpPr/>
          <p:nvPr/>
        </p:nvSpPr>
        <p:spPr>
          <a:xfrm>
            <a:off x="3422650" y="22910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0" name="文字 30"/>
          <p:cNvSpPr txBox="1"/>
          <p:nvPr/>
        </p:nvSpPr>
        <p:spPr>
          <a:xfrm>
            <a:off x="3505994" y="2303760"/>
            <a:ext cx="2043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传统下单：商户、金额、订单号</a:t>
            </a:r>
            <a:endParaRPr/>
          </a:p>
        </p:txBody>
      </p:sp>
      <p:pic>
        <p:nvPicPr>
          <p:cNvPr id="31" name="slide-001-image-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6450" y="2799060"/>
            <a:ext cx="2349500" cy="12700"/>
          </a:xfrm>
          <a:prstGeom prst="rect">
            <a:avLst/>
          </a:prstGeom>
        </p:spPr>
      </p:pic>
      <p:sp>
        <p:nvSpPr>
          <p:cNvPr id="32" name="文字 32"/>
          <p:cNvSpPr/>
          <p:nvPr/>
        </p:nvSpPr>
        <p:spPr>
          <a:xfrm rot="16200000">
            <a:off x="3346450" y="27673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3" name="形状 33"/>
          <p:cNvSpPr/>
          <p:nvPr/>
        </p:nvSpPr>
        <p:spPr>
          <a:xfrm>
            <a:off x="3422650" y="2589510"/>
            <a:ext cx="2197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3865959" y="2602210"/>
            <a:ext cx="1323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pic>
        <p:nvPicPr>
          <p:cNvPr id="35" name="slide-001-image-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46450" y="3097510"/>
            <a:ext cx="2349500" cy="12700"/>
          </a:xfrm>
          <a:prstGeom prst="rect">
            <a:avLst/>
          </a:prstGeom>
        </p:spPr>
      </p:pic>
      <p:sp>
        <p:nvSpPr>
          <p:cNvPr id="36" name="文字 36"/>
          <p:cNvSpPr/>
          <p:nvPr/>
        </p:nvSpPr>
        <p:spPr>
          <a:xfrm rot="5400000">
            <a:off x="5607050" y="30657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7" name="形状 37"/>
          <p:cNvSpPr/>
          <p:nvPr/>
        </p:nvSpPr>
        <p:spPr>
          <a:xfrm>
            <a:off x="3422650" y="28879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8" name="文字 38"/>
          <p:cNvSpPr txBox="1"/>
          <p:nvPr/>
        </p:nvSpPr>
        <p:spPr>
          <a:xfrm>
            <a:off x="3688953" y="2900660"/>
            <a:ext cx="167719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x402：签名 + 预支付标识</a:t>
            </a:r>
            <a:endParaRPr/>
          </a:p>
        </p:txBody>
      </p:sp>
      <p:pic>
        <p:nvPicPr>
          <p:cNvPr id="39" name="slide-001-image-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95950" y="3395960"/>
            <a:ext cx="1905000" cy="12700"/>
          </a:xfrm>
          <a:prstGeom prst="rect">
            <a:avLst/>
          </a:prstGeom>
        </p:spPr>
      </p:pic>
      <p:sp>
        <p:nvSpPr>
          <p:cNvPr id="40" name="文字 40"/>
          <p:cNvSpPr/>
          <p:nvPr/>
        </p:nvSpPr>
        <p:spPr>
          <a:xfrm rot="5400000">
            <a:off x="7512051" y="33642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5772150" y="318641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6160095" y="3199110"/>
            <a:ext cx="9894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 / 签名校验*</a:t>
            </a:r>
            <a:endParaRPr/>
          </a:p>
        </p:txBody>
      </p:sp>
      <p:pic>
        <p:nvPicPr>
          <p:cNvPr id="43" name="slide-001-image-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95950" y="3694410"/>
            <a:ext cx="1905000" cy="12700"/>
          </a:xfrm>
          <a:prstGeom prst="rect">
            <a:avLst/>
          </a:prstGeom>
        </p:spPr>
      </p:pic>
      <p:sp>
        <p:nvSpPr>
          <p:cNvPr id="44" name="文字 44"/>
          <p:cNvSpPr/>
          <p:nvPr/>
        </p:nvSpPr>
        <p:spPr>
          <a:xfrm rot="16200000">
            <a:off x="5695950" y="36626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5772150" y="348486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6149380" y="3497560"/>
            <a:ext cx="10107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确认开发者身份*</a:t>
            </a:r>
            <a:endParaRPr/>
          </a:p>
        </p:txBody>
      </p:sp>
      <p:pic>
        <p:nvPicPr>
          <p:cNvPr id="47" name="slide-001-image-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46450" y="3992860"/>
            <a:ext cx="2349500" cy="12700"/>
          </a:xfrm>
          <a:prstGeom prst="rect">
            <a:avLst/>
          </a:prstGeom>
        </p:spPr>
      </p:pic>
      <p:sp>
        <p:nvSpPr>
          <p:cNvPr id="48" name="文字 48"/>
          <p:cNvSpPr/>
          <p:nvPr/>
        </p:nvSpPr>
        <p:spPr>
          <a:xfrm rot="16200000">
            <a:off x="3346450" y="39611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9" name="形状 49"/>
          <p:cNvSpPr/>
          <p:nvPr/>
        </p:nvSpPr>
        <p:spPr>
          <a:xfrm>
            <a:off x="3422650" y="378331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3898205" y="3796010"/>
            <a:ext cx="12585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payment_code</a:t>
            </a:r>
            <a:endParaRPr/>
          </a:p>
        </p:txBody>
      </p:sp>
      <p:pic>
        <p:nvPicPr>
          <p:cNvPr id="51" name="slide-001-image-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23950" y="4291310"/>
            <a:ext cx="2222500" cy="12700"/>
          </a:xfrm>
          <a:prstGeom prst="rect">
            <a:avLst/>
          </a:prstGeom>
        </p:spPr>
      </p:pic>
      <p:sp>
        <p:nvSpPr>
          <p:cNvPr id="52" name="文字 52"/>
          <p:cNvSpPr/>
          <p:nvPr/>
        </p:nvSpPr>
        <p:spPr>
          <a:xfrm rot="16200000">
            <a:off x="1123950" y="42595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3" name="形状 53"/>
          <p:cNvSpPr/>
          <p:nvPr/>
        </p:nvSpPr>
        <p:spPr>
          <a:xfrm>
            <a:off x="1200150" y="40817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1354435" y="4094460"/>
            <a:ext cx="17742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402 + 支付码 + 业务关联 ID</a:t>
            </a:r>
            <a:endParaRPr/>
          </a:p>
        </p:txBody>
      </p:sp>
      <p:pic>
        <p:nvPicPr>
          <p:cNvPr id="55" name="slide-001-image-1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23950" y="4589760"/>
            <a:ext cx="4572000" cy="12700"/>
          </a:xfrm>
          <a:prstGeom prst="rect">
            <a:avLst/>
          </a:prstGeom>
        </p:spPr>
      </p:pic>
      <p:sp>
        <p:nvSpPr>
          <p:cNvPr id="56" name="文字 56"/>
          <p:cNvSpPr/>
          <p:nvPr/>
        </p:nvSpPr>
        <p:spPr>
          <a:xfrm rot="5400000">
            <a:off x="5607050" y="45580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57" name="形状 57"/>
          <p:cNvSpPr/>
          <p:nvPr/>
        </p:nvSpPr>
        <p:spPr>
          <a:xfrm>
            <a:off x="1200150" y="4380210"/>
            <a:ext cx="4419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1969294" y="4392910"/>
            <a:ext cx="28939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官方支付工具拉起，用户以 AI 专属卡逐笔确认</a:t>
            </a:r>
            <a:endParaRPr/>
          </a:p>
        </p:txBody>
      </p:sp>
      <p:pic>
        <p:nvPicPr>
          <p:cNvPr id="59" name="slide-001-image-1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6450" y="4888210"/>
            <a:ext cx="2349500" cy="12700"/>
          </a:xfrm>
          <a:prstGeom prst="rect">
            <a:avLst/>
          </a:prstGeom>
        </p:spPr>
      </p:pic>
      <p:sp>
        <p:nvSpPr>
          <p:cNvPr id="60" name="文字 60"/>
          <p:cNvSpPr/>
          <p:nvPr/>
        </p:nvSpPr>
        <p:spPr>
          <a:xfrm rot="16200000">
            <a:off x="3346450" y="48564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61" name="形状 61"/>
          <p:cNvSpPr/>
          <p:nvPr/>
        </p:nvSpPr>
        <p:spPr>
          <a:xfrm>
            <a:off x="3422650" y="46786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2" name="文字 62"/>
          <p:cNvSpPr txBox="1"/>
          <p:nvPr/>
        </p:nvSpPr>
        <p:spPr>
          <a:xfrm>
            <a:off x="3675757" y="4691360"/>
            <a:ext cx="17035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回调 / 查单确认 SUCCESS</a:t>
            </a:r>
            <a:endParaRPr/>
          </a:p>
        </p:txBody>
      </p:sp>
      <p:pic>
        <p:nvPicPr>
          <p:cNvPr id="63" name="slide-001-image-1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3950" y="5186660"/>
            <a:ext cx="2222500" cy="12700"/>
          </a:xfrm>
          <a:prstGeom prst="rect">
            <a:avLst/>
          </a:prstGeom>
        </p:spPr>
      </p:pic>
      <p:sp>
        <p:nvSpPr>
          <p:cNvPr id="64" name="文字 64"/>
          <p:cNvSpPr/>
          <p:nvPr/>
        </p:nvSpPr>
        <p:spPr>
          <a:xfrm rot="5400000">
            <a:off x="3257550" y="51549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5" name="形状 65"/>
          <p:cNvSpPr/>
          <p:nvPr/>
        </p:nvSpPr>
        <p:spPr>
          <a:xfrm>
            <a:off x="1200150" y="497711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6" name="文字 66"/>
          <p:cNvSpPr txBox="1"/>
          <p:nvPr/>
        </p:nvSpPr>
        <p:spPr>
          <a:xfrm>
            <a:off x="1389459" y="4989810"/>
            <a:ext cx="1704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沿用原业务关联 ID 取结果</a:t>
            </a:r>
            <a:endParaRPr/>
          </a:p>
        </p:txBody>
      </p:sp>
      <p:pic>
        <p:nvPicPr>
          <p:cNvPr id="67" name="slide-001-image-17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23950" y="5485110"/>
            <a:ext cx="2222500" cy="12700"/>
          </a:xfrm>
          <a:prstGeom prst="rect">
            <a:avLst/>
          </a:prstGeom>
        </p:spPr>
      </p:pic>
      <p:sp>
        <p:nvSpPr>
          <p:cNvPr id="68" name="文字 68"/>
          <p:cNvSpPr/>
          <p:nvPr/>
        </p:nvSpPr>
        <p:spPr>
          <a:xfrm rot="16200000">
            <a:off x="1123950" y="545336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9" name="形状 69"/>
          <p:cNvSpPr/>
          <p:nvPr/>
        </p:nvSpPr>
        <p:spPr>
          <a:xfrm>
            <a:off x="1200150" y="52755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1512392" y="5288260"/>
            <a:ext cx="14582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交付结果 / 返回生成状态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605760"/>
            <a:ext cx="401568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* 按 SkillHub 官方教程表达逻辑校验关系，内部调用方式、缓存和同步依赖未公开。</a:t>
            </a:r>
            <a:endParaRPr/>
          </a:p>
        </p:txBody>
      </p:sp>
      <p:pic>
        <p:nvPicPr>
          <p:cNvPr id="72" name="slide-001-image-18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521700" y="1687810"/>
            <a:ext cx="3213100" cy="4070350"/>
          </a:xfrm>
          <a:prstGeom prst="rect">
            <a:avLst/>
          </a:prstGeom>
        </p:spPr>
      </p:pic>
      <p:sp>
        <p:nvSpPr>
          <p:cNvPr id="73" name="文字 73"/>
          <p:cNvSpPr txBox="1"/>
          <p:nvPr/>
        </p:nvSpPr>
        <p:spPr>
          <a:xfrm>
            <a:off x="8693151" y="1700510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第一次下单确定商户和金额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1965623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传统微信订单保存商户、金额和回调地址。此时仍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216296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待支付。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2493665"/>
            <a:ext cx="21256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第二次预下单建立 Agent 入口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2758777"/>
            <a:ext cx="30445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x402 将既有预支付标识登记到微信 AI 支付，换取限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2956124"/>
            <a:ext cx="24393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时 payment_code。它不新增一次扣款。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3286820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两套验签分别确认身份与付款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3551932"/>
            <a:ext cx="296882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开发者签名用于预下单身份校验；商户另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3749278"/>
            <a:ext cx="26582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验微信回调 / 查单结果，确认这笔订单已付。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4079974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交易款由用户直接付给创作者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8693151" y="4345087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平台目前暂免技术服务费，支付渠道费用与结算按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8693151" y="4542433"/>
            <a:ext cx="2186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渠道规则。供给占比无法推算 GMV。</a:t>
            </a:r>
            <a:endParaRPr/>
          </a:p>
        </p:txBody>
      </p:sp>
      <p:pic>
        <p:nvPicPr>
          <p:cNvPr id="85" name="slide-001-image-19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5820470"/>
            <a:ext cx="11277600" cy="529531"/>
          </a:xfrm>
          <a:prstGeom prst="rect">
            <a:avLst/>
          </a:prstGeom>
        </p:spPr>
      </p:pic>
      <p:sp>
        <p:nvSpPr>
          <p:cNvPr id="86" name="文字 86"/>
          <p:cNvSpPr txBox="1"/>
          <p:nvPr/>
        </p:nvSpPr>
        <p:spPr>
          <a:xfrm>
            <a:off x="457200" y="5941120"/>
            <a:ext cx="596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供给准入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457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3314700" y="594112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商品化发布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3314700" y="6176070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定价、版本包、支付链路审核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6172200" y="5941120"/>
            <a:ext cx="901105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分发到 Agent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72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发现与安装入口、宿主接入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9029700" y="5941120"/>
            <a:ext cx="8890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交易身份信任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90297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开发者密钥及教程所述验签</a:t>
            </a:r>
            <a:endParaRPr/>
          </a:p>
        </p:txBody>
      </p:sp>
      <p:pic>
        <p:nvPicPr>
          <p:cNvPr id="95" name="slide-001-image-20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payment_code 发起付款，payment_id 串联任务与交付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59160"/>
            <a:ext cx="311616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真实案例：腾讯 WorkRally 图片生成 ¥0.36 / 次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3713063" y="1059160"/>
            <a:ext cx="4495602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技能包可公开获取，用户无需业务 API Key；付费点在远程图片服务。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98501"/>
            <a:ext cx="271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同一响应里的两个标识，走向不同接口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457200" y="1847751"/>
            <a:ext cx="2730500" cy="958850"/>
          </a:xfrm>
          <a:prstGeom prst="roundRect">
            <a:avLst>
              <a:gd name="adj" fmla="val 662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1029295" y="1943001"/>
            <a:ext cx="159901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 返回 HTTP 402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912713" y="2179142"/>
            <a:ext cx="18321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Body: payment_id = WPAY_…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1008658" y="2359124"/>
            <a:ext cx="164028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Header / WeixinPay 节点：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93564" y="2539107"/>
            <a:ext cx="187047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 = PMT_…</a:t>
            </a:r>
            <a:endParaRPr/>
          </a:p>
        </p:txBody>
      </p:sp>
      <p:pic>
        <p:nvPicPr>
          <p:cNvPr id="17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7700" y="1987451"/>
            <a:ext cx="1397000" cy="12700"/>
          </a:xfrm>
          <a:prstGeom prst="rect">
            <a:avLst/>
          </a:prstGeom>
        </p:spPr>
      </p:pic>
      <p:sp>
        <p:nvSpPr>
          <p:cNvPr id="18" name="文字 18"/>
          <p:cNvSpPr/>
          <p:nvPr/>
        </p:nvSpPr>
        <p:spPr>
          <a:xfrm rot="5400000">
            <a:off x="4495800" y="19557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3263900" y="1777901"/>
            <a:ext cx="1244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3686175" y="1790601"/>
            <a:ext cx="4127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支付码</a:t>
            </a:r>
            <a:endParaRPr/>
          </a:p>
        </p:txBody>
      </p:sp>
      <p:sp>
        <p:nvSpPr>
          <p:cNvPr id="21" name="形状 21"/>
          <p:cNvSpPr/>
          <p:nvPr/>
        </p:nvSpPr>
        <p:spPr>
          <a:xfrm>
            <a:off x="4584700" y="17017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5356225" y="17969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交给微信支付工具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128518" y="2033092"/>
            <a:ext cx="16873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用于拉起付款，最长 15 分钟</a:t>
            </a:r>
            <a:endParaRPr/>
          </a:p>
        </p:txBody>
      </p:sp>
      <p:pic>
        <p:nvPicPr>
          <p:cNvPr id="24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7700" y="2590701"/>
            <a:ext cx="1397000" cy="12700"/>
          </a:xfrm>
          <a:prstGeom prst="rect">
            <a:avLst/>
          </a:prstGeom>
        </p:spPr>
      </p:pic>
      <p:sp>
        <p:nvSpPr>
          <p:cNvPr id="25" name="文字 25"/>
          <p:cNvSpPr/>
          <p:nvPr/>
        </p:nvSpPr>
        <p:spPr>
          <a:xfrm rot="5400000">
            <a:off x="4495800" y="2558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6" name="形状 26"/>
          <p:cNvSpPr/>
          <p:nvPr/>
        </p:nvSpPr>
        <p:spPr>
          <a:xfrm>
            <a:off x="3263900" y="2381151"/>
            <a:ext cx="1244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7" name="文字 27"/>
          <p:cNvSpPr txBox="1"/>
          <p:nvPr/>
        </p:nvSpPr>
        <p:spPr>
          <a:xfrm>
            <a:off x="3537248" y="2393851"/>
            <a:ext cx="7106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业务关联 ID</a:t>
            </a:r>
            <a:endParaRPr/>
          </a:p>
        </p:txBody>
      </p:sp>
      <p:sp>
        <p:nvSpPr>
          <p:cNvPr id="28" name="形状 28"/>
          <p:cNvSpPr/>
          <p:nvPr/>
        </p:nvSpPr>
        <p:spPr>
          <a:xfrm>
            <a:off x="4584700" y="23240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151239" y="2419251"/>
            <a:ext cx="164177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content {payment_id}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299075" y="2655392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沿用同一任务查询结果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457200" y="2933601"/>
            <a:ext cx="44736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两者来自同一次 invoke 响应，各自承担对应步骤。Agent 无需解析支付码。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219351"/>
            <a:ext cx="302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支付成功之后，商户还要完成业务状态迁移</a:t>
            </a:r>
            <a:endParaRPr/>
          </a:p>
        </p:txBody>
      </p:sp>
      <p:sp>
        <p:nvSpPr>
          <p:cNvPr id="33" name="形状 33"/>
          <p:cNvSpPr/>
          <p:nvPr/>
        </p:nvSpPr>
        <p:spPr>
          <a:xfrm>
            <a:off x="457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1022350" y="37591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582513" y="3995242"/>
            <a:ext cx="13494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/ code: NOT_PAID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3124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3513832" y="3759101"/>
            <a:ext cx="8209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generating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3517900" y="39952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已付，生成中</a:t>
            </a:r>
            <a:endParaRPr/>
          </a:p>
        </p:txBody>
      </p:sp>
      <p:sp>
        <p:nvSpPr>
          <p:cNvPr id="39" name="形状 39"/>
          <p:cNvSpPr/>
          <p:nvPr/>
        </p:nvSpPr>
        <p:spPr>
          <a:xfrm>
            <a:off x="5791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文字 40"/>
          <p:cNvSpPr txBox="1"/>
          <p:nvPr/>
        </p:nvSpPr>
        <p:spPr>
          <a:xfrm>
            <a:off x="6232029" y="3759101"/>
            <a:ext cx="7185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003131" y="3995242"/>
            <a:ext cx="11763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交付同一 result_url</a:t>
            </a:r>
            <a:endParaRPr/>
          </a:p>
        </p:txBody>
      </p:sp>
      <p:pic>
        <p:nvPicPr>
          <p:cNvPr id="4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4700" y="3943251"/>
            <a:ext cx="1079500" cy="12700"/>
          </a:xfrm>
          <a:prstGeom prst="rect">
            <a:avLst/>
          </a:prstGeom>
        </p:spPr>
      </p:pic>
      <p:sp>
        <p:nvSpPr>
          <p:cNvPr id="43" name="文字 43"/>
          <p:cNvSpPr/>
          <p:nvPr/>
        </p:nvSpPr>
        <p:spPr>
          <a:xfrm rot="5400000">
            <a:off x="3035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2120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2282825" y="37464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验付后启动</a:t>
            </a:r>
            <a:endParaRPr/>
          </a:p>
        </p:txBody>
      </p:sp>
      <p:pic>
        <p:nvPicPr>
          <p:cNvPr id="46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1700" y="3943251"/>
            <a:ext cx="1079500" cy="12700"/>
          </a:xfrm>
          <a:prstGeom prst="rect">
            <a:avLst/>
          </a:prstGeom>
        </p:spPr>
      </p:pic>
      <p:sp>
        <p:nvSpPr>
          <p:cNvPr id="47" name="文字 47"/>
          <p:cNvSpPr/>
          <p:nvPr/>
        </p:nvSpPr>
        <p:spPr>
          <a:xfrm rot="5400000">
            <a:off x="5702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4787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5010150" y="374640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生成成功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0950" y="4241701"/>
            <a:ext cx="12700" cy="476250"/>
          </a:xfrm>
          <a:prstGeom prst="rect">
            <a:avLst/>
          </a:prstGeom>
        </p:spPr>
      </p:pic>
      <p:sp>
        <p:nvSpPr>
          <p:cNvPr id="51" name="文字 51"/>
          <p:cNvSpPr/>
          <p:nvPr/>
        </p:nvSpPr>
        <p:spPr>
          <a:xfrm rot="10800000">
            <a:off x="1212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1346200" y="43052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未支付超时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457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967879" y="4813201"/>
            <a:ext cx="5788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expired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647303" y="5049342"/>
            <a:ext cx="12198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旧 payment_id 终止</a:t>
            </a:r>
            <a:endParaRPr/>
          </a:p>
        </p:txBody>
      </p:sp>
      <p:pic>
        <p:nvPicPr>
          <p:cNvPr id="5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950" y="4241701"/>
            <a:ext cx="12700" cy="476250"/>
          </a:xfrm>
          <a:prstGeom prst="rect">
            <a:avLst/>
          </a:prstGeom>
        </p:spPr>
      </p:pic>
      <p:sp>
        <p:nvSpPr>
          <p:cNvPr id="57" name="文字 57"/>
          <p:cNvSpPr/>
          <p:nvPr/>
        </p:nvSpPr>
        <p:spPr>
          <a:xfrm rot="10800000">
            <a:off x="3879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013200" y="4305201"/>
            <a:ext cx="8378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生成失败 / 超时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3124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3706217" y="4813201"/>
            <a:ext cx="43616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3317875" y="5049342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失败，查看退款状态</a:t>
            </a:r>
            <a:endParaRPr/>
          </a:p>
        </p:txBody>
      </p:sp>
      <p:pic>
        <p:nvPicPr>
          <p:cNvPr id="62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1700" y="5003701"/>
            <a:ext cx="1079500" cy="12700"/>
          </a:xfrm>
          <a:prstGeom prst="rect">
            <a:avLst/>
          </a:prstGeom>
        </p:spPr>
      </p:pic>
      <p:sp>
        <p:nvSpPr>
          <p:cNvPr id="63" name="文字 63"/>
          <p:cNvSpPr/>
          <p:nvPr/>
        </p:nvSpPr>
        <p:spPr>
          <a:xfrm rot="5400000">
            <a:off x="5702300" y="4971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4" name="形状 64"/>
          <p:cNvSpPr/>
          <p:nvPr/>
        </p:nvSpPr>
        <p:spPr>
          <a:xfrm>
            <a:off x="4787900" y="479415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5010150" y="480685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退款确认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5791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41356" y="4813201"/>
            <a:ext cx="69988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refunded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184900" y="50493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退款完成终态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429151"/>
            <a:ext cx="42392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状态图依据 WorkRally 公开调用契约；支付状态、服务状态及退款状态由商户分别管理。</a:t>
            </a:r>
            <a:endParaRPr/>
          </a:p>
        </p:txBody>
      </p:sp>
      <p:pic>
        <p:nvPicPr>
          <p:cNvPr id="70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07300" y="1473101"/>
            <a:ext cx="4127501" cy="4108450"/>
          </a:xfrm>
          <a:prstGeom prst="rect">
            <a:avLst/>
          </a:prstGeom>
        </p:spPr>
      </p:pic>
      <p:sp>
        <p:nvSpPr>
          <p:cNvPr id="71" name="文字 71"/>
          <p:cNvSpPr txBox="1"/>
          <p:nvPr/>
        </p:nvSpPr>
        <p:spPr>
          <a:xfrm>
            <a:off x="7791450" y="1485801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生成中：继续原任务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7791450" y="1750913"/>
            <a:ext cx="3948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HTTP 200 + generating 仍未交付。按 retry_after_seconds（5 秒）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7791450" y="1948260"/>
            <a:ext cx="21298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用同一 payment_id 重试 content。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7791450" y="225990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已交付：重复取同一结果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791450" y="2525018"/>
            <a:ext cx="39099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 返回相同 result_url。WorkRally 契约承诺同任务不重复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7791450" y="272236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扣费、不重复生成。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791450" y="303401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终态：先处理旧任务，再决定新购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7791450" y="3299123"/>
            <a:ext cx="377834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 / refunded / expired 按错误规则结束旧任务。按契约重新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791450" y="3496469"/>
            <a:ext cx="269140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invoke，不能把“生成中”误判为需要再买。</a:t>
            </a:r>
            <a:endParaRPr/>
          </a:p>
        </p:txBody>
      </p:sp>
      <p:pic>
        <p:nvPicPr>
          <p:cNvPr id="80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91450" y="3820815"/>
            <a:ext cx="3943350" cy="3429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7791450" y="3960515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服务履约仍由商户保证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7791450" y="4239915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请求、回调、履约各有幂等约束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791450" y="450502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稳定业务订单防重复建单；验签后去重支付通知；唯一任务执行权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7791450" y="4702374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和持久结果防重复生成。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7791450" y="4982270"/>
            <a:ext cx="39537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Demo 使用内存 map，不能证明并发、重启与退款恢复已具备</a:t>
            </a:r>
            <a:endParaRPr/>
          </a:p>
        </p:txBody>
      </p:sp>
      <p:sp>
        <p:nvSpPr>
          <p:cNvPr id="86" name="文字 86"/>
          <p:cNvSpPr txBox="1"/>
          <p:nvPr/>
        </p:nvSpPr>
        <p:spPr>
          <a:xfrm>
            <a:off x="7791450" y="5179616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生产保证。</a:t>
            </a:r>
            <a:endParaRPr/>
          </a:p>
        </p:txBody>
      </p:sp>
      <p:pic>
        <p:nvPicPr>
          <p:cNvPr id="87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633839"/>
            <a:ext cx="11277600" cy="716161"/>
          </a:xfrm>
          <a:prstGeom prst="rect">
            <a:avLst/>
          </a:prstGeom>
        </p:spPr>
      </p:pic>
      <p:sp>
        <p:nvSpPr>
          <p:cNvPr id="88" name="文字 88"/>
          <p:cNvSpPr txBox="1"/>
          <p:nvPr/>
        </p:nvSpPr>
        <p:spPr>
          <a:xfrm>
            <a:off x="457200" y="5754489"/>
            <a:ext cx="23495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支付回调的真实性与保密性分开处理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457200" y="5989439"/>
            <a:ext cx="55349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商户用微信支付公钥 / 平台证书验签，用 APIv3 密钥解密。SkillHub 开发者私钥只用于 AI 预下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457200" y="617607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单身份。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97600" y="5754489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实现必须选定同一版本契约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6197600" y="5989439"/>
            <a:ext cx="55279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采用 Authorization + JSON 对象；SkillHub Demo 仍采用旧端点和 Body 鉴权，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6197600" y="6176070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不能混接。</a:t>
            </a:r>
            <a:endParaRPr/>
          </a:p>
        </p:txBody>
      </p:sp>
      <p:pic>
        <p:nvPicPr>
          <p:cNvPr id="95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经营 Skill 商品，付款后分为源文件与使用权两种交付</a:t>
            </a:r>
            <a:endParaRPr/>
          </a:p>
        </p:txBody>
      </p:sp>
      <p:sp>
        <p:nvSpPr>
          <p:cNvPr id="9" name="形状 9"/>
          <p:cNvSpPr/>
          <p:nvPr/>
        </p:nvSpPr>
        <p:spPr>
          <a:xfrm>
            <a:off x="457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文字 10"/>
          <p:cNvSpPr txBox="1"/>
          <p:nvPr/>
        </p:nvSpPr>
        <p:spPr>
          <a:xfrm>
            <a:off x="1132384" y="1243310"/>
            <a:ext cx="1138833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作者提交源 Skill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8286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名称、文件、价格与收费模式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34417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4133155" y="1243310"/>
            <a:ext cx="11061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38131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扫描审核、版本、试用和权益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6426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7207250" y="1243310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作者自主分发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6864350" y="1492151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购买指令、二维码或商品页</a:t>
            </a:r>
            <a:endParaRPr/>
          </a:p>
        </p:txBody>
      </p:sp>
      <p:cxnSp>
        <p:nvCxnSpPr>
          <p:cNvPr id="18" name="Editable line 18"/>
          <p:cNvCxnSpPr/>
          <p:nvPr/>
        </p:nvCxnSpPr>
        <p:spPr>
          <a:xfrm>
            <a:off x="2936915" y="1473498"/>
            <a:ext cx="498354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528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20" name="Editable line 20"/>
          <p:cNvCxnSpPr/>
          <p:nvPr/>
        </p:nvCxnSpPr>
        <p:spPr>
          <a:xfrm>
            <a:off x="5924630" y="1473498"/>
            <a:ext cx="495139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21" name="文字 21"/>
          <p:cNvSpPr/>
          <p:nvPr/>
        </p:nvSpPr>
        <p:spPr>
          <a:xfrm rot="5400000">
            <a:off x="63373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9112250" y="1217910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作者负责创造与维护，平台承接付款之后的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9112250" y="140454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交付和持续经营。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1954510"/>
            <a:ext cx="25844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同一购买握手，取得不同商品权益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2341860"/>
            <a:ext cx="1460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7700" y="2456160"/>
            <a:ext cx="109210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请求资源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87400" y="270500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没有有效权益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920946" y="2673118"/>
            <a:ext cx="574463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4130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501900" y="2341860"/>
            <a:ext cx="17653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865338" y="2456160"/>
            <a:ext cx="105102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+ 付款要求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851150" y="270500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保留原请求上下文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4270447" y="2673118"/>
            <a:ext cx="565006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7498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838700" y="2341860"/>
            <a:ext cx="2603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5302250" y="24561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支付宝付款后恢复原请求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5414863" y="2705001"/>
            <a:ext cx="14637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验付并建立权益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6147858" y="2992793"/>
            <a:ext cx="0" cy="349135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cxnSp>
        <p:nvCxnSpPr>
          <p:cNvPr id="39" name="Editable line 39"/>
          <p:cNvCxnSpPr/>
          <p:nvPr/>
        </p:nvCxnSpPr>
        <p:spPr>
          <a:xfrm>
            <a:off x="2143218" y="3352568"/>
            <a:ext cx="399396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cxnSp>
        <p:nvCxnSpPr>
          <p:cNvPr id="40" name="Editable line 40"/>
          <p:cNvCxnSpPr/>
          <p:nvPr/>
        </p:nvCxnSpPr>
        <p:spPr>
          <a:xfrm>
            <a:off x="2145242" y="3351510"/>
            <a:ext cx="0" cy="231775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41" name="文字 41"/>
          <p:cNvSpPr/>
          <p:nvPr/>
        </p:nvSpPr>
        <p:spPr>
          <a:xfrm rot="10800000">
            <a:off x="21018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42" name="Editable line 42"/>
          <p:cNvCxnSpPr/>
          <p:nvPr/>
        </p:nvCxnSpPr>
        <p:spPr>
          <a:xfrm>
            <a:off x="5765800" y="3351510"/>
            <a:ext cx="0" cy="23177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10800000">
            <a:off x="57213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4572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377950" y="3700760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买断：交付完整源文件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1382713" y="3949601"/>
            <a:ext cx="15271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 Skill 进入本地 Agent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1177230" y="4136231"/>
            <a:ext cx="19381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一次购买可下载该 Skill 全部版本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1273175" y="432286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后续由本地读取、执行和保存</a:t>
            </a:r>
            <a:endParaRPr/>
          </a:p>
        </p:txBody>
      </p:sp>
      <p:sp>
        <p:nvSpPr>
          <p:cNvPr id="49" name="形状 49"/>
          <p:cNvSpPr/>
          <p:nvPr/>
        </p:nvSpPr>
        <p:spPr>
          <a:xfrm>
            <a:off x="40767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4921250" y="37007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订阅：交付期限内使用权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5026025" y="394960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本地保留入口与公开资源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759325" y="413623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完整原文留云端，按任务提供指导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4692650" y="4322862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当前不自动续费，到期重新取得权益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457200" y="5104110"/>
            <a:ext cx="3479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支付后按商品模式分叉，订阅并不等于每次任务重新扣款。</a:t>
            </a:r>
            <a:endParaRPr/>
          </a:p>
        </p:txBody>
      </p:sp>
      <p:cxnSp>
        <p:nvCxnSpPr>
          <p:cNvPr id="55" name="Editable line 55"/>
          <p:cNvCxnSpPr/>
          <p:nvPr/>
        </p:nvCxnSpPr>
        <p:spPr>
          <a:xfrm>
            <a:off x="7678954" y="1856179"/>
            <a:ext cx="0" cy="3546381"/>
          </a:xfrm>
          <a:prstGeom prst="line">
            <a:avLst/>
          </a:prstGeom>
          <a:ln w="6331" cap="flat">
            <a:solidFill>
              <a:srgbClr val="D9DDE2"/>
            </a:solidFill>
            <a:prstDash val="solid"/>
          </a:ln>
        </p:spPr>
      </p:cxnSp>
      <p:sp>
        <p:nvSpPr>
          <p:cNvPr id="56" name="文字 56"/>
          <p:cNvSpPr txBox="1"/>
          <p:nvPr/>
        </p:nvSpPr>
        <p:spPr>
          <a:xfrm>
            <a:off x="7854950" y="1941810"/>
            <a:ext cx="279052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 ID 定位售卖对象，交易号追踪付款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54950" y="2213273"/>
            <a:ext cx="3760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merchantId / productId 说明“谁的哪个商品”；支付凭据用于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854950" y="2410619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恢复本轮请求，后续还要判断权益是否可用。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854950" y="2754015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平台管理交付，而非只弹出收银台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54950" y="3025477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商品模式、试用、版本和可用期决定后续交付。付费成功后仍可能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54950" y="322282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处于权益发放中或发放失败。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854950" y="356622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资金直达作者，费率不能据此推断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854950" y="3837682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官网称款项实时到作者支付宝账户。退款由作者处理，周期订单整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54950" y="4035028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单全退；未查到统一公开抽佣费率。</a:t>
            </a:r>
            <a:endParaRPr/>
          </a:p>
        </p:txBody>
      </p:sp>
      <p:cxnSp>
        <p:nvCxnSpPr>
          <p:cNvPr id="65" name="Editable line 65"/>
          <p:cNvCxnSpPr/>
          <p:nvPr/>
        </p:nvCxnSpPr>
        <p:spPr>
          <a:xfrm>
            <a:off x="463734" y="5392953"/>
            <a:ext cx="11264532" cy="0"/>
          </a:xfrm>
          <a:prstGeom prst="line">
            <a:avLst/>
          </a:prstGeom>
          <a:ln w="12662" cap="flat">
            <a:solidFill>
              <a:srgbClr val="B5333B"/>
            </a:solidFill>
            <a:prstDash val="solid"/>
          </a:ln>
        </p:spPr>
      </p:cxnSp>
      <p:sp>
        <p:nvSpPr>
          <p:cNvPr id="66" name="文字 66"/>
          <p:cNvSpPr txBox="1"/>
          <p:nvPr/>
        </p:nvSpPr>
        <p:spPr>
          <a:xfrm>
            <a:off x="457200" y="551180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沿四个判断点恢复原任务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4572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支付确认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607060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钱是否付给对应交易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33401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权益可用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3340100" y="607060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当前买家是否仍可使用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230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资源交付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230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文件或执行指导是否取得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91059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任务完成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91059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本地执行与产物是否合格</a:t>
            </a:r>
            <a:endParaRPr/>
          </a:p>
        </p:txBody>
      </p:sp>
      <p:pic>
        <p:nvPicPr>
          <p:cNvPr id="76" name="slide-001-im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订阅原文留云端，云端给任务指导，本地 Agent 继续执行</a:t>
            </a:r>
            <a:endParaRPr/>
          </a:p>
        </p:txBody>
      </p:sp>
      <p:sp>
        <p:nvSpPr>
          <p:cNvPr id="10" name="形状 10"/>
          <p:cNvSpPr/>
          <p:nvPr/>
        </p:nvSpPr>
        <p:spPr>
          <a:xfrm>
            <a:off x="457200" y="1384201"/>
            <a:ext cx="7112000" cy="4216400"/>
          </a:xfrm>
          <a:prstGeom prst="roundRect">
            <a:avLst>
              <a:gd name="adj" fmla="val 2108"/>
            </a:avLst>
          </a:prstGeom>
          <a:noFill/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cxnSp>
        <p:nvCxnSpPr>
          <p:cNvPr id="11" name="Editable line 11"/>
          <p:cNvCxnSpPr/>
          <p:nvPr/>
        </p:nvCxnSpPr>
        <p:spPr>
          <a:xfrm>
            <a:off x="3988858" y="1679739"/>
            <a:ext cx="0" cy="376846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1735931" y="1498501"/>
            <a:ext cx="88413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 Agent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090418" y="1498501"/>
            <a:ext cx="1414264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云端保护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679450" y="18477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1405235" y="1962051"/>
            <a:ext cx="145028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用户任务 + 影子 Skill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1123950" y="22108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本地入口、公开资源与必要上下文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2126192" y="2587526"/>
            <a:ext cx="0" cy="29210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18" name="文字 18"/>
          <p:cNvSpPr/>
          <p:nvPr/>
        </p:nvSpPr>
        <p:spPr>
          <a:xfrm rot="10800000">
            <a:off x="2082800" y="28066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19" name="Editable line 19"/>
          <p:cNvCxnSpPr/>
          <p:nvPr/>
        </p:nvCxnSpPr>
        <p:spPr>
          <a:xfrm>
            <a:off x="2124164" y="2890209"/>
            <a:ext cx="2549258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0" name="文字 20"/>
          <p:cNvSpPr/>
          <p:nvPr/>
        </p:nvSpPr>
        <p:spPr>
          <a:xfrm rot="5400000">
            <a:off x="4591050" y="28510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1" name="形状 21"/>
          <p:cNvSpPr/>
          <p:nvPr/>
        </p:nvSpPr>
        <p:spPr>
          <a:xfrm>
            <a:off x="2184400" y="2666901"/>
            <a:ext cx="24320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2675235" y="2679601"/>
            <a:ext cx="146298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当前任务请求 + 有效上下文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4679950" y="2565301"/>
            <a:ext cx="26670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5480050" y="267960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权益与请求判断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5280025" y="292844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有效期、试用及能力边界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6018742" y="3222526"/>
            <a:ext cx="0" cy="26035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10800000">
            <a:off x="5975350" y="34098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4679950" y="3486051"/>
            <a:ext cx="2667000" cy="787400"/>
          </a:xfrm>
          <a:prstGeom prst="roundRect">
            <a:avLst>
              <a:gd name="adj" fmla="val 1129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403850" y="36003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完整原文隔离保存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080000" y="3849192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根据当前任务生成有限执行文本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280025" y="40358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拒绝套取，裁剪无关知识</a:t>
            </a:r>
            <a:endParaRPr/>
          </a:p>
        </p:txBody>
      </p:sp>
      <p:cxnSp>
        <p:nvCxnSpPr>
          <p:cNvPr id="32" name="Editable line 32"/>
          <p:cNvCxnSpPr/>
          <p:nvPr/>
        </p:nvCxnSpPr>
        <p:spPr>
          <a:xfrm>
            <a:off x="3575199" y="3907268"/>
            <a:ext cx="1101502" cy="0"/>
          </a:xfrm>
          <a:prstGeom prst="line">
            <a:avLst/>
          </a:prstGeom>
          <a:ln w="7869" cap="flat">
            <a:solidFill>
              <a:srgbClr val="B5333B"/>
            </a:solidFill>
            <a:prstDash val="solid"/>
          </a:ln>
        </p:spPr>
      </p:cxnSp>
      <p:sp>
        <p:nvSpPr>
          <p:cNvPr id="33" name="文字 33"/>
          <p:cNvSpPr/>
          <p:nvPr/>
        </p:nvSpPr>
        <p:spPr>
          <a:xfrm rot="16200000">
            <a:off x="3568700" y="38670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4" name="形状 34"/>
          <p:cNvSpPr/>
          <p:nvPr/>
        </p:nvSpPr>
        <p:spPr>
          <a:xfrm>
            <a:off x="3632200" y="3682901"/>
            <a:ext cx="9842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5" name="文字 35"/>
          <p:cNvSpPr txBox="1"/>
          <p:nvPr/>
        </p:nvSpPr>
        <p:spPr>
          <a:xfrm>
            <a:off x="3762375" y="369560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任务专用指导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679450" y="35368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1438275" y="36511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本地校验指导与输入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1123950" y="389999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信息不足先追问，信息充分再执行</a:t>
            </a:r>
            <a:endParaRPr/>
          </a:p>
        </p:txBody>
      </p:sp>
      <p:cxnSp>
        <p:nvCxnSpPr>
          <p:cNvPr id="39" name="Editable line 39"/>
          <p:cNvCxnSpPr/>
          <p:nvPr/>
        </p:nvCxnSpPr>
        <p:spPr>
          <a:xfrm>
            <a:off x="2126192" y="4276626"/>
            <a:ext cx="0" cy="31432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0" name="文字 40"/>
          <p:cNvSpPr/>
          <p:nvPr/>
        </p:nvSpPr>
        <p:spPr>
          <a:xfrm rot="10800000">
            <a:off x="2082800" y="4514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679450" y="4590951"/>
            <a:ext cx="2889250" cy="711200"/>
          </a:xfrm>
          <a:prstGeom prst="roundRect">
            <a:avLst>
              <a:gd name="adj" fmla="val 12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1285875" y="470525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运行工具并形成最终结果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990600" y="4954092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脚本、数据处理、文件产物由本地完成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5454650" y="4533801"/>
            <a:ext cx="112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云端不运行脚本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5375275" y="47560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也不计算最终答案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19600" y="5086251"/>
            <a:ext cx="2946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云端输出的是执行方法，本地仍承担工具权限和产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5619750" y="527288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物检查。</a:t>
            </a:r>
            <a:endParaRPr/>
          </a:p>
        </p:txBody>
      </p:sp>
      <p:cxnSp>
        <p:nvCxnSpPr>
          <p:cNvPr id="48" name="Editable line 48"/>
          <p:cNvCxnSpPr/>
          <p:nvPr/>
        </p:nvCxnSpPr>
        <p:spPr>
          <a:xfrm>
            <a:off x="7802697" y="1390738"/>
            <a:ext cx="0" cy="4209863"/>
          </a:xfrm>
          <a:prstGeom prst="line">
            <a:avLst/>
          </a:prstGeom>
          <a:ln w="6324" cap="flat">
            <a:solidFill>
              <a:srgbClr val="DADEE3"/>
            </a:solidFill>
            <a:prstDash val="solid"/>
          </a:ln>
        </p:spPr>
      </p:cxnSp>
      <p:sp>
        <p:nvSpPr>
          <p:cNvPr id="49" name="文字 49"/>
          <p:cNvSpPr txBox="1"/>
          <p:nvPr/>
        </p:nvSpPr>
        <p:spPr>
          <a:xfrm>
            <a:off x="7981950" y="139690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正常任务：返回必要指导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7981950" y="1668363"/>
            <a:ext cx="367168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围绕当前问题，只披露完成任务所需的方法，不把完整 Skill 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7981950" y="186570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为回答。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7981950" y="2202755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套取全文：拒绝并回到任务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7981950" y="2474218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角色扮演、覆盖指令、编码或多轮拼接等请求，属于持续防护与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981950" y="2671564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回归评测范围。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981950" y="3008610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边界请求：帮助与最小披露并行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981950" y="3280073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有限执行文本仍能被观察。保护目标是提高整份原文复制成本，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981950" y="3477419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不能据此声称不可破解。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981950" y="381446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原文保护与数据传输分别判断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981950" y="4085927"/>
            <a:ext cx="3613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云端会接收任务和有效上下文。具体资料传输依实现，不能从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981950" y="4283274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“原文不落地”推出“用户资料绝不出云”。</a:t>
            </a:r>
            <a:endParaRPr/>
          </a:p>
        </p:txBody>
      </p:sp>
      <p:cxnSp>
        <p:nvCxnSpPr>
          <p:cNvPr id="61" name="Editable line 61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2" name="文字 62"/>
          <p:cNvSpPr txBox="1"/>
          <p:nvPr/>
        </p:nvSpPr>
        <p:spPr>
          <a:xfrm>
            <a:off x="457200" y="569654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访问门槛：权益仍需有效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到期、退款、冻结或额度等状态可能影响可用性。订阅不代表不限次数，试用次数不等于完整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6165354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任务数。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6207125" y="5696546"/>
            <a:ext cx="255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执行门槛：拿到指导后还要完成任务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207125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平台只返回必要指导。本地仍需检查输入、工具权限和产物，拿到指导不等于任务已经完成。</a:t>
            </a:r>
            <a:endParaRPr/>
          </a:p>
        </p:txBody>
      </p:sp>
      <p:pic>
        <p:nvPicPr>
          <p:cNvPr id="68" name="slide-002-im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先签报价，付款后带票重试，商户在线验付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657027" y="1390551"/>
            <a:ext cx="81954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 Agent</a:t>
            </a:r>
            <a:endParaRPr/>
          </a:p>
        </p:txBody>
      </p:sp>
      <p:cxnSp>
        <p:nvCxnSpPr>
          <p:cNvPr id="11" name="Editable line 11"/>
          <p:cNvCxnSpPr/>
          <p:nvPr/>
        </p:nvCxnSpPr>
        <p:spPr>
          <a:xfrm>
            <a:off x="10657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3103066" y="1390551"/>
            <a:ext cx="62636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 API</a:t>
            </a:r>
            <a:endParaRPr/>
          </a:p>
        </p:txBody>
      </p:sp>
      <p:cxnSp>
        <p:nvCxnSpPr>
          <p:cNvPr id="13" name="Editable line 13"/>
          <p:cNvCxnSpPr/>
          <p:nvPr/>
        </p:nvCxnSpPr>
        <p:spPr>
          <a:xfrm>
            <a:off x="34152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4" name="文字 14"/>
          <p:cNvSpPr txBox="1"/>
          <p:nvPr/>
        </p:nvSpPr>
        <p:spPr>
          <a:xfrm>
            <a:off x="5105202" y="1390551"/>
            <a:ext cx="125759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 / 支付工具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5735108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6" name="文字 16"/>
          <p:cNvSpPr txBox="1"/>
          <p:nvPr/>
        </p:nvSpPr>
        <p:spPr>
          <a:xfrm>
            <a:off x="7410450" y="1390551"/>
            <a:ext cx="33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757449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cxnSp>
        <p:nvCxnSpPr>
          <p:cNvPr id="18" name="Editable line 18"/>
          <p:cNvCxnSpPr/>
          <p:nvPr/>
        </p:nvCxnSpPr>
        <p:spPr>
          <a:xfrm>
            <a:off x="1063713" y="1916543"/>
            <a:ext cx="2339710" cy="0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21050" y="1879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1123950" y="16953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1776313" y="1708051"/>
            <a:ext cx="930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请求付费资源</a:t>
            </a:r>
            <a:endParaRPr/>
          </a:p>
        </p:txBody>
      </p:sp>
      <p:cxnSp>
        <p:nvCxnSpPr>
          <p:cNvPr id="22" name="Editable line 22"/>
          <p:cNvCxnSpPr/>
          <p:nvPr/>
        </p:nvCxnSpPr>
        <p:spPr>
          <a:xfrm>
            <a:off x="1063713" y="2483809"/>
            <a:ext cx="2339710" cy="0"/>
          </a:xfrm>
          <a:prstGeom prst="line">
            <a:avLst/>
          </a:prstGeom>
          <a:ln w="7935" cap="flat">
            <a:solidFill>
              <a:srgbClr val="B5333B"/>
            </a:solidFill>
            <a:prstDash val="dash"/>
          </a:ln>
        </p:spPr>
      </p:cxnSp>
      <p:sp>
        <p:nvSpPr>
          <p:cNvPr id="23" name="文字 23"/>
          <p:cNvSpPr/>
          <p:nvPr/>
        </p:nvSpPr>
        <p:spPr>
          <a:xfrm rot="16200000">
            <a:off x="1060450" y="24446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24" name="形状 24"/>
          <p:cNvSpPr/>
          <p:nvPr/>
        </p:nvSpPr>
        <p:spPr>
          <a:xfrm>
            <a:off x="1123950" y="226050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5" name="文字 25"/>
          <p:cNvSpPr txBox="1"/>
          <p:nvPr/>
        </p:nvSpPr>
        <p:spPr>
          <a:xfrm>
            <a:off x="1459508" y="2273201"/>
            <a:ext cx="15639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402 + Payment-Needed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1063718" y="2780143"/>
            <a:ext cx="466071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5400000">
            <a:off x="5638800" y="27431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1123950" y="255895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2490688" y="2571651"/>
            <a:ext cx="1819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提交付款要求和原任务上下文</a:t>
            </a:r>
            <a:endParaRPr/>
          </a:p>
        </p:txBody>
      </p:sp>
      <p:cxnSp>
        <p:nvCxnSpPr>
          <p:cNvPr id="30" name="Editable line 30"/>
          <p:cNvCxnSpPr/>
          <p:nvPr/>
        </p:nvCxnSpPr>
        <p:spPr>
          <a:xfrm>
            <a:off x="5734207" y="3080709"/>
            <a:ext cx="1828486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1" name="文字 31"/>
          <p:cNvSpPr/>
          <p:nvPr/>
        </p:nvSpPr>
        <p:spPr>
          <a:xfrm rot="5400000">
            <a:off x="7480300" y="30415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2" name="形状 32"/>
          <p:cNvSpPr/>
          <p:nvPr/>
        </p:nvSpPr>
        <p:spPr>
          <a:xfrm>
            <a:off x="5791200" y="285740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3" name="文字 33"/>
          <p:cNvSpPr txBox="1"/>
          <p:nvPr/>
        </p:nvSpPr>
        <p:spPr>
          <a:xfrm>
            <a:off x="6203950" y="2870101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展示商户与金额</a:t>
            </a:r>
            <a:endParaRPr/>
          </a:p>
        </p:txBody>
      </p:sp>
      <p:cxnSp>
        <p:nvCxnSpPr>
          <p:cNvPr id="34" name="Editable line 34"/>
          <p:cNvCxnSpPr/>
          <p:nvPr/>
        </p:nvCxnSpPr>
        <p:spPr>
          <a:xfrm>
            <a:off x="5734207" y="3378101"/>
            <a:ext cx="1828486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35" name="文字 35"/>
          <p:cNvSpPr/>
          <p:nvPr/>
        </p:nvSpPr>
        <p:spPr>
          <a:xfrm rot="16200000">
            <a:off x="5727700" y="33400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6" name="形状 36"/>
          <p:cNvSpPr/>
          <p:nvPr/>
        </p:nvSpPr>
        <p:spPr>
          <a:xfrm>
            <a:off x="5791200" y="315585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6316563" y="31685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确认支付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1063718" y="3675493"/>
            <a:ext cx="4660713" cy="0"/>
          </a:xfrm>
          <a:prstGeom prst="line">
            <a:avLst/>
          </a:prstGeom>
          <a:ln w="4000" cap="flat">
            <a:solidFill>
              <a:srgbClr val="566472"/>
            </a:solidFill>
            <a:prstDash val="dash"/>
          </a:ln>
        </p:spPr>
      </p:cxnSp>
      <p:sp>
        <p:nvSpPr>
          <p:cNvPr id="39" name="文字 39"/>
          <p:cNvSpPr/>
          <p:nvPr/>
        </p:nvSpPr>
        <p:spPr>
          <a:xfrm rot="16200000">
            <a:off x="1060450" y="3638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1123950" y="345430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1806079" y="3467001"/>
            <a:ext cx="318869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取得 trade_no + payment_proof（及 client_session）</a:t>
            </a:r>
            <a:endParaRPr/>
          </a:p>
        </p:txBody>
      </p:sp>
      <p:cxnSp>
        <p:nvCxnSpPr>
          <p:cNvPr id="42" name="Editable line 42"/>
          <p:cNvCxnSpPr/>
          <p:nvPr/>
        </p:nvCxnSpPr>
        <p:spPr>
          <a:xfrm>
            <a:off x="1063713" y="3976059"/>
            <a:ext cx="2339710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5400000">
            <a:off x="3321050" y="39369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1123950" y="37527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446411" y="3765451"/>
            <a:ext cx="159017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原请求 + Payment-Proof</a:t>
            </a:r>
            <a:endParaRPr/>
          </a:p>
        </p:txBody>
      </p:sp>
      <p:cxnSp>
        <p:nvCxnSpPr>
          <p:cNvPr id="46" name="Editable line 46"/>
          <p:cNvCxnSpPr/>
          <p:nvPr/>
        </p:nvCxnSpPr>
        <p:spPr>
          <a:xfrm>
            <a:off x="3413214" y="4272393"/>
            <a:ext cx="2311221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7" name="文字 47"/>
          <p:cNvSpPr/>
          <p:nvPr/>
        </p:nvSpPr>
        <p:spPr>
          <a:xfrm rot="5400000">
            <a:off x="5638800" y="42353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3473450" y="40512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4034433" y="4063901"/>
            <a:ext cx="10813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payment.verify</a:t>
            </a:r>
            <a:endParaRPr/>
          </a:p>
        </p:txBody>
      </p:sp>
      <p:cxnSp>
        <p:nvCxnSpPr>
          <p:cNvPr id="50" name="Editable line 50"/>
          <p:cNvCxnSpPr/>
          <p:nvPr/>
        </p:nvCxnSpPr>
        <p:spPr>
          <a:xfrm>
            <a:off x="3413214" y="4570313"/>
            <a:ext cx="2311221" cy="0"/>
          </a:xfrm>
          <a:prstGeom prst="line">
            <a:avLst/>
          </a:prstGeom>
          <a:ln w="11617" cap="flat">
            <a:solidFill>
              <a:srgbClr val="566472"/>
            </a:solidFill>
            <a:prstDash val="dash"/>
          </a:ln>
        </p:spPr>
      </p:cxnSp>
      <p:sp>
        <p:nvSpPr>
          <p:cNvPr id="51" name="文字 51"/>
          <p:cNvSpPr/>
          <p:nvPr/>
        </p:nvSpPr>
        <p:spPr>
          <a:xfrm rot="16200000">
            <a:off x="3409950" y="45338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形状 52"/>
          <p:cNvSpPr/>
          <p:nvPr/>
        </p:nvSpPr>
        <p:spPr>
          <a:xfrm>
            <a:off x="3473450" y="434965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3" name="文字 53"/>
          <p:cNvSpPr txBox="1"/>
          <p:nvPr/>
        </p:nvSpPr>
        <p:spPr>
          <a:xfrm>
            <a:off x="3811687" y="4362351"/>
            <a:ext cx="1526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 + 金额 + 订单 + 资源</a:t>
            </a:r>
            <a:endParaRPr/>
          </a:p>
        </p:txBody>
      </p:sp>
      <p:cxnSp>
        <p:nvCxnSpPr>
          <p:cNvPr id="54" name="Editable line 54"/>
          <p:cNvCxnSpPr/>
          <p:nvPr/>
        </p:nvCxnSpPr>
        <p:spPr>
          <a:xfrm>
            <a:off x="1063713" y="5167743"/>
            <a:ext cx="2339710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5" name="文字 55"/>
          <p:cNvSpPr/>
          <p:nvPr/>
        </p:nvSpPr>
        <p:spPr>
          <a:xfrm rot="16200000">
            <a:off x="1060450" y="51307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6" name="形状 56"/>
          <p:cNvSpPr/>
          <p:nvPr/>
        </p:nvSpPr>
        <p:spPr>
          <a:xfrm>
            <a:off x="1123950" y="49465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1903313" y="49592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交付结果</a:t>
            </a:r>
            <a:endParaRPr/>
          </a:p>
        </p:txBody>
      </p:sp>
      <p:cxnSp>
        <p:nvCxnSpPr>
          <p:cNvPr id="58" name="Editable line 58"/>
          <p:cNvCxnSpPr/>
          <p:nvPr/>
        </p:nvCxnSpPr>
        <p:spPr>
          <a:xfrm>
            <a:off x="3413214" y="5468309"/>
            <a:ext cx="2311221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9" name="文字 59"/>
          <p:cNvSpPr/>
          <p:nvPr/>
        </p:nvSpPr>
        <p:spPr>
          <a:xfrm rot="5400000">
            <a:off x="5638800" y="54291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0" name="形状 60"/>
          <p:cNvSpPr/>
          <p:nvPr/>
        </p:nvSpPr>
        <p:spPr>
          <a:xfrm>
            <a:off x="3473450" y="52450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1" name="文字 61"/>
          <p:cNvSpPr txBox="1"/>
          <p:nvPr/>
        </p:nvSpPr>
        <p:spPr>
          <a:xfrm>
            <a:off x="3538041" y="5257701"/>
            <a:ext cx="207426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⑧ fulfillment.confirm（履约回执）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2489200" y="2082701"/>
            <a:ext cx="19050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2730798" y="2095401"/>
            <a:ext cx="14345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本地建单，RSA2 签报价</a:t>
            </a:r>
            <a:endParaRPr/>
          </a:p>
        </p:txBody>
      </p:sp>
      <p:sp>
        <p:nvSpPr>
          <p:cNvPr id="64" name="形状 64"/>
          <p:cNvSpPr/>
          <p:nvPr/>
        </p:nvSpPr>
        <p:spPr>
          <a:xfrm>
            <a:off x="2235200" y="4730651"/>
            <a:ext cx="24765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2606675" y="47433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商户对本地账并锁定唯一履约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8529847" y="1378027"/>
            <a:ext cx="0" cy="4594369"/>
          </a:xfrm>
          <a:prstGeom prst="line">
            <a:avLst/>
          </a:prstGeom>
          <a:ln w="6326" cap="flat">
            <a:solidFill>
              <a:srgbClr val="D8DCE2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8693151" y="1384201"/>
            <a:ext cx="279062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Payment-Needed：付款前的签名报价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693151" y="1655663"/>
            <a:ext cx="26407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 / 币种、out_trade_no、resource_id、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8693151" y="1853010"/>
            <a:ext cx="23063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pay_before、卖家与 service_id，连同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8693151" y="2050355"/>
            <a:ext cx="1704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seller_signature 一起封装。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8693151" y="2311202"/>
            <a:ext cx="29228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商户本地用应用私钥做 RSA2 签名，生成报价无需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8693151" y="250448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先调用支付宝扣款。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8693151" y="2843808"/>
            <a:ext cx="261917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Payment-Proof：付款后的验付材料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3115270"/>
            <a:ext cx="304085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包含 trade_no、payment_proof，以及通道需要时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3312616"/>
            <a:ext cx="265856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的 client_session。商户将它们交支付宝在线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3509963"/>
            <a:ext cx="48974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3853359"/>
            <a:ext cx="283239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Base64URL 负责封装，真实性另行校验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4124821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解码可读不代表可信。报价签名、支付宝验付和商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43221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户业务核对各自承担不同验证。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4665564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图示采用用户确认支付路径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4937026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钱包已开通不等于任意消费均已授权。自动付款须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513437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符合另行授予的范围和风控条件。</a:t>
            </a:r>
            <a:endParaRPr/>
          </a:p>
        </p:txBody>
      </p:sp>
      <p:cxnSp>
        <p:nvCxnSpPr>
          <p:cNvPr id="83" name="Editable line 83"/>
          <p:cNvCxnSpPr/>
          <p:nvPr/>
        </p:nvCxnSpPr>
        <p:spPr>
          <a:xfrm>
            <a:off x="463734" y="6069548"/>
            <a:ext cx="11264532" cy="0"/>
          </a:xfrm>
          <a:prstGeom prst="line">
            <a:avLst/>
          </a:prstGeom>
          <a:ln w="11717" cap="flat">
            <a:solidFill>
              <a:srgbClr val="B5333B"/>
            </a:solidFill>
            <a:prstDash val="solid"/>
          </a:ln>
        </p:spPr>
      </p:cxnSp>
      <p:sp>
        <p:nvSpPr>
          <p:cNvPr id="84" name="文字 84"/>
          <p:cNvSpPr txBox="1"/>
          <p:nvPr/>
        </p:nvSpPr>
        <p:spPr>
          <a:xfrm>
            <a:off x="457200" y="6169422"/>
            <a:ext cx="8186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人民币接入指南使用 payment.verify 与 fulfillment.confirm。产品页的通用 /verify、/settle、交易哈希图，不能直接当成这套人民币 API。</a:t>
            </a:r>
            <a:endParaRPr/>
          </a:p>
        </p:txBody>
      </p:sp>
      <p:pic>
        <p:nvPicPr>
          <p:cNvPr id="86" name="slide-003-im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8824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支付宝验证支付事实，商户核对业务账并恢复唯一履约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90551"/>
            <a:ext cx="21590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同一交易，需要对齐两边记录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45720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1336675" y="186045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支付宝交易事实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1037431" y="2109292"/>
            <a:ext cx="16778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trade_no + payment_proof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84634" y="2295922"/>
            <a:ext cx="19834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active、金额、订单与资源返回值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3289430" y="2274789"/>
            <a:ext cx="1257041" cy="0"/>
          </a:xfrm>
          <a:prstGeom prst="line">
            <a:avLst/>
          </a:prstGeom>
          <a:ln w="8965" cap="flat">
            <a:solidFill>
              <a:srgbClr val="B5333B"/>
            </a:solidFill>
            <a:prstDash val="solid"/>
          </a:ln>
        </p:spPr>
      </p:cxnSp>
      <p:sp>
        <p:nvSpPr>
          <p:cNvPr id="16" name="文字 16"/>
          <p:cNvSpPr/>
          <p:nvPr/>
        </p:nvSpPr>
        <p:spPr>
          <a:xfrm rot="5400000">
            <a:off x="4464050" y="22351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7" name="形状 17"/>
          <p:cNvSpPr/>
          <p:nvPr/>
        </p:nvSpPr>
        <p:spPr>
          <a:xfrm>
            <a:off x="3346450" y="2050951"/>
            <a:ext cx="11430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8" name="文字 18"/>
          <p:cNvSpPr txBox="1"/>
          <p:nvPr/>
        </p:nvSpPr>
        <p:spPr>
          <a:xfrm>
            <a:off x="3561259" y="2063651"/>
            <a:ext cx="72598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 后核对</a:t>
            </a:r>
            <a:endParaRPr/>
          </a:p>
        </p:txBody>
      </p:sp>
      <p:sp>
        <p:nvSpPr>
          <p:cNvPr id="19" name="形状 19"/>
          <p:cNvSpPr/>
          <p:nvPr/>
        </p:nvSpPr>
        <p:spPr>
          <a:xfrm>
            <a:off x="455295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5508625" y="1860451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5107682" y="2109292"/>
            <a:ext cx="1728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out_trade_no + resource_id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965700" y="229592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价格、请求摘要、结果与履约状态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457200" y="2959001"/>
            <a:ext cx="527784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核对当前订单买的是什么，再决定是否执行。active=true 不能代替业务关联和并发控制。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3181251"/>
            <a:ext cx="2324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生成结果与履约回执分开持久化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9429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571500" y="393174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本地订单与签名报价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889178" y="3932668"/>
            <a:ext cx="380894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1844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2733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7590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已验付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520950" y="3931741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已匹配本次购买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3708400" y="3932668"/>
            <a:ext cx="374650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0005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089400" y="3568601"/>
            <a:ext cx="165100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4238030" y="3682901"/>
            <a:ext cx="136644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PENDING_CONFIRM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4314825" y="391527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唯一结果已持久保存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5746859" y="3932668"/>
            <a:ext cx="364961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9" name="文字 39"/>
          <p:cNvSpPr/>
          <p:nvPr/>
        </p:nvSpPr>
        <p:spPr>
          <a:xfrm rot="5400000">
            <a:off x="602615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6115050" y="3568601"/>
            <a:ext cx="12636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6375797" y="3682901"/>
            <a:ext cx="754758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FULFILLED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346825" y="391527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回执确认完成</a:t>
            </a:r>
            <a:endParaRPr/>
          </a:p>
        </p:txBody>
      </p:sp>
      <p:cxnSp>
        <p:nvCxnSpPr>
          <p:cNvPr id="43" name="Editable line 43"/>
          <p:cNvCxnSpPr/>
          <p:nvPr/>
        </p:nvCxnSpPr>
        <p:spPr>
          <a:xfrm>
            <a:off x="4920192" y="4282976"/>
            <a:ext cx="0" cy="36830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44" name="文字 44"/>
          <p:cNvSpPr/>
          <p:nvPr/>
        </p:nvSpPr>
        <p:spPr>
          <a:xfrm rot="10800000">
            <a:off x="4876800" y="45782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3556000" y="4654451"/>
            <a:ext cx="27178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4229100" y="47687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回执失败或状态未知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3914775" y="50175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恢复同一订单，按错误码核实状态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273800" y="4679851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确认成功后转入最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273800" y="4848721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终完成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57200" y="4800501"/>
            <a:ext cx="1387475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重试回执 / 读已有结果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57200" y="4996061"/>
            <a:ext cx="22479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不重新生成，也不直接要求再付一次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397401"/>
            <a:ext cx="383807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这是 alipay/ai 当前模板的本地状态抽象，数据库事务和幂等端口仍需商户实现。</a:t>
            </a:r>
            <a:endParaRPr/>
          </a:p>
        </p:txBody>
      </p:sp>
      <p:cxnSp>
        <p:nvCxnSpPr>
          <p:cNvPr id="53" name="Editable line 53"/>
          <p:cNvCxnSpPr/>
          <p:nvPr/>
        </p:nvCxnSpPr>
        <p:spPr>
          <a:xfrm>
            <a:off x="7610565" y="1371688"/>
            <a:ext cx="0" cy="4209863"/>
          </a:xfrm>
          <a:prstGeom prst="line">
            <a:avLst/>
          </a:prstGeom>
          <a:ln w="6339" cap="flat">
            <a:solidFill>
              <a:srgbClr val="D8DCE1"/>
            </a:solidFill>
            <a:prstDash val="solid"/>
          </a:ln>
        </p:spPr>
      </p:cxnSp>
      <p:sp>
        <p:nvSpPr>
          <p:cNvPr id="54" name="文字 54"/>
          <p:cNvSpPr txBox="1"/>
          <p:nvPr/>
        </p:nvSpPr>
        <p:spPr>
          <a:xfrm>
            <a:off x="7791450" y="13778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业务请求也要固定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791450" y="1649313"/>
            <a:ext cx="38620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示例 resource_id 可以只是路径。同一路径接收不同 prompt 或文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791450" y="1846659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件时，商户还应绑定请求摘要和购买范围。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791450" y="2183706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网络失败先恢复原单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791450" y="245516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回执待确认已有业务结果，应重试确认或取存量结果。支付状态未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791450" y="2652514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知不应直接创建新订单要求再买。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791450" y="2989560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回执确认与资金结算分开理解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791450" y="3261023"/>
            <a:ext cx="38741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fulfillment.confirm 的含义是“商家履约回执”。公共接口没有公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791450" y="3458369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开其与资金释放、退款的完整内部条件。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791450" y="379541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过期与重试策略需按版本核对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791450" y="4066878"/>
            <a:ext cx="39138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当前模板和 ACT 映射例的截止检查、回执顺序不同；重复确认也可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791450" y="4264224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能返回交易状态错误。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457200" y="5696546"/>
            <a:ext cx="2544465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SkillPay：经营商品权益和知识交付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决定买断文件、订阅期限、试用、版本和云端原文保护；有效权益下的使用不等于每次重新购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6165354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买。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6210300" y="5696546"/>
            <a:ext cx="333424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MachinePay：让资源请求具备收款与验付协议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103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商户签报价，支付宝付款与验付，商户承担业务绑定、幂等和交付。两者复用支付能力，不宜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10300" y="616535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推定全部流量走同一内部链路。</a:t>
            </a:r>
            <a:endParaRPr/>
          </a:p>
        </p:txBody>
      </p:sp>
      <p:pic>
        <p:nvPicPr>
          <p:cNvPr id="74" name="slide-004-image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阿里把 Agent 支付拆成两层：SkillPay 卖商品，MachinePay 卖调用</a:t>
            </a:r>
            <a:endParaRPr/>
          </a:p>
        </p:txBody>
      </p:sp>
      <p:pic>
        <p:nvPicPr>
          <p:cNvPr id="9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3091"/>
            <a:ext cx="3759200" cy="400050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1258491"/>
            <a:ext cx="62577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80741"/>
            <a:ext cx="161567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绑定 · 逐笔授权 · 风控/结算</a:t>
            </a:r>
            <a:endParaRPr/>
          </a:p>
        </p:txBody>
      </p:sp>
      <p:pic>
        <p:nvPicPr>
          <p:cNvPr id="12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233091"/>
            <a:ext cx="3759200" cy="400050"/>
          </a:xfrm>
          <a:prstGeom prst="rect">
            <a:avLst/>
          </a:prstGeom>
        </p:spPr>
      </p:pic>
      <p:sp>
        <p:nvSpPr>
          <p:cNvPr id="13" name="文字 13"/>
          <p:cNvSpPr txBox="1"/>
          <p:nvPr/>
        </p:nvSpPr>
        <p:spPr>
          <a:xfrm>
            <a:off x="4343400" y="1258491"/>
            <a:ext cx="58926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4343400" y="1480741"/>
            <a:ext cx="15016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 · 定价 · 交付 · 退款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02600" y="1258491"/>
            <a:ext cx="87768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102600" y="1480741"/>
            <a:ext cx="187523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· 按量 · verify · fulfillment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1849041"/>
            <a:ext cx="145315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· 商品层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5314950" y="1906191"/>
            <a:ext cx="6985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卖“交付权”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57200" y="2103041"/>
            <a:ext cx="260846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Skill 做成可定价、可试用、可退款的商品。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293541"/>
            <a:ext cx="5543550" cy="50542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4572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749300" y="2369741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创作者上架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749300" y="2564011"/>
            <a:ext cx="371058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 → 商品页；签署 SkillPay + AI 按量付费协议</a:t>
            </a:r>
            <a:endParaRPr/>
          </a:p>
        </p:txBody>
      </p:sp>
      <p:pic>
        <p:nvPicPr>
          <p:cNvPr id="24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798961"/>
            <a:ext cx="5543550" cy="505420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4572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749300" y="287516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买家购买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069431"/>
            <a:ext cx="215830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任务中触发 → 支付宝确认 → 获得权益</a:t>
            </a:r>
            <a:endParaRPr/>
          </a:p>
        </p:txBody>
      </p:sp>
      <p:pic>
        <p:nvPicPr>
          <p:cNvPr id="28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3304381"/>
            <a:ext cx="5543550" cy="505420"/>
          </a:xfrm>
          <a:prstGeom prst="rect">
            <a:avLst/>
          </a:prstGeom>
        </p:spPr>
      </p:pic>
      <p:sp>
        <p:nvSpPr>
          <p:cNvPr id="29" name="文字 29"/>
          <p:cNvSpPr txBox="1"/>
          <p:nvPr/>
        </p:nvSpPr>
        <p:spPr>
          <a:xfrm>
            <a:off x="4572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7493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749300" y="3574852"/>
            <a:ext cx="306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一次性交付完整源码；周期订阅走云端保护，不交明文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749300" y="388600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资金与退款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749300" y="4080272"/>
            <a:ext cx="255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</a:t>
            </a:r>
            <a:endParaRPr/>
          </a:p>
        </p:txBody>
      </p:sp>
      <p:pic>
        <p:nvPicPr>
          <p:cNvPr id="35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823641"/>
            <a:ext cx="5543551" cy="3304679"/>
          </a:xfrm>
          <a:prstGeom prst="rect">
            <a:avLst/>
          </a:prstGeom>
        </p:spPr>
      </p:pic>
      <p:sp>
        <p:nvSpPr>
          <p:cNvPr id="36" name="文字 36"/>
          <p:cNvSpPr txBox="1"/>
          <p:nvPr/>
        </p:nvSpPr>
        <p:spPr>
          <a:xfrm>
            <a:off x="6375400" y="1849041"/>
            <a:ext cx="1791792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· 协议层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10934700" y="1906191"/>
            <a:ext cx="8128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卖“按量调用”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375400" y="2103041"/>
            <a:ext cx="280431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 API 调用链路里完成报价、支付、验单与履约。</a:t>
            </a:r>
            <a:endParaRPr/>
          </a:p>
        </p:txBody>
      </p:sp>
      <p:pic>
        <p:nvPicPr>
          <p:cNvPr id="39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75400" y="2293541"/>
            <a:ext cx="5359401" cy="505420"/>
          </a:xfrm>
          <a:prstGeom prst="rect">
            <a:avLst/>
          </a:prstGeom>
        </p:spPr>
      </p:pic>
      <p:sp>
        <p:nvSpPr>
          <p:cNvPr id="40" name="文字 40"/>
          <p:cNvSpPr txBox="1"/>
          <p:nvPr/>
        </p:nvSpPr>
        <p:spPr>
          <a:xfrm>
            <a:off x="63754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667500" y="236974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商家报价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667500" y="2564011"/>
            <a:ext cx="288597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 Payment-Proof → 402 + Payment-Needed 账单</a:t>
            </a:r>
            <a:endParaRPr/>
          </a:p>
        </p:txBody>
      </p:sp>
      <p:pic>
        <p:nvPicPr>
          <p:cNvPr id="43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5400" y="2798961"/>
            <a:ext cx="5359401" cy="505420"/>
          </a:xfrm>
          <a:prstGeom prst="rect">
            <a:avLst/>
          </a:prstGeom>
        </p:spPr>
      </p:pic>
      <p:sp>
        <p:nvSpPr>
          <p:cNvPr id="44" name="文字 44"/>
          <p:cNvSpPr txBox="1"/>
          <p:nvPr/>
        </p:nvSpPr>
        <p:spPr>
          <a:xfrm>
            <a:off x="63754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667500" y="2875161"/>
            <a:ext cx="722809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支付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6667500" y="3069431"/>
            <a:ext cx="214421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付钱包付款 → 拿到 Payment-Proof</a:t>
            </a:r>
            <a:endParaRPr/>
          </a:p>
        </p:txBody>
      </p:sp>
      <p:pic>
        <p:nvPicPr>
          <p:cNvPr id="47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75400" y="3304381"/>
            <a:ext cx="5359401" cy="50542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63754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6675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商家验单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667500" y="3574852"/>
            <a:ext cx="2161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verify：active/金额/订单/资源/防重放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63754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667500" y="3886002"/>
            <a:ext cx="71120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交付与结算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6667500" y="4080272"/>
            <a:ext cx="233501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返回资源 → 履约回执 → 支付宝收单/结算</a:t>
            </a:r>
            <a:endParaRPr/>
          </a:p>
        </p:txBody>
      </p:sp>
      <p:pic>
        <p:nvPicPr>
          <p:cNvPr id="54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191820"/>
            <a:ext cx="3683000" cy="373360"/>
          </a:xfrm>
          <a:prstGeom prst="rect">
            <a:avLst/>
          </a:prstGeom>
        </p:spPr>
      </p:pic>
      <p:sp>
        <p:nvSpPr>
          <p:cNvPr id="55" name="文字 55"/>
          <p:cNvSpPr txBox="1"/>
          <p:nvPr/>
        </p:nvSpPr>
        <p:spPr>
          <a:xfrm>
            <a:off x="4572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商品层：信任与交付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57200" y="5426770"/>
            <a:ext cx="2322016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定价、试用、安全检测、源码/云端交付、退款。</a:t>
            </a:r>
            <a:endParaRPr/>
          </a:p>
        </p:txBody>
      </p:sp>
      <p:pic>
        <p:nvPicPr>
          <p:cNvPr id="57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54500" y="5191820"/>
            <a:ext cx="3683000" cy="373360"/>
          </a:xfrm>
          <a:prstGeom prst="rect">
            <a:avLst/>
          </a:prstGeom>
        </p:spPr>
      </p:pic>
      <p:sp>
        <p:nvSpPr>
          <p:cNvPr id="58" name="文字 58"/>
          <p:cNvSpPr txBox="1"/>
          <p:nvPr/>
        </p:nvSpPr>
        <p:spPr>
          <a:xfrm>
            <a:off x="4254500" y="5261670"/>
            <a:ext cx="1219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协议层：机器可读计价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254500" y="5426770"/>
            <a:ext cx="21717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每次调用报价、支付凭证、验单、履约回执。</a:t>
            </a:r>
            <a:endParaRPr/>
          </a:p>
        </p:txBody>
      </p:sp>
      <p:pic>
        <p:nvPicPr>
          <p:cNvPr id="60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51800" y="5191820"/>
            <a:ext cx="3683000" cy="373360"/>
          </a:xfrm>
          <a:prstGeom prst="rect">
            <a:avLst/>
          </a:prstGeom>
        </p:spPr>
      </p:pic>
      <p:sp>
        <p:nvSpPr>
          <p:cNvPr id="61" name="文字 61"/>
          <p:cNvSpPr txBox="1"/>
          <p:nvPr/>
        </p:nvSpPr>
        <p:spPr>
          <a:xfrm>
            <a:off x="80518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共同底座：钱怎么付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8051800" y="5426770"/>
            <a:ext cx="175339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付钱包、逐笔授权、风控与结算。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45720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CFCFD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558800" y="5730280"/>
            <a:ext cx="145762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MachinePay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558800" y="5927130"/>
            <a:ext cx="500350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查一次钢材价格：GET API → 示例报价 0.01 元 → 用户确认 → 返回行情；按次收费，不买断。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616585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67450" y="5730280"/>
            <a:ext cx="120679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SkillPay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267450" y="5927130"/>
            <a:ext cx="495716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买一个行业研究 Skill：示例 99 元买断 / 19 元每月订阅 → 源码或云端 → 在 Agent 里反复用。</a:t>
            </a:r>
            <a:endParaRPr/>
          </a:p>
        </p:txBody>
      </p:sp>
      <p:sp>
        <p:nvSpPr>
          <p:cNvPr id="69" name="形状 69"/>
          <p:cNvSpPr/>
          <p:nvPr/>
        </p:nvSpPr>
        <p:spPr>
          <a:xfrm>
            <a:off x="457200" y="6242050"/>
            <a:ext cx="11277600" cy="336550"/>
          </a:xfrm>
          <a:prstGeom prst="roundRect">
            <a:avLst>
              <a:gd name="adj" fmla="val 15094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577850" y="6337300"/>
            <a:ext cx="52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1174750" y="6337300"/>
            <a:ext cx="692606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用户/Agent → AI 付钱包（绑定、逐笔授权）→ 402 账单/凭证 → 商家或开发者账户；支付链接约 5 分钟，账单 RSA2 签名。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SkillPay：把 Skill 变成可定价、可交付、可退款的产品</a:t>
            </a:r>
            <a:endParaRPr/>
          </a:p>
        </p:txBody>
      </p:sp>
      <p:sp>
        <p:nvSpPr>
          <p:cNvPr id="8" name="文字 8"/>
          <p:cNvSpPr txBox="1"/>
          <p:nvPr/>
        </p:nvSpPr>
        <p:spPr>
          <a:xfrm>
            <a:off x="457200" y="1154311"/>
            <a:ext cx="17298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从上传到退款：5 个环节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389261"/>
            <a:ext cx="23050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平台做审核与交付，开发者做定价与售后。</a:t>
            </a:r>
            <a:endParaRPr/>
          </a:p>
        </p:txBody>
      </p:sp>
      <p:pic>
        <p:nvPicPr>
          <p:cNvPr id="10" name="slide-002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79761"/>
            <a:ext cx="5654377" cy="505420"/>
          </a:xfrm>
          <a:prstGeom prst="rect">
            <a:avLst/>
          </a:prstGeom>
        </p:spPr>
      </p:pic>
      <p:sp>
        <p:nvSpPr>
          <p:cNvPr id="11" name="文字 11"/>
          <p:cNvSpPr txBox="1"/>
          <p:nvPr/>
        </p:nvSpPr>
        <p:spPr>
          <a:xfrm>
            <a:off x="457200" y="16432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749300" y="165596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749300" y="1850231"/>
            <a:ext cx="426839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安全检测/风险扫描 → 商品页；签署 SkillPay + AI 按量付费协议</a:t>
            </a:r>
            <a:endParaRPr/>
          </a:p>
        </p:txBody>
      </p:sp>
      <p:pic>
        <p:nvPicPr>
          <p:cNvPr id="14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85181"/>
            <a:ext cx="5654377" cy="505420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457200" y="21486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749300" y="216138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749300" y="2355652"/>
            <a:ext cx="314682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/ 周期订阅 / 免费试用；周期付费不自动续费</a:t>
            </a:r>
            <a:endParaRPr/>
          </a:p>
        </p:txBody>
      </p:sp>
      <p:pic>
        <p:nvPicPr>
          <p:cNvPr id="18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90602"/>
            <a:ext cx="5654377" cy="50542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26541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749300" y="266680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触发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749300" y="2861072"/>
            <a:ext cx="305464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任务中无有效权益 → 402/支付要求 → 用户支付宝确认</a:t>
            </a:r>
            <a:endParaRPr/>
          </a:p>
        </p:txBody>
      </p:sp>
      <p:pic>
        <p:nvPicPr>
          <p:cNvPr id="2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096022"/>
            <a:ext cx="5654377" cy="505420"/>
          </a:xfrm>
          <a:prstGeom prst="rect">
            <a:avLst/>
          </a:prstGeom>
        </p:spPr>
      </p:pic>
      <p:sp>
        <p:nvSpPr>
          <p:cNvPr id="23" name="文字 23"/>
          <p:cNvSpPr txBox="1"/>
          <p:nvPr/>
        </p:nvSpPr>
        <p:spPr>
          <a:xfrm>
            <a:off x="457200" y="315952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749300" y="317222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749300" y="3366492"/>
            <a:ext cx="344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一次性交付完整源码；订阅走云端保护，只返回任务执行文本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457200" y="366494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05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67764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结算与退款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749300" y="3871913"/>
            <a:ext cx="382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成交即到账开发者支付宝；退款由开发者发起，周期订单整单全额退</a:t>
            </a:r>
            <a:endParaRPr/>
          </a:p>
        </p:txBody>
      </p:sp>
      <p:pic>
        <p:nvPicPr>
          <p:cNvPr id="29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010150"/>
            <a:ext cx="5654377" cy="393700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457200" y="5092700"/>
            <a:ext cx="122108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安装链路：seller proxy 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665585" y="5092700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488605" y="5092700"/>
            <a:ext cx="15375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支付待确认 → 查询状态 → 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013498" y="5092700"/>
            <a:ext cx="117861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5179417" y="5092700"/>
            <a:ext cx="79444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安全下载/解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5257800"/>
            <a:ext cx="5147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压/安装。</a:t>
            </a:r>
            <a:endParaRPr/>
          </a:p>
        </p:txBody>
      </p:sp>
      <p:pic>
        <p:nvPicPr>
          <p:cNvPr id="36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077" y="1128911"/>
            <a:ext cx="5432723" cy="4274939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486228" y="1154311"/>
            <a:ext cx="231854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两种交付：源码买断 vs 云端订阅</a:t>
            </a:r>
            <a:endParaRPr/>
          </a:p>
        </p:txBody>
      </p:sp>
      <p:sp>
        <p:nvSpPr>
          <p:cNvPr id="38" name="形状 38"/>
          <p:cNvSpPr/>
          <p:nvPr/>
        </p:nvSpPr>
        <p:spPr>
          <a:xfrm>
            <a:off x="6486228" y="1408311"/>
            <a:ext cx="5248573" cy="565150"/>
          </a:xfrm>
          <a:prstGeom prst="roundRect">
            <a:avLst>
              <a:gd name="adj" fmla="val 8989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文字 39"/>
          <p:cNvSpPr txBox="1"/>
          <p:nvPr/>
        </p:nvSpPr>
        <p:spPr>
          <a:xfrm>
            <a:off x="6594177" y="1516261"/>
            <a:ext cx="7429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7324428" y="1541661"/>
            <a:ext cx="56138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ONE-TIME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594177" y="1725811"/>
            <a:ext cx="424061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 → 完整 Skill 源码 zip → 本地安装 → Agent 直接执行；适合永久使用。</a:t>
            </a:r>
            <a:endParaRPr/>
          </a:p>
        </p:txBody>
      </p:sp>
      <p:sp>
        <p:nvSpPr>
          <p:cNvPr id="42" name="形状 42"/>
          <p:cNvSpPr/>
          <p:nvPr/>
        </p:nvSpPr>
        <p:spPr>
          <a:xfrm>
            <a:off x="6486228" y="2036961"/>
            <a:ext cx="5248573" cy="565150"/>
          </a:xfrm>
          <a:prstGeom prst="roundRect">
            <a:avLst>
              <a:gd name="adj" fmla="val 8989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文字 43"/>
          <p:cNvSpPr txBox="1"/>
          <p:nvPr/>
        </p:nvSpPr>
        <p:spPr>
          <a:xfrm>
            <a:off x="6594177" y="2144911"/>
            <a:ext cx="6032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周期订阅 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7184727" y="2170311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SUBSCRIPTION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594177" y="2354461"/>
            <a:ext cx="495230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支付周期 → 获得云端使用权 → 每次调用返回任务执行文本；不交付明文，不自动续费。</a:t>
            </a:r>
            <a:endParaRPr/>
          </a:p>
        </p:txBody>
      </p:sp>
      <p:pic>
        <p:nvPicPr>
          <p:cNvPr id="4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86228" y="2678311"/>
            <a:ext cx="5248573" cy="577850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594177" y="2697361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云端保护：保护的是“方法”，不是答案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594177" y="2906911"/>
            <a:ext cx="509270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原文隔离在云；按任务最小披露；防角色扮演、指令覆盖、编码转换与多轮套取。不是绝对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594177" y="3091061"/>
            <a:ext cx="179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安全，是提高批量复制的成本。</a:t>
            </a:r>
            <a:endParaRPr/>
          </a:p>
        </p:txBody>
      </p:sp>
      <p:pic>
        <p:nvPicPr>
          <p:cNvPr id="5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6228" y="3319661"/>
            <a:ext cx="5248573" cy="4000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6486228" y="338951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商品页要写清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486228" y="3573661"/>
            <a:ext cx="337958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 · 免费试用 · 交付方式（源码/云端）· 退款规则 · 适用宿主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6486228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65370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0259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6" name="形状 56"/>
          <p:cNvSpPr/>
          <p:nvPr/>
        </p:nvSpPr>
        <p:spPr>
          <a:xfrm>
            <a:off x="7159327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72101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任务请求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6990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78324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78832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最小披露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3721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85055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85563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</a:t>
            </a:r>
            <a:endParaRPr/>
          </a:p>
        </p:txBody>
      </p:sp>
      <p:pic>
        <p:nvPicPr>
          <p:cNvPr id="64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86228" y="5175250"/>
            <a:ext cx="5248573" cy="228600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6486228" y="5251450"/>
            <a:ext cx="439608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支持宿主：WorkBuddy、豆包工作、千问办公、Cursor、Codex、Claude Code。</a:t>
            </a:r>
            <a:endParaRPr/>
          </a:p>
        </p:txBody>
      </p:sp>
      <p:pic>
        <p:nvPicPr>
          <p:cNvPr id="66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5467350"/>
            <a:ext cx="11277600" cy="641350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543550"/>
            <a:ext cx="223966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购买/安装链路：卖家 proxy + alipay-bot</a:t>
            </a:r>
            <a:endParaRPr/>
          </a:p>
        </p:txBody>
      </p:sp>
      <p:pic>
        <p:nvPicPr>
          <p:cNvPr id="68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727700"/>
            <a:ext cx="1578372" cy="381000"/>
          </a:xfrm>
          <a:prstGeom prst="rect">
            <a:avLst/>
          </a:prstGeom>
        </p:spPr>
      </p:pic>
      <p:sp>
        <p:nvSpPr>
          <p:cNvPr id="69" name="文字 69"/>
          <p:cNvSpPr txBox="1"/>
          <p:nvPr/>
        </p:nvSpPr>
        <p:spPr>
          <a:xfrm>
            <a:off x="501650" y="5791200"/>
            <a:ext cx="3175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501650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价格/试用</a:t>
            </a:r>
            <a:endParaRPr/>
          </a:p>
        </p:txBody>
      </p:sp>
      <p:pic>
        <p:nvPicPr>
          <p:cNvPr id="71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73672" y="5727700"/>
            <a:ext cx="1578471" cy="381000"/>
          </a:xfrm>
          <a:prstGeom prst="rect">
            <a:avLst/>
          </a:prstGeom>
        </p:spPr>
      </p:pic>
      <p:sp>
        <p:nvSpPr>
          <p:cNvPr id="72" name="文字 72"/>
          <p:cNvSpPr txBox="1"/>
          <p:nvPr/>
        </p:nvSpPr>
        <p:spPr>
          <a:xfrm>
            <a:off x="2118122" y="5791200"/>
            <a:ext cx="63063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2118122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幂等下单</a:t>
            </a:r>
            <a:endParaRPr/>
          </a:p>
        </p:txBody>
      </p:sp>
      <p:pic>
        <p:nvPicPr>
          <p:cNvPr id="74" name="slide-002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90243" y="5727700"/>
            <a:ext cx="1578372" cy="381000"/>
          </a:xfrm>
          <a:prstGeom prst="rect">
            <a:avLst/>
          </a:prstGeom>
        </p:spPr>
      </p:pic>
      <p:sp>
        <p:nvSpPr>
          <p:cNvPr id="75" name="文字 75"/>
          <p:cNvSpPr txBox="1"/>
          <p:nvPr/>
        </p:nvSpPr>
        <p:spPr>
          <a:xfrm>
            <a:off x="3734693" y="57912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支付待确认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3734693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订单/链接</a:t>
            </a:r>
            <a:endParaRPr/>
          </a:p>
        </p:txBody>
      </p:sp>
      <p:pic>
        <p:nvPicPr>
          <p:cNvPr id="77" name="slide-002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06715" y="5727700"/>
            <a:ext cx="1578471" cy="381000"/>
          </a:xfrm>
          <a:prstGeom prst="rect">
            <a:avLst/>
          </a:prstGeom>
        </p:spPr>
      </p:pic>
      <p:sp>
        <p:nvSpPr>
          <p:cNvPr id="78" name="文字 78"/>
          <p:cNvSpPr txBox="1"/>
          <p:nvPr/>
        </p:nvSpPr>
        <p:spPr>
          <a:xfrm>
            <a:off x="5351165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用户支付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5351165" y="59436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支付宝确认</a:t>
            </a:r>
            <a:endParaRPr/>
          </a:p>
        </p:txBody>
      </p:sp>
      <p:pic>
        <p:nvPicPr>
          <p:cNvPr id="80" name="slide-002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23286" y="5727700"/>
            <a:ext cx="1578372" cy="3810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6967736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查询状态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6967736" y="5943600"/>
            <a:ext cx="520701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原订单恢复</a:t>
            </a:r>
            <a:endParaRPr/>
          </a:p>
        </p:txBody>
      </p:sp>
      <p:pic>
        <p:nvPicPr>
          <p:cNvPr id="83" name="slide-002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39758" y="5727700"/>
            <a:ext cx="1578472" cy="381000"/>
          </a:xfrm>
          <a:prstGeom prst="rect">
            <a:avLst/>
          </a:prstGeom>
        </p:spPr>
      </p:pic>
      <p:sp>
        <p:nvSpPr>
          <p:cNvPr id="84" name="文字 84"/>
          <p:cNvSpPr txBox="1"/>
          <p:nvPr/>
        </p:nvSpPr>
        <p:spPr>
          <a:xfrm>
            <a:off x="8584208" y="5791200"/>
            <a:ext cx="87421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8584208" y="5943600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唯一下载地址</a:t>
            </a:r>
            <a:endParaRPr/>
          </a:p>
        </p:txBody>
      </p:sp>
      <p:pic>
        <p:nvPicPr>
          <p:cNvPr id="86" name="slide-002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156329" y="5727700"/>
            <a:ext cx="1578372" cy="381000"/>
          </a:xfrm>
          <a:prstGeom prst="rect">
            <a:avLst/>
          </a:prstGeom>
        </p:spPr>
      </p:pic>
      <p:sp>
        <p:nvSpPr>
          <p:cNvPr id="87" name="文字 87"/>
          <p:cNvSpPr txBox="1"/>
          <p:nvPr/>
        </p:nvSpPr>
        <p:spPr>
          <a:xfrm>
            <a:off x="10200779" y="5791200"/>
            <a:ext cx="45849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下载/解压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10200779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安装验证</a:t>
            </a:r>
            <a:endParaRPr/>
          </a:p>
        </p:txBody>
      </p:sp>
      <p:pic>
        <p:nvPicPr>
          <p:cNvPr id="89" name="slide-002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6184900"/>
            <a:ext cx="11277600" cy="393700"/>
          </a:xfrm>
          <a:prstGeom prst="rect">
            <a:avLst/>
          </a:prstGeom>
        </p:spPr>
      </p:pic>
      <p:sp>
        <p:nvSpPr>
          <p:cNvPr id="90" name="文字 90"/>
          <p:cNvSpPr txBox="1"/>
          <p:nvPr/>
        </p:nvSpPr>
        <p:spPr>
          <a:xfrm>
            <a:off x="457200" y="6267450"/>
            <a:ext cx="4949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支付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329882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云端交付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3298825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提供能力、不交原文</a:t>
            </a:r>
            <a:endParaRPr/>
          </a:p>
        </p:txBody>
      </p:sp>
      <p:sp>
        <p:nvSpPr>
          <p:cNvPr id="94" name="文字 94"/>
          <p:cNvSpPr txBox="1"/>
          <p:nvPr/>
        </p:nvSpPr>
        <p:spPr>
          <a:xfrm>
            <a:off x="6140450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安全保护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6140450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降低套取与复制风险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898207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商业经营</a:t>
            </a:r>
            <a:endParaRPr/>
          </a:p>
        </p:txBody>
      </p:sp>
      <p:sp>
        <p:nvSpPr>
          <p:cNvPr id="97" name="文字 97"/>
          <p:cNvSpPr txBox="1"/>
          <p:nvPr/>
        </p:nvSpPr>
        <p:spPr>
          <a:xfrm>
            <a:off x="8982075" y="6438900"/>
            <a:ext cx="8763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试用、订阅与履约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68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MachinePay：用 402 把每次 API 调用变成一笔可验证的交易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022350"/>
            <a:ext cx="1787327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39750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报价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908645" y="1066800"/>
            <a:ext cx="12660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402 + Payment-Needed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2308027" y="1022350"/>
            <a:ext cx="1602780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2390577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付款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759472" y="1066800"/>
            <a:ext cx="108148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AI 付钱包 + 用户确认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3974306" y="1022350"/>
            <a:ext cx="1523405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4056856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验单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425752" y="1066800"/>
            <a:ext cx="100211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verify + fulfillment</a:t>
            </a:r>
            <a:endParaRPr/>
          </a:p>
        </p:txBody>
      </p:sp>
      <p:pic>
        <p:nvPicPr>
          <p:cNvPr id="17" name="slide-003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94669"/>
            <a:ext cx="11277600" cy="3449539"/>
          </a:xfrm>
          <a:prstGeom prst="rect">
            <a:avLst/>
          </a:prstGeom>
        </p:spPr>
      </p:pic>
      <p:pic>
        <p:nvPicPr>
          <p:cNvPr id="18" name="slide-003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788025"/>
            <a:ext cx="11277600" cy="803275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5864225"/>
            <a:ext cx="17619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Payment-Needed（商家报价）</a:t>
            </a:r>
            <a:endParaRPr/>
          </a:p>
        </p:txBody>
      </p:sp>
      <p:sp>
        <p:nvSpPr>
          <p:cNvPr id="20" name="形状 20"/>
          <p:cNvSpPr/>
          <p:nvPr/>
        </p:nvSpPr>
        <p:spPr>
          <a:xfrm>
            <a:off x="457200" y="6035675"/>
            <a:ext cx="5791696" cy="361950"/>
          </a:xfrm>
          <a:prstGeom prst="roundRect">
            <a:avLst>
              <a:gd name="adj" fmla="val 7018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514350" y="6080125"/>
            <a:ext cx="50419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protocol: out_trade_no / amount / currency / resource_id / pay_before / seller_signature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6388596" y="5864225"/>
            <a:ext cx="209897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 + verify（买家凭证）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6388596" y="6035675"/>
            <a:ext cx="5346105" cy="219075"/>
          </a:xfrm>
          <a:prstGeom prst="roundRect">
            <a:avLst>
              <a:gd name="adj" fmla="val 11594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45746" y="6080125"/>
            <a:ext cx="23558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payment_proof / trade_no / client_session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6388596" y="6292850"/>
            <a:ext cx="5350471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active=true · amount · out_trade_no · resource_id · trade_no 未重放 · pay_before；失败→402，成功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6388596" y="6451600"/>
            <a:ext cx="1459508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→200 + fulfillment.confirm。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vs MachinePay：商品化与计费化的分工</a:t>
            </a:r>
            <a:endParaRPr/>
          </a:p>
        </p:txBody>
      </p:sp>
      <p:graphicFrame>
        <p:nvGraphicFramePr>
          <p:cNvPr id="8" name="表格 8"/>
          <p:cNvGraphicFramePr/>
          <p:nvPr/>
        </p:nvGraphicFramePr>
        <p:xfrm>
          <a:off x="457200" y="1116211"/>
          <a:ext cx="11277600" cy="1890613"/>
        </p:xfrm>
        <a:graphic>
          <a:graphicData uri="http://schemas.openxmlformats.org/drawingml/2006/table">
            <a:tbl>
              <a:tblPr firstRow="0" bandRow="0"/>
              <a:tblGrid>
                <a:gridCol w="1689695"/>
                <a:gridCol w="4843860"/>
                <a:gridCol w="4731346"/>
              </a:tblGrid>
              <a:tr h="25717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维度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MachinePay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卖什么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 商品 / 权益（源码或云端使用权）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API、MCP、算力等按次调用的资源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计费单位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一次性买断 / 周期订阅 / 免费试用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每次调用独立定价，商家在 402 账单里报价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触发方式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任务中无有效权益 → 402 / 支付要求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无 Payment-Proof → 402 + Payment-Needed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交付物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完整源码 zip（买断）或云端执行文本（订阅）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 结果；支付后返回资源并回传履约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资金路径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成交即到账开发者支付宝；退款开发者发起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支付宝收单/结算到商家账户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信任机制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安全检测 + 云端保护 + 支付宝支付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RSA2 签名 + verify + 防重放 + 履约回执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425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关键风险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云端保护非绝对；退款靠协商；订阅不自动续费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金额/资源校验；结算/退款规则未公开；逐笔授权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pic>
        <p:nvPicPr>
          <p:cNvPr id="9" name="slide-004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89374"/>
            <a:ext cx="2733675" cy="713581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3305274"/>
            <a:ext cx="179020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是收费握手，不是支付本身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57200" y="3495774"/>
            <a:ext cx="268138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它让机器读懂价格；真正的支付仍由 AI 付钱包与用户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57200" y="3655715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确认完成。</a:t>
            </a:r>
            <a:endParaRPr/>
          </a:p>
        </p:txBody>
      </p:sp>
      <p:pic>
        <p:nvPicPr>
          <p:cNvPr id="14" name="slide-004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5175" y="3089374"/>
            <a:ext cx="2733675" cy="713581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3305175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3305175" y="3305274"/>
            <a:ext cx="130492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卖“交付权”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3305175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一次性源码或周期云端；核心是商品、试用、交付与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3305175" y="3655715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退款。</a:t>
            </a:r>
            <a:endParaRPr/>
          </a:p>
        </p:txBody>
      </p:sp>
      <p:pic>
        <p:nvPicPr>
          <p:cNvPr id="19" name="slide-004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150" y="3089374"/>
            <a:ext cx="2733675" cy="713581"/>
          </a:xfrm>
          <a:prstGeom prst="rect">
            <a:avLst/>
          </a:prstGeom>
        </p:spPr>
      </p:pic>
      <p:sp>
        <p:nvSpPr>
          <p:cNvPr id="20" name="文字 20"/>
          <p:cNvSpPr txBox="1"/>
          <p:nvPr/>
        </p:nvSpPr>
        <p:spPr>
          <a:xfrm>
            <a:off x="615315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6153150" y="3305274"/>
            <a:ext cx="16827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卖“按量调用”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6153150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商家自签账单、按次计价；验单后交付，履约回执闭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6153150" y="3655715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环。</a:t>
            </a:r>
            <a:endParaRPr/>
          </a:p>
        </p:txBody>
      </p:sp>
      <p:pic>
        <p:nvPicPr>
          <p:cNvPr id="24" name="slide-004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1125" y="3089374"/>
            <a:ext cx="2733676" cy="713581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9001125" y="3146524"/>
            <a:ext cx="127001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9001125" y="3305274"/>
            <a:ext cx="1028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壁垒在信任与结算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9001125" y="3495774"/>
            <a:ext cx="272940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钱包绑定、RSA2、防重放、退款/争议；自主支付仍靠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9001125" y="3655715"/>
            <a:ext cx="98425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委托支付（邀测）。</a:t>
            </a:r>
            <a:endParaRPr/>
          </a:p>
        </p:txBody>
      </p:sp>
      <p:pic>
        <p:nvPicPr>
          <p:cNvPr id="29" name="slide-004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79156"/>
            <a:ext cx="3683000" cy="516731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558800" y="3898206"/>
            <a:ext cx="85298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Skill 创作者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58800" y="4088706"/>
            <a:ext cx="33282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 + 试用 + 交付 + 退款；用云端保护守住核心方法，而不是只卖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558800" y="4248646"/>
            <a:ext cx="52863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Prompt。</a:t>
            </a:r>
            <a:endParaRPr/>
          </a:p>
        </p:txBody>
      </p:sp>
      <p:pic>
        <p:nvPicPr>
          <p:cNvPr id="33" name="slide-004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879156"/>
            <a:ext cx="3683000" cy="516731"/>
          </a:xfrm>
          <a:prstGeom prst="rect">
            <a:avLst/>
          </a:prstGeom>
        </p:spPr>
      </p:pic>
      <p:sp>
        <p:nvSpPr>
          <p:cNvPr id="34" name="文字 34"/>
          <p:cNvSpPr txBox="1"/>
          <p:nvPr/>
        </p:nvSpPr>
        <p:spPr>
          <a:xfrm>
            <a:off x="4356100" y="3898206"/>
            <a:ext cx="73749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API / 商家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356100" y="4088706"/>
            <a:ext cx="356899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402 当收费网关：先报价后交付；验单、防重放、履约回执一个不能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4356100" y="4248646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少。</a:t>
            </a:r>
            <a:endParaRPr/>
          </a:p>
        </p:txBody>
      </p:sp>
      <p:pic>
        <p:nvPicPr>
          <p:cNvPr id="37" name="slide-004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1800" y="3879156"/>
            <a:ext cx="3683000" cy="516731"/>
          </a:xfrm>
          <a:prstGeom prst="rect">
            <a:avLst/>
          </a:prstGeom>
        </p:spPr>
      </p:pic>
      <p:sp>
        <p:nvSpPr>
          <p:cNvPr id="38" name="文字 38"/>
          <p:cNvSpPr txBox="1"/>
          <p:nvPr/>
        </p:nvSpPr>
        <p:spPr>
          <a:xfrm>
            <a:off x="8153400" y="3898206"/>
            <a:ext cx="81409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Agent 平台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8153400" y="4088706"/>
            <a:ext cx="353208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 + 逐笔授权 + 限额/委托 + 退款/争议；自主支付不是“静默扣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8153400" y="4248646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款”。</a:t>
            </a:r>
            <a:endParaRPr/>
          </a:p>
        </p:txBody>
      </p:sp>
      <p:pic>
        <p:nvPicPr>
          <p:cNvPr id="41" name="slide-004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4472087"/>
            <a:ext cx="3683000" cy="436860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5588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账单即协议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558800" y="4719737"/>
            <a:ext cx="2723654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价格、资源、过期时间与签名写进 402 响应，机器可读。</a:t>
            </a:r>
            <a:endParaRPr/>
          </a:p>
        </p:txBody>
      </p:sp>
      <p:pic>
        <p:nvPicPr>
          <p:cNvPr id="44" name="slide-004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54500" y="4472087"/>
            <a:ext cx="3683000" cy="436860"/>
          </a:xfrm>
          <a:prstGeom prst="rect">
            <a:avLst/>
          </a:prstGeom>
        </p:spPr>
      </p:pic>
      <p:sp>
        <p:nvSpPr>
          <p:cNvPr id="45" name="文字 45"/>
          <p:cNvSpPr txBox="1"/>
          <p:nvPr/>
        </p:nvSpPr>
        <p:spPr>
          <a:xfrm>
            <a:off x="43561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凭证即收据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356100" y="4719737"/>
            <a:ext cx="27114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一次一证、验单后交付、履约回执；防重放与重复履约。</a:t>
            </a:r>
            <a:endParaRPr/>
          </a:p>
        </p:txBody>
      </p:sp>
      <p:pic>
        <p:nvPicPr>
          <p:cNvPr id="47" name="slide-004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51800" y="4472087"/>
            <a:ext cx="3683000" cy="43686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81534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权益即商品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153400" y="4719737"/>
            <a:ext cx="236428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买断/订阅/试用都必须有明确交付物与退款出口。</a:t>
            </a:r>
            <a:endParaRPr/>
          </a:p>
        </p:txBody>
      </p:sp>
      <p:pic>
        <p:nvPicPr>
          <p:cNvPr id="50" name="slide-004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6356350"/>
            <a:ext cx="11277600" cy="2222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643255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待回答：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1028700" y="6432550"/>
            <a:ext cx="7433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平台佣金/费率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8736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退款与争议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25594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跨境与合规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3245247" y="6432550"/>
            <a:ext cx="91777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限额与责任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264620" y="6432550"/>
            <a:ext cx="7231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 质量评测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两个平台的商业化：阿里卖商品权益，腾讯连付费服务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87680" y="925830"/>
          <a:ext cx="12192000" cy="298323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06880"/>
                <a:gridCol w="5242560"/>
                <a:gridCol w="5242560"/>
              </a:tblGrid>
              <a:tr h="3771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维度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阿里：SkillPay + MachinePay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腾讯：SkillHub SkillPay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卖什么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商品/权益：买断源码、订阅云端；MachinePay 按次 API / MCP 资源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包负责发现与调用；远程服务按次收费，如 WorkRally 0.36 元/次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平台角色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商品化、试用/版本/权益、402 支付、云端保护、退款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企业认证、商户绑定、开发者签名、定价审核、分发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交易与履约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402 报价 → 付款凭证 → 验付 → 履约回执；商户做幂等与业务核对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微信订单 → AI 支付码 → payment_code → payment_id；商户验付后交付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收入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开发者定价、资金直达；平台费率未公开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平台技术服务费暂免；服务商从远程服务变现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值得借鉴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先定义购买权益与交付形态，再做试用、续购与持续更新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保留低门槛安装入口，把收费放在持续服务端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8768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398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阿里：商品经营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98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 / 订阅 / 试用 / 退款 + 402 验付；强在权益与交付；平台费率未公开。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350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腾讯：服务入口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350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免费包 + 远程按次 + 微信支付；强在分发与商户连接；平台技术服务费暂免。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302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共同待解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费率、结算、退款、质量；公开信息不足，需按协议核实；不要把示例当全量。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680" y="5589270"/>
            <a:ext cx="1121664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一句话：阿里把 Skill 变成商品，腾讯把 Skill 变成付费服务的入口。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680" y="593217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96" y="593217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阿里证明 Skill 可以商品化，腾讯证明 Skill 可以服务化；智果园要选一条能对账的路径。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对智果园的启示：补商业编排，而不是再堆资产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740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316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先定义卖什么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40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买断、订阅、按次三种形态并存；商品是权益，不是文件；先定 SKU、价格、许可与版本；试用、续购、更新要连成经营。先做一个可售 SKU 试点，再扩品类。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88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956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532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把交易接进任务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956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402/支付凭证/验付/履约，或微信支付码/回调；支付成功 ≠ 交付成功；重试不重复扣费；已付未交付可恢复。把支付、权益、履约写成状态机。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72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740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316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平台做可信中介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企业认证、开发者签名、版本/许可、退款/争议；上架补质量与收费测试；订单、收益、退款要能对账。把作者收益、退款、申诉产品化。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88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956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532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智果园的差异化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956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复用 AI 资产广场供给 + CodeArts Agent 宿主；先做行业标杆，不追规模；首期免费入口 + 付费远程能力。先用 3–5 个行业标杆验证。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720" y="4354830"/>
            <a:ext cx="11338560" cy="92583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4437126"/>
            <a:ext cx="1950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首期路径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发现 / 安装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 Skill 入口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279904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14016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绑定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4016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资产 / 版本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4084320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18432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试用 / 购买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18432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商品 / 订单 / 买家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888736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22847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服务端验权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22847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限额 / 有效期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693151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27264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执行 / 计量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27264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同一任务一次消费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497568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3168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交付 / 对账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168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恢复 / 补偿 / 售后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7680" y="5520690"/>
            <a:ext cx="112166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首期建议：免费 Skill 入口 + 付费远程能力，先跑通一条可对账的交易闭环。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80" y="5897880"/>
            <a:ext cx="11216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验收以付费任务履约为准：重复请求不重复扣费，已付未交付可恢复，退款与权益、账单一致。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魔搭 Skill 中心关键能力：两步发布、四路安装，试运行还停在通用实验场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891540"/>
            <a:ext cx="3535679" cy="2606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7408" y="994409"/>
            <a:ext cx="3657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3168" y="994409"/>
            <a:ext cx="12192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408" y="1220724"/>
            <a:ext cx="316992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两步 API，约束不少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7408" y="1453896"/>
            <a:ext cx="3169920" cy="1851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① 上传 zip → ② 创建 Skill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根目录只能有 1 个 SKILL.md，包 ≤5MB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name / owner 创建后不可改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GitHub 导入或本地 zip；审核状态不公开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没有独立 version 字段，版本落在 git 分支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8160" y="891540"/>
            <a:ext cx="3535679" cy="2606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8848" y="994409"/>
            <a:ext cx="3657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8" y="994409"/>
            <a:ext cx="12192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1220724"/>
            <a:ext cx="316992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四条安装通道，搜索却不好用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1453896"/>
            <a:ext cx="3169920" cy="1851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npx / SDK / bash / 手动 zip 四条通道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默认装到 ~/.agents/skills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Cursor / Claude Code / Codex / Gemini 可发现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OpenAPI 关键词 search 不生效，只能按类目 / 作者筛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私有 Skill 安装要 --token，且 token 按站点隔离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891540"/>
            <a:ext cx="3535679" cy="2606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00288" y="994409"/>
            <a:ext cx="3657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6048" y="994409"/>
            <a:ext cx="12192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试运行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0288" y="1220724"/>
            <a:ext cx="316992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没有技能级沙箱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288" y="1453896"/>
            <a:ext cx="3169920" cy="1851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详情页只有「前往实验场试用」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跳到 /agents/playground，通用 Agent 会话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没有示例输入、执行结果、回放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替代：本地装完跑 / 读 examples / MS-Agent test_skill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对比：MCP 有实验场，Skill 没有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6720" y="3737610"/>
            <a:ext cx="3535679" cy="106299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7408" y="3826764"/>
            <a:ext cx="4267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826764"/>
            <a:ext cx="268224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审核不透明，版本很弱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7408" y="4046220"/>
            <a:ext cx="3194304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无审核状态字段；无 version 落库；source_url 是自由文本。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8160" y="3737610"/>
            <a:ext cx="3535679" cy="106299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8848" y="3826764"/>
            <a:ext cx="4267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98720" y="3826764"/>
            <a:ext cx="268224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搜索只到类目 / 作者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4046220"/>
            <a:ext cx="3194304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OpenAPI search 未生效；第 25 页 403；站内搜索是内部接口。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0" y="3737610"/>
            <a:ext cx="3535679" cy="106299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00288" y="3826764"/>
            <a:ext cx="4267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试运行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00160" y="3826764"/>
            <a:ext cx="268224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没有技能级执行入口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0288" y="4046220"/>
            <a:ext cx="3194304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实验场是通用 Agent 会话；无输入 / 结果 / 回放。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6720" y="5040630"/>
            <a:ext cx="11338560" cy="1165860"/>
          </a:xfrm>
          <a:prstGeom prst="roundRect">
            <a:avLst>
              <a:gd name="adj" fmla="val 35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modelscope-detail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109210"/>
            <a:ext cx="4632960" cy="792480"/>
          </a:xfrm>
          <a:prstGeom prst="rect">
            <a:avLst/>
          </a:prstGeom>
          <a:ln w="9525">
            <a:solidFill>
              <a:srgbClr val="E2E4E7"/>
            </a:solidFill>
          </a:ln>
        </p:spPr>
      </p:pic>
      <p:pic>
        <p:nvPicPr>
          <p:cNvPr id="32" name="Picture 31" descr="modelscope-inst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5440" y="5109210"/>
            <a:ext cx="1706880" cy="992372"/>
          </a:xfrm>
          <a:prstGeom prst="rect">
            <a:avLst/>
          </a:prstGeom>
          <a:ln w="9525">
            <a:solidFill>
              <a:srgbClr val="E2E4E7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7437120" y="5122926"/>
            <a:ext cx="420624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详情页：5.3k 浏览 / 782 下载，主按钮只到 /agents/playground。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7120" y="5383530"/>
            <a:ext cx="420624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安装区：npx / SDK / bash / zip 四条命令，只有复制，没有一键上云。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37120" y="5644134"/>
            <a:ext cx="42062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详情页没有“运行”面板；“Skill 文件”只能浏览和逐文件下载；发布与试跑都要登录。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魔搭 Skill 生态画像：8.35 万个 Skill，官方 0.4%，头部 1% 拿走 66% 下载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857250"/>
            <a:ext cx="65836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供给：数量很大，原创很薄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80" y="1131570"/>
            <a:ext cx="12192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平台官方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67839" y="1159002"/>
            <a:ext cx="3108960" cy="96012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67839" y="1159002"/>
            <a:ext cx="12546" cy="96012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98720" y="1131570"/>
            <a:ext cx="20116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337 / 0.4%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80" y="1392174"/>
            <a:ext cx="12192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品牌 / 垂直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67839" y="1419606"/>
            <a:ext cx="3108960" cy="96012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67839" y="1419606"/>
            <a:ext cx="20475" cy="96012"/>
          </a:xfrm>
          <a:prstGeom prst="roundRect">
            <a:avLst>
              <a:gd name="adj" fmla="val 40000"/>
            </a:avLst>
          </a:prstGeom>
          <a:solidFill>
            <a:srgbClr val="56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98720" y="1392174"/>
            <a:ext cx="20116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~550 / &lt;1%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680" y="1652778"/>
            <a:ext cx="12192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聚合 / 镜像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67839" y="1680210"/>
            <a:ext cx="3108960" cy="96012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67839" y="1680210"/>
            <a:ext cx="960807" cy="96012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98720" y="1652778"/>
            <a:ext cx="20116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25,808 / 30.9%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7680" y="1913382"/>
            <a:ext cx="12192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社区长尾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67839" y="1940814"/>
            <a:ext cx="3108960" cy="96012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767839" y="1940814"/>
            <a:ext cx="2115130" cy="96012"/>
          </a:xfrm>
          <a:prstGeom prst="roundRect">
            <a:avLst>
              <a:gd name="adj" fmla="val 40000"/>
            </a:avLst>
          </a:prstGeom>
          <a:solidFill>
            <a:srgbClr val="CF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8720" y="1913382"/>
            <a:ext cx="20116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56,814 / 68.0%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" y="2208276"/>
            <a:ext cx="6583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官方 337 条；垂直约 550；镜像 25,808 条；其余约 5.68 万（按总数估算）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7680" y="2503170"/>
            <a:ext cx="65836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类目：Top3 占 66.3%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" y="2688336"/>
            <a:ext cx="65836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10 个一级类目；35 个二级类目里 24 个是 0 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680" y="2914650"/>
            <a:ext cx="12192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开发工具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767839" y="2942082"/>
            <a:ext cx="3108960" cy="96012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767839" y="2942082"/>
            <a:ext cx="3108960" cy="96012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8720" y="2914650"/>
            <a:ext cx="12192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27,928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7680" y="3188970"/>
            <a:ext cx="12192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代码质检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767839" y="3216402"/>
            <a:ext cx="3108960" cy="96012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767839" y="3216402"/>
            <a:ext cx="1876196" cy="96012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8720" y="3188970"/>
            <a:ext cx="12192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16,854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7680" y="3463290"/>
            <a:ext cx="12192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媒体处理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767839" y="3490722"/>
            <a:ext cx="3108960" cy="96012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767839" y="3490722"/>
            <a:ext cx="1176546" cy="96012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98720" y="3463290"/>
            <a:ext cx="12192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10,569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7680" y="3737610"/>
            <a:ext cx="12192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前端开发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767839" y="3765042"/>
            <a:ext cx="3108960" cy="96012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767839" y="3765042"/>
            <a:ext cx="744289" cy="96012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98720" y="3737610"/>
            <a:ext cx="12192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6,686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80" y="4011930"/>
            <a:ext cx="12192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云效工具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767839" y="4039362"/>
            <a:ext cx="3108960" cy="96012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767839" y="4039362"/>
            <a:ext cx="617161" cy="96012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98720" y="4011930"/>
            <a:ext cx="12192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5,544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7680" y="4320540"/>
            <a:ext cx="65836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开发工具 + 代码质检 + 媒体处理 = 55,351 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37120" y="857250"/>
            <a:ext cx="426720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消费：上架即沉默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37120" y="1097280"/>
            <a:ext cx="1280160" cy="308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158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37120" y="1419606"/>
            <a:ext cx="12801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中位下载（样本 2,400）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39200" y="1097280"/>
            <a:ext cx="1280160" cy="308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65.9%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39200" y="1419606"/>
            <a:ext cx="12801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Top1% 技能拿走下载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0" y="1097280"/>
            <a:ext cx="1280160" cy="308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3.5×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41280" y="1419606"/>
            <a:ext cx="12801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品牌/垂直中位 vs 长尾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37120" y="1885950"/>
            <a:ext cx="426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下载含 CLI / 镜像拉取，不等于用户数；样本偏向推荐位，真实中位更低。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37120" y="2503170"/>
            <a:ext cx="42672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谁被下载：品牌 &gt; 官方 &gt; 长尾 &gt; 镜像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37120" y="2777490"/>
            <a:ext cx="10972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品牌 / 垂直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595360" y="2804922"/>
            <a:ext cx="1950720" cy="96012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8595360" y="2804922"/>
            <a:ext cx="1950720" cy="96012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668000" y="2777490"/>
            <a:ext cx="9753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37120" y="3086100"/>
            <a:ext cx="10972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平台官方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595360" y="3113532"/>
            <a:ext cx="1950720" cy="96012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8595360" y="3113532"/>
            <a:ext cx="1413893" cy="96012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668000" y="3086100"/>
            <a:ext cx="9753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374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37120" y="3394710"/>
            <a:ext cx="10972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社区长尾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595360" y="3422142"/>
            <a:ext cx="1950720" cy="96012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8595360" y="3422142"/>
            <a:ext cx="559508" cy="96012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668000" y="3394710"/>
            <a:ext cx="9753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148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37120" y="3703320"/>
            <a:ext cx="10972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聚合 / 镜像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595360" y="3730752"/>
            <a:ext cx="1950720" cy="96012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8595360" y="3730752"/>
            <a:ext cx="548167" cy="96012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668000" y="3703320"/>
            <a:ext cx="9753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145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37120" y="4046220"/>
            <a:ext cx="426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最高异常：1.15M 下载 / 592 浏览；下载不宜直接当用户数。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87680" y="5040630"/>
            <a:ext cx="11216640" cy="109728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70560" y="5122926"/>
            <a:ext cx="2682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30.9% 的“镜像”是什么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0560" y="5314950"/>
            <a:ext cx="107289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 个批量搬运账号：majiayu000 16,093、diegosouzapw 9,315、beatra01 211、smyx 189；合计 25,808 条。不是逐条去重，也不是官方口径；74.3% 的 source_url 指向 GitHub。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0560" y="5692140"/>
            <a:ext cx="107289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镜像不等于重复；数量涨了，消费没涨（聚合中位 145）；官方 337 条是信任锚点，品牌/垂直中位 516。</a:t>
            </a:r>
          </a:p>
        </p:txBody>
      </p:sp>
    </p:spTree>
  </p:cSld>
  <p:clrMapOvr>
    <a:masterClrMapping/>
  </p:clrMapOvr>
</p:sld>
</file>

<file path=ppt/theme/theme1.xml><?xml version="1.0" encoding="utf-8"?>
<!-- 空白母版、版式与主题取自 python-pptx 1.0.2 的默认有效文稿；母版只保留空白版式。 --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Skill 资产与商业化研究合集 v1（旅程版）</dc:title>
  <cp:lastModifiedBy>python-pptx</cp:lastModifiedBy>
  <cp:revision>1</cp:revision>
  <dcterms:modified xsi:type="dcterms:W3CDTF">2026-10-20T01:37:13Z</dcterms:modified>
  <dc:subject>魔搭 / SkillHub / SkillPay / 支付宝 / 智果园</dc:subject>
</cp:coreProperties>
</file>