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76" r:id="rId22"/>
    <p:sldId id="279" r:id="rId6"/>
    <p:sldId id="280" r:id="rId2"/>
    <p:sldId id="281" r:id="rId23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7" r:id="rId20"/>
    <p:sldId id="278" r:id="rId21"/>
  </p:sldIdLst>
  <p:sldSz cx="12192000" cy="6858000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1.xml"/><Relationship Id="rId23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7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Relationship Id="rId10" Type="http://schemas.openxmlformats.org/officeDocument/2006/relationships/image" Target="../media/image95.png"/><Relationship Id="rId11" Type="http://schemas.openxmlformats.org/officeDocument/2006/relationships/image" Target="../media/image96.png"/><Relationship Id="rId12" Type="http://schemas.openxmlformats.org/officeDocument/2006/relationships/image" Target="../media/image97.png"/><Relationship Id="rId1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8.png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image" Target="../media/image102.png"/><Relationship Id="rId7" Type="http://schemas.openxmlformats.org/officeDocument/2006/relationships/image" Target="../media/image103.png"/><Relationship Id="rId8" Type="http://schemas.openxmlformats.org/officeDocument/2006/relationships/image" Target="../media/image104.png"/><Relationship Id="rId9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5.png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Relationship Id="rId19" Type="http://schemas.openxmlformats.org/officeDocument/2006/relationships/image" Target="../media/image122.png"/><Relationship Id="rId20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127.png"/><Relationship Id="rId7" Type="http://schemas.openxmlformats.org/officeDocument/2006/relationships/image" Target="../media/image128.png"/><Relationship Id="rId8" Type="http://schemas.openxmlformats.org/officeDocument/2006/relationships/image" Target="../media/image129.png"/><Relationship Id="rId9" Type="http://schemas.openxmlformats.org/officeDocument/2006/relationships/image" Target="../media/image130.png"/><Relationship Id="rId10" Type="http://schemas.openxmlformats.org/officeDocument/2006/relationships/image" Target="../media/image131.png"/><Relationship Id="rId11" Type="http://schemas.openxmlformats.org/officeDocument/2006/relationships/image" Target="../media/image132.png"/><Relationship Id="rId12" Type="http://schemas.openxmlformats.org/officeDocument/2006/relationships/image" Target="../media/image133.png"/><Relationship Id="rId1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Relationship Id="rId4" Type="http://schemas.openxmlformats.org/officeDocument/2006/relationships/image" Target="../media/image136.png"/><Relationship Id="rId5" Type="http://schemas.openxmlformats.org/officeDocument/2006/relationships/image" Target="../media/image137.png"/><Relationship Id="rId6" Type="http://schemas.openxmlformats.org/officeDocument/2006/relationships/image" Target="../media/image138.png"/><Relationship Id="rId7" Type="http://schemas.openxmlformats.org/officeDocument/2006/relationships/image" Target="../media/image139.png"/><Relationship Id="rId8" Type="http://schemas.openxmlformats.org/officeDocument/2006/relationships/image" Target="../media/image140.png"/><Relationship Id="rId9" Type="http://schemas.openxmlformats.org/officeDocument/2006/relationships/image" Target="../media/image141.png"/><Relationship Id="rId10" Type="http://schemas.openxmlformats.org/officeDocument/2006/relationships/image" Target="../media/image142.png"/><Relationship Id="rId11" Type="http://schemas.openxmlformats.org/officeDocument/2006/relationships/image" Target="../media/image143.png"/><Relationship Id="rId12" Type="http://schemas.openxmlformats.org/officeDocument/2006/relationships/image" Target="../media/image144.png"/><Relationship Id="rId13" Type="http://schemas.openxmlformats.org/officeDocument/2006/relationships/image" Target="../media/image145.png"/><Relationship Id="rId14" Type="http://schemas.openxmlformats.org/officeDocument/2006/relationships/image" Target="../media/image14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7.png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5.png"/><Relationship Id="rId3" Type="http://schemas.openxmlformats.org/officeDocument/2006/relationships/image" Target="../media/image16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7.png"/><Relationship Id="rId3" Type="http://schemas.openxmlformats.org/officeDocument/2006/relationships/image" Target="../media/image168.png"/><Relationship Id="rId4" Type="http://schemas.openxmlformats.org/officeDocument/2006/relationships/image" Target="../media/image169.png"/><Relationship Id="rId5" Type="http://schemas.openxmlformats.org/officeDocument/2006/relationships/image" Target="../media/image170.png"/><Relationship Id="rId6" Type="http://schemas.openxmlformats.org/officeDocument/2006/relationships/image" Target="../media/image171.png"/><Relationship Id="rId7" Type="http://schemas.openxmlformats.org/officeDocument/2006/relationships/image" Target="../media/image172.png"/><Relationship Id="rId8" Type="http://schemas.openxmlformats.org/officeDocument/2006/relationships/image" Target="../media/image173.png"/><Relationship Id="rId9" Type="http://schemas.openxmlformats.org/officeDocument/2006/relationships/image" Target="../media/image174.png"/><Relationship Id="rId10" Type="http://schemas.openxmlformats.org/officeDocument/2006/relationships/image" Target="../media/image175.png"/><Relationship Id="rId11" Type="http://schemas.openxmlformats.org/officeDocument/2006/relationships/image" Target="../media/image176.png"/><Relationship Id="rId12" Type="http://schemas.openxmlformats.org/officeDocument/2006/relationships/image" Target="../media/image17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308610"/>
            <a:ext cx="11216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7000B"/>
                </a:solidFill>
                <a:latin typeface="微软雅黑"/>
                <a:ea typeface="微软雅黑"/>
                <a:cs typeface="微软雅黑"/>
              </a:rPr>
              <a:t>Skill 资产生命周期：生产 → 分发 → 安装 → 使用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097280"/>
            <a:ext cx="10728960" cy="0"/>
          </a:xfrm>
          <a:prstGeom prst="line">
            <a:avLst/>
          </a:prstGeom>
          <a:ln w="12700">
            <a:solidFill>
              <a:srgbClr val="C9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26720" y="1371600"/>
            <a:ext cx="2682240" cy="2400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7408" y="1440180"/>
            <a:ext cx="36576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40180"/>
            <a:ext cx="10363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生产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50720" y="1453896"/>
            <a:ext cx="97536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8E94"/>
                </a:solidFill>
                <a:latin typeface="微软雅黑"/>
                <a:ea typeface="微软雅黑"/>
                <a:cs typeface="微软雅黑"/>
              </a:rPr>
              <a:t>作者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408" y="1673352"/>
            <a:ext cx="2316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把经验变成可复用的方法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7408" y="1906524"/>
            <a:ext cx="487680" cy="123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动作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408" y="2029968"/>
            <a:ext cx="231648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定任务：目标 / 输入输出 / 边界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起稿：$skill-creator 生成草稿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补步骤/异常/验收，配资源跑三类任务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3024" y="2935224"/>
            <a:ext cx="2389632" cy="0"/>
          </a:xfrm>
          <a:prstGeom prst="line">
            <a:avLst/>
          </a:prstGeom>
          <a:ln w="6350"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7408" y="3003804"/>
            <a:ext cx="426720" cy="123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320" y="3003804"/>
            <a:ext cx="1950720" cy="123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触发准 / 边界清 / 样例与评测齐全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408" y="3236976"/>
            <a:ext cx="426720" cy="123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产物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320" y="3236976"/>
            <a:ext cx="195072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方法包 + 样例 + 评测 + 依赖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2566" y="1371600"/>
            <a:ext cx="2682240" cy="2400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83254" y="1440180"/>
            <a:ext cx="36576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0246" y="1440180"/>
            <a:ext cx="10363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分发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6566" y="1453896"/>
            <a:ext cx="97536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8E94"/>
                </a:solidFill>
                <a:latin typeface="微软雅黑"/>
                <a:ea typeface="微软雅黑"/>
                <a:cs typeface="微软雅黑"/>
              </a:rPr>
              <a:t>作者 / 平台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3254" y="1673352"/>
            <a:ext cx="2316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让合适的人拿到明确版本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3254" y="1906524"/>
            <a:ext cx="487680" cy="123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动作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3254" y="2029968"/>
            <a:ext cx="231648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打包：Git / ZIP，附来源/版本/许可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写说明页：场景/示例/环境/限制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上架：市场 / Plugin / 托管 API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58870" y="2935224"/>
            <a:ext cx="2389632" cy="0"/>
          </a:xfrm>
          <a:prstGeom prst="line">
            <a:avLst/>
          </a:prstGeom>
          <a:ln w="6350"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83254" y="3003804"/>
            <a:ext cx="426720" cy="123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22166" y="3003804"/>
            <a:ext cx="1950720" cy="123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展示=实得 / 来源可追 / 版本可回滚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3254" y="3236976"/>
            <a:ext cx="426720" cy="123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产物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22166" y="3236976"/>
            <a:ext cx="195072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发布包 + 说明页 + 来源/版本/许可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8412" y="1371600"/>
            <a:ext cx="2682240" cy="2400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9100" y="1440180"/>
            <a:ext cx="36576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6092" y="1440180"/>
            <a:ext cx="10363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安装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2412" y="1453896"/>
            <a:ext cx="97536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8E94"/>
                </a:solidFill>
                <a:latin typeface="微软雅黑"/>
                <a:ea typeface="微软雅黑"/>
                <a:cs typeface="微软雅黑"/>
              </a:rPr>
              <a:t>宿主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9100" y="1673352"/>
            <a:ext cx="2316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在宿主 Agent 中安装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9100" y="1906524"/>
            <a:ext cx="487680" cy="123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动作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9100" y="2029968"/>
            <a:ext cx="231648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复制到 ~/.agents/skills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npx skills add &lt;repo&gt; -g -a codex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查依赖 / 权限，跑最小任务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344716" y="2935224"/>
            <a:ext cx="2389632" cy="0"/>
          </a:xfrm>
          <a:prstGeom prst="line">
            <a:avLst/>
          </a:prstGeom>
          <a:ln w="6350"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369100" y="3003804"/>
            <a:ext cx="426720" cy="123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08012" y="3003804"/>
            <a:ext cx="1950720" cy="123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宿主可见 / 依赖权限 / 最小任务通过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9100" y="3236976"/>
            <a:ext cx="426720" cy="123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产物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08012" y="3236976"/>
            <a:ext cx="195072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安装实例 + 就绪检查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84259" y="1371600"/>
            <a:ext cx="2682240" cy="2400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54947" y="1440180"/>
            <a:ext cx="36576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71939" y="1440180"/>
            <a:ext cx="103632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使用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8259" y="1453896"/>
            <a:ext cx="97536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B8E94"/>
                </a:solidFill>
                <a:latin typeface="微软雅黑"/>
                <a:ea typeface="微软雅黑"/>
                <a:cs typeface="微软雅黑"/>
              </a:rPr>
              <a:t>用户 / 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54947" y="1673352"/>
            <a:ext cx="2316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在任务中调用并反馈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4947" y="1906524"/>
            <a:ext cx="487680" cy="123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动作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54947" y="2029968"/>
            <a:ext cx="231648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提任务：目标 / 输入 / 约束 / 验收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自动匹配，或点名 /pdf-processing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渐进加载 references/scripts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230563" y="2935224"/>
            <a:ext cx="2389632" cy="0"/>
          </a:xfrm>
          <a:prstGeom prst="line">
            <a:avLst/>
          </a:prstGeom>
          <a:ln w="6350">
            <a:solidFill>
              <a:srgbClr val="E2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254947" y="3003804"/>
            <a:ext cx="426720" cy="123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3859" y="3003804"/>
            <a:ext cx="1950720" cy="123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已加载 / 已执行 / 已验收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54947" y="3236976"/>
            <a:ext cx="426720" cy="123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产物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3859" y="3236976"/>
            <a:ext cx="195072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任务结果 + 验收结论 + 使用记录</a:t>
            </a:r>
          </a:p>
        </p:txBody>
      </p:sp>
      <p:sp>
        <p:nvSpPr>
          <p:cNvPr id="52" name="Oval 51"/>
          <p:cNvSpPr/>
          <p:nvPr/>
        </p:nvSpPr>
        <p:spPr>
          <a:xfrm>
            <a:off x="1671828" y="1001268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2083308" y="1049274"/>
            <a:ext cx="207264" cy="96012"/>
          </a:xfrm>
          <a:prstGeom prst="rightArrow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557674" y="1001268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4969154" y="1049274"/>
            <a:ext cx="207264" cy="96012"/>
          </a:xfrm>
          <a:prstGeom prst="rightArrow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43520" y="1001268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7855000" y="1049274"/>
            <a:ext cx="207264" cy="96012"/>
          </a:xfrm>
          <a:prstGeom prst="rightArrow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329367" y="1001268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cxnSp>
        <p:nvCxnSpPr>
          <p:cNvPr id="59" name="Connector 58"/>
          <p:cNvCxnSpPr/>
          <p:nvPr/>
        </p:nvCxnSpPr>
        <p:spPr>
          <a:xfrm flipH="1">
            <a:off x="853440" y="3977639"/>
            <a:ext cx="10485120" cy="0"/>
          </a:xfrm>
          <a:prstGeom prst="line">
            <a:avLst/>
          </a:prstGeom>
          <a:ln w="12700">
            <a:solidFill>
              <a:srgbClr val="A5ACB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Left Arrow 59"/>
          <p:cNvSpPr/>
          <p:nvPr/>
        </p:nvSpPr>
        <p:spPr>
          <a:xfrm>
            <a:off x="609600" y="3929633"/>
            <a:ext cx="207264" cy="96012"/>
          </a:xfrm>
          <a:prstGeom prst="leftArrow">
            <a:avLst/>
          </a:prstGeom>
          <a:solidFill>
            <a:srgbClr val="A5AC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89120" y="3867911"/>
            <a:ext cx="341376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用后反馈 → 修订 → 新版本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6720" y="4217670"/>
            <a:ext cx="11338560" cy="1371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24256" y="4341114"/>
            <a:ext cx="48768" cy="1124712"/>
          </a:xfrm>
          <a:prstGeom prst="roundRect">
            <a:avLst>
              <a:gd name="adj" fmla="val 50000"/>
            </a:avLst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0560" y="4286250"/>
            <a:ext cx="243840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智果园示例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0560" y="4423410"/>
            <a:ext cx="67056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从生产到 CodeArts Agent 的一条链路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0560" y="4656582"/>
            <a:ext cx="316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7552" y="4656582"/>
            <a:ext cx="5486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生产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0560" y="4807458"/>
            <a:ext cx="188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本地或 CodeArts 生产 Skill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2609088" y="4807458"/>
            <a:ext cx="121920" cy="68580"/>
          </a:xfrm>
          <a:prstGeom prst="rightArrow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28544" y="4656582"/>
            <a:ext cx="316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45536" y="4656582"/>
            <a:ext cx="5486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上架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28544" y="4807458"/>
            <a:ext cx="188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智果园 AI 资产广场</a:t>
            </a:r>
          </a:p>
        </p:txBody>
      </p:sp>
      <p:sp>
        <p:nvSpPr>
          <p:cNvPr id="73" name="Right Arrow 72"/>
          <p:cNvSpPr/>
          <p:nvPr/>
        </p:nvSpPr>
        <p:spPr>
          <a:xfrm>
            <a:off x="4767072" y="4807458"/>
            <a:ext cx="121920" cy="68580"/>
          </a:xfrm>
          <a:prstGeom prst="rightArrow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86528" y="4656582"/>
            <a:ext cx="316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03520" y="4656582"/>
            <a:ext cx="5486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安装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86528" y="4807458"/>
            <a:ext cx="188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CodeArts Agent</a:t>
            </a:r>
          </a:p>
        </p:txBody>
      </p:sp>
      <p:sp>
        <p:nvSpPr>
          <p:cNvPr id="77" name="Right Arrow 76"/>
          <p:cNvSpPr/>
          <p:nvPr/>
        </p:nvSpPr>
        <p:spPr>
          <a:xfrm>
            <a:off x="6925056" y="4807458"/>
            <a:ext cx="121920" cy="68580"/>
          </a:xfrm>
          <a:prstGeom prst="rightArrow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44512" y="4656582"/>
            <a:ext cx="316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61504" y="4656582"/>
            <a:ext cx="5486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调用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44512" y="4807458"/>
            <a:ext cx="188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任务中按需加载</a:t>
            </a:r>
          </a:p>
        </p:txBody>
      </p:sp>
      <p:sp>
        <p:nvSpPr>
          <p:cNvPr id="81" name="Right Arrow 80"/>
          <p:cNvSpPr/>
          <p:nvPr/>
        </p:nvSpPr>
        <p:spPr>
          <a:xfrm>
            <a:off x="9083040" y="4807458"/>
            <a:ext cx="121920" cy="68580"/>
          </a:xfrm>
          <a:prstGeom prst="rightArrow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302496" y="4656582"/>
            <a:ext cx="31699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19488" y="4656582"/>
            <a:ext cx="5486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反馈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02496" y="4807458"/>
            <a:ext cx="188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使用记录 → v1.1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0560" y="5301234"/>
            <a:ext cx="1072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验收：能装 · 能跑 · 能验收 · 能回滚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7680" y="5863590"/>
            <a:ext cx="54864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判断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72896" y="5863590"/>
            <a:ext cx="10607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平台的价值不在“存资产”，而在让 Skill 可发现、可安装、可运行、可迭代。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20" y="274320"/>
            <a:ext cx="11338560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7000B"/>
                </a:solidFill>
                <a:latin typeface="微软雅黑"/>
                <a:ea typeface="微软雅黑"/>
                <a:cs typeface="微软雅黑"/>
              </a:rPr>
              <a:t>魔搭 Skill 关键能力：发布两步、安装四路，试运行和原创供给都还薄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6720" y="768096"/>
            <a:ext cx="3657600" cy="1234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7408" y="850392"/>
            <a:ext cx="36576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8784" y="836676"/>
            <a:ext cx="121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发布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7408" y="1028700"/>
            <a:ext cx="3291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两步 API，约束不少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408" y="120015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传 zip → 建 Skill；包 ≤5MB，只能 1 个 SKILL.md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name / owner 不可改；审核、version 不透明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8160" y="768096"/>
            <a:ext cx="3657600" cy="1234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850392"/>
            <a:ext cx="36576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0224" y="836676"/>
            <a:ext cx="121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使用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028700"/>
            <a:ext cx="3291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四条安装通道，搜索不好用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20015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npx / SDK / bash / zip；默认 ~/.agents/skills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OpenAPI 关键词 search 不生效，只能按类目 / 作者筛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768096"/>
            <a:ext cx="3657600" cy="1234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0288" y="850392"/>
            <a:ext cx="36576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1664" y="836676"/>
            <a:ext cx="121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试运行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0288" y="1028700"/>
            <a:ext cx="3291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没有技能级沙箱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0288" y="120015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只有「前往实验场试用」→ 通用 Agent 会话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无输入 / 结果 / 回放；MCP 有实验场，Skill 没有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0288" y="1824228"/>
            <a:ext cx="3291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8E94"/>
                </a:solidFill>
                <a:latin typeface="微软雅黑"/>
                <a:ea typeface="微软雅黑"/>
                <a:cs typeface="微软雅黑"/>
              </a:rPr>
              <a:t>实测：iic/fun-denoise 5.3k 浏览 / 782 下载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720" y="2139696"/>
            <a:ext cx="487680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生态画像：4 项对比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720" y="2366010"/>
            <a:ext cx="560832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供给：数量很大，原创很薄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720" y="2640330"/>
            <a:ext cx="1219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平台官方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06880" y="2667762"/>
            <a:ext cx="1950720" cy="75438"/>
          </a:xfrm>
          <a:prstGeom prst="roundRect">
            <a:avLst>
              <a:gd name="adj" fmla="val 40000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706880" y="2667762"/>
            <a:ext cx="7872" cy="75438"/>
          </a:xfrm>
          <a:prstGeom prst="roundRect">
            <a:avLst>
              <a:gd name="adj" fmla="val 40000"/>
            </a:avLst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79520" y="2640330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337 / 0.4%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720" y="2859786"/>
            <a:ext cx="1219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品牌 / 垂直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06880" y="2887218"/>
            <a:ext cx="1950720" cy="75438"/>
          </a:xfrm>
          <a:prstGeom prst="roundRect">
            <a:avLst>
              <a:gd name="adj" fmla="val 40000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706880" y="2887218"/>
            <a:ext cx="12847" cy="75438"/>
          </a:xfrm>
          <a:prstGeom prst="roundRect">
            <a:avLst>
              <a:gd name="adj" fmla="val 4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79520" y="285978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550 / &lt;1%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720" y="3079242"/>
            <a:ext cx="1219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聚合 / 镜像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06880" y="3106674"/>
            <a:ext cx="1950720" cy="75438"/>
          </a:xfrm>
          <a:prstGeom prst="roundRect">
            <a:avLst>
              <a:gd name="adj" fmla="val 40000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706880" y="3106674"/>
            <a:ext cx="602859" cy="75438"/>
          </a:xfrm>
          <a:prstGeom prst="roundRect">
            <a:avLst>
              <a:gd name="adj" fmla="val 40000"/>
            </a:avLst>
          </a:prstGeom>
          <a:solidFill>
            <a:srgbClr val="9A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79520" y="3079242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25,808 / 30.9%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6720" y="3298698"/>
            <a:ext cx="1219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社区长尾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06880" y="3326130"/>
            <a:ext cx="1950720" cy="75438"/>
          </a:xfrm>
          <a:prstGeom prst="roundRect">
            <a:avLst>
              <a:gd name="adj" fmla="val 40000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706880" y="3326130"/>
            <a:ext cx="1327140" cy="75438"/>
          </a:xfrm>
          <a:prstGeom prst="roundRect">
            <a:avLst>
              <a:gd name="adj" fmla="val 40000"/>
            </a:avLst>
          </a:prstGeom>
          <a:solidFill>
            <a:srgbClr val="CF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79520" y="3298698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56,814 / 68.0%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6720" y="3531870"/>
            <a:ext cx="560832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8B8E94"/>
                </a:solidFill>
                <a:latin typeface="微软雅黑"/>
                <a:ea typeface="微软雅黑"/>
                <a:cs typeface="微软雅黑"/>
              </a:rPr>
              <a:t>官方 337 条；垂直约 550；镜像 25,808 条；其余约 5.68 万（按总数估算）。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9840" y="2366010"/>
            <a:ext cx="536448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消费：上架即沉默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9840" y="2640330"/>
            <a:ext cx="158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158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9840" y="2914650"/>
            <a:ext cx="158496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中位下载（样本 2,400）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07680" y="2640330"/>
            <a:ext cx="158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65.9%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7680" y="2914650"/>
            <a:ext cx="158496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Top1% 技能拿走下载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2640330"/>
            <a:ext cx="158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3.5×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2914650"/>
            <a:ext cx="158496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品牌/垂直中位 vs 长尾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9840" y="3429000"/>
            <a:ext cx="536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8B8E94"/>
                </a:solidFill>
                <a:latin typeface="微软雅黑"/>
                <a:ea typeface="微软雅黑"/>
                <a:cs typeface="微软雅黑"/>
              </a:rPr>
              <a:t>下载含 CLI / 镜像拉取，不等于用户数；样本偏向推荐位，真实中位更低。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6720" y="4149090"/>
            <a:ext cx="560832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类目：Top3 占 66.3%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6720" y="4320540"/>
            <a:ext cx="5608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8E94"/>
                </a:solidFill>
                <a:latin typeface="微软雅黑"/>
                <a:ea typeface="微软雅黑"/>
                <a:cs typeface="微软雅黑"/>
              </a:rPr>
              <a:t>10 个一级类目；35 个二级类目里 24 个是 0 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6720" y="4491990"/>
            <a:ext cx="1219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开发工具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706880" y="4519422"/>
            <a:ext cx="2316480" cy="68580"/>
          </a:xfrm>
          <a:prstGeom prst="roundRect">
            <a:avLst>
              <a:gd name="adj" fmla="val 40000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706880" y="4519422"/>
            <a:ext cx="2316480" cy="68580"/>
          </a:xfrm>
          <a:prstGeom prst="roundRect">
            <a:avLst>
              <a:gd name="adj" fmla="val 40000"/>
            </a:avLst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0" y="4491990"/>
            <a:ext cx="9753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27,928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6720" y="4670298"/>
            <a:ext cx="1219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代码质检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706880" y="4697730"/>
            <a:ext cx="2316480" cy="68580"/>
          </a:xfrm>
          <a:prstGeom prst="roundRect">
            <a:avLst>
              <a:gd name="adj" fmla="val 40000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706880" y="4697730"/>
            <a:ext cx="1397950" cy="68580"/>
          </a:xfrm>
          <a:prstGeom prst="roundRect">
            <a:avLst>
              <a:gd name="adj" fmla="val 40000"/>
            </a:avLst>
          </a:prstGeom>
          <a:solidFill>
            <a:srgbClr val="C9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06240" y="4670298"/>
            <a:ext cx="9753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16,854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6720" y="4848606"/>
            <a:ext cx="1219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媒体处理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706880" y="4876038"/>
            <a:ext cx="2316480" cy="68580"/>
          </a:xfrm>
          <a:prstGeom prst="roundRect">
            <a:avLst>
              <a:gd name="adj" fmla="val 40000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706880" y="4876038"/>
            <a:ext cx="876642" cy="68580"/>
          </a:xfrm>
          <a:prstGeom prst="roundRect">
            <a:avLst>
              <a:gd name="adj" fmla="val 40000"/>
            </a:avLst>
          </a:prstGeom>
          <a:solidFill>
            <a:srgbClr val="C9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06240" y="4848606"/>
            <a:ext cx="9753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10,569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6720" y="5026914"/>
            <a:ext cx="1219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前端开发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706880" y="5054346"/>
            <a:ext cx="2316480" cy="68580"/>
          </a:xfrm>
          <a:prstGeom prst="roundRect">
            <a:avLst>
              <a:gd name="adj" fmla="val 40000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706880" y="5054346"/>
            <a:ext cx="554568" cy="68580"/>
          </a:xfrm>
          <a:prstGeom prst="roundRect">
            <a:avLst>
              <a:gd name="adj" fmla="val 40000"/>
            </a:avLst>
          </a:prstGeom>
          <a:solidFill>
            <a:srgbClr val="C9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06240" y="5026914"/>
            <a:ext cx="9753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6,686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5205222"/>
            <a:ext cx="1219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云效工具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706880" y="5232654"/>
            <a:ext cx="2316480" cy="68580"/>
          </a:xfrm>
          <a:prstGeom prst="roundRect">
            <a:avLst>
              <a:gd name="adj" fmla="val 40000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706880" y="5232654"/>
            <a:ext cx="459845" cy="68580"/>
          </a:xfrm>
          <a:prstGeom prst="roundRect">
            <a:avLst>
              <a:gd name="adj" fmla="val 40000"/>
            </a:avLst>
          </a:prstGeom>
          <a:solidFill>
            <a:srgbClr val="C9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06240" y="5205222"/>
            <a:ext cx="9753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5,544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6720" y="5417820"/>
            <a:ext cx="5608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8E94"/>
                </a:solidFill>
                <a:latin typeface="微软雅黑"/>
                <a:ea typeface="微软雅黑"/>
                <a:cs typeface="微软雅黑"/>
              </a:rPr>
              <a:t>开发工具 + 代码质检 + 媒体处理 = 55,351 条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39840" y="4149090"/>
            <a:ext cx="560832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谁被下载：品牌 &gt; 官方 &gt; 长尾 &gt; 镜像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39840" y="4423410"/>
            <a:ext cx="1219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品牌 / 垂直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802880" y="4450842"/>
            <a:ext cx="1828800" cy="75438"/>
          </a:xfrm>
          <a:prstGeom prst="roundRect">
            <a:avLst>
              <a:gd name="adj" fmla="val 40000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7802880" y="4450842"/>
            <a:ext cx="1828800" cy="75438"/>
          </a:xfrm>
          <a:prstGeom prst="roundRect">
            <a:avLst>
              <a:gd name="adj" fmla="val 40000"/>
            </a:avLst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814560" y="4423410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516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39840" y="4642866"/>
            <a:ext cx="1219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平台官方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802880" y="4670298"/>
            <a:ext cx="1828800" cy="75438"/>
          </a:xfrm>
          <a:prstGeom prst="roundRect">
            <a:avLst>
              <a:gd name="adj" fmla="val 40000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802880" y="4670298"/>
            <a:ext cx="1325525" cy="75438"/>
          </a:xfrm>
          <a:prstGeom prst="roundRect">
            <a:avLst>
              <a:gd name="adj" fmla="val 40000"/>
            </a:avLst>
          </a:prstGeom>
          <a:solidFill>
            <a:srgbClr val="9A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814560" y="464286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374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39840" y="4862322"/>
            <a:ext cx="1219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社区长尾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802880" y="4889754"/>
            <a:ext cx="1828800" cy="75438"/>
          </a:xfrm>
          <a:prstGeom prst="roundRect">
            <a:avLst>
              <a:gd name="adj" fmla="val 40000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7802880" y="4889754"/>
            <a:ext cx="524539" cy="75438"/>
          </a:xfrm>
          <a:prstGeom prst="roundRect">
            <a:avLst>
              <a:gd name="adj" fmla="val 40000"/>
            </a:avLst>
          </a:prstGeom>
          <a:solidFill>
            <a:srgbClr val="9A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14560" y="4862322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148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39840" y="5081778"/>
            <a:ext cx="1219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聚合 / 镜像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802880" y="5109210"/>
            <a:ext cx="1828800" cy="75438"/>
          </a:xfrm>
          <a:prstGeom prst="roundRect">
            <a:avLst>
              <a:gd name="adj" fmla="val 40000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7802880" y="5109210"/>
            <a:ext cx="513906" cy="75438"/>
          </a:xfrm>
          <a:prstGeom prst="roundRect">
            <a:avLst>
              <a:gd name="adj" fmla="val 40000"/>
            </a:avLst>
          </a:prstGeom>
          <a:solidFill>
            <a:srgbClr val="9A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814560" y="5081778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145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39840" y="5314950"/>
            <a:ext cx="5608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8E94"/>
                </a:solidFill>
                <a:latin typeface="微软雅黑"/>
                <a:ea typeface="微软雅黑"/>
                <a:cs typeface="微软雅黑"/>
              </a:rPr>
              <a:t>最高异常：1.15M 下载 / 592 浏览；下载不宜直接当用户数。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20" y="274320"/>
            <a:ext cx="11338560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7000B"/>
                </a:solidFill>
                <a:latin typeface="微软雅黑"/>
                <a:ea typeface="微软雅黑"/>
                <a:cs typeface="微软雅黑"/>
              </a:rPr>
              <a:t>SkillHub 关键能力：20 万供给、多路安装、云端试跑、TRACE 评分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6720" y="925830"/>
            <a:ext cx="5547360" cy="2057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014984"/>
            <a:ext cx="36576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001268"/>
            <a:ext cx="316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供给与发布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1220724"/>
            <a:ext cx="3657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20 万 Skill，来源三条线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460754"/>
            <a:ext cx="5181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20.0 万 Skill / 13 类 / 1,999 家企业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ClawHub 同步 + 社区 + 企业；来源可重叠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Web / CLI / GitHub / Agent 发布；版本、可见性、团队审核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来源记录可重叠：community / enterprise / clawhub 不可直接相加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925830"/>
            <a:ext cx="5547360" cy="2057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14984"/>
            <a:ext cx="36576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2176" y="1001268"/>
            <a:ext cx="316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分发与安装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2176" y="1220724"/>
            <a:ext cx="3657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Web、CLI、API、DSH、ZIP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0754"/>
            <a:ext cx="5181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skillhub search / install &lt;slug&gt; --dir ./skills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装到宿主目录；Claude Code / Cursor / Codex 等可发现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不自动装 pip/npm 依赖，也不执行包内脚本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默认 ./skills；不指定 --dir 可能不被宿主识别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" y="3188970"/>
            <a:ext cx="5547360" cy="2057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3278124"/>
            <a:ext cx="36576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264408"/>
            <a:ext cx="316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云端试跑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483864"/>
            <a:ext cx="3657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从「能装」到「能跑」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723894"/>
            <a:ext cx="5181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前端已有 sandbox / session / 运行案例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支持创建、恢复、清理会话，保存结果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本次只读核查，未登录实测隔离、成功率、费用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官方文档列沙箱 / 会话 / 文件处理；公开 API 契约未完整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188970"/>
            <a:ext cx="5547360" cy="2057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78124"/>
            <a:ext cx="36576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2176" y="3264408"/>
            <a:ext cx="316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TRACE 评测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2176" y="3483864"/>
            <a:ext cx="3657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从「能装」到「可评」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23894"/>
            <a:ext cx="5181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5 维、15 子项；抽样 40 条有效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均分 4.54 / 5；72.5% ≥ 4.5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企业覆盖 100%、社区 74%、ClawHub 0%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评测绑定 versionId；旧版本 / 未评测版本可能为空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720" y="5520690"/>
            <a:ext cx="1133856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关键差异：不只是 20 万供给，而是把云端试跑和 TRACE 接进分发；但评测覆盖还不均。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6720" y="274320"/>
            <a:ext cx="11338560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7000B"/>
                </a:solidFill>
                <a:latin typeface="微软雅黑"/>
                <a:ea typeface="微软雅黑"/>
                <a:cs typeface="微软雅黑"/>
              </a:rPr>
              <a:t>SkillHub 生态画像：全站付费 10%、API Key 19%，分类比头部更均衡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6720" y="754380"/>
            <a:ext cx="487680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生态画像：来源/消费看 Top1000，分类/付费看全站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6720" y="1028700"/>
            <a:ext cx="536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谁在供给：ClawHub 数量最多，社区拿走最多下载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6720" y="1193292"/>
            <a:ext cx="536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8E94"/>
                </a:solidFill>
                <a:latin typeface="微软雅黑"/>
                <a:ea typeface="微软雅黑"/>
                <a:cs typeface="微软雅黑"/>
              </a:rPr>
              <a:t>Top1000 条 · 数量占比 / 下载占比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720" y="1453896"/>
            <a:ext cx="1036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ClawHub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24000" y="1481328"/>
            <a:ext cx="2072640" cy="75438"/>
          </a:xfrm>
          <a:prstGeom prst="roundRect">
            <a:avLst>
              <a:gd name="adj" fmla="val 40000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24000" y="1481328"/>
            <a:ext cx="2072640" cy="75438"/>
          </a:xfrm>
          <a:prstGeom prst="roundRect">
            <a:avLst>
              <a:gd name="adj" fmla="val 40000"/>
            </a:avLst>
          </a:prstGeom>
          <a:solidFill>
            <a:srgbClr val="9A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9520" y="145389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44.7% / 27.0%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720" y="1728216"/>
            <a:ext cx="1036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社区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24000" y="1755648"/>
            <a:ext cx="2072640" cy="75438"/>
          </a:xfrm>
          <a:prstGeom prst="roundRect">
            <a:avLst>
              <a:gd name="adj" fmla="val 40000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24000" y="1755648"/>
            <a:ext cx="1414217" cy="75438"/>
          </a:xfrm>
          <a:prstGeom prst="roundRect">
            <a:avLst>
              <a:gd name="adj" fmla="val 40000"/>
            </a:avLst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9520" y="172821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30.5% / 44.2%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" y="2002536"/>
            <a:ext cx="1036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企业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24000" y="2029968"/>
            <a:ext cx="2072640" cy="75438"/>
          </a:xfrm>
          <a:prstGeom prst="roundRect">
            <a:avLst>
              <a:gd name="adj" fmla="val 40000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524000" y="2029968"/>
            <a:ext cx="1149921" cy="75438"/>
          </a:xfrm>
          <a:prstGeom prst="roundRect">
            <a:avLst>
              <a:gd name="adj" fmla="val 40000"/>
            </a:avLst>
          </a:prstGeom>
          <a:solidFill>
            <a:srgbClr val="9A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520" y="20025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24.8% / 28.8%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720" y="2331720"/>
            <a:ext cx="53644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B8E94"/>
                </a:solidFill>
                <a:latin typeface="微软雅黑"/>
                <a:ea typeface="微软雅黑"/>
                <a:cs typeface="微软雅黑"/>
              </a:rPr>
              <a:t>社区 = 个人/社区作者；ClawHub = 外部同步；企业 = 认证企业。
Top1000 里 ClawHub 条数最多，但下载份额低于社区。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028700"/>
            <a:ext cx="536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分类：全站结构更均衡，商业/专业/AI/开发居前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193292"/>
            <a:ext cx="536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8E94"/>
                </a:solidFill>
                <a:latin typeface="微软雅黑"/>
                <a:ea typeface="微软雅黑"/>
                <a:cs typeface="微软雅黑"/>
              </a:rPr>
              <a:t>全站 200,403 条 · 条数占比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453896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商业运营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76160" y="1481328"/>
            <a:ext cx="1402080" cy="68580"/>
          </a:xfrm>
          <a:prstGeom prst="roundRect">
            <a:avLst>
              <a:gd name="adj" fmla="val 40000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76160" y="1481328"/>
            <a:ext cx="1402080" cy="68580"/>
          </a:xfrm>
          <a:prstGeom prst="roundRect">
            <a:avLst>
              <a:gd name="adj" fmla="val 40000"/>
            </a:avLst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00160" y="145389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15.2%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659636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专业服务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76160" y="1687068"/>
            <a:ext cx="1402080" cy="68580"/>
          </a:xfrm>
          <a:prstGeom prst="roundRect">
            <a:avLst>
              <a:gd name="adj" fmla="val 40000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76160" y="1687068"/>
            <a:ext cx="1070008" cy="68580"/>
          </a:xfrm>
          <a:prstGeom prst="roundRect">
            <a:avLst>
              <a:gd name="adj" fmla="val 40000"/>
            </a:avLst>
          </a:prstGeom>
          <a:solidFill>
            <a:srgbClr val="C9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00160" y="165963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11.6%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865376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AI Agent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76160" y="1892808"/>
            <a:ext cx="1402080" cy="68580"/>
          </a:xfrm>
          <a:prstGeom prst="roundRect">
            <a:avLst>
              <a:gd name="adj" fmla="val 40000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76160" y="1892808"/>
            <a:ext cx="1033111" cy="68580"/>
          </a:xfrm>
          <a:prstGeom prst="roundRect">
            <a:avLst>
              <a:gd name="adj" fmla="val 40000"/>
            </a:avLst>
          </a:prstGeom>
          <a:solidFill>
            <a:srgbClr val="C9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00160" y="186537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11.2%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071116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开发编程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76160" y="2098548"/>
            <a:ext cx="1402080" cy="68580"/>
          </a:xfrm>
          <a:prstGeom prst="roundRect">
            <a:avLst>
              <a:gd name="adj" fmla="val 40000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76160" y="2098548"/>
            <a:ext cx="977766" cy="68580"/>
          </a:xfrm>
          <a:prstGeom prst="roundRect">
            <a:avLst>
              <a:gd name="adj" fmla="val 40000"/>
            </a:avLst>
          </a:prstGeom>
          <a:solidFill>
            <a:srgbClr val="C9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00160" y="207111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10.6%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276856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内容创作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76160" y="2304288"/>
            <a:ext cx="1402080" cy="68580"/>
          </a:xfrm>
          <a:prstGeom prst="roundRect">
            <a:avLst>
              <a:gd name="adj" fmla="val 40000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76160" y="2304288"/>
            <a:ext cx="867075" cy="68580"/>
          </a:xfrm>
          <a:prstGeom prst="roundRect">
            <a:avLst>
              <a:gd name="adj" fmla="val 40000"/>
            </a:avLst>
          </a:prstGeom>
          <a:solidFill>
            <a:srgbClr val="C9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00160" y="227685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9.4%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2482596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设计多媒体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76160" y="2510028"/>
            <a:ext cx="1402080" cy="68580"/>
          </a:xfrm>
          <a:prstGeom prst="roundRect">
            <a:avLst>
              <a:gd name="adj" fmla="val 40000"/>
            </a:avLst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376160" y="2510028"/>
            <a:ext cx="682591" cy="68580"/>
          </a:xfrm>
          <a:prstGeom prst="roundRect">
            <a:avLst>
              <a:gd name="adj" fmla="val 40000"/>
            </a:avLst>
          </a:prstGeom>
          <a:solidFill>
            <a:srgbClr val="C9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00160" y="248259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7.4%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2777490"/>
            <a:ext cx="536448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8B8E94"/>
                </a:solidFill>
                <a:latin typeface="微软雅黑"/>
                <a:ea typeface="微软雅黑"/>
                <a:cs typeface="微软雅黑"/>
              </a:rPr>
              <a:t>其余 6 类合计 34.7%；12 个内容分类基本覆盖全站（10 条未挂类目）。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2962656"/>
            <a:ext cx="536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8E94"/>
                </a:solidFill>
                <a:latin typeface="微软雅黑"/>
                <a:ea typeface="微软雅黑"/>
                <a:cs typeface="微软雅黑"/>
              </a:rPr>
              <a:t>对比 Top1000：AI Agent 15.8%、开发 7.2%，头部结构与全站不同。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6720" y="3566160"/>
            <a:ext cx="536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付费与 API Key：全站 10.0% / 19.3%，头部结构相反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6720" y="3730752"/>
            <a:ext cx="536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8E94"/>
                </a:solidFill>
                <a:latin typeface="微软雅黑"/>
                <a:ea typeface="微软雅黑"/>
                <a:cs typeface="微软雅黑"/>
              </a:rPr>
              <a:t>全站 200,403 条 · 条数占比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6720" y="3963923"/>
            <a:ext cx="140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10.0%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6720" y="4217670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Pay Skill（20,125 条）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26080" y="3963923"/>
            <a:ext cx="140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19.3%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0" y="4217670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API Key（38,646 条）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6720" y="4491990"/>
            <a:ext cx="5364480" cy="5829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B8E94"/>
                </a:solidFill>
                <a:latin typeface="微软雅黑"/>
                <a:ea typeface="微软雅黑"/>
                <a:cs typeface="微软雅黑"/>
              </a:rPr>
              <a:t>付费标签 17,123（8.5%）、支付宝 2,901（1.4%）；Pay Skill 且 API Key 331 条。
Top1000：付费 0.9%、API Key 30.7%；Pay Skill 是多标签分类，不计入左侧 12 类。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3566160"/>
            <a:ext cx="536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消费集中度：Top10 拿走 31.3%，Top100 拿走 63.3%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3730752"/>
            <a:ext cx="536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8E94"/>
                </a:solidFill>
                <a:latin typeface="微软雅黑"/>
                <a:ea typeface="微软雅黑"/>
                <a:cs typeface="微软雅黑"/>
              </a:rPr>
              <a:t>Top1000 总下载约 1.04 亿；中位 32,907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3963923"/>
            <a:ext cx="158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31.3%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4217670"/>
            <a:ext cx="158496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Top10 下载占比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85760" y="3963923"/>
            <a:ext cx="158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63.3%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85760" y="4217670"/>
            <a:ext cx="158496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Top100 下载占比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53600" y="3963923"/>
            <a:ext cx="158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443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53600" y="4217670"/>
            <a:ext cx="158496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installs=0 的条数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0" y="4560570"/>
            <a:ext cx="536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8B8E94"/>
                </a:solidFill>
                <a:latin typeface="微软雅黑"/>
                <a:ea typeface="微软雅黑"/>
                <a:cs typeface="微软雅黑"/>
              </a:rPr>
              <a:t>Top1 占 5.0%，Top3 占 14.7%；下载含 CLI/镜像拉取，不等于安装或使用。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6720" y="5863590"/>
            <a:ext cx="1133856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读法：全站付费 10%、API Key 19%，但头部下载集中在编程；Top1000 付费标签只有 0.9%。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" name="文字 6"/>
          <p:cNvSpPr txBox="1"/>
          <p:nvPr/>
        </p:nvSpPr>
        <p:spPr>
          <a:xfrm>
            <a:off x="457200" y="308610"/>
            <a:ext cx="11247120" cy="387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2400" b="1">
                <a:latin typeface="微软雅黑"/>
              </a:defRPr>
            </a:pPr>
            <a:r>
              <a:rPr sz="2400" b="1" i="0" u="none" spc="0">
                <a:solidFill>
                  <a:srgbClr val="C7000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从魔搭、SkillHub 到智果园：Skill 资产平台的四个必答题</a:t>
            </a:r>
            <a:endParaRPr/>
          </a:p>
        </p:txBody>
      </p:sp>
      <p:sp>
        <p:nvSpPr>
          <p:cNvPr id="8" name="形状 8"/>
          <p:cNvSpPr/>
          <p:nvPr/>
        </p:nvSpPr>
        <p:spPr>
          <a:xfrm>
            <a:off x="457200" y="1107380"/>
            <a:ext cx="3699867" cy="1013222"/>
          </a:xfrm>
          <a:prstGeom prst="roundRect">
            <a:avLst>
              <a:gd name="adj" fmla="val 5014"/>
            </a:avLst>
          </a:prstGeom>
          <a:noFill/>
          <a:ln w="6350">
            <a:solidFill>
              <a:srgbClr val="D5D9DE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文字 9"/>
          <p:cNvSpPr txBox="1"/>
          <p:nvPr/>
        </p:nvSpPr>
        <p:spPr>
          <a:xfrm>
            <a:off x="558800" y="1189931"/>
            <a:ext cx="915789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魔搭 Skills 中心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558800" y="1380430"/>
            <a:ext cx="1351359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83,509 skills · 10 类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558800" y="1564581"/>
            <a:ext cx="1270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强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698698" y="1564581"/>
            <a:ext cx="2218631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Agent Skills 标准、CLI 多宿主、规模与长尾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558800" y="1737221"/>
            <a:ext cx="1270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弱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698698" y="1737221"/>
            <a:ext cx="236984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无技能级试运行；30.9% 聚合镜像，官方 0.4%</a:t>
            </a:r>
            <a:endParaRPr/>
          </a:p>
        </p:txBody>
      </p:sp>
      <p:sp>
        <p:nvSpPr>
          <p:cNvPr id="15" name="形状 15"/>
          <p:cNvSpPr/>
          <p:nvPr/>
        </p:nvSpPr>
        <p:spPr>
          <a:xfrm>
            <a:off x="4245967" y="1107380"/>
            <a:ext cx="3699966" cy="1013222"/>
          </a:xfrm>
          <a:prstGeom prst="roundRect">
            <a:avLst>
              <a:gd name="adj" fmla="val 5014"/>
            </a:avLst>
          </a:prstGeom>
          <a:noFill/>
          <a:ln w="6350">
            <a:solidFill>
              <a:srgbClr val="D5D9DE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文字 16"/>
          <p:cNvSpPr txBox="1"/>
          <p:nvPr/>
        </p:nvSpPr>
        <p:spPr>
          <a:xfrm>
            <a:off x="4347567" y="1189931"/>
            <a:ext cx="828973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腾讯 SkillHub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4347567" y="1380430"/>
            <a:ext cx="2214959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199,516 skills · 1,993 企业 · 13 类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4347567" y="1564581"/>
            <a:ext cx="1270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强</a:t>
            </a:r>
            <a:endParaRPr/>
          </a:p>
        </p:txBody>
      </p:sp>
      <p:sp>
        <p:nvSpPr>
          <p:cNvPr id="19" name="文字 19"/>
          <p:cNvSpPr txBox="1"/>
          <p:nvPr/>
        </p:nvSpPr>
        <p:spPr>
          <a:xfrm>
            <a:off x="4487466" y="1564581"/>
            <a:ext cx="319196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TRACE 5 维/15 子项 + 双路安全 + 签名；抽样企业 100% 覆盖；</a:t>
            </a:r>
            <a:endParaRPr/>
          </a:p>
        </p:txBody>
      </p:sp>
      <p:sp>
        <p:nvSpPr>
          <p:cNvPr id="20" name="文字 20"/>
          <p:cNvSpPr txBox="1"/>
          <p:nvPr/>
        </p:nvSpPr>
        <p:spPr>
          <a:xfrm>
            <a:off x="4347567" y="1724521"/>
            <a:ext cx="799306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SkillPay 商品化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4347567" y="1897162"/>
            <a:ext cx="1270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弱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4487466" y="1897162"/>
            <a:ext cx="3175893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抽样：社区 74%、ClawHub 0%；72.5% ≥4.5；评测错配风险</a:t>
            </a:r>
            <a:endParaRPr/>
          </a:p>
        </p:txBody>
      </p:sp>
      <p:sp>
        <p:nvSpPr>
          <p:cNvPr id="23" name="形状 23"/>
          <p:cNvSpPr/>
          <p:nvPr/>
        </p:nvSpPr>
        <p:spPr>
          <a:xfrm>
            <a:off x="8034834" y="1107380"/>
            <a:ext cx="3699967" cy="1013222"/>
          </a:xfrm>
          <a:prstGeom prst="roundRect">
            <a:avLst>
              <a:gd name="adj" fmla="val 5014"/>
            </a:avLst>
          </a:prstGeom>
          <a:noFill/>
          <a:ln w="6350">
            <a:solidFill>
              <a:srgbClr val="D5D9DE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文字 24"/>
          <p:cNvSpPr txBox="1"/>
          <p:nvPr/>
        </p:nvSpPr>
        <p:spPr>
          <a:xfrm>
            <a:off x="8136434" y="1189931"/>
            <a:ext cx="1336675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华为智果园 AI 资产广场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8136434" y="1380430"/>
            <a:ext cx="199906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239 Skills · 行业 / 云服务 / 通用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8136434" y="1564581"/>
            <a:ext cx="1270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强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8276332" y="1564581"/>
            <a:ext cx="3323233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Agent Skills 标准、10MB 包规范、完整度评估、trace 驱动优化、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8136434" y="1724521"/>
            <a:ext cx="11557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多平台分发、商店变现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8136434" y="1897162"/>
            <a:ext cx="1270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弱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8276332" y="1897162"/>
            <a:ext cx="3074095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规模早期、仅贵阳一、导入/管理/浏览为主、部分需申请使用</a:t>
            </a:r>
            <a:endParaRPr/>
          </a:p>
        </p:txBody>
      </p:sp>
      <p:pic>
        <p:nvPicPr>
          <p:cNvPr id="31" name="slide-00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09502"/>
            <a:ext cx="5549900" cy="740966"/>
          </a:xfrm>
          <a:prstGeom prst="rect">
            <a:avLst/>
          </a:prstGeom>
        </p:spPr>
      </p:pic>
      <p:sp>
        <p:nvSpPr>
          <p:cNvPr id="32" name="文字 32"/>
          <p:cNvSpPr txBox="1"/>
          <p:nvPr/>
        </p:nvSpPr>
        <p:spPr>
          <a:xfrm>
            <a:off x="457200" y="2260302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01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457200" y="2412702"/>
            <a:ext cx="21082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标准与分发：一个包，多平台触达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457200" y="2619673"/>
            <a:ext cx="5279727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沿用 Agent Skills 标准与 ZIP（≤10MB）；npx skills add / skills.sh 安装；一发布分发 CodeArts、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457200" y="2794595"/>
            <a:ext cx="3537248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ModelArts、AgentArts、CloudRobo；版本/可见性/许可证齐全。</a:t>
            </a:r>
            <a:endParaRPr/>
          </a:p>
        </p:txBody>
      </p:sp>
      <p:pic>
        <p:nvPicPr>
          <p:cNvPr id="36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00" y="2209502"/>
            <a:ext cx="5549901" cy="740966"/>
          </a:xfrm>
          <a:prstGeom prst="rect">
            <a:avLst/>
          </a:prstGeom>
        </p:spPr>
      </p:pic>
      <p:sp>
        <p:nvSpPr>
          <p:cNvPr id="37" name="文字 37"/>
          <p:cNvSpPr txBox="1"/>
          <p:nvPr/>
        </p:nvSpPr>
        <p:spPr>
          <a:xfrm>
            <a:off x="6184900" y="2260302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02</a:t>
            </a:r>
            <a:endParaRPr/>
          </a:p>
        </p:txBody>
      </p:sp>
      <p:sp>
        <p:nvSpPr>
          <p:cNvPr id="38" name="文字 38"/>
          <p:cNvSpPr txBox="1"/>
          <p:nvPr/>
        </p:nvSpPr>
        <p:spPr>
          <a:xfrm>
            <a:off x="6184900" y="2412702"/>
            <a:ext cx="21082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质量与信任：把证据放在分数前面</a:t>
            </a:r>
            <a:endParaRPr/>
          </a:p>
        </p:txBody>
      </p:sp>
      <p:sp>
        <p:nvSpPr>
          <p:cNvPr id="39" name="文字 39"/>
          <p:cNvSpPr txBox="1"/>
          <p:nvPr/>
        </p:nvSpPr>
        <p:spPr>
          <a:xfrm>
            <a:off x="6184900" y="2619673"/>
            <a:ext cx="5484019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完整度评估（步骤/输入输出/前置条件/错误处理）+ 安全审核 + 内容指纹/签名；评测报告公开、绑定版</a:t>
            </a:r>
            <a:endParaRPr/>
          </a:p>
        </p:txBody>
      </p:sp>
      <p:sp>
        <p:nvSpPr>
          <p:cNvPr id="40" name="文字 40"/>
          <p:cNvSpPr txBox="1"/>
          <p:nvPr/>
        </p:nvSpPr>
        <p:spPr>
          <a:xfrm>
            <a:off x="6184900" y="2794595"/>
            <a:ext cx="17018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本，避免高分集中和黑箱评分。</a:t>
            </a:r>
            <a:endParaRPr/>
          </a:p>
        </p:txBody>
      </p:sp>
      <p:pic>
        <p:nvPicPr>
          <p:cNvPr id="41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90168"/>
            <a:ext cx="5549900" cy="740966"/>
          </a:xfrm>
          <a:prstGeom prst="rect">
            <a:avLst/>
          </a:prstGeom>
        </p:spPr>
      </p:pic>
      <p:sp>
        <p:nvSpPr>
          <p:cNvPr id="42" name="文字 42"/>
          <p:cNvSpPr txBox="1"/>
          <p:nvPr/>
        </p:nvSpPr>
        <p:spPr>
          <a:xfrm>
            <a:off x="457200" y="3140968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03</a:t>
            </a:r>
            <a:endParaRPr/>
          </a:p>
        </p:txBody>
      </p:sp>
      <p:sp>
        <p:nvSpPr>
          <p:cNvPr id="43" name="文字 43"/>
          <p:cNvSpPr txBox="1"/>
          <p:nvPr/>
        </p:nvSpPr>
        <p:spPr>
          <a:xfrm>
            <a:off x="457200" y="3293368"/>
            <a:ext cx="2260203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供给与生态：官方 + 行业 + 社区三层</a:t>
            </a:r>
            <a:endParaRPr/>
          </a:p>
        </p:txBody>
      </p:sp>
      <p:sp>
        <p:nvSpPr>
          <p:cNvPr id="44" name="文字 44"/>
          <p:cNvSpPr txBox="1"/>
          <p:nvPr/>
        </p:nvSpPr>
        <p:spPr>
          <a:xfrm>
            <a:off x="457200" y="3500338"/>
            <a:ext cx="5554266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官方做标杆，行业/企业做深度，社区做长尾；239 个只是起点，先做 5–10 个垂直行业标杆，再补分类、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457200" y="3675261"/>
            <a:ext cx="10985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搜索、榜单、合集。</a:t>
            </a:r>
            <a:endParaRPr/>
          </a:p>
        </p:txBody>
      </p:sp>
      <p:pic>
        <p:nvPicPr>
          <p:cNvPr id="46" name="slide-001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4900" y="3090168"/>
            <a:ext cx="5549901" cy="740966"/>
          </a:xfrm>
          <a:prstGeom prst="rect">
            <a:avLst/>
          </a:prstGeom>
        </p:spPr>
      </p:pic>
      <p:sp>
        <p:nvSpPr>
          <p:cNvPr id="47" name="文字 47"/>
          <p:cNvSpPr txBox="1"/>
          <p:nvPr/>
        </p:nvSpPr>
        <p:spPr>
          <a:xfrm>
            <a:off x="6184900" y="3140968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04</a:t>
            </a:r>
            <a:endParaRPr/>
          </a:p>
        </p:txBody>
      </p:sp>
      <p:sp>
        <p:nvSpPr>
          <p:cNvPr id="48" name="文字 48"/>
          <p:cNvSpPr txBox="1"/>
          <p:nvPr/>
        </p:nvSpPr>
        <p:spPr>
          <a:xfrm>
            <a:off x="6184900" y="3293368"/>
            <a:ext cx="16891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商业与治理：从能用到能卖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6184900" y="3500338"/>
            <a:ext cx="5491262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商店上架 + 调用收益 + 持续创收；license/来源/退款/争议要可追溯；下载不等于用户，跨平台数据口径</a:t>
            </a:r>
            <a:endParaRPr/>
          </a:p>
        </p:txBody>
      </p:sp>
      <p:sp>
        <p:nvSpPr>
          <p:cNvPr id="50" name="文字 50"/>
          <p:cNvSpPr txBox="1"/>
          <p:nvPr/>
        </p:nvSpPr>
        <p:spPr>
          <a:xfrm>
            <a:off x="6184900" y="3675261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要统一。</a:t>
            </a:r>
            <a:endParaRPr/>
          </a:p>
        </p:txBody>
      </p:sp>
      <p:sp>
        <p:nvSpPr>
          <p:cNvPr id="51" name="形状 51"/>
          <p:cNvSpPr/>
          <p:nvPr/>
        </p:nvSpPr>
        <p:spPr>
          <a:xfrm>
            <a:off x="457200" y="3920034"/>
            <a:ext cx="3699867" cy="987822"/>
          </a:xfrm>
          <a:prstGeom prst="roundRect">
            <a:avLst>
              <a:gd name="adj" fmla="val 5143"/>
            </a:avLst>
          </a:prstGeom>
          <a:noFill/>
          <a:ln w="6350">
            <a:solidFill>
              <a:srgbClr val="E2E4E7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文字 52"/>
          <p:cNvSpPr txBox="1"/>
          <p:nvPr/>
        </p:nvSpPr>
        <p:spPr>
          <a:xfrm>
            <a:off x="546100" y="3996234"/>
            <a:ext cx="48895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P0 · 现在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546100" y="4142284"/>
            <a:ext cx="901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统一入口与证据</a:t>
            </a:r>
            <a:endParaRPr/>
          </a:p>
        </p:txBody>
      </p:sp>
      <p:sp>
        <p:nvSpPr>
          <p:cNvPr id="54" name="文字 54"/>
          <p:cNvSpPr txBox="1"/>
          <p:nvPr/>
        </p:nvSpPr>
        <p:spPr>
          <a:xfrm>
            <a:off x="546100" y="4339134"/>
            <a:ext cx="1613694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· 包规范/导入导出/版本可见性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546100" y="4518124"/>
            <a:ext cx="2209999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· 详情页补安装命令、文件、许可证、作者</a:t>
            </a:r>
            <a:endParaRPr/>
          </a:p>
        </p:txBody>
      </p:sp>
      <p:sp>
        <p:nvSpPr>
          <p:cNvPr id="56" name="文字 56"/>
          <p:cNvSpPr txBox="1"/>
          <p:nvPr/>
        </p:nvSpPr>
        <p:spPr>
          <a:xfrm>
            <a:off x="546100" y="4697115"/>
            <a:ext cx="108198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· 接入 skills.sh 分发</a:t>
            </a:r>
            <a:endParaRPr/>
          </a:p>
        </p:txBody>
      </p:sp>
      <p:sp>
        <p:nvSpPr>
          <p:cNvPr id="57" name="形状 57"/>
          <p:cNvSpPr/>
          <p:nvPr/>
        </p:nvSpPr>
        <p:spPr>
          <a:xfrm>
            <a:off x="4245967" y="3920034"/>
            <a:ext cx="3699966" cy="987822"/>
          </a:xfrm>
          <a:prstGeom prst="roundRect">
            <a:avLst>
              <a:gd name="adj" fmla="val 5143"/>
            </a:avLst>
          </a:prstGeom>
          <a:noFill/>
          <a:ln w="6350">
            <a:solidFill>
              <a:srgbClr val="E2E4E7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文字 58"/>
          <p:cNvSpPr txBox="1"/>
          <p:nvPr/>
        </p:nvSpPr>
        <p:spPr>
          <a:xfrm>
            <a:off x="4334867" y="3996234"/>
            <a:ext cx="71755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P1 · 3–6 个月</a:t>
            </a:r>
            <a:endParaRPr/>
          </a:p>
        </p:txBody>
      </p:sp>
      <p:sp>
        <p:nvSpPr>
          <p:cNvPr id="59" name="文字 59"/>
          <p:cNvSpPr txBox="1"/>
          <p:nvPr/>
        </p:nvSpPr>
        <p:spPr>
          <a:xfrm>
            <a:off x="4334867" y="4142284"/>
            <a:ext cx="901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质量与供给运营</a:t>
            </a:r>
            <a:endParaRPr/>
          </a:p>
        </p:txBody>
      </p:sp>
      <p:sp>
        <p:nvSpPr>
          <p:cNvPr id="60" name="文字 60"/>
          <p:cNvSpPr txBox="1"/>
          <p:nvPr/>
        </p:nvSpPr>
        <p:spPr>
          <a:xfrm>
            <a:off x="4334867" y="4339134"/>
            <a:ext cx="1867594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· 完整度评测 + 安全审核 + 评测报告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4334867" y="4518124"/>
            <a:ext cx="14097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· trace 驱动 Skill 优化闭环</a:t>
            </a:r>
            <a:endParaRPr/>
          </a:p>
        </p:txBody>
      </p:sp>
      <p:sp>
        <p:nvSpPr>
          <p:cNvPr id="62" name="文字 62"/>
          <p:cNvSpPr txBox="1"/>
          <p:nvPr/>
        </p:nvSpPr>
        <p:spPr>
          <a:xfrm>
            <a:off x="4334867" y="4697115"/>
            <a:ext cx="1454646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· 企业/行业供给与分类榜单</a:t>
            </a:r>
            <a:endParaRPr/>
          </a:p>
        </p:txBody>
      </p:sp>
      <p:sp>
        <p:nvSpPr>
          <p:cNvPr id="63" name="形状 63"/>
          <p:cNvSpPr/>
          <p:nvPr/>
        </p:nvSpPr>
        <p:spPr>
          <a:xfrm>
            <a:off x="8034834" y="3920034"/>
            <a:ext cx="3699967" cy="987822"/>
          </a:xfrm>
          <a:prstGeom prst="roundRect">
            <a:avLst>
              <a:gd name="adj" fmla="val 5143"/>
            </a:avLst>
          </a:prstGeom>
          <a:noFill/>
          <a:ln w="6350">
            <a:solidFill>
              <a:srgbClr val="E2E4E7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4" name="文字 64"/>
          <p:cNvSpPr txBox="1"/>
          <p:nvPr/>
        </p:nvSpPr>
        <p:spPr>
          <a:xfrm>
            <a:off x="8123734" y="3996234"/>
            <a:ext cx="77470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P2 · 6–12 个月</a:t>
            </a:r>
            <a:endParaRPr/>
          </a:p>
        </p:txBody>
      </p:sp>
      <p:sp>
        <p:nvSpPr>
          <p:cNvPr id="65" name="文字 65"/>
          <p:cNvSpPr txBox="1"/>
          <p:nvPr/>
        </p:nvSpPr>
        <p:spPr>
          <a:xfrm>
            <a:off x="8123734" y="4142284"/>
            <a:ext cx="647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商业与生态</a:t>
            </a:r>
            <a:endParaRPr/>
          </a:p>
        </p:txBody>
      </p:sp>
      <p:sp>
        <p:nvSpPr>
          <p:cNvPr id="66" name="文字 66"/>
          <p:cNvSpPr txBox="1"/>
          <p:nvPr/>
        </p:nvSpPr>
        <p:spPr>
          <a:xfrm>
            <a:off x="8123734" y="4339134"/>
            <a:ext cx="1385094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· 商店上架/调用计费/分成</a:t>
            </a:r>
            <a:endParaRPr/>
          </a:p>
        </p:txBody>
      </p:sp>
      <p:sp>
        <p:nvSpPr>
          <p:cNvPr id="67" name="文字 67"/>
          <p:cNvSpPr txBox="1"/>
          <p:nvPr/>
        </p:nvSpPr>
        <p:spPr>
          <a:xfrm>
            <a:off x="8123734" y="4518124"/>
            <a:ext cx="952699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· 跨平台分发数据</a:t>
            </a:r>
            <a:endParaRPr/>
          </a:p>
        </p:txBody>
      </p:sp>
      <p:sp>
        <p:nvSpPr>
          <p:cNvPr id="68" name="文字 68"/>
          <p:cNvSpPr txBox="1"/>
          <p:nvPr/>
        </p:nvSpPr>
        <p:spPr>
          <a:xfrm>
            <a:off x="8123734" y="4697115"/>
            <a:ext cx="1181299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· 生态指标与治理机制</a:t>
            </a:r>
            <a:endParaRPr/>
          </a:p>
        </p:txBody>
      </p:sp>
      <p:pic>
        <p:nvPicPr>
          <p:cNvPr id="69" name="slide-001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984055"/>
            <a:ext cx="11277600" cy="413941"/>
          </a:xfrm>
          <a:prstGeom prst="rect">
            <a:avLst/>
          </a:prstGeom>
        </p:spPr>
      </p:pic>
      <p:sp>
        <p:nvSpPr>
          <p:cNvPr id="70" name="文字 70"/>
          <p:cNvSpPr txBox="1"/>
          <p:nvPr/>
        </p:nvSpPr>
        <p:spPr>
          <a:xfrm>
            <a:off x="457200" y="5060255"/>
            <a:ext cx="774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标准是入场券</a:t>
            </a:r>
            <a:endParaRPr/>
          </a:p>
        </p:txBody>
      </p:sp>
      <p:sp>
        <p:nvSpPr>
          <p:cNvPr id="71" name="文字 71"/>
          <p:cNvSpPr txBox="1"/>
          <p:nvPr/>
        </p:nvSpPr>
        <p:spPr>
          <a:xfrm>
            <a:off x="457200" y="5250756"/>
            <a:ext cx="3053259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三平台都遵循 Agent Skills；差异不在格式，在分发与治理。</a:t>
            </a:r>
            <a:endParaRPr/>
          </a:p>
        </p:txBody>
      </p:sp>
      <p:sp>
        <p:nvSpPr>
          <p:cNvPr id="72" name="文字 72"/>
          <p:cNvSpPr txBox="1"/>
          <p:nvPr/>
        </p:nvSpPr>
        <p:spPr>
          <a:xfrm>
            <a:off x="4254500" y="5060255"/>
            <a:ext cx="647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评测是信任</a:t>
            </a:r>
            <a:endParaRPr/>
          </a:p>
        </p:txBody>
      </p:sp>
      <p:sp>
        <p:nvSpPr>
          <p:cNvPr id="73" name="文字 73"/>
          <p:cNvSpPr txBox="1"/>
          <p:nvPr/>
        </p:nvSpPr>
        <p:spPr>
          <a:xfrm>
            <a:off x="4254500" y="5250756"/>
            <a:ext cx="3074095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都在补评测/安全/签名；覆盖、口径与版本一致性才是难点。</a:t>
            </a:r>
            <a:endParaRPr/>
          </a:p>
        </p:txBody>
      </p:sp>
      <p:sp>
        <p:nvSpPr>
          <p:cNvPr id="74" name="文字 74"/>
          <p:cNvSpPr txBox="1"/>
          <p:nvPr/>
        </p:nvSpPr>
        <p:spPr>
          <a:xfrm>
            <a:off x="8051800" y="5060255"/>
            <a:ext cx="647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生态是规模</a:t>
            </a:r>
            <a:endParaRPr/>
          </a:p>
        </p:txBody>
      </p:sp>
      <p:sp>
        <p:nvSpPr>
          <p:cNvPr id="75" name="文字 75"/>
          <p:cNvSpPr txBox="1"/>
          <p:nvPr/>
        </p:nvSpPr>
        <p:spPr>
          <a:xfrm>
            <a:off x="8051800" y="5250756"/>
            <a:ext cx="2642195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官方 + 企业 + 社区三层；商业化决定能否持续供给。</a:t>
            </a:r>
            <a:endParaRPr/>
          </a:p>
        </p:txBody>
      </p:sp>
      <p:pic>
        <p:nvPicPr>
          <p:cNvPr id="76" name="slide-001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6324600"/>
            <a:ext cx="11277600" cy="254001"/>
          </a:xfrm>
          <a:prstGeom prst="rect">
            <a:avLst/>
          </a:prstGeom>
        </p:spPr>
      </p:pic>
      <p:sp>
        <p:nvSpPr>
          <p:cNvPr id="77" name="文字 77"/>
          <p:cNvSpPr txBox="1"/>
          <p:nvPr/>
        </p:nvSpPr>
        <p:spPr>
          <a:xfrm>
            <a:off x="457200" y="6407150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一句话：</a:t>
            </a:r>
            <a:endParaRPr/>
          </a:p>
        </p:txBody>
      </p:sp>
      <p:sp>
        <p:nvSpPr>
          <p:cNvPr id="78" name="文字 78"/>
          <p:cNvSpPr txBox="1"/>
          <p:nvPr/>
        </p:nvSpPr>
        <p:spPr>
          <a:xfrm>
            <a:off x="1054100" y="6407150"/>
            <a:ext cx="894814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智果园不必重造一个市场，而应把「标准入口 + 质量证据 + 行业供给 + 商业闭环」做成可复用的能力层；评测和分发是两条护城河，供给运营是胜负手。</a:t>
            </a:r>
            <a:endParaRPr/>
          </a:p>
        </p:txBody>
      </p:sp>
      <p:pic>
        <p:nvPicPr>
          <p:cNvPr id="80" name="slide-001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98678" y="6590135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" name="文字 7"/>
          <p:cNvSpPr txBox="1"/>
          <p:nvPr/>
        </p:nvSpPr>
        <p:spPr>
          <a:xfrm>
            <a:off x="457200" y="308610"/>
            <a:ext cx="11247120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2400" b="1">
                <a:latin typeface="微软雅黑"/>
              </a:defRPr>
            </a:pPr>
            <a:r>
              <a:rPr sz="2400" b="1" i="0" u="none" spc="0">
                <a:solidFill>
                  <a:srgbClr val="C7000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SkillHub 已有按次收费供给，平台暂不收技术服务费</a:t>
            </a:r>
            <a:endParaRPr/>
          </a:p>
        </p:txBody>
      </p:sp>
      <p:sp>
        <p:nvSpPr>
          <p:cNvPr id="9" name="文字 9"/>
          <p:cNvSpPr txBox="1"/>
          <p:nvPr/>
        </p:nvSpPr>
        <p:spPr>
          <a:xfrm>
            <a:off x="457200" y="1021060"/>
            <a:ext cx="831850" cy="361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5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19.95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1327150" y="1141710"/>
            <a:ext cx="317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万条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457200" y="1417538"/>
            <a:ext cx="138251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公开 Skill 条目 199,545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4290417" y="1021060"/>
            <a:ext cx="914400" cy="361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5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10.0%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4290417" y="1417538"/>
            <a:ext cx="114637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付费标签 19,962 条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8123734" y="1021060"/>
            <a:ext cx="914400" cy="361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5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19.3%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8123734" y="1417538"/>
            <a:ext cx="153551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需 API Key 标签 38,568 条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457200" y="1862038"/>
            <a:ext cx="138430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付费供给约占一成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457200" y="2186484"/>
            <a:ext cx="217001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付费标签 10.0%，其余条目约 90.0%</a:t>
            </a:r>
            <a:endParaRPr/>
          </a:p>
        </p:txBody>
      </p:sp>
      <p:sp>
        <p:nvSpPr>
          <p:cNvPr id="18" name="形状 18"/>
          <p:cNvSpPr/>
          <p:nvPr/>
        </p:nvSpPr>
        <p:spPr>
          <a:xfrm>
            <a:off x="457200" y="2455664"/>
            <a:ext cx="282277" cy="165100"/>
          </a:xfrm>
          <a:prstGeom prst="rect">
            <a:avLst/>
          </a:prstGeom>
          <a:solidFill>
            <a:srgbClr val="B5333B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9" name="形状 19"/>
          <p:cNvSpPr/>
          <p:nvPr/>
        </p:nvSpPr>
        <p:spPr>
          <a:xfrm>
            <a:off x="739477" y="2455664"/>
            <a:ext cx="47823" cy="16510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" name="形状 20"/>
          <p:cNvSpPr/>
          <p:nvPr/>
        </p:nvSpPr>
        <p:spPr>
          <a:xfrm>
            <a:off x="787301" y="2455664"/>
            <a:ext cx="2971800" cy="165100"/>
          </a:xfrm>
          <a:prstGeom prst="rect">
            <a:avLst/>
          </a:prstGeom>
          <a:solidFill>
            <a:srgbClr val="E9EBEE">
              <a:alpha val="100000"/>
            </a:srgbClr>
          </a:solidFill>
          <a:ln>
            <a:noFill/>
          </a:ln>
        </p:spPr>
        <p:txBody>
          <a:bodyPr/>
          <a:p/>
        </p:txBody>
      </p:sp>
      <p:pic>
        <p:nvPicPr>
          <p:cNvPr id="21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16014"/>
            <a:ext cx="3302000" cy="361950"/>
          </a:xfrm>
          <a:prstGeom prst="rect">
            <a:avLst/>
          </a:prstGeom>
        </p:spPr>
      </p:pic>
      <p:sp>
        <p:nvSpPr>
          <p:cNvPr id="22" name="文字 22"/>
          <p:cNvSpPr txBox="1"/>
          <p:nvPr/>
        </p:nvSpPr>
        <p:spPr>
          <a:xfrm>
            <a:off x="457200" y="2817614"/>
            <a:ext cx="59809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paid 标签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2641600" y="2817614"/>
            <a:ext cx="42009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17,061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3263900" y="2817614"/>
            <a:ext cx="34170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8.5%</a:t>
            </a:r>
            <a:endParaRPr/>
          </a:p>
        </p:txBody>
      </p:sp>
      <p:pic>
        <p:nvPicPr>
          <p:cNvPr id="25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77964"/>
            <a:ext cx="3302000" cy="361950"/>
          </a:xfrm>
          <a:prstGeom prst="rect">
            <a:avLst/>
          </a:prstGeom>
        </p:spPr>
      </p:pic>
      <p:sp>
        <p:nvSpPr>
          <p:cNvPr id="26" name="文字 26"/>
          <p:cNvSpPr txBox="1"/>
          <p:nvPr/>
        </p:nvSpPr>
        <p:spPr>
          <a:xfrm>
            <a:off x="457200" y="3179564"/>
            <a:ext cx="70951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566472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alipay 标签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2641600" y="3179564"/>
            <a:ext cx="34597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2,901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3263900" y="3179564"/>
            <a:ext cx="34170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1.5%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457200" y="3547864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两标签是官网付费识别的两种取值。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457200" y="3747889"/>
            <a:ext cx="249386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Pay Skill 目录另计 19,974 条，口径不同。</a:t>
            </a:r>
            <a:endParaRPr/>
          </a:p>
        </p:txBody>
      </p:sp>
      <p:pic>
        <p:nvPicPr>
          <p:cNvPr id="31" name="slide-001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74914"/>
            <a:ext cx="3302000" cy="323850"/>
          </a:xfrm>
          <a:prstGeom prst="rect">
            <a:avLst/>
          </a:prstGeom>
        </p:spPr>
      </p:pic>
      <p:sp>
        <p:nvSpPr>
          <p:cNvPr id="32" name="文字 32"/>
          <p:cNvSpPr txBox="1"/>
          <p:nvPr/>
        </p:nvSpPr>
        <p:spPr>
          <a:xfrm>
            <a:off x="457200" y="4201914"/>
            <a:ext cx="197911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API Key 依赖与付费分别统计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457200" y="4474964"/>
            <a:ext cx="231298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需 Key 占 19.3%，表示外部凭证依赖。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457200" y="4674989"/>
            <a:ext cx="189468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与付费标签交叉的仅约 332 条，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457200" y="4875014"/>
            <a:ext cx="216783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不能将需 Key 的条目全部算成付费。</a:t>
            </a:r>
            <a:endParaRPr/>
          </a:p>
        </p:txBody>
      </p:sp>
      <p:pic>
        <p:nvPicPr>
          <p:cNvPr id="36" name="slide-001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0650" y="1849338"/>
            <a:ext cx="3619500" cy="3282255"/>
          </a:xfrm>
          <a:prstGeom prst="rect">
            <a:avLst/>
          </a:prstGeom>
        </p:spPr>
      </p:pic>
      <p:sp>
        <p:nvSpPr>
          <p:cNvPr id="37" name="文字 37"/>
          <p:cNvSpPr txBox="1"/>
          <p:nvPr/>
        </p:nvSpPr>
        <p:spPr>
          <a:xfrm>
            <a:off x="4108450" y="1862038"/>
            <a:ext cx="172720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主要收费点在远程服务</a:t>
            </a:r>
            <a:endParaRPr/>
          </a:p>
        </p:txBody>
      </p:sp>
      <p:sp>
        <p:nvSpPr>
          <p:cNvPr id="38" name="文字 38"/>
          <p:cNvSpPr txBox="1"/>
          <p:nvPr/>
        </p:nvSpPr>
        <p:spPr>
          <a:xfrm>
            <a:off x="4108450" y="2199184"/>
            <a:ext cx="2138263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典型模式：Skill 包免费获取，</a:t>
            </a:r>
            <a:endParaRPr/>
          </a:p>
        </p:txBody>
      </p:sp>
      <p:sp>
        <p:nvSpPr>
          <p:cNvPr id="39" name="文字 39"/>
          <p:cNvSpPr txBox="1"/>
          <p:nvPr/>
        </p:nvSpPr>
        <p:spPr>
          <a:xfrm>
            <a:off x="4108450" y="2429371"/>
            <a:ext cx="17589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商户后端按服务调用收费</a:t>
            </a:r>
            <a:endParaRPr/>
          </a:p>
        </p:txBody>
      </p:sp>
      <p:sp>
        <p:nvSpPr>
          <p:cNvPr id="40" name="文字 40"/>
          <p:cNvSpPr txBox="1"/>
          <p:nvPr/>
        </p:nvSpPr>
        <p:spPr>
          <a:xfrm>
            <a:off x="4108450" y="2723059"/>
            <a:ext cx="343654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商家自主设定单次价格。Agent 按技能指令调用 API，用户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4108450" y="2923084"/>
            <a:ext cx="1212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在支付工具中授权。</a:t>
            </a:r>
            <a:endParaRPr/>
          </a:p>
        </p:txBody>
      </p:sp>
      <p:pic>
        <p:nvPicPr>
          <p:cNvPr id="42" name="slide-001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8450" y="3250108"/>
            <a:ext cx="3441700" cy="787400"/>
          </a:xfrm>
          <a:prstGeom prst="rect">
            <a:avLst/>
          </a:prstGeom>
        </p:spPr>
      </p:pic>
      <p:sp>
        <p:nvSpPr>
          <p:cNvPr id="43" name="文字 43"/>
          <p:cNvSpPr txBox="1"/>
          <p:nvPr/>
        </p:nvSpPr>
        <p:spPr>
          <a:xfrm>
            <a:off x="4108450" y="3389809"/>
            <a:ext cx="1425575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WorkRally 图片生成</a:t>
            </a:r>
            <a:endParaRPr/>
          </a:p>
        </p:txBody>
      </p:sp>
      <p:sp>
        <p:nvSpPr>
          <p:cNvPr id="44" name="文字 44"/>
          <p:cNvSpPr txBox="1"/>
          <p:nvPr/>
        </p:nvSpPr>
        <p:spPr>
          <a:xfrm>
            <a:off x="6860580" y="3389809"/>
            <a:ext cx="702271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¥0.36 / 次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4108450" y="3656509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腾讯科技（深圳）有限公司认证供给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4108450" y="3856534"/>
            <a:ext cx="237232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无需用户 API Key，远程生成并交付图片</a:t>
            </a:r>
            <a:endParaRPr/>
          </a:p>
        </p:txBody>
      </p:sp>
      <p:pic>
        <p:nvPicPr>
          <p:cNvPr id="47" name="slide-001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8450" y="4164509"/>
            <a:ext cx="3441700" cy="787400"/>
          </a:xfrm>
          <a:prstGeom prst="rect">
            <a:avLst/>
          </a:prstGeom>
        </p:spPr>
      </p:pic>
      <p:sp>
        <p:nvSpPr>
          <p:cNvPr id="48" name="文字 48"/>
          <p:cNvSpPr txBox="1"/>
          <p:nvPr/>
        </p:nvSpPr>
        <p:spPr>
          <a:xfrm>
            <a:off x="4108450" y="4304209"/>
            <a:ext cx="927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喜鹊标书解读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7089775" y="4304209"/>
            <a:ext cx="473076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¥1 / 次</a:t>
            </a:r>
            <a:endParaRPr/>
          </a:p>
        </p:txBody>
      </p:sp>
      <p:sp>
        <p:nvSpPr>
          <p:cNvPr id="50" name="文字 50"/>
          <p:cNvSpPr txBox="1"/>
          <p:nvPr/>
        </p:nvSpPr>
        <p:spPr>
          <a:xfrm>
            <a:off x="4108450" y="4570909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北京喜鹊云智科技有限公司认证供给</a:t>
            </a:r>
            <a:endParaRPr/>
          </a:p>
        </p:txBody>
      </p:sp>
      <p:sp>
        <p:nvSpPr>
          <p:cNvPr id="51" name="文字 51"/>
          <p:cNvSpPr txBox="1"/>
          <p:nvPr/>
        </p:nvSpPr>
        <p:spPr>
          <a:xfrm>
            <a:off x="4108450" y="4770934"/>
            <a:ext cx="246578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无需用户 API Key，交付摘要和三份 Word</a:t>
            </a:r>
            <a:endParaRPr/>
          </a:p>
        </p:txBody>
      </p:sp>
      <p:pic>
        <p:nvPicPr>
          <p:cNvPr id="52" name="slide-001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1600" y="1849338"/>
            <a:ext cx="4013201" cy="3282255"/>
          </a:xfrm>
          <a:prstGeom prst="rect">
            <a:avLst/>
          </a:prstGeom>
        </p:spPr>
      </p:pic>
      <p:sp>
        <p:nvSpPr>
          <p:cNvPr id="53" name="文字 53"/>
          <p:cNvSpPr txBox="1"/>
          <p:nvPr/>
        </p:nvSpPr>
        <p:spPr>
          <a:xfrm>
            <a:off x="7899400" y="1862038"/>
            <a:ext cx="22415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服务商变现，平台暂免服务费</a:t>
            </a:r>
            <a:endParaRPr/>
          </a:p>
        </p:txBody>
      </p:sp>
      <p:sp>
        <p:nvSpPr>
          <p:cNvPr id="54" name="文字 54"/>
          <p:cNvSpPr txBox="1"/>
          <p:nvPr/>
        </p:nvSpPr>
        <p:spPr>
          <a:xfrm>
            <a:off x="7899400" y="2122984"/>
            <a:ext cx="229890" cy="476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8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8205490" y="2326184"/>
            <a:ext cx="14414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当前平台技术服务费</a:t>
            </a:r>
            <a:endParaRPr/>
          </a:p>
        </p:txBody>
      </p:sp>
      <p:sp>
        <p:nvSpPr>
          <p:cNvPr id="56" name="文字 56"/>
          <p:cNvSpPr txBox="1"/>
          <p:nvPr/>
        </p:nvSpPr>
        <p:spPr>
          <a:xfrm>
            <a:off x="7899400" y="2643684"/>
            <a:ext cx="18796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官网明确暂不收取技术服务费。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7899400" y="2843709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支付渠道费用及结算仍按渠道规则。</a:t>
            </a:r>
            <a:endParaRPr/>
          </a:p>
        </p:txBody>
      </p:sp>
      <p:pic>
        <p:nvPicPr>
          <p:cNvPr id="58" name="slide-001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9400" y="3164384"/>
            <a:ext cx="3835401" cy="349250"/>
          </a:xfrm>
          <a:prstGeom prst="rect">
            <a:avLst/>
          </a:prstGeom>
        </p:spPr>
      </p:pic>
      <p:sp>
        <p:nvSpPr>
          <p:cNvPr id="59" name="文字 59"/>
          <p:cNvSpPr txBox="1"/>
          <p:nvPr/>
        </p:nvSpPr>
        <p:spPr>
          <a:xfrm>
            <a:off x="7899400" y="3310434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用户直接付款给创作者</a:t>
            </a:r>
            <a:endParaRPr/>
          </a:p>
        </p:txBody>
      </p:sp>
      <p:sp>
        <p:nvSpPr>
          <p:cNvPr id="60" name="文字 60"/>
          <p:cNvSpPr txBox="1"/>
          <p:nvPr/>
        </p:nvSpPr>
        <p:spPr>
          <a:xfrm>
            <a:off x="7899400" y="3589834"/>
            <a:ext cx="376892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SkillHub 提供展示、投诉处理及平台服务；交易款按渠道规则结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7899400" y="3789859"/>
            <a:ext cx="9461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算至绑定账户。</a:t>
            </a:r>
            <a:endParaRPr/>
          </a:p>
        </p:txBody>
      </p:sp>
      <p:pic>
        <p:nvPicPr>
          <p:cNvPr id="62" name="slide-001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99400" y="4116884"/>
            <a:ext cx="3835401" cy="349250"/>
          </a:xfrm>
          <a:prstGeom prst="rect">
            <a:avLst/>
          </a:prstGeom>
        </p:spPr>
      </p:pic>
      <p:sp>
        <p:nvSpPr>
          <p:cNvPr id="63" name="文字 63"/>
          <p:cNvSpPr txBox="1"/>
          <p:nvPr/>
        </p:nvSpPr>
        <p:spPr>
          <a:xfrm>
            <a:off x="7899400" y="4262934"/>
            <a:ext cx="2235201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已证实供给，成交规模仍待披露</a:t>
            </a:r>
            <a:endParaRPr/>
          </a:p>
        </p:txBody>
      </p:sp>
      <p:sp>
        <p:nvSpPr>
          <p:cNvPr id="64" name="文字 64"/>
          <p:cNvSpPr txBox="1"/>
          <p:nvPr/>
        </p:nvSpPr>
        <p:spPr>
          <a:xfrm>
            <a:off x="7899400" y="4542334"/>
            <a:ext cx="231963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全站 GMV、付费转化、复购和平台收入</a:t>
            </a:r>
            <a:endParaRPr/>
          </a:p>
        </p:txBody>
      </p:sp>
      <p:sp>
        <p:nvSpPr>
          <p:cNvPr id="65" name="文字 65"/>
          <p:cNvSpPr txBox="1"/>
          <p:nvPr/>
        </p:nvSpPr>
        <p:spPr>
          <a:xfrm>
            <a:off x="7899400" y="4742359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未见公开可核验数据。</a:t>
            </a:r>
            <a:endParaRPr/>
          </a:p>
        </p:txBody>
      </p:sp>
      <p:pic>
        <p:nvPicPr>
          <p:cNvPr id="66" name="slide-001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5258594"/>
            <a:ext cx="11277600" cy="1072356"/>
          </a:xfrm>
          <a:prstGeom prst="rect">
            <a:avLst/>
          </a:prstGeom>
        </p:spPr>
      </p:pic>
      <p:sp>
        <p:nvSpPr>
          <p:cNvPr id="67" name="文字 67"/>
          <p:cNvSpPr txBox="1"/>
          <p:nvPr/>
        </p:nvSpPr>
        <p:spPr>
          <a:xfrm>
            <a:off x="457200" y="5385594"/>
            <a:ext cx="2715816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SkillHub 将服务供给接入 Agent 的工作</a:t>
            </a:r>
            <a:endParaRPr/>
          </a:p>
        </p:txBody>
      </p:sp>
      <p:sp>
        <p:nvSpPr>
          <p:cNvPr id="68" name="文字 68"/>
          <p:cNvSpPr txBox="1"/>
          <p:nvPr/>
        </p:nvSpPr>
        <p:spPr>
          <a:xfrm>
            <a:off x="457200" y="5696744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身份与支付准入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457200" y="5963444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企业认证、绑定微信商户号</a:t>
            </a:r>
            <a:endParaRPr/>
          </a:p>
        </p:txBody>
      </p:sp>
      <p:sp>
        <p:nvSpPr>
          <p:cNvPr id="70" name="文字 70"/>
          <p:cNvSpPr txBox="1"/>
          <p:nvPr/>
        </p:nvSpPr>
        <p:spPr>
          <a:xfrm>
            <a:off x="457200" y="6156722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个人提供支付宝接入路径</a:t>
            </a:r>
            <a:endParaRPr/>
          </a:p>
        </p:txBody>
      </p:sp>
      <p:sp>
        <p:nvSpPr>
          <p:cNvPr id="71" name="文字 71"/>
          <p:cNvSpPr txBox="1"/>
          <p:nvPr/>
        </p:nvSpPr>
        <p:spPr>
          <a:xfrm>
            <a:off x="3319463" y="5696744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资产商品化与审核</a:t>
            </a:r>
            <a:endParaRPr/>
          </a:p>
        </p:txBody>
      </p:sp>
      <p:sp>
        <p:nvSpPr>
          <p:cNvPr id="72" name="文字 72"/>
          <p:cNvSpPr txBox="1"/>
          <p:nvPr/>
        </p:nvSpPr>
        <p:spPr>
          <a:xfrm>
            <a:off x="3319463" y="5963444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版本包、按次定价和费用说明</a:t>
            </a:r>
            <a:endParaRPr/>
          </a:p>
        </p:txBody>
      </p:sp>
      <p:sp>
        <p:nvSpPr>
          <p:cNvPr id="73" name="文字 73"/>
          <p:cNvSpPr txBox="1"/>
          <p:nvPr/>
        </p:nvSpPr>
        <p:spPr>
          <a:xfrm>
            <a:off x="3319463" y="6156722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校验支付链路后审核上架</a:t>
            </a:r>
            <a:endParaRPr/>
          </a:p>
        </p:txBody>
      </p:sp>
      <p:sp>
        <p:nvSpPr>
          <p:cNvPr id="74" name="文字 74"/>
          <p:cNvSpPr txBox="1"/>
          <p:nvPr/>
        </p:nvSpPr>
        <p:spPr>
          <a:xfrm>
            <a:off x="6181725" y="5696744"/>
            <a:ext cx="1536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发现、分发与宿主接入</a:t>
            </a:r>
            <a:endParaRPr/>
          </a:p>
        </p:txBody>
      </p:sp>
      <p:sp>
        <p:nvSpPr>
          <p:cNvPr id="75" name="文字 75"/>
          <p:cNvSpPr txBox="1"/>
          <p:nvPr/>
        </p:nvSpPr>
        <p:spPr>
          <a:xfrm>
            <a:off x="6181725" y="5963444"/>
            <a:ext cx="151755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官网、CLI / API 获取 Skill</a:t>
            </a:r>
            <a:endParaRPr/>
          </a:p>
        </p:txBody>
      </p:sp>
      <p:sp>
        <p:nvSpPr>
          <p:cNvPr id="76" name="文字 76"/>
          <p:cNvSpPr txBox="1"/>
          <p:nvPr/>
        </p:nvSpPr>
        <p:spPr>
          <a:xfrm>
            <a:off x="6181725" y="6156722"/>
            <a:ext cx="149850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向支持支付的 Agent 分发</a:t>
            </a:r>
            <a:endParaRPr/>
          </a:p>
        </p:txBody>
      </p:sp>
      <p:sp>
        <p:nvSpPr>
          <p:cNvPr id="77" name="文字 77"/>
          <p:cNvSpPr txBox="1"/>
          <p:nvPr/>
        </p:nvSpPr>
        <p:spPr>
          <a:xfrm>
            <a:off x="9043988" y="5696744"/>
            <a:ext cx="1384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支付身份与售后协同</a:t>
            </a:r>
            <a:endParaRPr/>
          </a:p>
        </p:txBody>
      </p:sp>
      <p:sp>
        <p:nvSpPr>
          <p:cNvPr id="78" name="文字 78"/>
          <p:cNvSpPr txBox="1"/>
          <p:nvPr/>
        </p:nvSpPr>
        <p:spPr>
          <a:xfrm>
            <a:off x="9043988" y="5963444"/>
            <a:ext cx="161289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提供开发者密钥和接入指南</a:t>
            </a:r>
            <a:endParaRPr/>
          </a:p>
        </p:txBody>
      </p:sp>
      <p:sp>
        <p:nvSpPr>
          <p:cNvPr id="79" name="文字 79"/>
          <p:cNvSpPr txBox="1"/>
          <p:nvPr/>
        </p:nvSpPr>
        <p:spPr>
          <a:xfrm>
            <a:off x="9043988" y="6156722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展示交易边界、协助投诉退款</a:t>
            </a:r>
            <a:endParaRPr/>
          </a:p>
        </p:txBody>
      </p:sp>
      <p:pic>
        <p:nvPicPr>
          <p:cNvPr id="81" name="slide-001-image-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98678" y="6590135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" name="文字 7"/>
          <p:cNvSpPr txBox="1"/>
          <p:nvPr/>
        </p:nvSpPr>
        <p:spPr>
          <a:xfrm>
            <a:off x="457200" y="308610"/>
            <a:ext cx="11247120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2400" b="1">
                <a:latin typeface="微软雅黑"/>
              </a:defRPr>
            </a:pPr>
            <a:r>
              <a:rPr sz="2400" b="1" i="0" u="none" spc="0">
                <a:solidFill>
                  <a:srgbClr val="C7000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微信 SkillPay 将微信订单接入 Agent，商户验付后履约</a:t>
            </a:r>
            <a:endParaRPr/>
          </a:p>
        </p:txBody>
      </p:sp>
      <p:sp>
        <p:nvSpPr>
          <p:cNvPr id="9" name="文字 9"/>
          <p:cNvSpPr txBox="1"/>
          <p:nvPr/>
        </p:nvSpPr>
        <p:spPr>
          <a:xfrm>
            <a:off x="457200" y="1071860"/>
            <a:ext cx="2461816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SkillHub 在交易前完成接入与分发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457200" y="1338560"/>
            <a:ext cx="816481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企业认证及微信商户绑定，提供开发者密钥，配置按次价格，审核并发布 Skill，接入支持支付的 Agent。实际服务与订单由商户后端承接。</a:t>
            </a:r>
            <a:endParaRPr/>
          </a:p>
        </p:txBody>
      </p:sp>
      <p:pic>
        <p:nvPicPr>
          <p:cNvPr id="11" name="slide-002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41785"/>
            <a:ext cx="11277600" cy="393700"/>
          </a:xfrm>
          <a:prstGeom prst="rect">
            <a:avLst/>
          </a:prstGeom>
        </p:spPr>
      </p:pic>
      <p:sp>
        <p:nvSpPr>
          <p:cNvPr id="12" name="文字 12"/>
          <p:cNvSpPr txBox="1"/>
          <p:nvPr/>
        </p:nvSpPr>
        <p:spPr>
          <a:xfrm>
            <a:off x="1536700" y="1830685"/>
            <a:ext cx="1016992" cy="234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Agent 与用户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4457700" y="1830685"/>
            <a:ext cx="1003300" cy="234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商户业务后端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8204200" y="1830685"/>
            <a:ext cx="673100" cy="234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微信支付</a:t>
            </a:r>
            <a:endParaRPr/>
          </a:p>
        </p:txBody>
      </p:sp>
      <p:pic>
        <p:nvPicPr>
          <p:cNvPr id="15" name="slide-002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35485"/>
            <a:ext cx="11277600" cy="858937"/>
          </a:xfrm>
          <a:prstGeom prst="rect">
            <a:avLst/>
          </a:prstGeom>
        </p:spPr>
      </p:pic>
      <p:sp>
        <p:nvSpPr>
          <p:cNvPr id="16" name="文字 16"/>
          <p:cNvSpPr txBox="1"/>
          <p:nvPr/>
        </p:nvSpPr>
        <p:spPr>
          <a:xfrm>
            <a:off x="457200" y="2256135"/>
            <a:ext cx="21848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01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457200" y="2548235"/>
            <a:ext cx="5715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创建订单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1536700" y="2256135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调用付费业务接口</a:t>
            </a:r>
            <a:endParaRPr/>
          </a:p>
        </p:txBody>
      </p:sp>
      <p:sp>
        <p:nvSpPr>
          <p:cNvPr id="19" name="文字 19"/>
          <p:cNvSpPr txBox="1"/>
          <p:nvPr/>
        </p:nvSpPr>
        <p:spPr>
          <a:xfrm>
            <a:off x="1536700" y="2512616"/>
            <a:ext cx="220483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读取 Skill 指令，向商户发起业务请求</a:t>
            </a:r>
            <a:endParaRPr/>
          </a:p>
        </p:txBody>
      </p:sp>
      <p:sp>
        <p:nvSpPr>
          <p:cNvPr id="20" name="文字 20"/>
          <p:cNvSpPr txBox="1"/>
          <p:nvPr/>
        </p:nvSpPr>
        <p:spPr>
          <a:xfrm>
            <a:off x="4457700" y="2256135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先下传统微信订单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4457700" y="2512616"/>
            <a:ext cx="181709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金额、商户订单号、notify_url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4457700" y="2705894"/>
            <a:ext cx="184169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Native / JSAPI 等现有支付接口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8204200" y="2256135"/>
            <a:ext cx="1384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返回微信预支付标识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8204200" y="2512616"/>
            <a:ext cx="129599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code_url / prepay_id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8204200" y="2705894"/>
            <a:ext cx="174625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保留原有微信订单及收款主体</a:t>
            </a:r>
            <a:endParaRPr/>
          </a:p>
        </p:txBody>
      </p:sp>
      <p:pic>
        <p:nvPicPr>
          <p:cNvPr id="26" name="slide-002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94422"/>
            <a:ext cx="11277600" cy="858937"/>
          </a:xfrm>
          <a:prstGeom prst="rect">
            <a:avLst/>
          </a:prstGeom>
        </p:spPr>
      </p:pic>
      <p:sp>
        <p:nvSpPr>
          <p:cNvPr id="27" name="文字 27"/>
          <p:cNvSpPr txBox="1"/>
          <p:nvPr/>
        </p:nvSpPr>
        <p:spPr>
          <a:xfrm>
            <a:off x="457200" y="3115072"/>
            <a:ext cx="21848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02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457200" y="3407172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申请支付码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1536700" y="3115072"/>
            <a:ext cx="1536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等待商户返回支付请求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1536700" y="3371552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商户的签名私钥保留在后端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1536700" y="3564831"/>
            <a:ext cx="155694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不下发给 Agent 或 Skill 包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4457700" y="3115072"/>
            <a:ext cx="1199158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再做 x402 预下单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4457700" y="3371552"/>
            <a:ext cx="196760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用 SkillHub 开发者 RSA 密钥签名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4457700" y="3564831"/>
            <a:ext cx="219273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将既有微信预支付标识登记到 AI 支付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8204200" y="3115072"/>
            <a:ext cx="268456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校验开发者身份，返回 payment_code</a:t>
            </a:r>
            <a:endParaRPr/>
          </a:p>
        </p:txBody>
      </p:sp>
      <p:sp>
        <p:nvSpPr>
          <p:cNvPr id="36" name="文字 36"/>
          <p:cNvSpPr txBox="1"/>
          <p:nvPr/>
        </p:nvSpPr>
        <p:spPr>
          <a:xfrm>
            <a:off x="8204200" y="3371552"/>
            <a:ext cx="235406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此码用于拉起支付，有效期最长 15 分钟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8204200" y="3564831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它本身不证明付款成功</a:t>
            </a:r>
            <a:endParaRPr/>
          </a:p>
        </p:txBody>
      </p:sp>
      <p:pic>
        <p:nvPicPr>
          <p:cNvPr id="38" name="slide-002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853359"/>
            <a:ext cx="11277600" cy="858937"/>
          </a:xfrm>
          <a:prstGeom prst="rect">
            <a:avLst/>
          </a:prstGeom>
        </p:spPr>
      </p:pic>
      <p:sp>
        <p:nvSpPr>
          <p:cNvPr id="39" name="文字 39"/>
          <p:cNvSpPr txBox="1"/>
          <p:nvPr/>
        </p:nvSpPr>
        <p:spPr>
          <a:xfrm>
            <a:off x="457200" y="3974009"/>
            <a:ext cx="21848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03</a:t>
            </a:r>
            <a:endParaRPr/>
          </a:p>
        </p:txBody>
      </p:sp>
      <p:sp>
        <p:nvSpPr>
          <p:cNvPr id="40" name="文字 40"/>
          <p:cNvSpPr txBox="1"/>
          <p:nvPr/>
        </p:nvSpPr>
        <p:spPr>
          <a:xfrm>
            <a:off x="457200" y="4266109"/>
            <a:ext cx="5715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用户授权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1536700" y="3974009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支付工具拉起卡片</a:t>
            </a:r>
            <a:endParaRPr/>
          </a:p>
        </p:txBody>
      </p:sp>
      <p:sp>
        <p:nvSpPr>
          <p:cNvPr id="42" name="文字 42"/>
          <p:cNvSpPr txBox="1"/>
          <p:nvPr/>
        </p:nvSpPr>
        <p:spPr>
          <a:xfrm>
            <a:off x="1536700" y="4230489"/>
            <a:ext cx="170596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宿主须支持 weixinpay_ 工具</a:t>
            </a:r>
            <a:endParaRPr/>
          </a:p>
        </p:txBody>
      </p:sp>
      <p:sp>
        <p:nvSpPr>
          <p:cNvPr id="43" name="文字 43"/>
          <p:cNvSpPr txBox="1"/>
          <p:nvPr/>
        </p:nvSpPr>
        <p:spPr>
          <a:xfrm>
            <a:off x="1536700" y="4423767"/>
            <a:ext cx="18796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保留支付码原文，避免模型改写</a:t>
            </a:r>
            <a:endParaRPr/>
          </a:p>
        </p:txBody>
      </p:sp>
      <p:sp>
        <p:nvSpPr>
          <p:cNvPr id="44" name="文字 44"/>
          <p:cNvSpPr txBox="1"/>
          <p:nvPr/>
        </p:nvSpPr>
        <p:spPr>
          <a:xfrm>
            <a:off x="4457700" y="3974009"/>
            <a:ext cx="168027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返回 HTTP 402 + 支付码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4457700" y="4230489"/>
            <a:ext cx="225325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WeixinPay-Required: payment_code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4457700" y="4423767"/>
            <a:ext cx="159900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也支持 HTTP 200 兼容投递</a:t>
            </a:r>
            <a:endParaRPr/>
          </a:p>
        </p:txBody>
      </p:sp>
      <p:sp>
        <p:nvSpPr>
          <p:cNvPr id="47" name="文字 47"/>
          <p:cNvSpPr txBox="1"/>
          <p:nvPr/>
        </p:nvSpPr>
        <p:spPr>
          <a:xfrm>
            <a:off x="8204200" y="3974009"/>
            <a:ext cx="2324894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用户扫码到微信 Liteapp 逐笔确认</a:t>
            </a:r>
            <a:endParaRPr/>
          </a:p>
        </p:txBody>
      </p:sp>
      <p:sp>
        <p:nvSpPr>
          <p:cNvPr id="48" name="文字 48"/>
          <p:cNvSpPr txBox="1"/>
          <p:nvPr/>
        </p:nvSpPr>
        <p:spPr>
          <a:xfrm>
            <a:off x="8204200" y="4230489"/>
            <a:ext cx="125928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从 AI 专属卡余额支付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8204200" y="4423767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与用户微信主账户资金隔离</a:t>
            </a:r>
            <a:endParaRPr/>
          </a:p>
        </p:txBody>
      </p:sp>
      <p:pic>
        <p:nvPicPr>
          <p:cNvPr id="50" name="slide-002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712295"/>
            <a:ext cx="11277600" cy="858937"/>
          </a:xfrm>
          <a:prstGeom prst="rect">
            <a:avLst/>
          </a:prstGeom>
        </p:spPr>
      </p:pic>
      <p:sp>
        <p:nvSpPr>
          <p:cNvPr id="51" name="文字 51"/>
          <p:cNvSpPr txBox="1"/>
          <p:nvPr/>
        </p:nvSpPr>
        <p:spPr>
          <a:xfrm>
            <a:off x="457200" y="4832945"/>
            <a:ext cx="21848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04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457200" y="5125046"/>
            <a:ext cx="5715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验付交付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1536700" y="4832945"/>
            <a:ext cx="1841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继续原任务，获取业务结果</a:t>
            </a:r>
            <a:endParaRPr/>
          </a:p>
        </p:txBody>
      </p:sp>
      <p:sp>
        <p:nvSpPr>
          <p:cNvPr id="54" name="文字 54"/>
          <p:cNvSpPr txBox="1"/>
          <p:nvPr/>
        </p:nvSpPr>
        <p:spPr>
          <a:xfrm>
            <a:off x="1536700" y="5089426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可沿用原订单关联取回结果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1536700" y="5282704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具体重试方式由服务接口约定</a:t>
            </a:r>
            <a:endParaRPr/>
          </a:p>
        </p:txBody>
      </p:sp>
      <p:sp>
        <p:nvSpPr>
          <p:cNvPr id="56" name="文字 56"/>
          <p:cNvSpPr txBox="1"/>
          <p:nvPr/>
        </p:nvSpPr>
        <p:spPr>
          <a:xfrm>
            <a:off x="4457700" y="4832945"/>
            <a:ext cx="181739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以微信回调 / 查单结果验付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4457700" y="5089426"/>
            <a:ext cx="208567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验证签名、订单、金额及 SUCCESS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4457700" y="5282704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履约并幂等保存结果，失败按需退款</a:t>
            </a:r>
            <a:endParaRPr/>
          </a:p>
        </p:txBody>
      </p:sp>
      <p:sp>
        <p:nvSpPr>
          <p:cNvPr id="59" name="文字 59"/>
          <p:cNvSpPr txBox="1"/>
          <p:nvPr/>
        </p:nvSpPr>
        <p:spPr>
          <a:xfrm>
            <a:off x="8204200" y="4832945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通知商户支付结果</a:t>
            </a:r>
            <a:endParaRPr/>
          </a:p>
        </p:txBody>
      </p:sp>
      <p:sp>
        <p:nvSpPr>
          <p:cNvPr id="60" name="文字 60"/>
          <p:cNvSpPr txBox="1"/>
          <p:nvPr/>
        </p:nvSpPr>
        <p:spPr>
          <a:xfrm>
            <a:off x="8204200" y="5089426"/>
            <a:ext cx="195867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沿用 notify_url / 微信查单与退款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8204200" y="5282704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资金按渠道规则结算至商户绑定账户</a:t>
            </a:r>
            <a:endParaRPr/>
          </a:p>
        </p:txBody>
      </p:sp>
      <p:pic>
        <p:nvPicPr>
          <p:cNvPr id="62" name="slide-002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5568950"/>
            <a:ext cx="11277600" cy="768350"/>
          </a:xfrm>
          <a:prstGeom prst="rect">
            <a:avLst/>
          </a:prstGeom>
        </p:spPr>
      </p:pic>
      <p:sp>
        <p:nvSpPr>
          <p:cNvPr id="63" name="文字 63"/>
          <p:cNvSpPr txBox="1"/>
          <p:nvPr/>
        </p:nvSpPr>
        <p:spPr>
          <a:xfrm>
            <a:off x="457200" y="5695950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三类凭证用途不同</a:t>
            </a:r>
            <a:endParaRPr/>
          </a:p>
        </p:txBody>
      </p:sp>
      <p:sp>
        <p:nvSpPr>
          <p:cNvPr id="64" name="文字 64"/>
          <p:cNvSpPr txBox="1"/>
          <p:nvPr/>
        </p:nvSpPr>
        <p:spPr>
          <a:xfrm>
            <a:off x="457200" y="5956300"/>
            <a:ext cx="568483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业务 API Key 用于外部服务接入；SkillHub RSA 密钥签名 AI 预下单；微信商户证书与 APIv3 密钥</a:t>
            </a:r>
            <a:endParaRPr/>
          </a:p>
        </p:txBody>
      </p:sp>
      <p:sp>
        <p:nvSpPr>
          <p:cNvPr id="65" name="文字 65"/>
          <p:cNvSpPr txBox="1"/>
          <p:nvPr/>
        </p:nvSpPr>
        <p:spPr>
          <a:xfrm>
            <a:off x="457200" y="6156325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处理支付请求和回调。</a:t>
            </a:r>
            <a:endParaRPr/>
          </a:p>
        </p:txBody>
      </p:sp>
      <p:sp>
        <p:nvSpPr>
          <p:cNvPr id="66" name="文字 66"/>
          <p:cNvSpPr txBox="1"/>
          <p:nvPr/>
        </p:nvSpPr>
        <p:spPr>
          <a:xfrm>
            <a:off x="6416675" y="5695950"/>
            <a:ext cx="1689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落地需对齐官方接口版本</a:t>
            </a:r>
            <a:endParaRPr/>
          </a:p>
        </p:txBody>
      </p:sp>
      <p:sp>
        <p:nvSpPr>
          <p:cNvPr id="67" name="文字 67"/>
          <p:cNvSpPr txBox="1"/>
          <p:nvPr/>
        </p:nvSpPr>
        <p:spPr>
          <a:xfrm>
            <a:off x="6416675" y="5956300"/>
            <a:ext cx="524113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微信当前 API 与 SkillHub 教程 / Demo 的端点、鉴权位置和报文结构不同。不能混接；本</a:t>
            </a:r>
            <a:endParaRPr/>
          </a:p>
        </p:txBody>
      </p:sp>
      <p:sp>
        <p:nvSpPr>
          <p:cNvPr id="68" name="文字 68"/>
          <p:cNvSpPr txBox="1"/>
          <p:nvPr/>
        </p:nvSpPr>
        <p:spPr>
          <a:xfrm>
            <a:off x="6416675" y="6156325"/>
            <a:ext cx="22796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次依据官方文档和源码，未真实交易。</a:t>
            </a:r>
            <a:endParaRPr/>
          </a:p>
        </p:txBody>
      </p:sp>
      <p:pic>
        <p:nvPicPr>
          <p:cNvPr id="70" name="slide-002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98678" y="6691517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" name="文字 7"/>
          <p:cNvSpPr txBox="1"/>
          <p:nvPr/>
        </p:nvSpPr>
        <p:spPr>
          <a:xfrm>
            <a:off x="457200" y="308610"/>
            <a:ext cx="11247120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2400" b="1">
                <a:latin typeface="微软雅黑"/>
              </a:defRPr>
            </a:pPr>
            <a:r>
              <a:rPr sz="2400" b="1" i="0" u="none" spc="0">
                <a:solidFill>
                  <a:srgbClr val="C7000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两次下单接入 Agent，SkillHub 提供商户验签与分发</a:t>
            </a:r>
            <a:endParaRPr/>
          </a:p>
        </p:txBody>
      </p:sp>
      <p:sp>
        <p:nvSpPr>
          <p:cNvPr id="9" name="文字 9"/>
          <p:cNvSpPr txBox="1"/>
          <p:nvPr/>
        </p:nvSpPr>
        <p:spPr>
          <a:xfrm>
            <a:off x="457200" y="1046460"/>
            <a:ext cx="1485503" cy="254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付费标签约 10.0%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457200" y="1319510"/>
            <a:ext cx="2095401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19,962 / 199,545 条，含 paid 与 alipay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4667647" y="1046460"/>
            <a:ext cx="1686322" cy="254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需 API Key 约 19.3%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4667647" y="1319510"/>
            <a:ext cx="2217936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38,568 条，外部凭证依赖与付费分别统计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8374162" y="1046460"/>
            <a:ext cx="1612900" cy="254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平台技术服务费暂免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8374162" y="1319510"/>
            <a:ext cx="25463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真实成交、复购与平台收入尚无可核验全站数据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671711" y="1706860"/>
            <a:ext cx="917079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Agent / 用户</a:t>
            </a:r>
            <a:endParaRPr/>
          </a:p>
        </p:txBody>
      </p:sp>
      <p:pic>
        <p:nvPicPr>
          <p:cNvPr id="16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1960860"/>
            <a:ext cx="6350" cy="3549650"/>
          </a:xfrm>
          <a:prstGeom prst="rect">
            <a:avLst/>
          </a:prstGeom>
        </p:spPr>
      </p:pic>
      <p:sp>
        <p:nvSpPr>
          <p:cNvPr id="17" name="文字 17"/>
          <p:cNvSpPr txBox="1"/>
          <p:nvPr/>
        </p:nvSpPr>
        <p:spPr>
          <a:xfrm>
            <a:off x="3028950" y="170686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商户后端</a:t>
            </a:r>
            <a:endParaRPr/>
          </a:p>
        </p:txBody>
      </p:sp>
      <p:pic>
        <p:nvPicPr>
          <p:cNvPr id="18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450" y="1960860"/>
            <a:ext cx="6350" cy="3549650"/>
          </a:xfrm>
          <a:prstGeom prst="rect">
            <a:avLst/>
          </a:prstGeom>
        </p:spPr>
      </p:pic>
      <p:sp>
        <p:nvSpPr>
          <p:cNvPr id="19" name="文字 19"/>
          <p:cNvSpPr txBox="1"/>
          <p:nvPr/>
        </p:nvSpPr>
        <p:spPr>
          <a:xfrm>
            <a:off x="5378450" y="170686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微信支付</a:t>
            </a:r>
            <a:endParaRPr/>
          </a:p>
        </p:txBody>
      </p:sp>
      <p:pic>
        <p:nvPicPr>
          <p:cNvPr id="20" name="slide-001-image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950" y="1960860"/>
            <a:ext cx="6350" cy="3549650"/>
          </a:xfrm>
          <a:prstGeom prst="rect">
            <a:avLst/>
          </a:prstGeom>
        </p:spPr>
      </p:pic>
      <p:sp>
        <p:nvSpPr>
          <p:cNvPr id="21" name="文字 21"/>
          <p:cNvSpPr txBox="1"/>
          <p:nvPr/>
        </p:nvSpPr>
        <p:spPr>
          <a:xfrm>
            <a:off x="7267575" y="1706860"/>
            <a:ext cx="6794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SkillHub</a:t>
            </a:r>
            <a:endParaRPr/>
          </a:p>
        </p:txBody>
      </p:sp>
      <p:pic>
        <p:nvPicPr>
          <p:cNvPr id="22" name="slide-001-image-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0950" y="1960860"/>
            <a:ext cx="6350" cy="3549650"/>
          </a:xfrm>
          <a:prstGeom prst="rect">
            <a:avLst/>
          </a:prstGeom>
        </p:spPr>
      </p:pic>
      <p:pic>
        <p:nvPicPr>
          <p:cNvPr id="23" name="slide-001-image-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950" y="2202160"/>
            <a:ext cx="2222500" cy="12700"/>
          </a:xfrm>
          <a:prstGeom prst="rect">
            <a:avLst/>
          </a:prstGeom>
        </p:spPr>
      </p:pic>
      <p:sp>
        <p:nvSpPr>
          <p:cNvPr id="24" name="文字 24"/>
          <p:cNvSpPr/>
          <p:nvPr/>
        </p:nvSpPr>
        <p:spPr>
          <a:xfrm rot="5400000">
            <a:off x="3257550" y="217041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25" name="形状 25"/>
          <p:cNvSpPr/>
          <p:nvPr/>
        </p:nvSpPr>
        <p:spPr>
          <a:xfrm>
            <a:off x="1200150" y="1992610"/>
            <a:ext cx="2070100" cy="186631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6" name="文字 26"/>
          <p:cNvSpPr txBox="1"/>
          <p:nvPr/>
        </p:nvSpPr>
        <p:spPr>
          <a:xfrm>
            <a:off x="1753394" y="2005310"/>
            <a:ext cx="97621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66472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① 调用付费服务</a:t>
            </a:r>
            <a:endParaRPr/>
          </a:p>
        </p:txBody>
      </p:sp>
      <p:pic>
        <p:nvPicPr>
          <p:cNvPr id="27" name="slide-001-image-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6450" y="2500610"/>
            <a:ext cx="2349500" cy="12700"/>
          </a:xfrm>
          <a:prstGeom prst="rect">
            <a:avLst/>
          </a:prstGeom>
        </p:spPr>
      </p:pic>
      <p:sp>
        <p:nvSpPr>
          <p:cNvPr id="28" name="文字 28"/>
          <p:cNvSpPr/>
          <p:nvPr/>
        </p:nvSpPr>
        <p:spPr>
          <a:xfrm rot="5400000">
            <a:off x="5607050" y="2468860"/>
            <a:ext cx="88900" cy="88900"/>
          </a:xfrm>
          <a:prstGeom prst="triangle">
            <a:avLst/>
          </a:prstGeom>
          <a:solidFill>
            <a:srgbClr val="1A1A1C"/>
          </a:solidFill>
          <a:ln>
            <a:noFill/>
          </a:ln>
        </p:spPr>
        <p:txBody>
          <a:bodyPr/>
          <a:p/>
        </p:txBody>
      </p:sp>
      <p:sp>
        <p:nvSpPr>
          <p:cNvPr id="29" name="形状 29"/>
          <p:cNvSpPr/>
          <p:nvPr/>
        </p:nvSpPr>
        <p:spPr>
          <a:xfrm>
            <a:off x="3422650" y="2291060"/>
            <a:ext cx="21971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0" name="文字 30"/>
          <p:cNvSpPr txBox="1"/>
          <p:nvPr/>
        </p:nvSpPr>
        <p:spPr>
          <a:xfrm>
            <a:off x="3505994" y="2303760"/>
            <a:ext cx="204301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② 传统下单：商户、金额、订单号</a:t>
            </a:r>
            <a:endParaRPr/>
          </a:p>
        </p:txBody>
      </p:sp>
      <p:pic>
        <p:nvPicPr>
          <p:cNvPr id="31" name="slide-001-image-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6450" y="2799060"/>
            <a:ext cx="2349500" cy="12700"/>
          </a:xfrm>
          <a:prstGeom prst="rect">
            <a:avLst/>
          </a:prstGeom>
        </p:spPr>
      </p:pic>
      <p:sp>
        <p:nvSpPr>
          <p:cNvPr id="32" name="文字 32"/>
          <p:cNvSpPr/>
          <p:nvPr/>
        </p:nvSpPr>
        <p:spPr>
          <a:xfrm rot="16200000">
            <a:off x="3346450" y="276731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33" name="形状 33"/>
          <p:cNvSpPr/>
          <p:nvPr/>
        </p:nvSpPr>
        <p:spPr>
          <a:xfrm>
            <a:off x="3422650" y="2589510"/>
            <a:ext cx="2197100" cy="186631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4" name="文字 34"/>
          <p:cNvSpPr txBox="1"/>
          <p:nvPr/>
        </p:nvSpPr>
        <p:spPr>
          <a:xfrm>
            <a:off x="3865959" y="2602210"/>
            <a:ext cx="132308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66472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code_url / prepay_id</a:t>
            </a:r>
            <a:endParaRPr/>
          </a:p>
        </p:txBody>
      </p:sp>
      <p:pic>
        <p:nvPicPr>
          <p:cNvPr id="35" name="slide-001-image-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6450" y="3097510"/>
            <a:ext cx="2349500" cy="12700"/>
          </a:xfrm>
          <a:prstGeom prst="rect">
            <a:avLst/>
          </a:prstGeom>
        </p:spPr>
      </p:pic>
      <p:sp>
        <p:nvSpPr>
          <p:cNvPr id="36" name="文字 36"/>
          <p:cNvSpPr/>
          <p:nvPr/>
        </p:nvSpPr>
        <p:spPr>
          <a:xfrm rot="5400000">
            <a:off x="5607050" y="3065760"/>
            <a:ext cx="88900" cy="88900"/>
          </a:xfrm>
          <a:prstGeom prst="triangle">
            <a:avLst/>
          </a:prstGeom>
          <a:solidFill>
            <a:srgbClr val="B5333B"/>
          </a:solidFill>
          <a:ln>
            <a:noFill/>
          </a:ln>
        </p:spPr>
        <p:txBody>
          <a:bodyPr/>
          <a:p/>
        </p:txBody>
      </p:sp>
      <p:sp>
        <p:nvSpPr>
          <p:cNvPr id="37" name="形状 37"/>
          <p:cNvSpPr/>
          <p:nvPr/>
        </p:nvSpPr>
        <p:spPr>
          <a:xfrm>
            <a:off x="3422650" y="2887960"/>
            <a:ext cx="21971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8" name="文字 38"/>
          <p:cNvSpPr txBox="1"/>
          <p:nvPr/>
        </p:nvSpPr>
        <p:spPr>
          <a:xfrm>
            <a:off x="3688953" y="2900660"/>
            <a:ext cx="167719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③ x402：签名 + 预支付标识</a:t>
            </a:r>
            <a:endParaRPr/>
          </a:p>
        </p:txBody>
      </p:sp>
      <p:pic>
        <p:nvPicPr>
          <p:cNvPr id="39" name="slide-001-image-1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95950" y="3395960"/>
            <a:ext cx="1905000" cy="12700"/>
          </a:xfrm>
          <a:prstGeom prst="rect">
            <a:avLst/>
          </a:prstGeom>
        </p:spPr>
      </p:pic>
      <p:sp>
        <p:nvSpPr>
          <p:cNvPr id="40" name="文字 40"/>
          <p:cNvSpPr/>
          <p:nvPr/>
        </p:nvSpPr>
        <p:spPr>
          <a:xfrm rot="5400000">
            <a:off x="7512051" y="3364210"/>
            <a:ext cx="88900" cy="88900"/>
          </a:xfrm>
          <a:prstGeom prst="triangle">
            <a:avLst/>
          </a:prstGeom>
          <a:solidFill>
            <a:srgbClr val="B5333B"/>
          </a:solidFill>
          <a:ln>
            <a:noFill/>
          </a:ln>
        </p:spPr>
        <p:txBody>
          <a:bodyPr/>
          <a:p/>
        </p:txBody>
      </p:sp>
      <p:sp>
        <p:nvSpPr>
          <p:cNvPr id="41" name="形状 41"/>
          <p:cNvSpPr/>
          <p:nvPr/>
        </p:nvSpPr>
        <p:spPr>
          <a:xfrm>
            <a:off x="5772150" y="3186410"/>
            <a:ext cx="17526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2" name="文字 42"/>
          <p:cNvSpPr txBox="1"/>
          <p:nvPr/>
        </p:nvSpPr>
        <p:spPr>
          <a:xfrm>
            <a:off x="6160095" y="3199110"/>
            <a:ext cx="98941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身份 / 签名校验*</a:t>
            </a:r>
            <a:endParaRPr/>
          </a:p>
        </p:txBody>
      </p:sp>
      <p:pic>
        <p:nvPicPr>
          <p:cNvPr id="43" name="slide-001-image-1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95950" y="3694410"/>
            <a:ext cx="1905000" cy="12700"/>
          </a:xfrm>
          <a:prstGeom prst="rect">
            <a:avLst/>
          </a:prstGeom>
        </p:spPr>
      </p:pic>
      <p:sp>
        <p:nvSpPr>
          <p:cNvPr id="44" name="文字 44"/>
          <p:cNvSpPr/>
          <p:nvPr/>
        </p:nvSpPr>
        <p:spPr>
          <a:xfrm rot="16200000">
            <a:off x="5695950" y="3662660"/>
            <a:ext cx="88900" cy="88900"/>
          </a:xfrm>
          <a:prstGeom prst="triangle">
            <a:avLst/>
          </a:prstGeom>
          <a:solidFill>
            <a:srgbClr val="B5333B"/>
          </a:solidFill>
          <a:ln>
            <a:noFill/>
          </a:ln>
        </p:spPr>
        <p:txBody>
          <a:bodyPr/>
          <a:p/>
        </p:txBody>
      </p:sp>
      <p:sp>
        <p:nvSpPr>
          <p:cNvPr id="45" name="形状 45"/>
          <p:cNvSpPr/>
          <p:nvPr/>
        </p:nvSpPr>
        <p:spPr>
          <a:xfrm>
            <a:off x="5772150" y="3484860"/>
            <a:ext cx="17526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6" name="文字 46"/>
          <p:cNvSpPr txBox="1"/>
          <p:nvPr/>
        </p:nvSpPr>
        <p:spPr>
          <a:xfrm>
            <a:off x="6149380" y="3497560"/>
            <a:ext cx="101074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确认开发者身份*</a:t>
            </a:r>
            <a:endParaRPr/>
          </a:p>
        </p:txBody>
      </p:sp>
      <p:pic>
        <p:nvPicPr>
          <p:cNvPr id="47" name="slide-001-image-1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46450" y="3992860"/>
            <a:ext cx="2349500" cy="12700"/>
          </a:xfrm>
          <a:prstGeom prst="rect">
            <a:avLst/>
          </a:prstGeom>
        </p:spPr>
      </p:pic>
      <p:sp>
        <p:nvSpPr>
          <p:cNvPr id="48" name="文字 48"/>
          <p:cNvSpPr/>
          <p:nvPr/>
        </p:nvSpPr>
        <p:spPr>
          <a:xfrm rot="16200000">
            <a:off x="3346450" y="396111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49" name="形状 49"/>
          <p:cNvSpPr/>
          <p:nvPr/>
        </p:nvSpPr>
        <p:spPr>
          <a:xfrm>
            <a:off x="3422650" y="3783310"/>
            <a:ext cx="21971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0" name="文字 50"/>
          <p:cNvSpPr txBox="1"/>
          <p:nvPr/>
        </p:nvSpPr>
        <p:spPr>
          <a:xfrm>
            <a:off x="3898205" y="3796010"/>
            <a:ext cx="125859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66472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返回 payment_code</a:t>
            </a:r>
            <a:endParaRPr/>
          </a:p>
        </p:txBody>
      </p:sp>
      <p:pic>
        <p:nvPicPr>
          <p:cNvPr id="51" name="slide-001-image-1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3950" y="4291310"/>
            <a:ext cx="2222500" cy="12700"/>
          </a:xfrm>
          <a:prstGeom prst="rect">
            <a:avLst/>
          </a:prstGeom>
        </p:spPr>
      </p:pic>
      <p:sp>
        <p:nvSpPr>
          <p:cNvPr id="52" name="文字 52"/>
          <p:cNvSpPr/>
          <p:nvPr/>
        </p:nvSpPr>
        <p:spPr>
          <a:xfrm rot="16200000">
            <a:off x="1123950" y="425956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53" name="形状 53"/>
          <p:cNvSpPr/>
          <p:nvPr/>
        </p:nvSpPr>
        <p:spPr>
          <a:xfrm>
            <a:off x="1200150" y="4081760"/>
            <a:ext cx="20701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4" name="文字 54"/>
          <p:cNvSpPr txBox="1"/>
          <p:nvPr/>
        </p:nvSpPr>
        <p:spPr>
          <a:xfrm>
            <a:off x="1354435" y="4094460"/>
            <a:ext cx="177423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66472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④ 402 + 支付码 + 业务关联 ID</a:t>
            </a:r>
            <a:endParaRPr/>
          </a:p>
        </p:txBody>
      </p:sp>
      <p:pic>
        <p:nvPicPr>
          <p:cNvPr id="55" name="slide-001-image-1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3950" y="4589760"/>
            <a:ext cx="4572000" cy="12700"/>
          </a:xfrm>
          <a:prstGeom prst="rect">
            <a:avLst/>
          </a:prstGeom>
        </p:spPr>
      </p:pic>
      <p:sp>
        <p:nvSpPr>
          <p:cNvPr id="56" name="文字 56"/>
          <p:cNvSpPr/>
          <p:nvPr/>
        </p:nvSpPr>
        <p:spPr>
          <a:xfrm rot="5400000">
            <a:off x="5607050" y="4558010"/>
            <a:ext cx="88900" cy="88900"/>
          </a:xfrm>
          <a:prstGeom prst="triangle">
            <a:avLst/>
          </a:prstGeom>
          <a:solidFill>
            <a:srgbClr val="B5333B"/>
          </a:solidFill>
          <a:ln>
            <a:noFill/>
          </a:ln>
        </p:spPr>
        <p:txBody>
          <a:bodyPr/>
          <a:p/>
        </p:txBody>
      </p:sp>
      <p:sp>
        <p:nvSpPr>
          <p:cNvPr id="57" name="形状 57"/>
          <p:cNvSpPr/>
          <p:nvPr/>
        </p:nvSpPr>
        <p:spPr>
          <a:xfrm>
            <a:off x="1200150" y="4380210"/>
            <a:ext cx="4419600" cy="186631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8" name="文字 58"/>
          <p:cNvSpPr txBox="1"/>
          <p:nvPr/>
        </p:nvSpPr>
        <p:spPr>
          <a:xfrm>
            <a:off x="1969294" y="4392910"/>
            <a:ext cx="289391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⑤ 官方支付工具拉起，用户以 AI 专属卡逐笔确认</a:t>
            </a:r>
            <a:endParaRPr/>
          </a:p>
        </p:txBody>
      </p:sp>
      <p:pic>
        <p:nvPicPr>
          <p:cNvPr id="59" name="slide-001-image-1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46450" y="4888210"/>
            <a:ext cx="2349500" cy="12700"/>
          </a:xfrm>
          <a:prstGeom prst="rect">
            <a:avLst/>
          </a:prstGeom>
        </p:spPr>
      </p:pic>
      <p:sp>
        <p:nvSpPr>
          <p:cNvPr id="60" name="文字 60"/>
          <p:cNvSpPr/>
          <p:nvPr/>
        </p:nvSpPr>
        <p:spPr>
          <a:xfrm rot="16200000">
            <a:off x="3346450" y="4856460"/>
            <a:ext cx="88900" cy="88900"/>
          </a:xfrm>
          <a:prstGeom prst="triangle">
            <a:avLst/>
          </a:prstGeom>
          <a:solidFill>
            <a:srgbClr val="B5333B"/>
          </a:solidFill>
          <a:ln>
            <a:noFill/>
          </a:ln>
        </p:spPr>
        <p:txBody>
          <a:bodyPr/>
          <a:p/>
        </p:txBody>
      </p:sp>
      <p:sp>
        <p:nvSpPr>
          <p:cNvPr id="61" name="形状 61"/>
          <p:cNvSpPr/>
          <p:nvPr/>
        </p:nvSpPr>
        <p:spPr>
          <a:xfrm>
            <a:off x="3422650" y="4678660"/>
            <a:ext cx="21971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2" name="文字 62"/>
          <p:cNvSpPr txBox="1"/>
          <p:nvPr/>
        </p:nvSpPr>
        <p:spPr>
          <a:xfrm>
            <a:off x="3675757" y="4691360"/>
            <a:ext cx="170358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⑥ 回调 / 查单确认 SUCCESS</a:t>
            </a:r>
            <a:endParaRPr/>
          </a:p>
        </p:txBody>
      </p:sp>
      <p:pic>
        <p:nvPicPr>
          <p:cNvPr id="63" name="slide-001-image-1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3950" y="5186660"/>
            <a:ext cx="2222500" cy="12700"/>
          </a:xfrm>
          <a:prstGeom prst="rect">
            <a:avLst/>
          </a:prstGeom>
        </p:spPr>
      </p:pic>
      <p:sp>
        <p:nvSpPr>
          <p:cNvPr id="64" name="文字 64"/>
          <p:cNvSpPr/>
          <p:nvPr/>
        </p:nvSpPr>
        <p:spPr>
          <a:xfrm rot="5400000">
            <a:off x="3257550" y="515491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65" name="形状 65"/>
          <p:cNvSpPr/>
          <p:nvPr/>
        </p:nvSpPr>
        <p:spPr>
          <a:xfrm>
            <a:off x="1200150" y="4977110"/>
            <a:ext cx="20701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6" name="文字 66"/>
          <p:cNvSpPr txBox="1"/>
          <p:nvPr/>
        </p:nvSpPr>
        <p:spPr>
          <a:xfrm>
            <a:off x="1389459" y="4989810"/>
            <a:ext cx="170408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66472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⑦ 沿用原业务关联 ID 取结果</a:t>
            </a:r>
            <a:endParaRPr/>
          </a:p>
        </p:txBody>
      </p:sp>
      <p:pic>
        <p:nvPicPr>
          <p:cNvPr id="67" name="slide-001-image-17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3950" y="5485110"/>
            <a:ext cx="2222500" cy="12700"/>
          </a:xfrm>
          <a:prstGeom prst="rect">
            <a:avLst/>
          </a:prstGeom>
        </p:spPr>
      </p:pic>
      <p:sp>
        <p:nvSpPr>
          <p:cNvPr id="68" name="文字 68"/>
          <p:cNvSpPr/>
          <p:nvPr/>
        </p:nvSpPr>
        <p:spPr>
          <a:xfrm rot="16200000">
            <a:off x="1123950" y="545336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69" name="形状 69"/>
          <p:cNvSpPr/>
          <p:nvPr/>
        </p:nvSpPr>
        <p:spPr>
          <a:xfrm>
            <a:off x="1200150" y="5275560"/>
            <a:ext cx="20701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0" name="文字 70"/>
          <p:cNvSpPr txBox="1"/>
          <p:nvPr/>
        </p:nvSpPr>
        <p:spPr>
          <a:xfrm>
            <a:off x="1512392" y="5288260"/>
            <a:ext cx="145821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66472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交付结果 / 返回生成状态</a:t>
            </a:r>
            <a:endParaRPr/>
          </a:p>
        </p:txBody>
      </p:sp>
      <p:sp>
        <p:nvSpPr>
          <p:cNvPr id="71" name="文字 71"/>
          <p:cNvSpPr txBox="1"/>
          <p:nvPr/>
        </p:nvSpPr>
        <p:spPr>
          <a:xfrm>
            <a:off x="457200" y="5605760"/>
            <a:ext cx="401568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* 按 SkillHub 官方教程表达逻辑校验关系，内部调用方式、缓存和同步依赖未公开。</a:t>
            </a:r>
            <a:endParaRPr/>
          </a:p>
        </p:txBody>
      </p:sp>
      <p:pic>
        <p:nvPicPr>
          <p:cNvPr id="72" name="slide-001-image-18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21700" y="1687810"/>
            <a:ext cx="3213100" cy="4070350"/>
          </a:xfrm>
          <a:prstGeom prst="rect">
            <a:avLst/>
          </a:prstGeom>
        </p:spPr>
      </p:pic>
      <p:sp>
        <p:nvSpPr>
          <p:cNvPr id="73" name="文字 73"/>
          <p:cNvSpPr txBox="1"/>
          <p:nvPr/>
        </p:nvSpPr>
        <p:spPr>
          <a:xfrm>
            <a:off x="8693151" y="1700510"/>
            <a:ext cx="19177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第一次下单确定商户和金额</a:t>
            </a:r>
            <a:endParaRPr/>
          </a:p>
        </p:txBody>
      </p:sp>
      <p:sp>
        <p:nvSpPr>
          <p:cNvPr id="74" name="文字 74"/>
          <p:cNvSpPr txBox="1"/>
          <p:nvPr/>
        </p:nvSpPr>
        <p:spPr>
          <a:xfrm>
            <a:off x="8693151" y="1965623"/>
            <a:ext cx="294639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传统微信订单保存商户、金额和回调地址。此时仍</a:t>
            </a:r>
            <a:endParaRPr/>
          </a:p>
        </p:txBody>
      </p:sp>
      <p:sp>
        <p:nvSpPr>
          <p:cNvPr id="75" name="文字 75"/>
          <p:cNvSpPr txBox="1"/>
          <p:nvPr/>
        </p:nvSpPr>
        <p:spPr>
          <a:xfrm>
            <a:off x="8693151" y="2162969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待支付。</a:t>
            </a:r>
            <a:endParaRPr/>
          </a:p>
        </p:txBody>
      </p:sp>
      <p:sp>
        <p:nvSpPr>
          <p:cNvPr id="76" name="文字 76"/>
          <p:cNvSpPr txBox="1"/>
          <p:nvPr/>
        </p:nvSpPr>
        <p:spPr>
          <a:xfrm>
            <a:off x="8693151" y="2493665"/>
            <a:ext cx="2125663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第二次预下单建立 Agent 入口</a:t>
            </a:r>
            <a:endParaRPr/>
          </a:p>
        </p:txBody>
      </p:sp>
      <p:sp>
        <p:nvSpPr>
          <p:cNvPr id="77" name="文字 77"/>
          <p:cNvSpPr txBox="1"/>
          <p:nvPr/>
        </p:nvSpPr>
        <p:spPr>
          <a:xfrm>
            <a:off x="8693151" y="2758777"/>
            <a:ext cx="304452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x402 将既有预支付标识登记到微信 AI 支付，换取限</a:t>
            </a:r>
            <a:endParaRPr/>
          </a:p>
        </p:txBody>
      </p:sp>
      <p:sp>
        <p:nvSpPr>
          <p:cNvPr id="78" name="文字 78"/>
          <p:cNvSpPr txBox="1"/>
          <p:nvPr/>
        </p:nvSpPr>
        <p:spPr>
          <a:xfrm>
            <a:off x="8693151" y="2956124"/>
            <a:ext cx="243939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时 payment_code。它不新增一次扣款。</a:t>
            </a:r>
            <a:endParaRPr/>
          </a:p>
        </p:txBody>
      </p:sp>
      <p:sp>
        <p:nvSpPr>
          <p:cNvPr id="79" name="文字 79"/>
          <p:cNvSpPr txBox="1"/>
          <p:nvPr/>
        </p:nvSpPr>
        <p:spPr>
          <a:xfrm>
            <a:off x="8693151" y="3286820"/>
            <a:ext cx="2076449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两套验签分别确认身份与付款</a:t>
            </a:r>
            <a:endParaRPr/>
          </a:p>
        </p:txBody>
      </p:sp>
      <p:sp>
        <p:nvSpPr>
          <p:cNvPr id="80" name="文字 80"/>
          <p:cNvSpPr txBox="1"/>
          <p:nvPr/>
        </p:nvSpPr>
        <p:spPr>
          <a:xfrm>
            <a:off x="8693151" y="3551932"/>
            <a:ext cx="296882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SkillHub 开发者签名用于预下单身份校验；商户另</a:t>
            </a:r>
            <a:endParaRPr/>
          </a:p>
        </p:txBody>
      </p:sp>
      <p:sp>
        <p:nvSpPr>
          <p:cNvPr id="81" name="文字 81"/>
          <p:cNvSpPr txBox="1"/>
          <p:nvPr/>
        </p:nvSpPr>
        <p:spPr>
          <a:xfrm>
            <a:off x="8693151" y="3749278"/>
            <a:ext cx="265826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验微信回调 / 查单结果，确认这笔订单已付。</a:t>
            </a:r>
            <a:endParaRPr/>
          </a:p>
        </p:txBody>
      </p:sp>
      <p:sp>
        <p:nvSpPr>
          <p:cNvPr id="82" name="文字 82"/>
          <p:cNvSpPr txBox="1"/>
          <p:nvPr/>
        </p:nvSpPr>
        <p:spPr>
          <a:xfrm>
            <a:off x="8693151" y="4079974"/>
            <a:ext cx="2076449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交易款由用户直接付给创作者</a:t>
            </a:r>
            <a:endParaRPr/>
          </a:p>
        </p:txBody>
      </p:sp>
      <p:sp>
        <p:nvSpPr>
          <p:cNvPr id="83" name="文字 83"/>
          <p:cNvSpPr txBox="1"/>
          <p:nvPr/>
        </p:nvSpPr>
        <p:spPr>
          <a:xfrm>
            <a:off x="8693151" y="4345087"/>
            <a:ext cx="294639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平台目前暂免技术服务费，支付渠道费用与结算按</a:t>
            </a:r>
            <a:endParaRPr/>
          </a:p>
        </p:txBody>
      </p:sp>
      <p:sp>
        <p:nvSpPr>
          <p:cNvPr id="84" name="文字 84"/>
          <p:cNvSpPr txBox="1"/>
          <p:nvPr/>
        </p:nvSpPr>
        <p:spPr>
          <a:xfrm>
            <a:off x="8693151" y="4542433"/>
            <a:ext cx="218628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渠道规则。供给占比无法推算 GMV。</a:t>
            </a:r>
            <a:endParaRPr/>
          </a:p>
        </p:txBody>
      </p:sp>
      <p:pic>
        <p:nvPicPr>
          <p:cNvPr id="85" name="slide-001-image-19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5820470"/>
            <a:ext cx="11277600" cy="529531"/>
          </a:xfrm>
          <a:prstGeom prst="rect">
            <a:avLst/>
          </a:prstGeom>
        </p:spPr>
      </p:pic>
      <p:sp>
        <p:nvSpPr>
          <p:cNvPr id="86" name="文字 86"/>
          <p:cNvSpPr txBox="1"/>
          <p:nvPr/>
        </p:nvSpPr>
        <p:spPr>
          <a:xfrm>
            <a:off x="457200" y="5941120"/>
            <a:ext cx="5969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供给准入</a:t>
            </a:r>
            <a:endParaRPr/>
          </a:p>
        </p:txBody>
      </p:sp>
      <p:sp>
        <p:nvSpPr>
          <p:cNvPr id="87" name="文字 87"/>
          <p:cNvSpPr txBox="1"/>
          <p:nvPr/>
        </p:nvSpPr>
        <p:spPr>
          <a:xfrm>
            <a:off x="457200" y="6176070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企业认证、绑定微信商户号</a:t>
            </a:r>
            <a:endParaRPr/>
          </a:p>
        </p:txBody>
      </p:sp>
      <p:sp>
        <p:nvSpPr>
          <p:cNvPr id="88" name="文字 88"/>
          <p:cNvSpPr txBox="1"/>
          <p:nvPr/>
        </p:nvSpPr>
        <p:spPr>
          <a:xfrm>
            <a:off x="3314700" y="5941120"/>
            <a:ext cx="7429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商品化发布</a:t>
            </a:r>
            <a:endParaRPr/>
          </a:p>
        </p:txBody>
      </p:sp>
      <p:sp>
        <p:nvSpPr>
          <p:cNvPr id="89" name="文字 89"/>
          <p:cNvSpPr txBox="1"/>
          <p:nvPr/>
        </p:nvSpPr>
        <p:spPr>
          <a:xfrm>
            <a:off x="3314700" y="6176070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定价、版本包、支付链路审核</a:t>
            </a:r>
            <a:endParaRPr/>
          </a:p>
        </p:txBody>
      </p:sp>
      <p:sp>
        <p:nvSpPr>
          <p:cNvPr id="90" name="文字 90"/>
          <p:cNvSpPr txBox="1"/>
          <p:nvPr/>
        </p:nvSpPr>
        <p:spPr>
          <a:xfrm>
            <a:off x="6172200" y="5941120"/>
            <a:ext cx="901105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分发到 Agent</a:t>
            </a:r>
            <a:endParaRPr/>
          </a:p>
        </p:txBody>
      </p:sp>
      <p:sp>
        <p:nvSpPr>
          <p:cNvPr id="91" name="文字 91"/>
          <p:cNvSpPr txBox="1"/>
          <p:nvPr/>
        </p:nvSpPr>
        <p:spPr>
          <a:xfrm>
            <a:off x="6172200" y="6176070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发现与安装入口、宿主接入</a:t>
            </a:r>
            <a:endParaRPr/>
          </a:p>
        </p:txBody>
      </p:sp>
      <p:sp>
        <p:nvSpPr>
          <p:cNvPr id="92" name="文字 92"/>
          <p:cNvSpPr txBox="1"/>
          <p:nvPr/>
        </p:nvSpPr>
        <p:spPr>
          <a:xfrm>
            <a:off x="9029700" y="5941120"/>
            <a:ext cx="8890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交易身份信任</a:t>
            </a:r>
            <a:endParaRPr/>
          </a:p>
        </p:txBody>
      </p:sp>
      <p:sp>
        <p:nvSpPr>
          <p:cNvPr id="93" name="文字 93"/>
          <p:cNvSpPr txBox="1"/>
          <p:nvPr/>
        </p:nvSpPr>
        <p:spPr>
          <a:xfrm>
            <a:off x="9029700" y="6176070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开发者密钥及教程所述验签</a:t>
            </a:r>
            <a:endParaRPr/>
          </a:p>
        </p:txBody>
      </p:sp>
      <p:pic>
        <p:nvPicPr>
          <p:cNvPr id="95" name="slide-001-image-2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498678" y="6590135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" name="文字 7"/>
          <p:cNvSpPr txBox="1"/>
          <p:nvPr/>
        </p:nvSpPr>
        <p:spPr>
          <a:xfrm>
            <a:off x="457200" y="308610"/>
            <a:ext cx="11247120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2400" b="1">
                <a:latin typeface="微软雅黑"/>
              </a:defRPr>
            </a:pPr>
            <a:r>
              <a:rPr sz="2400" b="1" i="0" u="none" spc="0">
                <a:solidFill>
                  <a:srgbClr val="C7000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payment_code 发起付款，payment_id 串联任务与交付</a:t>
            </a:r>
            <a:endParaRPr/>
          </a:p>
        </p:txBody>
      </p:sp>
      <p:sp>
        <p:nvSpPr>
          <p:cNvPr id="9" name="文字 9"/>
          <p:cNvSpPr txBox="1"/>
          <p:nvPr/>
        </p:nvSpPr>
        <p:spPr>
          <a:xfrm>
            <a:off x="457200" y="1059160"/>
            <a:ext cx="3116163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真实案例：腾讯 WorkRally 图片生成 ¥0.36 / 次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3713063" y="1059160"/>
            <a:ext cx="4495602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技能包可公开获取，用户无需业务 API Key；付费点在远程图片服务。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457200" y="1498501"/>
            <a:ext cx="27114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同一响应里的两个标识，走向不同接口</a:t>
            </a:r>
            <a:endParaRPr/>
          </a:p>
        </p:txBody>
      </p:sp>
      <p:sp>
        <p:nvSpPr>
          <p:cNvPr id="12" name="形状 12"/>
          <p:cNvSpPr/>
          <p:nvPr/>
        </p:nvSpPr>
        <p:spPr>
          <a:xfrm>
            <a:off x="457200" y="1847751"/>
            <a:ext cx="2730500" cy="958850"/>
          </a:xfrm>
          <a:prstGeom prst="roundRect">
            <a:avLst>
              <a:gd name="adj" fmla="val 6623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文字 13"/>
          <p:cNvSpPr txBox="1"/>
          <p:nvPr/>
        </p:nvSpPr>
        <p:spPr>
          <a:xfrm>
            <a:off x="1029295" y="1943001"/>
            <a:ext cx="159901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invoke 返回 HTTP 402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912713" y="2179142"/>
            <a:ext cx="183217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Body: payment_id = WPAY_…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1008658" y="2359124"/>
            <a:ext cx="164028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Header / WeixinPay 节点：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893564" y="2539107"/>
            <a:ext cx="187047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WeixinPay-Required = PMT_…</a:t>
            </a:r>
            <a:endParaRPr/>
          </a:p>
        </p:txBody>
      </p:sp>
      <p:pic>
        <p:nvPicPr>
          <p:cNvPr id="17" name="slide-002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700" y="1987451"/>
            <a:ext cx="1397000" cy="12700"/>
          </a:xfrm>
          <a:prstGeom prst="rect">
            <a:avLst/>
          </a:prstGeom>
        </p:spPr>
      </p:pic>
      <p:sp>
        <p:nvSpPr>
          <p:cNvPr id="18" name="文字 18"/>
          <p:cNvSpPr/>
          <p:nvPr/>
        </p:nvSpPr>
        <p:spPr>
          <a:xfrm rot="5400000">
            <a:off x="4495800" y="1955701"/>
            <a:ext cx="88900" cy="88900"/>
          </a:xfrm>
          <a:prstGeom prst="triangle">
            <a:avLst/>
          </a:prstGeom>
          <a:solidFill>
            <a:srgbClr val="B5333B"/>
          </a:solidFill>
          <a:ln>
            <a:noFill/>
          </a:ln>
        </p:spPr>
        <p:txBody>
          <a:bodyPr/>
          <a:p/>
        </p:txBody>
      </p:sp>
      <p:sp>
        <p:nvSpPr>
          <p:cNvPr id="19" name="形状 19"/>
          <p:cNvSpPr/>
          <p:nvPr/>
        </p:nvSpPr>
        <p:spPr>
          <a:xfrm>
            <a:off x="3263900" y="1777901"/>
            <a:ext cx="12446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0" name="文字 20"/>
          <p:cNvSpPr txBox="1"/>
          <p:nvPr/>
        </p:nvSpPr>
        <p:spPr>
          <a:xfrm>
            <a:off x="3686175" y="1790601"/>
            <a:ext cx="4127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支付码</a:t>
            </a:r>
            <a:endParaRPr/>
          </a:p>
        </p:txBody>
      </p:sp>
      <p:sp>
        <p:nvSpPr>
          <p:cNvPr id="21" name="形状 21"/>
          <p:cNvSpPr/>
          <p:nvPr/>
        </p:nvSpPr>
        <p:spPr>
          <a:xfrm>
            <a:off x="4584700" y="1701701"/>
            <a:ext cx="2762250" cy="584200"/>
          </a:xfrm>
          <a:prstGeom prst="roundRect">
            <a:avLst>
              <a:gd name="adj" fmla="val 10870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B5333B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文字 22"/>
          <p:cNvSpPr txBox="1"/>
          <p:nvPr/>
        </p:nvSpPr>
        <p:spPr>
          <a:xfrm>
            <a:off x="5356225" y="1796951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交给微信支付工具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5128518" y="2033092"/>
            <a:ext cx="168731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用于拉起付款，最长 15 分钟</a:t>
            </a:r>
            <a:endParaRPr/>
          </a:p>
        </p:txBody>
      </p:sp>
      <p:pic>
        <p:nvPicPr>
          <p:cNvPr id="24" name="slide-002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7700" y="2590701"/>
            <a:ext cx="1397000" cy="12700"/>
          </a:xfrm>
          <a:prstGeom prst="rect">
            <a:avLst/>
          </a:prstGeom>
        </p:spPr>
      </p:pic>
      <p:sp>
        <p:nvSpPr>
          <p:cNvPr id="25" name="文字 25"/>
          <p:cNvSpPr/>
          <p:nvPr/>
        </p:nvSpPr>
        <p:spPr>
          <a:xfrm rot="5400000">
            <a:off x="4495800" y="255895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26" name="形状 26"/>
          <p:cNvSpPr/>
          <p:nvPr/>
        </p:nvSpPr>
        <p:spPr>
          <a:xfrm>
            <a:off x="3263900" y="2381151"/>
            <a:ext cx="1244600" cy="186631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7" name="文字 27"/>
          <p:cNvSpPr txBox="1"/>
          <p:nvPr/>
        </p:nvSpPr>
        <p:spPr>
          <a:xfrm>
            <a:off x="3537248" y="2393851"/>
            <a:ext cx="71060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66472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业务关联 ID</a:t>
            </a:r>
            <a:endParaRPr/>
          </a:p>
        </p:txBody>
      </p:sp>
      <p:sp>
        <p:nvSpPr>
          <p:cNvPr id="28" name="形状 28"/>
          <p:cNvSpPr/>
          <p:nvPr/>
        </p:nvSpPr>
        <p:spPr>
          <a:xfrm>
            <a:off x="4584700" y="2324001"/>
            <a:ext cx="2762250" cy="584200"/>
          </a:xfrm>
          <a:prstGeom prst="roundRect">
            <a:avLst>
              <a:gd name="adj" fmla="val 10870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文字 29"/>
          <p:cNvSpPr txBox="1"/>
          <p:nvPr/>
        </p:nvSpPr>
        <p:spPr>
          <a:xfrm>
            <a:off x="5151239" y="2419251"/>
            <a:ext cx="164177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content {payment_id}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5299075" y="2655392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沿用同一任务查询结果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457200" y="2933601"/>
            <a:ext cx="447367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两者来自同一次 invoke 响应，各自承担对应步骤。Agent 无需解析支付码。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457200" y="3219351"/>
            <a:ext cx="30289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支付成功之后，商户还要完成业务状态迁移</a:t>
            </a:r>
            <a:endParaRPr/>
          </a:p>
        </p:txBody>
      </p:sp>
      <p:sp>
        <p:nvSpPr>
          <p:cNvPr id="33" name="形状 33"/>
          <p:cNvSpPr/>
          <p:nvPr/>
        </p:nvSpPr>
        <p:spPr>
          <a:xfrm>
            <a:off x="457200" y="3663851"/>
            <a:ext cx="1587500" cy="577850"/>
          </a:xfrm>
          <a:prstGeom prst="roundRect">
            <a:avLst>
              <a:gd name="adj" fmla="val 10989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文字 34"/>
          <p:cNvSpPr txBox="1"/>
          <p:nvPr/>
        </p:nvSpPr>
        <p:spPr>
          <a:xfrm>
            <a:off x="1022350" y="3759101"/>
            <a:ext cx="469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待支付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582513" y="3995242"/>
            <a:ext cx="134947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402 / code: NOT_PAID</a:t>
            </a:r>
            <a:endParaRPr/>
          </a:p>
        </p:txBody>
      </p:sp>
      <p:sp>
        <p:nvSpPr>
          <p:cNvPr id="36" name="形状 36"/>
          <p:cNvSpPr/>
          <p:nvPr/>
        </p:nvSpPr>
        <p:spPr>
          <a:xfrm>
            <a:off x="3124200" y="3663851"/>
            <a:ext cx="1587500" cy="577850"/>
          </a:xfrm>
          <a:prstGeom prst="roundRect">
            <a:avLst>
              <a:gd name="adj" fmla="val 10989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文字 37"/>
          <p:cNvSpPr txBox="1"/>
          <p:nvPr/>
        </p:nvSpPr>
        <p:spPr>
          <a:xfrm>
            <a:off x="3513832" y="3759101"/>
            <a:ext cx="820936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generating</a:t>
            </a:r>
            <a:endParaRPr/>
          </a:p>
        </p:txBody>
      </p:sp>
      <p:sp>
        <p:nvSpPr>
          <p:cNvPr id="38" name="文字 38"/>
          <p:cNvSpPr txBox="1"/>
          <p:nvPr/>
        </p:nvSpPr>
        <p:spPr>
          <a:xfrm>
            <a:off x="3517900" y="3995242"/>
            <a:ext cx="8128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已付，生成中</a:t>
            </a:r>
            <a:endParaRPr/>
          </a:p>
        </p:txBody>
      </p:sp>
      <p:sp>
        <p:nvSpPr>
          <p:cNvPr id="39" name="形状 39"/>
          <p:cNvSpPr/>
          <p:nvPr/>
        </p:nvSpPr>
        <p:spPr>
          <a:xfrm>
            <a:off x="5791200" y="3663851"/>
            <a:ext cx="1587500" cy="577850"/>
          </a:xfrm>
          <a:prstGeom prst="roundRect">
            <a:avLst>
              <a:gd name="adj" fmla="val 10989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B5333B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文字 40"/>
          <p:cNvSpPr txBox="1"/>
          <p:nvPr/>
        </p:nvSpPr>
        <p:spPr>
          <a:xfrm>
            <a:off x="6232029" y="3759101"/>
            <a:ext cx="71854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delivered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6003131" y="3995242"/>
            <a:ext cx="117633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交付同一 result_url</a:t>
            </a:r>
            <a:endParaRPr/>
          </a:p>
        </p:txBody>
      </p:sp>
      <p:pic>
        <p:nvPicPr>
          <p:cNvPr id="42" name="slide-002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4700" y="3943251"/>
            <a:ext cx="1079500" cy="12700"/>
          </a:xfrm>
          <a:prstGeom prst="rect">
            <a:avLst/>
          </a:prstGeom>
        </p:spPr>
      </p:pic>
      <p:sp>
        <p:nvSpPr>
          <p:cNvPr id="43" name="文字 43"/>
          <p:cNvSpPr/>
          <p:nvPr/>
        </p:nvSpPr>
        <p:spPr>
          <a:xfrm rot="5400000">
            <a:off x="3035300" y="391150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44" name="形状 44"/>
          <p:cNvSpPr/>
          <p:nvPr/>
        </p:nvSpPr>
        <p:spPr>
          <a:xfrm>
            <a:off x="2120900" y="3733701"/>
            <a:ext cx="927100" cy="16887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5" name="文字 45"/>
          <p:cNvSpPr txBox="1"/>
          <p:nvPr/>
        </p:nvSpPr>
        <p:spPr>
          <a:xfrm>
            <a:off x="2282825" y="3746401"/>
            <a:ext cx="6159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66472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验付后启动</a:t>
            </a:r>
            <a:endParaRPr/>
          </a:p>
        </p:txBody>
      </p:sp>
      <p:pic>
        <p:nvPicPr>
          <p:cNvPr id="46" name="slide-002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1700" y="3943251"/>
            <a:ext cx="1079500" cy="12700"/>
          </a:xfrm>
          <a:prstGeom prst="rect">
            <a:avLst/>
          </a:prstGeom>
        </p:spPr>
      </p:pic>
      <p:sp>
        <p:nvSpPr>
          <p:cNvPr id="47" name="文字 47"/>
          <p:cNvSpPr/>
          <p:nvPr/>
        </p:nvSpPr>
        <p:spPr>
          <a:xfrm rot="5400000">
            <a:off x="5702300" y="391150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48" name="形状 48"/>
          <p:cNvSpPr/>
          <p:nvPr/>
        </p:nvSpPr>
        <p:spPr>
          <a:xfrm>
            <a:off x="4787900" y="3733701"/>
            <a:ext cx="927100" cy="16887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9" name="文字 49"/>
          <p:cNvSpPr txBox="1"/>
          <p:nvPr/>
        </p:nvSpPr>
        <p:spPr>
          <a:xfrm>
            <a:off x="5010150" y="3746401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66472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生成成功</a:t>
            </a:r>
            <a:endParaRPr/>
          </a:p>
        </p:txBody>
      </p:sp>
      <p:pic>
        <p:nvPicPr>
          <p:cNvPr id="50" name="slide-002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0950" y="4241701"/>
            <a:ext cx="12700" cy="476250"/>
          </a:xfrm>
          <a:prstGeom prst="rect">
            <a:avLst/>
          </a:prstGeom>
        </p:spPr>
      </p:pic>
      <p:sp>
        <p:nvSpPr>
          <p:cNvPr id="51" name="文字 51"/>
          <p:cNvSpPr/>
          <p:nvPr/>
        </p:nvSpPr>
        <p:spPr>
          <a:xfrm rot="10800000">
            <a:off x="1212850" y="464175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52" name="文字 52"/>
          <p:cNvSpPr txBox="1"/>
          <p:nvPr/>
        </p:nvSpPr>
        <p:spPr>
          <a:xfrm>
            <a:off x="1346200" y="4305201"/>
            <a:ext cx="6159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未支付超时</a:t>
            </a:r>
            <a:endParaRPr/>
          </a:p>
        </p:txBody>
      </p:sp>
      <p:sp>
        <p:nvSpPr>
          <p:cNvPr id="53" name="形状 53"/>
          <p:cNvSpPr/>
          <p:nvPr/>
        </p:nvSpPr>
        <p:spPr>
          <a:xfrm>
            <a:off x="457200" y="4717951"/>
            <a:ext cx="1587500" cy="577850"/>
          </a:xfrm>
          <a:prstGeom prst="roundRect">
            <a:avLst>
              <a:gd name="adj" fmla="val 10989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文字 54"/>
          <p:cNvSpPr txBox="1"/>
          <p:nvPr/>
        </p:nvSpPr>
        <p:spPr>
          <a:xfrm>
            <a:off x="967879" y="4813201"/>
            <a:ext cx="57884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expired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647303" y="5049342"/>
            <a:ext cx="121989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旧 payment_id 终止</a:t>
            </a:r>
            <a:endParaRPr/>
          </a:p>
        </p:txBody>
      </p:sp>
      <p:pic>
        <p:nvPicPr>
          <p:cNvPr id="56" name="slide-002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7950" y="4241701"/>
            <a:ext cx="12700" cy="476250"/>
          </a:xfrm>
          <a:prstGeom prst="rect">
            <a:avLst/>
          </a:prstGeom>
        </p:spPr>
      </p:pic>
      <p:sp>
        <p:nvSpPr>
          <p:cNvPr id="57" name="文字 57"/>
          <p:cNvSpPr/>
          <p:nvPr/>
        </p:nvSpPr>
        <p:spPr>
          <a:xfrm rot="10800000">
            <a:off x="3879850" y="464175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58" name="文字 58"/>
          <p:cNvSpPr txBox="1"/>
          <p:nvPr/>
        </p:nvSpPr>
        <p:spPr>
          <a:xfrm>
            <a:off x="4013200" y="4305201"/>
            <a:ext cx="837803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生成失败 / 超时</a:t>
            </a:r>
            <a:endParaRPr/>
          </a:p>
        </p:txBody>
      </p:sp>
      <p:sp>
        <p:nvSpPr>
          <p:cNvPr id="59" name="形状 59"/>
          <p:cNvSpPr/>
          <p:nvPr/>
        </p:nvSpPr>
        <p:spPr>
          <a:xfrm>
            <a:off x="3124200" y="4717951"/>
            <a:ext cx="1587500" cy="577850"/>
          </a:xfrm>
          <a:prstGeom prst="roundRect">
            <a:avLst>
              <a:gd name="adj" fmla="val 10989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文字 60"/>
          <p:cNvSpPr txBox="1"/>
          <p:nvPr/>
        </p:nvSpPr>
        <p:spPr>
          <a:xfrm>
            <a:off x="3706217" y="4813201"/>
            <a:ext cx="436166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failed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3317875" y="5049342"/>
            <a:ext cx="1212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失败，查看退款状态</a:t>
            </a:r>
            <a:endParaRPr/>
          </a:p>
        </p:txBody>
      </p:sp>
      <p:pic>
        <p:nvPicPr>
          <p:cNvPr id="62" name="slide-002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1700" y="5003701"/>
            <a:ext cx="1079500" cy="12700"/>
          </a:xfrm>
          <a:prstGeom prst="rect">
            <a:avLst/>
          </a:prstGeom>
        </p:spPr>
      </p:pic>
      <p:sp>
        <p:nvSpPr>
          <p:cNvPr id="63" name="文字 63"/>
          <p:cNvSpPr/>
          <p:nvPr/>
        </p:nvSpPr>
        <p:spPr>
          <a:xfrm rot="5400000">
            <a:off x="5702300" y="497195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64" name="形状 64"/>
          <p:cNvSpPr/>
          <p:nvPr/>
        </p:nvSpPr>
        <p:spPr>
          <a:xfrm>
            <a:off x="4787900" y="4794151"/>
            <a:ext cx="927100" cy="16887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5" name="文字 65"/>
          <p:cNvSpPr txBox="1"/>
          <p:nvPr/>
        </p:nvSpPr>
        <p:spPr>
          <a:xfrm>
            <a:off x="5010150" y="4806851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66472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退款确认</a:t>
            </a:r>
            <a:endParaRPr/>
          </a:p>
        </p:txBody>
      </p:sp>
      <p:sp>
        <p:nvSpPr>
          <p:cNvPr id="66" name="形状 66"/>
          <p:cNvSpPr/>
          <p:nvPr/>
        </p:nvSpPr>
        <p:spPr>
          <a:xfrm>
            <a:off x="5791200" y="4717951"/>
            <a:ext cx="1587500" cy="577850"/>
          </a:xfrm>
          <a:prstGeom prst="roundRect">
            <a:avLst>
              <a:gd name="adj" fmla="val 10989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" name="文字 67"/>
          <p:cNvSpPr txBox="1"/>
          <p:nvPr/>
        </p:nvSpPr>
        <p:spPr>
          <a:xfrm>
            <a:off x="6241356" y="4813201"/>
            <a:ext cx="699889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refunded</a:t>
            </a:r>
            <a:endParaRPr/>
          </a:p>
        </p:txBody>
      </p:sp>
      <p:sp>
        <p:nvSpPr>
          <p:cNvPr id="68" name="文字 68"/>
          <p:cNvSpPr txBox="1"/>
          <p:nvPr/>
        </p:nvSpPr>
        <p:spPr>
          <a:xfrm>
            <a:off x="6184900" y="5049342"/>
            <a:ext cx="8128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退款完成终态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457200" y="5429151"/>
            <a:ext cx="423922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状态图依据 WorkRally 公开调用契约；支付状态、服务状态及退款状态由商户分别管理。</a:t>
            </a:r>
            <a:endParaRPr/>
          </a:p>
        </p:txBody>
      </p:sp>
      <p:pic>
        <p:nvPicPr>
          <p:cNvPr id="70" name="slide-002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7300" y="1473101"/>
            <a:ext cx="4127501" cy="4108450"/>
          </a:xfrm>
          <a:prstGeom prst="rect">
            <a:avLst/>
          </a:prstGeom>
        </p:spPr>
      </p:pic>
      <p:sp>
        <p:nvSpPr>
          <p:cNvPr id="71" name="文字 71"/>
          <p:cNvSpPr txBox="1"/>
          <p:nvPr/>
        </p:nvSpPr>
        <p:spPr>
          <a:xfrm>
            <a:off x="7791450" y="1485801"/>
            <a:ext cx="14414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生成中：继续原任务</a:t>
            </a:r>
            <a:endParaRPr/>
          </a:p>
        </p:txBody>
      </p:sp>
      <p:sp>
        <p:nvSpPr>
          <p:cNvPr id="72" name="文字 72"/>
          <p:cNvSpPr txBox="1"/>
          <p:nvPr/>
        </p:nvSpPr>
        <p:spPr>
          <a:xfrm>
            <a:off x="7791450" y="1750913"/>
            <a:ext cx="394801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HTTP 200 + generating 仍未交付。按 retry_after_seconds（5 秒）</a:t>
            </a:r>
            <a:endParaRPr/>
          </a:p>
        </p:txBody>
      </p:sp>
      <p:sp>
        <p:nvSpPr>
          <p:cNvPr id="73" name="文字 73"/>
          <p:cNvSpPr txBox="1"/>
          <p:nvPr/>
        </p:nvSpPr>
        <p:spPr>
          <a:xfrm>
            <a:off x="7791450" y="1948260"/>
            <a:ext cx="212983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用同一 payment_id 重试 content。</a:t>
            </a:r>
            <a:endParaRPr/>
          </a:p>
        </p:txBody>
      </p:sp>
      <p:sp>
        <p:nvSpPr>
          <p:cNvPr id="74" name="文字 74"/>
          <p:cNvSpPr txBox="1"/>
          <p:nvPr/>
        </p:nvSpPr>
        <p:spPr>
          <a:xfrm>
            <a:off x="7791450" y="2259906"/>
            <a:ext cx="17589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已交付：重复取同一结果</a:t>
            </a:r>
            <a:endParaRPr/>
          </a:p>
        </p:txBody>
      </p:sp>
      <p:sp>
        <p:nvSpPr>
          <p:cNvPr id="75" name="文字 75"/>
          <p:cNvSpPr txBox="1"/>
          <p:nvPr/>
        </p:nvSpPr>
        <p:spPr>
          <a:xfrm>
            <a:off x="7791450" y="2525018"/>
            <a:ext cx="390991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delivered 返回相同 result_url。WorkRally 契约承诺同任务不重复</a:t>
            </a:r>
            <a:endParaRPr/>
          </a:p>
        </p:txBody>
      </p:sp>
      <p:sp>
        <p:nvSpPr>
          <p:cNvPr id="76" name="文字 76"/>
          <p:cNvSpPr txBox="1"/>
          <p:nvPr/>
        </p:nvSpPr>
        <p:spPr>
          <a:xfrm>
            <a:off x="7791450" y="2722364"/>
            <a:ext cx="1212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扣费、不重复生成。</a:t>
            </a:r>
            <a:endParaRPr/>
          </a:p>
        </p:txBody>
      </p:sp>
      <p:sp>
        <p:nvSpPr>
          <p:cNvPr id="77" name="文字 77"/>
          <p:cNvSpPr txBox="1"/>
          <p:nvPr/>
        </p:nvSpPr>
        <p:spPr>
          <a:xfrm>
            <a:off x="7791450" y="3034010"/>
            <a:ext cx="23939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终态：先处理旧任务，再决定新购</a:t>
            </a:r>
            <a:endParaRPr/>
          </a:p>
        </p:txBody>
      </p:sp>
      <p:sp>
        <p:nvSpPr>
          <p:cNvPr id="78" name="文字 78"/>
          <p:cNvSpPr txBox="1"/>
          <p:nvPr/>
        </p:nvSpPr>
        <p:spPr>
          <a:xfrm>
            <a:off x="7791450" y="3299123"/>
            <a:ext cx="377834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failed / refunded / expired 按错误规则结束旧任务。按契约重新</a:t>
            </a:r>
            <a:endParaRPr/>
          </a:p>
        </p:txBody>
      </p:sp>
      <p:sp>
        <p:nvSpPr>
          <p:cNvPr id="79" name="文字 79"/>
          <p:cNvSpPr txBox="1"/>
          <p:nvPr/>
        </p:nvSpPr>
        <p:spPr>
          <a:xfrm>
            <a:off x="7791450" y="3496469"/>
            <a:ext cx="269140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invoke，不能把“生成中”误判为需要再买。</a:t>
            </a:r>
            <a:endParaRPr/>
          </a:p>
        </p:txBody>
      </p:sp>
      <p:pic>
        <p:nvPicPr>
          <p:cNvPr id="80" name="slide-002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91450" y="3820815"/>
            <a:ext cx="3943350" cy="342900"/>
          </a:xfrm>
          <a:prstGeom prst="rect">
            <a:avLst/>
          </a:prstGeom>
        </p:spPr>
      </p:pic>
      <p:sp>
        <p:nvSpPr>
          <p:cNvPr id="81" name="文字 81"/>
          <p:cNvSpPr txBox="1"/>
          <p:nvPr/>
        </p:nvSpPr>
        <p:spPr>
          <a:xfrm>
            <a:off x="7791450" y="3960515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服务履约仍由商户保证</a:t>
            </a:r>
            <a:endParaRPr/>
          </a:p>
        </p:txBody>
      </p:sp>
      <p:sp>
        <p:nvSpPr>
          <p:cNvPr id="82" name="文字 82"/>
          <p:cNvSpPr txBox="1"/>
          <p:nvPr/>
        </p:nvSpPr>
        <p:spPr>
          <a:xfrm>
            <a:off x="7791450" y="4239915"/>
            <a:ext cx="22352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请求、回调、履约各有幂等约束</a:t>
            </a:r>
            <a:endParaRPr/>
          </a:p>
        </p:txBody>
      </p:sp>
      <p:sp>
        <p:nvSpPr>
          <p:cNvPr id="83" name="文字 83"/>
          <p:cNvSpPr txBox="1"/>
          <p:nvPr/>
        </p:nvSpPr>
        <p:spPr>
          <a:xfrm>
            <a:off x="7791450" y="4505028"/>
            <a:ext cx="3879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稳定业务订单防重复建单；验签后去重支付通知；唯一任务执行权</a:t>
            </a:r>
            <a:endParaRPr/>
          </a:p>
        </p:txBody>
      </p:sp>
      <p:sp>
        <p:nvSpPr>
          <p:cNvPr id="84" name="文字 84"/>
          <p:cNvSpPr txBox="1"/>
          <p:nvPr/>
        </p:nvSpPr>
        <p:spPr>
          <a:xfrm>
            <a:off x="7791450" y="4702374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和持久结果防重复生成。</a:t>
            </a:r>
            <a:endParaRPr/>
          </a:p>
        </p:txBody>
      </p:sp>
      <p:sp>
        <p:nvSpPr>
          <p:cNvPr id="85" name="文字 85"/>
          <p:cNvSpPr txBox="1"/>
          <p:nvPr/>
        </p:nvSpPr>
        <p:spPr>
          <a:xfrm>
            <a:off x="7791450" y="4982270"/>
            <a:ext cx="395376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官方 Demo 使用内存 map，不能证明并发、重启与退款恢复已具备</a:t>
            </a:r>
            <a:endParaRPr/>
          </a:p>
        </p:txBody>
      </p:sp>
      <p:sp>
        <p:nvSpPr>
          <p:cNvPr id="86" name="文字 86"/>
          <p:cNvSpPr txBox="1"/>
          <p:nvPr/>
        </p:nvSpPr>
        <p:spPr>
          <a:xfrm>
            <a:off x="7791450" y="5179616"/>
            <a:ext cx="6794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生产保证。</a:t>
            </a:r>
            <a:endParaRPr/>
          </a:p>
        </p:txBody>
      </p:sp>
      <p:pic>
        <p:nvPicPr>
          <p:cNvPr id="87" name="slide-002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5633839"/>
            <a:ext cx="11277600" cy="716161"/>
          </a:xfrm>
          <a:prstGeom prst="rect">
            <a:avLst/>
          </a:prstGeom>
        </p:spPr>
      </p:pic>
      <p:sp>
        <p:nvSpPr>
          <p:cNvPr id="88" name="文字 88"/>
          <p:cNvSpPr txBox="1"/>
          <p:nvPr/>
        </p:nvSpPr>
        <p:spPr>
          <a:xfrm>
            <a:off x="457200" y="5754489"/>
            <a:ext cx="23495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支付回调的真实性与保密性分开处理</a:t>
            </a:r>
            <a:endParaRPr/>
          </a:p>
        </p:txBody>
      </p:sp>
      <p:sp>
        <p:nvSpPr>
          <p:cNvPr id="89" name="文字 89"/>
          <p:cNvSpPr txBox="1"/>
          <p:nvPr/>
        </p:nvSpPr>
        <p:spPr>
          <a:xfrm>
            <a:off x="457200" y="5989439"/>
            <a:ext cx="553491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商户用微信支付公钥 / 平台证书验签，用 APIv3 密钥解密。SkillHub 开发者私钥只用于 AI 预下</a:t>
            </a:r>
            <a:endParaRPr/>
          </a:p>
        </p:txBody>
      </p:sp>
      <p:sp>
        <p:nvSpPr>
          <p:cNvPr id="90" name="文字 90"/>
          <p:cNvSpPr txBox="1"/>
          <p:nvPr/>
        </p:nvSpPr>
        <p:spPr>
          <a:xfrm>
            <a:off x="457200" y="6176070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单身份。</a:t>
            </a:r>
            <a:endParaRPr/>
          </a:p>
        </p:txBody>
      </p:sp>
      <p:sp>
        <p:nvSpPr>
          <p:cNvPr id="91" name="文字 91"/>
          <p:cNvSpPr txBox="1"/>
          <p:nvPr/>
        </p:nvSpPr>
        <p:spPr>
          <a:xfrm>
            <a:off x="6197600" y="5754489"/>
            <a:ext cx="17653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实现必须选定同一版本契约</a:t>
            </a:r>
            <a:endParaRPr/>
          </a:p>
        </p:txBody>
      </p:sp>
      <p:sp>
        <p:nvSpPr>
          <p:cNvPr id="92" name="文字 92"/>
          <p:cNvSpPr txBox="1"/>
          <p:nvPr/>
        </p:nvSpPr>
        <p:spPr>
          <a:xfrm>
            <a:off x="6197600" y="5989439"/>
            <a:ext cx="552797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微信当前 API 采用 Authorization + JSON 对象；SkillHub Demo 仍采用旧端点和 Body 鉴权，</a:t>
            </a:r>
            <a:endParaRPr/>
          </a:p>
        </p:txBody>
      </p:sp>
      <p:sp>
        <p:nvSpPr>
          <p:cNvPr id="93" name="文字 93"/>
          <p:cNvSpPr txBox="1"/>
          <p:nvPr/>
        </p:nvSpPr>
        <p:spPr>
          <a:xfrm>
            <a:off x="6197600" y="6176070"/>
            <a:ext cx="6794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不能混接。</a:t>
            </a:r>
            <a:endParaRPr/>
          </a:p>
        </p:txBody>
      </p:sp>
      <p:pic>
        <p:nvPicPr>
          <p:cNvPr id="95" name="slide-002-image-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98678" y="6691517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" name="文字 7"/>
          <p:cNvSpPr txBox="1"/>
          <p:nvPr/>
        </p:nvSpPr>
        <p:spPr>
          <a:xfrm>
            <a:off x="457200" y="308610"/>
            <a:ext cx="11247120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2400" b="1">
                <a:latin typeface="微软雅黑"/>
              </a:defRPr>
            </a:pPr>
            <a:r>
              <a:rPr sz="2400" b="1" i="0" u="none" spc="0">
                <a:solidFill>
                  <a:srgbClr val="C7000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SkillPay 经营 Skill 商品，付款后分为源文件与使用权两种交付</a:t>
            </a:r>
            <a:endParaRPr/>
          </a:p>
        </p:txBody>
      </p:sp>
      <p:sp>
        <p:nvSpPr>
          <p:cNvPr id="9" name="形状 9"/>
          <p:cNvSpPr/>
          <p:nvPr/>
        </p:nvSpPr>
        <p:spPr>
          <a:xfrm>
            <a:off x="457200" y="1129010"/>
            <a:ext cx="2476500" cy="66675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文字 10"/>
          <p:cNvSpPr txBox="1"/>
          <p:nvPr/>
        </p:nvSpPr>
        <p:spPr>
          <a:xfrm>
            <a:off x="1132384" y="1243310"/>
            <a:ext cx="1138833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作者提交源 Skill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828675" y="1492151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名称、文件、价格与收费模式</a:t>
            </a:r>
            <a:endParaRPr/>
          </a:p>
        </p:txBody>
      </p:sp>
      <p:sp>
        <p:nvSpPr>
          <p:cNvPr id="12" name="形状 12"/>
          <p:cNvSpPr/>
          <p:nvPr/>
        </p:nvSpPr>
        <p:spPr>
          <a:xfrm>
            <a:off x="3441700" y="1129010"/>
            <a:ext cx="2476500" cy="66675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文字 13"/>
          <p:cNvSpPr txBox="1"/>
          <p:nvPr/>
        </p:nvSpPr>
        <p:spPr>
          <a:xfrm>
            <a:off x="4133155" y="1243310"/>
            <a:ext cx="110619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SkillPay 商品化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3813175" y="1492151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扫描审核、版本、试用和权益</a:t>
            </a:r>
            <a:endParaRPr/>
          </a:p>
        </p:txBody>
      </p:sp>
      <p:sp>
        <p:nvSpPr>
          <p:cNvPr id="15" name="形状 15"/>
          <p:cNvSpPr/>
          <p:nvPr/>
        </p:nvSpPr>
        <p:spPr>
          <a:xfrm>
            <a:off x="6426200" y="1129010"/>
            <a:ext cx="2476500" cy="66675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文字 16"/>
          <p:cNvSpPr txBox="1"/>
          <p:nvPr/>
        </p:nvSpPr>
        <p:spPr>
          <a:xfrm>
            <a:off x="7207250" y="1243310"/>
            <a:ext cx="927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作者自主分发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6864350" y="1492151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购买指令、二维码或商品页</a:t>
            </a:r>
            <a:endParaRPr/>
          </a:p>
        </p:txBody>
      </p:sp>
      <p:cxnSp>
        <p:nvCxnSpPr>
          <p:cNvPr id="18" name="Editable line 18"/>
          <p:cNvCxnSpPr/>
          <p:nvPr/>
        </p:nvCxnSpPr>
        <p:spPr>
          <a:xfrm>
            <a:off x="2936915" y="1473498"/>
            <a:ext cx="498354" cy="0"/>
          </a:xfrm>
          <a:prstGeom prst="line">
            <a:avLst/>
          </a:prstGeom>
          <a:ln w="10870" cap="flat">
            <a:solidFill>
              <a:srgbClr val="566472"/>
            </a:solidFill>
            <a:prstDash val="solid"/>
          </a:ln>
        </p:spPr>
      </p:cxnSp>
      <p:sp>
        <p:nvSpPr>
          <p:cNvPr id="19" name="文字 19"/>
          <p:cNvSpPr/>
          <p:nvPr/>
        </p:nvSpPr>
        <p:spPr>
          <a:xfrm rot="5400000">
            <a:off x="3352800" y="143381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cxnSp>
        <p:nvCxnSpPr>
          <p:cNvPr id="20" name="Editable line 20"/>
          <p:cNvCxnSpPr/>
          <p:nvPr/>
        </p:nvCxnSpPr>
        <p:spPr>
          <a:xfrm>
            <a:off x="5924630" y="1473498"/>
            <a:ext cx="495139" cy="0"/>
          </a:xfrm>
          <a:prstGeom prst="line">
            <a:avLst/>
          </a:prstGeom>
          <a:ln w="10870" cap="flat">
            <a:solidFill>
              <a:srgbClr val="566472"/>
            </a:solidFill>
            <a:prstDash val="solid"/>
          </a:ln>
        </p:spPr>
      </p:cxnSp>
      <p:sp>
        <p:nvSpPr>
          <p:cNvPr id="21" name="文字 21"/>
          <p:cNvSpPr/>
          <p:nvPr/>
        </p:nvSpPr>
        <p:spPr>
          <a:xfrm rot="5400000">
            <a:off x="6337300" y="143381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22" name="文字 22"/>
          <p:cNvSpPr txBox="1"/>
          <p:nvPr/>
        </p:nvSpPr>
        <p:spPr>
          <a:xfrm>
            <a:off x="9112250" y="1217910"/>
            <a:ext cx="25463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作者负责创造与维护，平台承接付款之后的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9112250" y="1404541"/>
            <a:ext cx="10795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交付和持续经营。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457200" y="1954510"/>
            <a:ext cx="2584450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同一购买握手，取得不同商品权益</a:t>
            </a:r>
            <a:endParaRPr/>
          </a:p>
        </p:txBody>
      </p:sp>
      <p:sp>
        <p:nvSpPr>
          <p:cNvPr id="25" name="形状 25"/>
          <p:cNvSpPr/>
          <p:nvPr/>
        </p:nvSpPr>
        <p:spPr>
          <a:xfrm>
            <a:off x="457200" y="2341860"/>
            <a:ext cx="1460500" cy="647700"/>
          </a:xfrm>
          <a:prstGeom prst="roundRect">
            <a:avLst>
              <a:gd name="adj" fmla="val 13725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文字 26"/>
          <p:cNvSpPr txBox="1"/>
          <p:nvPr/>
        </p:nvSpPr>
        <p:spPr>
          <a:xfrm>
            <a:off x="647700" y="2456160"/>
            <a:ext cx="1092101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Agent 请求资源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787400" y="2705001"/>
            <a:ext cx="8128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没有有效权益</a:t>
            </a:r>
            <a:endParaRPr/>
          </a:p>
        </p:txBody>
      </p:sp>
      <p:cxnSp>
        <p:nvCxnSpPr>
          <p:cNvPr id="28" name="Editable line 28"/>
          <p:cNvCxnSpPr/>
          <p:nvPr/>
        </p:nvCxnSpPr>
        <p:spPr>
          <a:xfrm>
            <a:off x="1920946" y="2673118"/>
            <a:ext cx="574463" cy="0"/>
          </a:xfrm>
          <a:prstGeom prst="line">
            <a:avLst/>
          </a:prstGeom>
          <a:ln w="8226" cap="flat">
            <a:solidFill>
              <a:srgbClr val="566472"/>
            </a:solidFill>
            <a:prstDash val="solid"/>
          </a:ln>
        </p:spPr>
      </p:cxnSp>
      <p:sp>
        <p:nvSpPr>
          <p:cNvPr id="29" name="文字 29"/>
          <p:cNvSpPr/>
          <p:nvPr/>
        </p:nvSpPr>
        <p:spPr>
          <a:xfrm rot="5400000">
            <a:off x="2413000" y="263396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30" name="形状 30"/>
          <p:cNvSpPr/>
          <p:nvPr/>
        </p:nvSpPr>
        <p:spPr>
          <a:xfrm>
            <a:off x="2501900" y="2341860"/>
            <a:ext cx="1765300" cy="647700"/>
          </a:xfrm>
          <a:prstGeom prst="roundRect">
            <a:avLst>
              <a:gd name="adj" fmla="val 13725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文字 31"/>
          <p:cNvSpPr txBox="1"/>
          <p:nvPr/>
        </p:nvSpPr>
        <p:spPr>
          <a:xfrm>
            <a:off x="2865338" y="2456160"/>
            <a:ext cx="1051024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402 + 付款要求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2851150" y="2705001"/>
            <a:ext cx="10795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保留原请求上下文</a:t>
            </a:r>
            <a:endParaRPr/>
          </a:p>
        </p:txBody>
      </p:sp>
      <p:cxnSp>
        <p:nvCxnSpPr>
          <p:cNvPr id="33" name="Editable line 33"/>
          <p:cNvCxnSpPr/>
          <p:nvPr/>
        </p:nvCxnSpPr>
        <p:spPr>
          <a:xfrm>
            <a:off x="4270447" y="2673118"/>
            <a:ext cx="565006" cy="0"/>
          </a:xfrm>
          <a:prstGeom prst="line">
            <a:avLst/>
          </a:prstGeom>
          <a:ln w="8226" cap="flat">
            <a:solidFill>
              <a:srgbClr val="566472"/>
            </a:solidFill>
            <a:prstDash val="solid"/>
          </a:ln>
        </p:spPr>
      </p:cxnSp>
      <p:sp>
        <p:nvSpPr>
          <p:cNvPr id="34" name="文字 34"/>
          <p:cNvSpPr/>
          <p:nvPr/>
        </p:nvSpPr>
        <p:spPr>
          <a:xfrm rot="5400000">
            <a:off x="4749800" y="263396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35" name="形状 35"/>
          <p:cNvSpPr/>
          <p:nvPr/>
        </p:nvSpPr>
        <p:spPr>
          <a:xfrm>
            <a:off x="4838700" y="2341860"/>
            <a:ext cx="2603500" cy="647700"/>
          </a:xfrm>
          <a:prstGeom prst="roundRect">
            <a:avLst>
              <a:gd name="adj" fmla="val 13725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文字 36"/>
          <p:cNvSpPr txBox="1"/>
          <p:nvPr/>
        </p:nvSpPr>
        <p:spPr>
          <a:xfrm>
            <a:off x="5302250" y="2456160"/>
            <a:ext cx="1689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支付宝付款后恢复原请求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5414863" y="2705001"/>
            <a:ext cx="146377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SkillPay 验付并建立权益</a:t>
            </a:r>
            <a:endParaRPr/>
          </a:p>
        </p:txBody>
      </p:sp>
      <p:cxnSp>
        <p:nvCxnSpPr>
          <p:cNvPr id="38" name="Editable line 38"/>
          <p:cNvCxnSpPr/>
          <p:nvPr/>
        </p:nvCxnSpPr>
        <p:spPr>
          <a:xfrm>
            <a:off x="6147858" y="2992793"/>
            <a:ext cx="0" cy="349135"/>
          </a:xfrm>
          <a:prstGeom prst="line">
            <a:avLst/>
          </a:prstGeom>
          <a:ln w="8226" cap="flat">
            <a:solidFill>
              <a:srgbClr val="566472"/>
            </a:solidFill>
            <a:prstDash val="solid"/>
          </a:ln>
        </p:spPr>
      </p:cxnSp>
      <p:cxnSp>
        <p:nvCxnSpPr>
          <p:cNvPr id="39" name="Editable line 39"/>
          <p:cNvCxnSpPr/>
          <p:nvPr/>
        </p:nvCxnSpPr>
        <p:spPr>
          <a:xfrm>
            <a:off x="2143218" y="3352568"/>
            <a:ext cx="3993963" cy="0"/>
          </a:xfrm>
          <a:prstGeom prst="line">
            <a:avLst/>
          </a:prstGeom>
          <a:ln w="8218" cap="flat">
            <a:solidFill>
              <a:srgbClr val="566472"/>
            </a:solidFill>
            <a:prstDash val="solid"/>
          </a:ln>
        </p:spPr>
      </p:cxnSp>
      <p:cxnSp>
        <p:nvCxnSpPr>
          <p:cNvPr id="40" name="Editable line 40"/>
          <p:cNvCxnSpPr/>
          <p:nvPr/>
        </p:nvCxnSpPr>
        <p:spPr>
          <a:xfrm>
            <a:off x="2145242" y="3351510"/>
            <a:ext cx="0" cy="231775"/>
          </a:xfrm>
          <a:prstGeom prst="line">
            <a:avLst/>
          </a:prstGeom>
          <a:ln w="8209" cap="flat">
            <a:solidFill>
              <a:srgbClr val="566472"/>
            </a:solidFill>
            <a:prstDash val="solid"/>
          </a:ln>
        </p:spPr>
      </p:cxnSp>
      <p:sp>
        <p:nvSpPr>
          <p:cNvPr id="41" name="文字 41"/>
          <p:cNvSpPr/>
          <p:nvPr/>
        </p:nvSpPr>
        <p:spPr>
          <a:xfrm rot="10800000">
            <a:off x="2101850" y="351026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cxnSp>
        <p:nvCxnSpPr>
          <p:cNvPr id="42" name="Editable line 42"/>
          <p:cNvCxnSpPr/>
          <p:nvPr/>
        </p:nvCxnSpPr>
        <p:spPr>
          <a:xfrm>
            <a:off x="5765800" y="3351510"/>
            <a:ext cx="0" cy="231775"/>
          </a:xfrm>
          <a:prstGeom prst="line">
            <a:avLst/>
          </a:prstGeom>
          <a:ln w="8218" cap="flat">
            <a:solidFill>
              <a:srgbClr val="566472"/>
            </a:solidFill>
            <a:prstDash val="solid"/>
          </a:ln>
        </p:spPr>
      </p:cxnSp>
      <p:sp>
        <p:nvSpPr>
          <p:cNvPr id="43" name="文字 43"/>
          <p:cNvSpPr/>
          <p:nvPr/>
        </p:nvSpPr>
        <p:spPr>
          <a:xfrm rot="10800000">
            <a:off x="5721350" y="3510260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44" name="形状 44"/>
          <p:cNvSpPr/>
          <p:nvPr/>
        </p:nvSpPr>
        <p:spPr>
          <a:xfrm>
            <a:off x="457200" y="3586460"/>
            <a:ext cx="3365500" cy="1365250"/>
          </a:xfrm>
          <a:prstGeom prst="roundRect">
            <a:avLst>
              <a:gd name="adj" fmla="val 6512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文字 45"/>
          <p:cNvSpPr txBox="1"/>
          <p:nvPr/>
        </p:nvSpPr>
        <p:spPr>
          <a:xfrm>
            <a:off x="1377950" y="3700760"/>
            <a:ext cx="1536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买断：交付完整源文件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1382713" y="3949601"/>
            <a:ext cx="152717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完整 Skill 进入本地 Agent</a:t>
            </a:r>
            <a:endParaRPr/>
          </a:p>
        </p:txBody>
      </p:sp>
      <p:sp>
        <p:nvSpPr>
          <p:cNvPr id="47" name="文字 47"/>
          <p:cNvSpPr txBox="1"/>
          <p:nvPr/>
        </p:nvSpPr>
        <p:spPr>
          <a:xfrm>
            <a:off x="1177230" y="4136231"/>
            <a:ext cx="193813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一次购买可下载该 Skill 全部版本</a:t>
            </a:r>
            <a:endParaRPr/>
          </a:p>
        </p:txBody>
      </p:sp>
      <p:sp>
        <p:nvSpPr>
          <p:cNvPr id="48" name="文字 48"/>
          <p:cNvSpPr txBox="1"/>
          <p:nvPr/>
        </p:nvSpPr>
        <p:spPr>
          <a:xfrm>
            <a:off x="1273175" y="4322862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后续由本地读取、执行和保存</a:t>
            </a:r>
            <a:endParaRPr/>
          </a:p>
        </p:txBody>
      </p:sp>
      <p:sp>
        <p:nvSpPr>
          <p:cNvPr id="49" name="形状 49"/>
          <p:cNvSpPr/>
          <p:nvPr/>
        </p:nvSpPr>
        <p:spPr>
          <a:xfrm>
            <a:off x="4076700" y="3586460"/>
            <a:ext cx="3365500" cy="1365250"/>
          </a:xfrm>
          <a:prstGeom prst="roundRect">
            <a:avLst>
              <a:gd name="adj" fmla="val 6512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文字 50"/>
          <p:cNvSpPr txBox="1"/>
          <p:nvPr/>
        </p:nvSpPr>
        <p:spPr>
          <a:xfrm>
            <a:off x="4921250" y="3700760"/>
            <a:ext cx="1689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订阅：交付期限内使用权</a:t>
            </a:r>
            <a:endParaRPr/>
          </a:p>
        </p:txBody>
      </p:sp>
      <p:sp>
        <p:nvSpPr>
          <p:cNvPr id="51" name="文字 51"/>
          <p:cNvSpPr txBox="1"/>
          <p:nvPr/>
        </p:nvSpPr>
        <p:spPr>
          <a:xfrm>
            <a:off x="5026025" y="3949601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本地保留入口与公开资源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4759325" y="4136231"/>
            <a:ext cx="20129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完整原文留云端，按任务提供指导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4692650" y="4322862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当前不自动续费，到期重新取得权益</a:t>
            </a:r>
            <a:endParaRPr/>
          </a:p>
        </p:txBody>
      </p:sp>
      <p:sp>
        <p:nvSpPr>
          <p:cNvPr id="54" name="文字 54"/>
          <p:cNvSpPr txBox="1"/>
          <p:nvPr/>
        </p:nvSpPr>
        <p:spPr>
          <a:xfrm>
            <a:off x="457200" y="5104110"/>
            <a:ext cx="34798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支付后按商品模式分叉，订阅并不等于每次任务重新扣款。</a:t>
            </a:r>
            <a:endParaRPr/>
          </a:p>
        </p:txBody>
      </p:sp>
      <p:cxnSp>
        <p:nvCxnSpPr>
          <p:cNvPr id="55" name="Editable line 55"/>
          <p:cNvCxnSpPr/>
          <p:nvPr/>
        </p:nvCxnSpPr>
        <p:spPr>
          <a:xfrm>
            <a:off x="7678954" y="1856179"/>
            <a:ext cx="0" cy="3546381"/>
          </a:xfrm>
          <a:prstGeom prst="line">
            <a:avLst/>
          </a:prstGeom>
          <a:ln w="6331" cap="flat">
            <a:solidFill>
              <a:srgbClr val="D9DDE2"/>
            </a:solidFill>
            <a:prstDash val="solid"/>
          </a:ln>
        </p:spPr>
      </p:cxnSp>
      <p:sp>
        <p:nvSpPr>
          <p:cNvPr id="56" name="文字 56"/>
          <p:cNvSpPr txBox="1"/>
          <p:nvPr/>
        </p:nvSpPr>
        <p:spPr>
          <a:xfrm>
            <a:off x="7854950" y="1941810"/>
            <a:ext cx="2790527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商品 ID 定位售卖对象，交易号追踪付款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7854950" y="2213273"/>
            <a:ext cx="376098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merchantId / productId 说明“谁的哪个商品”；支付凭据用于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7854950" y="2410619"/>
            <a:ext cx="26797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恢复本轮请求，后续还要判断权益是否可用。</a:t>
            </a:r>
            <a:endParaRPr/>
          </a:p>
        </p:txBody>
      </p:sp>
      <p:sp>
        <p:nvSpPr>
          <p:cNvPr id="59" name="文字 59"/>
          <p:cNvSpPr txBox="1"/>
          <p:nvPr/>
        </p:nvSpPr>
        <p:spPr>
          <a:xfrm>
            <a:off x="7854950" y="2754015"/>
            <a:ext cx="23939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平台管理交付，而非只弹出收银台</a:t>
            </a:r>
            <a:endParaRPr/>
          </a:p>
        </p:txBody>
      </p:sp>
      <p:sp>
        <p:nvSpPr>
          <p:cNvPr id="60" name="文字 60"/>
          <p:cNvSpPr txBox="1"/>
          <p:nvPr/>
        </p:nvSpPr>
        <p:spPr>
          <a:xfrm>
            <a:off x="7854950" y="3025477"/>
            <a:ext cx="3879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商品模式、试用、版本和可用期决定后续交付。付费成功后仍可能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7854950" y="3222824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处于权益发放中或发放失败。</a:t>
            </a:r>
            <a:endParaRPr/>
          </a:p>
        </p:txBody>
      </p:sp>
      <p:sp>
        <p:nvSpPr>
          <p:cNvPr id="62" name="文字 62"/>
          <p:cNvSpPr txBox="1"/>
          <p:nvPr/>
        </p:nvSpPr>
        <p:spPr>
          <a:xfrm>
            <a:off x="7854950" y="3566220"/>
            <a:ext cx="23939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资金直达作者，费率不能据此推断</a:t>
            </a:r>
            <a:endParaRPr/>
          </a:p>
        </p:txBody>
      </p:sp>
      <p:sp>
        <p:nvSpPr>
          <p:cNvPr id="63" name="文字 63"/>
          <p:cNvSpPr txBox="1"/>
          <p:nvPr/>
        </p:nvSpPr>
        <p:spPr>
          <a:xfrm>
            <a:off x="7854950" y="3837682"/>
            <a:ext cx="3879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官网称款项实时到作者支付宝账户。退款由作者处理，周期订单整</a:t>
            </a:r>
            <a:endParaRPr/>
          </a:p>
        </p:txBody>
      </p:sp>
      <p:sp>
        <p:nvSpPr>
          <p:cNvPr id="64" name="文字 64"/>
          <p:cNvSpPr txBox="1"/>
          <p:nvPr/>
        </p:nvSpPr>
        <p:spPr>
          <a:xfrm>
            <a:off x="7854950" y="4035028"/>
            <a:ext cx="2146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单全退；未查到统一公开抽佣费率。</a:t>
            </a:r>
            <a:endParaRPr/>
          </a:p>
        </p:txBody>
      </p:sp>
      <p:cxnSp>
        <p:nvCxnSpPr>
          <p:cNvPr id="65" name="Editable line 65"/>
          <p:cNvCxnSpPr/>
          <p:nvPr/>
        </p:nvCxnSpPr>
        <p:spPr>
          <a:xfrm>
            <a:off x="463734" y="5392953"/>
            <a:ext cx="11264532" cy="0"/>
          </a:xfrm>
          <a:prstGeom prst="line">
            <a:avLst/>
          </a:prstGeom>
          <a:ln w="12662" cap="flat">
            <a:solidFill>
              <a:srgbClr val="B5333B"/>
            </a:solidFill>
            <a:prstDash val="solid"/>
          </a:ln>
        </p:spPr>
      </p:cxnSp>
      <p:sp>
        <p:nvSpPr>
          <p:cNvPr id="66" name="文字 66"/>
          <p:cNvSpPr txBox="1"/>
          <p:nvPr/>
        </p:nvSpPr>
        <p:spPr>
          <a:xfrm>
            <a:off x="457200" y="5511800"/>
            <a:ext cx="1689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沿四个判断点恢复原任务</a:t>
            </a:r>
            <a:endParaRPr/>
          </a:p>
        </p:txBody>
      </p:sp>
      <p:sp>
        <p:nvSpPr>
          <p:cNvPr id="67" name="文字 67"/>
          <p:cNvSpPr txBox="1"/>
          <p:nvPr/>
        </p:nvSpPr>
        <p:spPr>
          <a:xfrm>
            <a:off x="457200" y="5822950"/>
            <a:ext cx="622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支付确认</a:t>
            </a:r>
            <a:endParaRPr/>
          </a:p>
        </p:txBody>
      </p:sp>
      <p:sp>
        <p:nvSpPr>
          <p:cNvPr id="68" name="文字 68"/>
          <p:cNvSpPr txBox="1"/>
          <p:nvPr/>
        </p:nvSpPr>
        <p:spPr>
          <a:xfrm>
            <a:off x="457200" y="6070600"/>
            <a:ext cx="1212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钱是否付给对应交易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3340100" y="5822950"/>
            <a:ext cx="622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权益可用</a:t>
            </a:r>
            <a:endParaRPr/>
          </a:p>
        </p:txBody>
      </p:sp>
      <p:sp>
        <p:nvSpPr>
          <p:cNvPr id="70" name="文字 70"/>
          <p:cNvSpPr txBox="1"/>
          <p:nvPr/>
        </p:nvSpPr>
        <p:spPr>
          <a:xfrm>
            <a:off x="3340100" y="6070600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当前买家是否仍可使用</a:t>
            </a:r>
            <a:endParaRPr/>
          </a:p>
        </p:txBody>
      </p:sp>
      <p:sp>
        <p:nvSpPr>
          <p:cNvPr id="71" name="文字 71"/>
          <p:cNvSpPr txBox="1"/>
          <p:nvPr/>
        </p:nvSpPr>
        <p:spPr>
          <a:xfrm>
            <a:off x="6223000" y="5822950"/>
            <a:ext cx="622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资源交付</a:t>
            </a:r>
            <a:endParaRPr/>
          </a:p>
        </p:txBody>
      </p:sp>
      <p:sp>
        <p:nvSpPr>
          <p:cNvPr id="72" name="文字 72"/>
          <p:cNvSpPr txBox="1"/>
          <p:nvPr/>
        </p:nvSpPr>
        <p:spPr>
          <a:xfrm>
            <a:off x="6223000" y="6070600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文件或执行指导是否取得</a:t>
            </a:r>
            <a:endParaRPr/>
          </a:p>
        </p:txBody>
      </p:sp>
      <p:sp>
        <p:nvSpPr>
          <p:cNvPr id="73" name="文字 73"/>
          <p:cNvSpPr txBox="1"/>
          <p:nvPr/>
        </p:nvSpPr>
        <p:spPr>
          <a:xfrm>
            <a:off x="9105900" y="5822950"/>
            <a:ext cx="622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任务完成</a:t>
            </a:r>
            <a:endParaRPr/>
          </a:p>
        </p:txBody>
      </p:sp>
      <p:sp>
        <p:nvSpPr>
          <p:cNvPr id="74" name="文字 74"/>
          <p:cNvSpPr txBox="1"/>
          <p:nvPr/>
        </p:nvSpPr>
        <p:spPr>
          <a:xfrm>
            <a:off x="9105900" y="6070600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本地执行与产物是否合格</a:t>
            </a:r>
            <a:endParaRPr/>
          </a:p>
        </p:txBody>
      </p:sp>
      <p:pic>
        <p:nvPicPr>
          <p:cNvPr id="76" name="slide-001-im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678" y="6590135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" name="文字 7"/>
          <p:cNvSpPr txBox="1"/>
          <p:nvPr/>
        </p:nvSpPr>
        <p:spPr>
          <a:xfrm>
            <a:off x="457200" y="308610"/>
            <a:ext cx="11247120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2400" b="1">
                <a:latin typeface="微软雅黑"/>
              </a:defRPr>
            </a:pPr>
            <a:r>
              <a:rPr sz="2400" b="1" i="0" u="none" spc="0">
                <a:solidFill>
                  <a:srgbClr val="C7000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订阅原文留云端，云端给任务指导，本地 Agent 继续执行</a:t>
            </a:r>
            <a:endParaRPr/>
          </a:p>
        </p:txBody>
      </p:sp>
      <p:sp>
        <p:nvSpPr>
          <p:cNvPr id="10" name="形状 10"/>
          <p:cNvSpPr/>
          <p:nvPr/>
        </p:nvSpPr>
        <p:spPr>
          <a:xfrm>
            <a:off x="457200" y="1384201"/>
            <a:ext cx="7112000" cy="4216400"/>
          </a:xfrm>
          <a:prstGeom prst="roundRect">
            <a:avLst>
              <a:gd name="adj" fmla="val 2108"/>
            </a:avLst>
          </a:prstGeom>
          <a:noFill/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cxnSp>
        <p:nvCxnSpPr>
          <p:cNvPr id="11" name="Editable line 11"/>
          <p:cNvCxnSpPr/>
          <p:nvPr/>
        </p:nvCxnSpPr>
        <p:spPr>
          <a:xfrm>
            <a:off x="3988858" y="1679739"/>
            <a:ext cx="0" cy="3768462"/>
          </a:xfrm>
          <a:prstGeom prst="line">
            <a:avLst/>
          </a:prstGeom>
          <a:ln w="4000" cap="flat">
            <a:solidFill>
              <a:srgbClr val="D9DDE2"/>
            </a:solidFill>
            <a:prstDash val="dash"/>
          </a:ln>
        </p:spPr>
      </p:cxnSp>
      <p:sp>
        <p:nvSpPr>
          <p:cNvPr id="12" name="文字 12"/>
          <p:cNvSpPr txBox="1"/>
          <p:nvPr/>
        </p:nvSpPr>
        <p:spPr>
          <a:xfrm>
            <a:off x="1735931" y="1498501"/>
            <a:ext cx="884138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本地 Agent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5090418" y="1498501"/>
            <a:ext cx="1414264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SkillPay 云端保护</a:t>
            </a:r>
            <a:endParaRPr/>
          </a:p>
        </p:txBody>
      </p:sp>
      <p:sp>
        <p:nvSpPr>
          <p:cNvPr id="14" name="形状 14"/>
          <p:cNvSpPr/>
          <p:nvPr/>
        </p:nvSpPr>
        <p:spPr>
          <a:xfrm>
            <a:off x="679450" y="1847751"/>
            <a:ext cx="2889250" cy="730250"/>
          </a:xfrm>
          <a:prstGeom prst="roundRect">
            <a:avLst>
              <a:gd name="adj" fmla="val 1217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文字 15"/>
          <p:cNvSpPr txBox="1"/>
          <p:nvPr/>
        </p:nvSpPr>
        <p:spPr>
          <a:xfrm>
            <a:off x="1405235" y="1962051"/>
            <a:ext cx="1450281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用户任务 + 影子 Skill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1123950" y="2210891"/>
            <a:ext cx="20129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本地入口、公开资源与必要上下文</a:t>
            </a:r>
            <a:endParaRPr/>
          </a:p>
        </p:txBody>
      </p:sp>
      <p:cxnSp>
        <p:nvCxnSpPr>
          <p:cNvPr id="17" name="Editable line 17"/>
          <p:cNvCxnSpPr/>
          <p:nvPr/>
        </p:nvCxnSpPr>
        <p:spPr>
          <a:xfrm>
            <a:off x="2126192" y="2587526"/>
            <a:ext cx="0" cy="292100"/>
          </a:xfrm>
          <a:prstGeom prst="line">
            <a:avLst/>
          </a:prstGeom>
          <a:ln w="8218" cap="flat">
            <a:solidFill>
              <a:srgbClr val="566472"/>
            </a:solidFill>
            <a:prstDash val="solid"/>
          </a:ln>
        </p:spPr>
      </p:cxnSp>
      <p:sp>
        <p:nvSpPr>
          <p:cNvPr id="18" name="文字 18"/>
          <p:cNvSpPr/>
          <p:nvPr/>
        </p:nvSpPr>
        <p:spPr>
          <a:xfrm rot="10800000">
            <a:off x="2082800" y="280660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cxnSp>
        <p:nvCxnSpPr>
          <p:cNvPr id="19" name="Editable line 19"/>
          <p:cNvCxnSpPr/>
          <p:nvPr/>
        </p:nvCxnSpPr>
        <p:spPr>
          <a:xfrm>
            <a:off x="2124164" y="2890209"/>
            <a:ext cx="2549258" cy="0"/>
          </a:xfrm>
          <a:prstGeom prst="line">
            <a:avLst/>
          </a:prstGeom>
          <a:ln w="8218" cap="flat">
            <a:solidFill>
              <a:srgbClr val="566472"/>
            </a:solidFill>
            <a:prstDash val="solid"/>
          </a:ln>
        </p:spPr>
      </p:cxnSp>
      <p:sp>
        <p:nvSpPr>
          <p:cNvPr id="20" name="文字 20"/>
          <p:cNvSpPr/>
          <p:nvPr/>
        </p:nvSpPr>
        <p:spPr>
          <a:xfrm rot="5400000">
            <a:off x="4591050" y="285105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21" name="形状 21"/>
          <p:cNvSpPr/>
          <p:nvPr/>
        </p:nvSpPr>
        <p:spPr>
          <a:xfrm>
            <a:off x="2184400" y="2666901"/>
            <a:ext cx="2432050" cy="16887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2" name="文字 22"/>
          <p:cNvSpPr txBox="1"/>
          <p:nvPr/>
        </p:nvSpPr>
        <p:spPr>
          <a:xfrm>
            <a:off x="2675235" y="2679601"/>
            <a:ext cx="146298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66472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当前任务请求 + 有效上下文</a:t>
            </a:r>
            <a:endParaRPr/>
          </a:p>
        </p:txBody>
      </p:sp>
      <p:sp>
        <p:nvSpPr>
          <p:cNvPr id="23" name="形状 23"/>
          <p:cNvSpPr/>
          <p:nvPr/>
        </p:nvSpPr>
        <p:spPr>
          <a:xfrm>
            <a:off x="4679950" y="2565301"/>
            <a:ext cx="2667000" cy="647700"/>
          </a:xfrm>
          <a:prstGeom prst="roundRect">
            <a:avLst>
              <a:gd name="adj" fmla="val 13725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文字 24"/>
          <p:cNvSpPr txBox="1"/>
          <p:nvPr/>
        </p:nvSpPr>
        <p:spPr>
          <a:xfrm>
            <a:off x="5480050" y="2679601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权益与请求判断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5280025" y="2928441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有效期、试用及能力边界</a:t>
            </a:r>
            <a:endParaRPr/>
          </a:p>
        </p:txBody>
      </p:sp>
      <p:cxnSp>
        <p:nvCxnSpPr>
          <p:cNvPr id="26" name="Editable line 26"/>
          <p:cNvCxnSpPr/>
          <p:nvPr/>
        </p:nvCxnSpPr>
        <p:spPr>
          <a:xfrm>
            <a:off x="6018742" y="3222526"/>
            <a:ext cx="0" cy="260350"/>
          </a:xfrm>
          <a:prstGeom prst="line">
            <a:avLst/>
          </a:prstGeom>
          <a:ln w="8226" cap="flat">
            <a:solidFill>
              <a:srgbClr val="566472"/>
            </a:solidFill>
            <a:prstDash val="solid"/>
          </a:ln>
        </p:spPr>
      </p:cxnSp>
      <p:sp>
        <p:nvSpPr>
          <p:cNvPr id="27" name="文字 27"/>
          <p:cNvSpPr/>
          <p:nvPr/>
        </p:nvSpPr>
        <p:spPr>
          <a:xfrm rot="10800000">
            <a:off x="5975350" y="340985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28" name="形状 28"/>
          <p:cNvSpPr/>
          <p:nvPr/>
        </p:nvSpPr>
        <p:spPr>
          <a:xfrm>
            <a:off x="4679950" y="3486051"/>
            <a:ext cx="2667000" cy="787400"/>
          </a:xfrm>
          <a:prstGeom prst="roundRect">
            <a:avLst>
              <a:gd name="adj" fmla="val 11290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文字 29"/>
          <p:cNvSpPr txBox="1"/>
          <p:nvPr/>
        </p:nvSpPr>
        <p:spPr>
          <a:xfrm>
            <a:off x="5403850" y="3600351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完整原文隔离保存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5080000" y="3849192"/>
            <a:ext cx="18796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根据当前任务生成有限执行文本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5280025" y="4035822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拒绝套取，裁剪无关知识</a:t>
            </a:r>
            <a:endParaRPr/>
          </a:p>
        </p:txBody>
      </p:sp>
      <p:cxnSp>
        <p:nvCxnSpPr>
          <p:cNvPr id="32" name="Editable line 32"/>
          <p:cNvCxnSpPr/>
          <p:nvPr/>
        </p:nvCxnSpPr>
        <p:spPr>
          <a:xfrm>
            <a:off x="3575199" y="3907268"/>
            <a:ext cx="1101502" cy="0"/>
          </a:xfrm>
          <a:prstGeom prst="line">
            <a:avLst/>
          </a:prstGeom>
          <a:ln w="7869" cap="flat">
            <a:solidFill>
              <a:srgbClr val="B5333B"/>
            </a:solidFill>
            <a:prstDash val="solid"/>
          </a:ln>
        </p:spPr>
      </p:cxnSp>
      <p:sp>
        <p:nvSpPr>
          <p:cNvPr id="33" name="文字 33"/>
          <p:cNvSpPr/>
          <p:nvPr/>
        </p:nvSpPr>
        <p:spPr>
          <a:xfrm rot="16200000">
            <a:off x="3568700" y="3867051"/>
            <a:ext cx="88900" cy="88900"/>
          </a:xfrm>
          <a:prstGeom prst="triangle">
            <a:avLst/>
          </a:prstGeom>
          <a:solidFill>
            <a:srgbClr val="B5333B"/>
          </a:solidFill>
          <a:ln>
            <a:noFill/>
          </a:ln>
        </p:spPr>
        <p:txBody>
          <a:bodyPr/>
          <a:p/>
        </p:txBody>
      </p:sp>
      <p:sp>
        <p:nvSpPr>
          <p:cNvPr id="34" name="形状 34"/>
          <p:cNvSpPr/>
          <p:nvPr/>
        </p:nvSpPr>
        <p:spPr>
          <a:xfrm>
            <a:off x="3632200" y="3682901"/>
            <a:ext cx="984250" cy="16887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5" name="文字 35"/>
          <p:cNvSpPr txBox="1"/>
          <p:nvPr/>
        </p:nvSpPr>
        <p:spPr>
          <a:xfrm>
            <a:off x="3762375" y="3695601"/>
            <a:ext cx="7366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任务专用指导</a:t>
            </a:r>
            <a:endParaRPr/>
          </a:p>
        </p:txBody>
      </p:sp>
      <p:sp>
        <p:nvSpPr>
          <p:cNvPr id="36" name="形状 36"/>
          <p:cNvSpPr/>
          <p:nvPr/>
        </p:nvSpPr>
        <p:spPr>
          <a:xfrm>
            <a:off x="679450" y="3536851"/>
            <a:ext cx="2889250" cy="730250"/>
          </a:xfrm>
          <a:prstGeom prst="roundRect">
            <a:avLst>
              <a:gd name="adj" fmla="val 1217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文字 37"/>
          <p:cNvSpPr txBox="1"/>
          <p:nvPr/>
        </p:nvSpPr>
        <p:spPr>
          <a:xfrm>
            <a:off x="1438275" y="3651151"/>
            <a:ext cx="1384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本地校验指导与输入</a:t>
            </a:r>
            <a:endParaRPr/>
          </a:p>
        </p:txBody>
      </p:sp>
      <p:sp>
        <p:nvSpPr>
          <p:cNvPr id="38" name="文字 38"/>
          <p:cNvSpPr txBox="1"/>
          <p:nvPr/>
        </p:nvSpPr>
        <p:spPr>
          <a:xfrm>
            <a:off x="1123950" y="3899992"/>
            <a:ext cx="20129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信息不足先追问，信息充分再执行</a:t>
            </a:r>
            <a:endParaRPr/>
          </a:p>
        </p:txBody>
      </p:sp>
      <p:cxnSp>
        <p:nvCxnSpPr>
          <p:cNvPr id="39" name="Editable line 39"/>
          <p:cNvCxnSpPr/>
          <p:nvPr/>
        </p:nvCxnSpPr>
        <p:spPr>
          <a:xfrm>
            <a:off x="2126192" y="4276626"/>
            <a:ext cx="0" cy="314325"/>
          </a:xfrm>
          <a:prstGeom prst="line">
            <a:avLst/>
          </a:prstGeom>
          <a:ln w="8218" cap="flat">
            <a:solidFill>
              <a:srgbClr val="566472"/>
            </a:solidFill>
            <a:prstDash val="solid"/>
          </a:ln>
        </p:spPr>
      </p:cxnSp>
      <p:sp>
        <p:nvSpPr>
          <p:cNvPr id="40" name="文字 40"/>
          <p:cNvSpPr/>
          <p:nvPr/>
        </p:nvSpPr>
        <p:spPr>
          <a:xfrm rot="10800000">
            <a:off x="2082800" y="451475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41" name="形状 41"/>
          <p:cNvSpPr/>
          <p:nvPr/>
        </p:nvSpPr>
        <p:spPr>
          <a:xfrm>
            <a:off x="679450" y="4590951"/>
            <a:ext cx="2889250" cy="7112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文字 42"/>
          <p:cNvSpPr txBox="1"/>
          <p:nvPr/>
        </p:nvSpPr>
        <p:spPr>
          <a:xfrm>
            <a:off x="1285875" y="4705251"/>
            <a:ext cx="1689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运行工具并形成最终结果</a:t>
            </a:r>
            <a:endParaRPr/>
          </a:p>
        </p:txBody>
      </p:sp>
      <p:sp>
        <p:nvSpPr>
          <p:cNvPr id="43" name="文字 43"/>
          <p:cNvSpPr txBox="1"/>
          <p:nvPr/>
        </p:nvSpPr>
        <p:spPr>
          <a:xfrm>
            <a:off x="990600" y="4954092"/>
            <a:ext cx="22796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脚本、数据处理、文件产物由本地完成</a:t>
            </a:r>
            <a:endParaRPr/>
          </a:p>
        </p:txBody>
      </p:sp>
      <p:sp>
        <p:nvSpPr>
          <p:cNvPr id="44" name="文字 44"/>
          <p:cNvSpPr txBox="1"/>
          <p:nvPr/>
        </p:nvSpPr>
        <p:spPr>
          <a:xfrm>
            <a:off x="5454650" y="4533801"/>
            <a:ext cx="11239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云端不运行脚本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5375275" y="4756051"/>
            <a:ext cx="12827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也不计算最终答案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4419600" y="5086251"/>
            <a:ext cx="29464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云端输出的是执行方法，本地仍承担工具权限和产</a:t>
            </a:r>
            <a:endParaRPr/>
          </a:p>
        </p:txBody>
      </p:sp>
      <p:sp>
        <p:nvSpPr>
          <p:cNvPr id="47" name="文字 47"/>
          <p:cNvSpPr txBox="1"/>
          <p:nvPr/>
        </p:nvSpPr>
        <p:spPr>
          <a:xfrm>
            <a:off x="5619750" y="5272881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物检查。</a:t>
            </a:r>
            <a:endParaRPr/>
          </a:p>
        </p:txBody>
      </p:sp>
      <p:cxnSp>
        <p:nvCxnSpPr>
          <p:cNvPr id="48" name="Editable line 48"/>
          <p:cNvCxnSpPr/>
          <p:nvPr/>
        </p:nvCxnSpPr>
        <p:spPr>
          <a:xfrm>
            <a:off x="7802697" y="1390738"/>
            <a:ext cx="0" cy="4209863"/>
          </a:xfrm>
          <a:prstGeom prst="line">
            <a:avLst/>
          </a:prstGeom>
          <a:ln w="6324" cap="flat">
            <a:solidFill>
              <a:srgbClr val="DADEE3"/>
            </a:solidFill>
            <a:prstDash val="solid"/>
          </a:ln>
        </p:spPr>
      </p:cxnSp>
      <p:sp>
        <p:nvSpPr>
          <p:cNvPr id="49" name="文字 49"/>
          <p:cNvSpPr txBox="1"/>
          <p:nvPr/>
        </p:nvSpPr>
        <p:spPr>
          <a:xfrm>
            <a:off x="7981950" y="1396901"/>
            <a:ext cx="17589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正常任务：返回必要指导</a:t>
            </a:r>
            <a:endParaRPr/>
          </a:p>
        </p:txBody>
      </p:sp>
      <p:sp>
        <p:nvSpPr>
          <p:cNvPr id="50" name="文字 50"/>
          <p:cNvSpPr txBox="1"/>
          <p:nvPr/>
        </p:nvSpPr>
        <p:spPr>
          <a:xfrm>
            <a:off x="7981950" y="1668363"/>
            <a:ext cx="367168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围绕当前问题，只披露完成任务所需的方法，不把完整 Skill 作</a:t>
            </a:r>
            <a:endParaRPr/>
          </a:p>
        </p:txBody>
      </p:sp>
      <p:sp>
        <p:nvSpPr>
          <p:cNvPr id="51" name="文字 51"/>
          <p:cNvSpPr txBox="1"/>
          <p:nvPr/>
        </p:nvSpPr>
        <p:spPr>
          <a:xfrm>
            <a:off x="7981950" y="1865709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为回答。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7981950" y="2202755"/>
            <a:ext cx="19177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套取全文：拒绝并回到任务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7981950" y="2474218"/>
            <a:ext cx="37465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角色扮演、覆盖指令、编码或多轮拼接等请求，属于持续防护与</a:t>
            </a:r>
            <a:endParaRPr/>
          </a:p>
        </p:txBody>
      </p:sp>
      <p:sp>
        <p:nvSpPr>
          <p:cNvPr id="54" name="文字 54"/>
          <p:cNvSpPr txBox="1"/>
          <p:nvPr/>
        </p:nvSpPr>
        <p:spPr>
          <a:xfrm>
            <a:off x="7981950" y="2671564"/>
            <a:ext cx="9461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回归评测范围。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7981950" y="3008610"/>
            <a:ext cx="22352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边界请求：帮助与最小披露并行</a:t>
            </a:r>
            <a:endParaRPr/>
          </a:p>
        </p:txBody>
      </p:sp>
      <p:sp>
        <p:nvSpPr>
          <p:cNvPr id="56" name="文字 56"/>
          <p:cNvSpPr txBox="1"/>
          <p:nvPr/>
        </p:nvSpPr>
        <p:spPr>
          <a:xfrm>
            <a:off x="7981950" y="3280073"/>
            <a:ext cx="37465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有限执行文本仍能被观察。保护目标是提高整份原文复制成本，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7981950" y="3477419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不能据此声称不可破解。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7981950" y="3814465"/>
            <a:ext cx="20764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原文保护与数据传输分别判断</a:t>
            </a:r>
            <a:endParaRPr/>
          </a:p>
        </p:txBody>
      </p:sp>
      <p:sp>
        <p:nvSpPr>
          <p:cNvPr id="59" name="文字 59"/>
          <p:cNvSpPr txBox="1"/>
          <p:nvPr/>
        </p:nvSpPr>
        <p:spPr>
          <a:xfrm>
            <a:off x="7981950" y="4085927"/>
            <a:ext cx="36131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云端会接收任务和有效上下文。具体资料传输依实现，不能从</a:t>
            </a:r>
            <a:endParaRPr/>
          </a:p>
        </p:txBody>
      </p:sp>
      <p:sp>
        <p:nvSpPr>
          <p:cNvPr id="60" name="文字 60"/>
          <p:cNvSpPr txBox="1"/>
          <p:nvPr/>
        </p:nvSpPr>
        <p:spPr>
          <a:xfrm>
            <a:off x="7981950" y="4283274"/>
            <a:ext cx="26797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“原文不落地”推出“用户资料绝不出云”。</a:t>
            </a:r>
            <a:endParaRPr/>
          </a:p>
        </p:txBody>
      </p:sp>
      <p:cxnSp>
        <p:nvCxnSpPr>
          <p:cNvPr id="61" name="Editable line 61"/>
          <p:cNvCxnSpPr/>
          <p:nvPr/>
        </p:nvCxnSpPr>
        <p:spPr>
          <a:xfrm>
            <a:off x="463734" y="5603115"/>
            <a:ext cx="11264532" cy="0"/>
          </a:xfrm>
          <a:prstGeom prst="line">
            <a:avLst/>
          </a:prstGeom>
          <a:ln w="12527" cap="flat">
            <a:solidFill>
              <a:srgbClr val="B5333B"/>
            </a:solidFill>
            <a:prstDash val="solid"/>
          </a:ln>
        </p:spPr>
      </p:cxnSp>
      <p:sp>
        <p:nvSpPr>
          <p:cNvPr id="62" name="文字 62"/>
          <p:cNvSpPr txBox="1"/>
          <p:nvPr/>
        </p:nvSpPr>
        <p:spPr>
          <a:xfrm>
            <a:off x="457200" y="5696546"/>
            <a:ext cx="17589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访问门槛：权益仍需有效</a:t>
            </a:r>
            <a:endParaRPr/>
          </a:p>
        </p:txBody>
      </p:sp>
      <p:sp>
        <p:nvSpPr>
          <p:cNvPr id="63" name="文字 63"/>
          <p:cNvSpPr txBox="1"/>
          <p:nvPr/>
        </p:nvSpPr>
        <p:spPr>
          <a:xfrm>
            <a:off x="457200" y="5968008"/>
            <a:ext cx="5480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到期、退款、冻结或额度等状态可能影响可用性。订阅不代表不限次数，试用次数不等于完整</a:t>
            </a:r>
            <a:endParaRPr/>
          </a:p>
        </p:txBody>
      </p:sp>
      <p:sp>
        <p:nvSpPr>
          <p:cNvPr id="64" name="文字 64"/>
          <p:cNvSpPr txBox="1"/>
          <p:nvPr/>
        </p:nvSpPr>
        <p:spPr>
          <a:xfrm>
            <a:off x="457200" y="6165354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任务数。</a:t>
            </a:r>
            <a:endParaRPr/>
          </a:p>
        </p:txBody>
      </p:sp>
      <p:sp>
        <p:nvSpPr>
          <p:cNvPr id="65" name="文字 65"/>
          <p:cNvSpPr txBox="1"/>
          <p:nvPr/>
        </p:nvSpPr>
        <p:spPr>
          <a:xfrm>
            <a:off x="6207125" y="5696546"/>
            <a:ext cx="25527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执行门槛：拿到指导后还要完成任务</a:t>
            </a:r>
            <a:endParaRPr/>
          </a:p>
        </p:txBody>
      </p:sp>
      <p:sp>
        <p:nvSpPr>
          <p:cNvPr id="66" name="文字 66"/>
          <p:cNvSpPr txBox="1"/>
          <p:nvPr/>
        </p:nvSpPr>
        <p:spPr>
          <a:xfrm>
            <a:off x="6207125" y="5968008"/>
            <a:ext cx="5480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平台只返回必要指导。本地仍需检查输入、工具权限和产物，拿到指导不等于任务已经完成。</a:t>
            </a:r>
            <a:endParaRPr/>
          </a:p>
        </p:txBody>
      </p:sp>
      <p:pic>
        <p:nvPicPr>
          <p:cNvPr id="68" name="slide-002-im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678" y="6691517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" name="文字 7"/>
          <p:cNvSpPr txBox="1"/>
          <p:nvPr/>
        </p:nvSpPr>
        <p:spPr>
          <a:xfrm>
            <a:off x="457200" y="308610"/>
            <a:ext cx="11247120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2400" b="1">
                <a:latin typeface="微软雅黑"/>
              </a:defRPr>
            </a:pPr>
            <a:r>
              <a:rPr sz="2400" b="1" i="0" u="none" spc="0">
                <a:solidFill>
                  <a:srgbClr val="C7000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MachinePay 先签报价，付款后带票重试，商户在线验付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657027" y="1390551"/>
            <a:ext cx="819547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买家 Agent</a:t>
            </a:r>
            <a:endParaRPr/>
          </a:p>
        </p:txBody>
      </p:sp>
      <p:cxnSp>
        <p:nvCxnSpPr>
          <p:cNvPr id="11" name="Editable line 11"/>
          <p:cNvCxnSpPr/>
          <p:nvPr/>
        </p:nvCxnSpPr>
        <p:spPr>
          <a:xfrm>
            <a:off x="1065742" y="1660519"/>
            <a:ext cx="0" cy="3774982"/>
          </a:xfrm>
          <a:prstGeom prst="line">
            <a:avLst/>
          </a:prstGeom>
          <a:ln w="4000" cap="flat">
            <a:solidFill>
              <a:srgbClr val="D9DDE2"/>
            </a:solidFill>
            <a:prstDash val="dash"/>
          </a:ln>
        </p:spPr>
      </p:cxnSp>
      <p:sp>
        <p:nvSpPr>
          <p:cNvPr id="12" name="文字 12"/>
          <p:cNvSpPr txBox="1"/>
          <p:nvPr/>
        </p:nvSpPr>
        <p:spPr>
          <a:xfrm>
            <a:off x="3103066" y="1390551"/>
            <a:ext cx="626368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商户 API</a:t>
            </a:r>
            <a:endParaRPr/>
          </a:p>
        </p:txBody>
      </p:sp>
      <p:cxnSp>
        <p:nvCxnSpPr>
          <p:cNvPr id="13" name="Editable line 13"/>
          <p:cNvCxnSpPr/>
          <p:nvPr/>
        </p:nvCxnSpPr>
        <p:spPr>
          <a:xfrm>
            <a:off x="3415242" y="1660519"/>
            <a:ext cx="0" cy="3774982"/>
          </a:xfrm>
          <a:prstGeom prst="line">
            <a:avLst/>
          </a:prstGeom>
          <a:ln w="4000" cap="flat">
            <a:solidFill>
              <a:srgbClr val="D9DDE2"/>
            </a:solidFill>
            <a:prstDash val="dash"/>
          </a:ln>
        </p:spPr>
      </p:cxnSp>
      <p:sp>
        <p:nvSpPr>
          <p:cNvPr id="14" name="文字 14"/>
          <p:cNvSpPr txBox="1"/>
          <p:nvPr/>
        </p:nvSpPr>
        <p:spPr>
          <a:xfrm>
            <a:off x="5105202" y="1390551"/>
            <a:ext cx="1257598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支付宝 / 支付工具</a:t>
            </a:r>
            <a:endParaRPr/>
          </a:p>
        </p:txBody>
      </p:sp>
      <p:cxnSp>
        <p:nvCxnSpPr>
          <p:cNvPr id="15" name="Editable line 15"/>
          <p:cNvCxnSpPr/>
          <p:nvPr/>
        </p:nvCxnSpPr>
        <p:spPr>
          <a:xfrm>
            <a:off x="5735108" y="1660519"/>
            <a:ext cx="0" cy="3774982"/>
          </a:xfrm>
          <a:prstGeom prst="line">
            <a:avLst/>
          </a:prstGeom>
          <a:ln w="4000" cap="flat">
            <a:solidFill>
              <a:srgbClr val="D9DDE2"/>
            </a:solidFill>
            <a:prstDash val="dash"/>
          </a:ln>
        </p:spPr>
      </p:cxnSp>
      <p:sp>
        <p:nvSpPr>
          <p:cNvPr id="16" name="文字 16"/>
          <p:cNvSpPr txBox="1"/>
          <p:nvPr/>
        </p:nvSpPr>
        <p:spPr>
          <a:xfrm>
            <a:off x="7410450" y="1390551"/>
            <a:ext cx="3302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用户</a:t>
            </a:r>
            <a:endParaRPr/>
          </a:p>
        </p:txBody>
      </p:sp>
      <p:cxnSp>
        <p:nvCxnSpPr>
          <p:cNvPr id="17" name="Editable line 17"/>
          <p:cNvCxnSpPr/>
          <p:nvPr/>
        </p:nvCxnSpPr>
        <p:spPr>
          <a:xfrm>
            <a:off x="7574492" y="1660519"/>
            <a:ext cx="0" cy="3774982"/>
          </a:xfrm>
          <a:prstGeom prst="line">
            <a:avLst/>
          </a:prstGeom>
          <a:ln w="4000" cap="flat">
            <a:solidFill>
              <a:srgbClr val="D9DDE2"/>
            </a:solidFill>
            <a:prstDash val="dash"/>
          </a:ln>
        </p:spPr>
      </p:cxnSp>
      <p:cxnSp>
        <p:nvCxnSpPr>
          <p:cNvPr id="18" name="Editable line 18"/>
          <p:cNvCxnSpPr/>
          <p:nvPr/>
        </p:nvCxnSpPr>
        <p:spPr>
          <a:xfrm>
            <a:off x="1063713" y="1916543"/>
            <a:ext cx="2339710" cy="0"/>
          </a:xfrm>
          <a:prstGeom prst="line">
            <a:avLst/>
          </a:prstGeom>
          <a:ln w="8209" cap="flat">
            <a:solidFill>
              <a:srgbClr val="566472"/>
            </a:solidFill>
            <a:prstDash val="solid"/>
          </a:ln>
        </p:spPr>
      </p:cxnSp>
      <p:sp>
        <p:nvSpPr>
          <p:cNvPr id="19" name="文字 19"/>
          <p:cNvSpPr/>
          <p:nvPr/>
        </p:nvSpPr>
        <p:spPr>
          <a:xfrm rot="5400000">
            <a:off x="3321050" y="187950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20" name="形状 20"/>
          <p:cNvSpPr/>
          <p:nvPr/>
        </p:nvSpPr>
        <p:spPr>
          <a:xfrm>
            <a:off x="1123950" y="1695351"/>
            <a:ext cx="2222500" cy="1778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" name="文字 21"/>
          <p:cNvSpPr txBox="1"/>
          <p:nvPr/>
        </p:nvSpPr>
        <p:spPr>
          <a:xfrm>
            <a:off x="1776313" y="1708051"/>
            <a:ext cx="930374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66472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① 请求付费资源</a:t>
            </a:r>
            <a:endParaRPr/>
          </a:p>
        </p:txBody>
      </p:sp>
      <p:cxnSp>
        <p:nvCxnSpPr>
          <p:cNvPr id="22" name="Editable line 22"/>
          <p:cNvCxnSpPr/>
          <p:nvPr/>
        </p:nvCxnSpPr>
        <p:spPr>
          <a:xfrm>
            <a:off x="1063713" y="2483809"/>
            <a:ext cx="2339710" cy="0"/>
          </a:xfrm>
          <a:prstGeom prst="line">
            <a:avLst/>
          </a:prstGeom>
          <a:ln w="7935" cap="flat">
            <a:solidFill>
              <a:srgbClr val="B5333B"/>
            </a:solidFill>
            <a:prstDash val="dash"/>
          </a:ln>
        </p:spPr>
      </p:cxnSp>
      <p:sp>
        <p:nvSpPr>
          <p:cNvPr id="23" name="文字 23"/>
          <p:cNvSpPr/>
          <p:nvPr/>
        </p:nvSpPr>
        <p:spPr>
          <a:xfrm rot="16200000">
            <a:off x="1060450" y="2444651"/>
            <a:ext cx="88900" cy="88900"/>
          </a:xfrm>
          <a:prstGeom prst="triangle">
            <a:avLst/>
          </a:prstGeom>
          <a:solidFill>
            <a:srgbClr val="B5333B"/>
          </a:solidFill>
          <a:ln>
            <a:noFill/>
          </a:ln>
        </p:spPr>
        <p:txBody>
          <a:bodyPr/>
          <a:p/>
        </p:txBody>
      </p:sp>
      <p:sp>
        <p:nvSpPr>
          <p:cNvPr id="24" name="形状 24"/>
          <p:cNvSpPr/>
          <p:nvPr/>
        </p:nvSpPr>
        <p:spPr>
          <a:xfrm>
            <a:off x="1123950" y="2260501"/>
            <a:ext cx="2222500" cy="1778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5" name="文字 25"/>
          <p:cNvSpPr txBox="1"/>
          <p:nvPr/>
        </p:nvSpPr>
        <p:spPr>
          <a:xfrm>
            <a:off x="1459508" y="2273201"/>
            <a:ext cx="1563985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② 402 + Payment-Needed</a:t>
            </a:r>
            <a:endParaRPr/>
          </a:p>
        </p:txBody>
      </p:sp>
      <p:cxnSp>
        <p:nvCxnSpPr>
          <p:cNvPr id="26" name="Editable line 26"/>
          <p:cNvCxnSpPr/>
          <p:nvPr/>
        </p:nvCxnSpPr>
        <p:spPr>
          <a:xfrm>
            <a:off x="1063718" y="2780143"/>
            <a:ext cx="4660713" cy="0"/>
          </a:xfrm>
          <a:prstGeom prst="line">
            <a:avLst/>
          </a:prstGeom>
          <a:ln w="8218" cap="flat">
            <a:solidFill>
              <a:srgbClr val="566472"/>
            </a:solidFill>
            <a:prstDash val="solid"/>
          </a:ln>
        </p:spPr>
      </p:cxnSp>
      <p:sp>
        <p:nvSpPr>
          <p:cNvPr id="27" name="文字 27"/>
          <p:cNvSpPr/>
          <p:nvPr/>
        </p:nvSpPr>
        <p:spPr>
          <a:xfrm rot="5400000">
            <a:off x="5638800" y="274310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28" name="形状 28"/>
          <p:cNvSpPr/>
          <p:nvPr/>
        </p:nvSpPr>
        <p:spPr>
          <a:xfrm>
            <a:off x="1123950" y="2558951"/>
            <a:ext cx="4540250" cy="1778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9" name="文字 29"/>
          <p:cNvSpPr txBox="1"/>
          <p:nvPr/>
        </p:nvSpPr>
        <p:spPr>
          <a:xfrm>
            <a:off x="2490688" y="2571651"/>
            <a:ext cx="1819374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66472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③ 提交付款要求和原任务上下文</a:t>
            </a:r>
            <a:endParaRPr/>
          </a:p>
        </p:txBody>
      </p:sp>
      <p:cxnSp>
        <p:nvCxnSpPr>
          <p:cNvPr id="30" name="Editable line 30"/>
          <p:cNvCxnSpPr/>
          <p:nvPr/>
        </p:nvCxnSpPr>
        <p:spPr>
          <a:xfrm>
            <a:off x="5734207" y="3080709"/>
            <a:ext cx="1828486" cy="0"/>
          </a:xfrm>
          <a:prstGeom prst="line">
            <a:avLst/>
          </a:prstGeom>
          <a:ln w="8218" cap="flat">
            <a:solidFill>
              <a:srgbClr val="566472"/>
            </a:solidFill>
            <a:prstDash val="solid"/>
          </a:ln>
        </p:spPr>
      </p:cxnSp>
      <p:sp>
        <p:nvSpPr>
          <p:cNvPr id="31" name="文字 31"/>
          <p:cNvSpPr/>
          <p:nvPr/>
        </p:nvSpPr>
        <p:spPr>
          <a:xfrm rot="5400000">
            <a:off x="7480300" y="304155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32" name="形状 32"/>
          <p:cNvSpPr/>
          <p:nvPr/>
        </p:nvSpPr>
        <p:spPr>
          <a:xfrm>
            <a:off x="5791200" y="2857401"/>
            <a:ext cx="1714500" cy="1778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3" name="文字 33"/>
          <p:cNvSpPr txBox="1"/>
          <p:nvPr/>
        </p:nvSpPr>
        <p:spPr>
          <a:xfrm>
            <a:off x="6203950" y="2870101"/>
            <a:ext cx="901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66472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展示商户与金额</a:t>
            </a:r>
            <a:endParaRPr/>
          </a:p>
        </p:txBody>
      </p:sp>
      <p:cxnSp>
        <p:nvCxnSpPr>
          <p:cNvPr id="34" name="Editable line 34"/>
          <p:cNvCxnSpPr/>
          <p:nvPr/>
        </p:nvCxnSpPr>
        <p:spPr>
          <a:xfrm>
            <a:off x="5734207" y="3378101"/>
            <a:ext cx="1828486" cy="0"/>
          </a:xfrm>
          <a:prstGeom prst="line">
            <a:avLst/>
          </a:prstGeom>
          <a:ln w="8218" cap="flat">
            <a:solidFill>
              <a:srgbClr val="B5333B"/>
            </a:solidFill>
            <a:prstDash val="solid"/>
          </a:ln>
        </p:spPr>
      </p:cxnSp>
      <p:sp>
        <p:nvSpPr>
          <p:cNvPr id="35" name="文字 35"/>
          <p:cNvSpPr/>
          <p:nvPr/>
        </p:nvSpPr>
        <p:spPr>
          <a:xfrm rot="16200000">
            <a:off x="5727700" y="3340001"/>
            <a:ext cx="88900" cy="88900"/>
          </a:xfrm>
          <a:prstGeom prst="triangle">
            <a:avLst/>
          </a:prstGeom>
          <a:solidFill>
            <a:srgbClr val="B5333B"/>
          </a:solidFill>
          <a:ln>
            <a:noFill/>
          </a:ln>
        </p:spPr>
        <p:txBody>
          <a:bodyPr/>
          <a:p/>
        </p:txBody>
      </p:sp>
      <p:sp>
        <p:nvSpPr>
          <p:cNvPr id="36" name="形状 36"/>
          <p:cNvSpPr/>
          <p:nvPr/>
        </p:nvSpPr>
        <p:spPr>
          <a:xfrm>
            <a:off x="5791200" y="3155851"/>
            <a:ext cx="1714500" cy="1778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7" name="文字 37"/>
          <p:cNvSpPr txBox="1"/>
          <p:nvPr/>
        </p:nvSpPr>
        <p:spPr>
          <a:xfrm>
            <a:off x="6316563" y="3168551"/>
            <a:ext cx="676374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④ 确认支付</a:t>
            </a:r>
            <a:endParaRPr/>
          </a:p>
        </p:txBody>
      </p:sp>
      <p:cxnSp>
        <p:nvCxnSpPr>
          <p:cNvPr id="38" name="Editable line 38"/>
          <p:cNvCxnSpPr/>
          <p:nvPr/>
        </p:nvCxnSpPr>
        <p:spPr>
          <a:xfrm>
            <a:off x="1063718" y="3675493"/>
            <a:ext cx="4660713" cy="0"/>
          </a:xfrm>
          <a:prstGeom prst="line">
            <a:avLst/>
          </a:prstGeom>
          <a:ln w="4000" cap="flat">
            <a:solidFill>
              <a:srgbClr val="566472"/>
            </a:solidFill>
            <a:prstDash val="dash"/>
          </a:ln>
        </p:spPr>
      </p:cxnSp>
      <p:sp>
        <p:nvSpPr>
          <p:cNvPr id="39" name="文字 39"/>
          <p:cNvSpPr/>
          <p:nvPr/>
        </p:nvSpPr>
        <p:spPr>
          <a:xfrm rot="16200000">
            <a:off x="1060450" y="363845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40" name="形状 40"/>
          <p:cNvSpPr/>
          <p:nvPr/>
        </p:nvSpPr>
        <p:spPr>
          <a:xfrm>
            <a:off x="1123950" y="3454301"/>
            <a:ext cx="4540250" cy="1778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1" name="文字 41"/>
          <p:cNvSpPr txBox="1"/>
          <p:nvPr/>
        </p:nvSpPr>
        <p:spPr>
          <a:xfrm>
            <a:off x="1806079" y="3467001"/>
            <a:ext cx="3188692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66472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取得 trade_no + payment_proof（及 client_session）</a:t>
            </a:r>
            <a:endParaRPr/>
          </a:p>
        </p:txBody>
      </p:sp>
      <p:cxnSp>
        <p:nvCxnSpPr>
          <p:cNvPr id="42" name="Editable line 42"/>
          <p:cNvCxnSpPr/>
          <p:nvPr/>
        </p:nvCxnSpPr>
        <p:spPr>
          <a:xfrm>
            <a:off x="1063713" y="3976059"/>
            <a:ext cx="2339710" cy="0"/>
          </a:xfrm>
          <a:prstGeom prst="line">
            <a:avLst/>
          </a:prstGeom>
          <a:ln w="8218" cap="flat">
            <a:solidFill>
              <a:srgbClr val="B5333B"/>
            </a:solidFill>
            <a:prstDash val="solid"/>
          </a:ln>
        </p:spPr>
      </p:cxnSp>
      <p:sp>
        <p:nvSpPr>
          <p:cNvPr id="43" name="文字 43"/>
          <p:cNvSpPr/>
          <p:nvPr/>
        </p:nvSpPr>
        <p:spPr>
          <a:xfrm rot="5400000">
            <a:off x="3321050" y="3936901"/>
            <a:ext cx="88900" cy="88900"/>
          </a:xfrm>
          <a:prstGeom prst="triangle">
            <a:avLst/>
          </a:prstGeom>
          <a:solidFill>
            <a:srgbClr val="B5333B"/>
          </a:solidFill>
          <a:ln>
            <a:noFill/>
          </a:ln>
        </p:spPr>
        <p:txBody>
          <a:bodyPr/>
          <a:p/>
        </p:txBody>
      </p:sp>
      <p:sp>
        <p:nvSpPr>
          <p:cNvPr id="44" name="形状 44"/>
          <p:cNvSpPr/>
          <p:nvPr/>
        </p:nvSpPr>
        <p:spPr>
          <a:xfrm>
            <a:off x="1123950" y="3752751"/>
            <a:ext cx="2222500" cy="1778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5" name="文字 45"/>
          <p:cNvSpPr txBox="1"/>
          <p:nvPr/>
        </p:nvSpPr>
        <p:spPr>
          <a:xfrm>
            <a:off x="1446411" y="3765451"/>
            <a:ext cx="1590179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⑤ 原请求 + Payment-Proof</a:t>
            </a:r>
            <a:endParaRPr/>
          </a:p>
        </p:txBody>
      </p:sp>
      <p:cxnSp>
        <p:nvCxnSpPr>
          <p:cNvPr id="46" name="Editable line 46"/>
          <p:cNvCxnSpPr/>
          <p:nvPr/>
        </p:nvCxnSpPr>
        <p:spPr>
          <a:xfrm>
            <a:off x="3413214" y="4272393"/>
            <a:ext cx="2311221" cy="0"/>
          </a:xfrm>
          <a:prstGeom prst="line">
            <a:avLst/>
          </a:prstGeom>
          <a:ln w="8218" cap="flat">
            <a:solidFill>
              <a:srgbClr val="B5333B"/>
            </a:solidFill>
            <a:prstDash val="solid"/>
          </a:ln>
        </p:spPr>
      </p:cxnSp>
      <p:sp>
        <p:nvSpPr>
          <p:cNvPr id="47" name="文字 47"/>
          <p:cNvSpPr/>
          <p:nvPr/>
        </p:nvSpPr>
        <p:spPr>
          <a:xfrm rot="5400000">
            <a:off x="5638800" y="4235351"/>
            <a:ext cx="88900" cy="88900"/>
          </a:xfrm>
          <a:prstGeom prst="triangle">
            <a:avLst/>
          </a:prstGeom>
          <a:solidFill>
            <a:srgbClr val="B5333B"/>
          </a:solidFill>
          <a:ln>
            <a:noFill/>
          </a:ln>
        </p:spPr>
        <p:txBody>
          <a:bodyPr/>
          <a:p/>
        </p:txBody>
      </p:sp>
      <p:sp>
        <p:nvSpPr>
          <p:cNvPr id="48" name="形状 48"/>
          <p:cNvSpPr/>
          <p:nvPr/>
        </p:nvSpPr>
        <p:spPr>
          <a:xfrm>
            <a:off x="3473450" y="4051201"/>
            <a:ext cx="2190750" cy="1778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9" name="文字 49"/>
          <p:cNvSpPr txBox="1"/>
          <p:nvPr/>
        </p:nvSpPr>
        <p:spPr>
          <a:xfrm>
            <a:off x="4034433" y="4063901"/>
            <a:ext cx="1081385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⑥ payment.verify</a:t>
            </a:r>
            <a:endParaRPr/>
          </a:p>
        </p:txBody>
      </p:sp>
      <p:cxnSp>
        <p:nvCxnSpPr>
          <p:cNvPr id="50" name="Editable line 50"/>
          <p:cNvCxnSpPr/>
          <p:nvPr/>
        </p:nvCxnSpPr>
        <p:spPr>
          <a:xfrm>
            <a:off x="3413214" y="4570313"/>
            <a:ext cx="2311221" cy="0"/>
          </a:xfrm>
          <a:prstGeom prst="line">
            <a:avLst/>
          </a:prstGeom>
          <a:ln w="11617" cap="flat">
            <a:solidFill>
              <a:srgbClr val="566472"/>
            </a:solidFill>
            <a:prstDash val="dash"/>
          </a:ln>
        </p:spPr>
      </p:cxnSp>
      <p:sp>
        <p:nvSpPr>
          <p:cNvPr id="51" name="文字 51"/>
          <p:cNvSpPr/>
          <p:nvPr/>
        </p:nvSpPr>
        <p:spPr>
          <a:xfrm rot="16200000">
            <a:off x="3409950" y="453380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52" name="形状 52"/>
          <p:cNvSpPr/>
          <p:nvPr/>
        </p:nvSpPr>
        <p:spPr>
          <a:xfrm>
            <a:off x="3473450" y="4349651"/>
            <a:ext cx="2190750" cy="1778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3" name="文字 53"/>
          <p:cNvSpPr txBox="1"/>
          <p:nvPr/>
        </p:nvSpPr>
        <p:spPr>
          <a:xfrm>
            <a:off x="3811687" y="4362351"/>
            <a:ext cx="1526878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66472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active + 金额 + 订单 + 资源</a:t>
            </a:r>
            <a:endParaRPr/>
          </a:p>
        </p:txBody>
      </p:sp>
      <p:cxnSp>
        <p:nvCxnSpPr>
          <p:cNvPr id="54" name="Editable line 54"/>
          <p:cNvCxnSpPr/>
          <p:nvPr/>
        </p:nvCxnSpPr>
        <p:spPr>
          <a:xfrm>
            <a:off x="1063713" y="5167743"/>
            <a:ext cx="2339710" cy="0"/>
          </a:xfrm>
          <a:prstGeom prst="line">
            <a:avLst/>
          </a:prstGeom>
          <a:ln w="7935" cap="flat">
            <a:solidFill>
              <a:srgbClr val="566472"/>
            </a:solidFill>
            <a:prstDash val="dash"/>
          </a:ln>
        </p:spPr>
      </p:cxnSp>
      <p:sp>
        <p:nvSpPr>
          <p:cNvPr id="55" name="文字 55"/>
          <p:cNvSpPr/>
          <p:nvPr/>
        </p:nvSpPr>
        <p:spPr>
          <a:xfrm rot="16200000">
            <a:off x="1060450" y="513070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56" name="形状 56"/>
          <p:cNvSpPr/>
          <p:nvPr/>
        </p:nvSpPr>
        <p:spPr>
          <a:xfrm>
            <a:off x="1123950" y="4946551"/>
            <a:ext cx="2222500" cy="1778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57" name="文字 57"/>
          <p:cNvSpPr txBox="1"/>
          <p:nvPr/>
        </p:nvSpPr>
        <p:spPr>
          <a:xfrm>
            <a:off x="1903313" y="4959251"/>
            <a:ext cx="676374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66472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⑦ 交付结果</a:t>
            </a:r>
            <a:endParaRPr/>
          </a:p>
        </p:txBody>
      </p:sp>
      <p:cxnSp>
        <p:nvCxnSpPr>
          <p:cNvPr id="58" name="Editable line 58"/>
          <p:cNvCxnSpPr/>
          <p:nvPr/>
        </p:nvCxnSpPr>
        <p:spPr>
          <a:xfrm>
            <a:off x="3413214" y="5468309"/>
            <a:ext cx="2311221" cy="0"/>
          </a:xfrm>
          <a:prstGeom prst="line">
            <a:avLst/>
          </a:prstGeom>
          <a:ln w="7935" cap="flat">
            <a:solidFill>
              <a:srgbClr val="566472"/>
            </a:solidFill>
            <a:prstDash val="dash"/>
          </a:ln>
        </p:spPr>
      </p:cxnSp>
      <p:sp>
        <p:nvSpPr>
          <p:cNvPr id="59" name="文字 59"/>
          <p:cNvSpPr/>
          <p:nvPr/>
        </p:nvSpPr>
        <p:spPr>
          <a:xfrm rot="5400000">
            <a:off x="5638800" y="542915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60" name="形状 60"/>
          <p:cNvSpPr/>
          <p:nvPr/>
        </p:nvSpPr>
        <p:spPr>
          <a:xfrm>
            <a:off x="3473450" y="5245001"/>
            <a:ext cx="2190750" cy="1778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1" name="文字 61"/>
          <p:cNvSpPr txBox="1"/>
          <p:nvPr/>
        </p:nvSpPr>
        <p:spPr>
          <a:xfrm>
            <a:off x="3538041" y="5257701"/>
            <a:ext cx="2074267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66472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⑧ fulfillment.confirm（履约回执）</a:t>
            </a:r>
            <a:endParaRPr/>
          </a:p>
        </p:txBody>
      </p:sp>
      <p:sp>
        <p:nvSpPr>
          <p:cNvPr id="62" name="形状 62"/>
          <p:cNvSpPr/>
          <p:nvPr/>
        </p:nvSpPr>
        <p:spPr>
          <a:xfrm>
            <a:off x="2489200" y="2082701"/>
            <a:ext cx="19050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3" name="文字 63"/>
          <p:cNvSpPr txBox="1"/>
          <p:nvPr/>
        </p:nvSpPr>
        <p:spPr>
          <a:xfrm>
            <a:off x="2730798" y="2095401"/>
            <a:ext cx="143450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本地建单，RSA2 签报价</a:t>
            </a:r>
            <a:endParaRPr/>
          </a:p>
        </p:txBody>
      </p:sp>
      <p:sp>
        <p:nvSpPr>
          <p:cNvPr id="64" name="形状 64"/>
          <p:cNvSpPr/>
          <p:nvPr/>
        </p:nvSpPr>
        <p:spPr>
          <a:xfrm>
            <a:off x="2235200" y="4730651"/>
            <a:ext cx="24765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5" name="文字 65"/>
          <p:cNvSpPr txBox="1"/>
          <p:nvPr/>
        </p:nvSpPr>
        <p:spPr>
          <a:xfrm>
            <a:off x="2606675" y="4743351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商户对本地账并锁定唯一履约</a:t>
            </a:r>
            <a:endParaRPr/>
          </a:p>
        </p:txBody>
      </p:sp>
      <p:cxnSp>
        <p:nvCxnSpPr>
          <p:cNvPr id="66" name="Editable line 66"/>
          <p:cNvCxnSpPr/>
          <p:nvPr/>
        </p:nvCxnSpPr>
        <p:spPr>
          <a:xfrm>
            <a:off x="8529847" y="1378027"/>
            <a:ext cx="0" cy="4594369"/>
          </a:xfrm>
          <a:prstGeom prst="line">
            <a:avLst/>
          </a:prstGeom>
          <a:ln w="6326" cap="flat">
            <a:solidFill>
              <a:srgbClr val="D8DCE2"/>
            </a:solidFill>
            <a:prstDash val="solid"/>
          </a:ln>
        </p:spPr>
      </p:cxnSp>
      <p:sp>
        <p:nvSpPr>
          <p:cNvPr id="67" name="文字 67"/>
          <p:cNvSpPr txBox="1"/>
          <p:nvPr/>
        </p:nvSpPr>
        <p:spPr>
          <a:xfrm>
            <a:off x="8693151" y="1384201"/>
            <a:ext cx="2790626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Payment-Needed：付款前的签名报价</a:t>
            </a:r>
            <a:endParaRPr/>
          </a:p>
        </p:txBody>
      </p:sp>
      <p:sp>
        <p:nvSpPr>
          <p:cNvPr id="68" name="文字 68"/>
          <p:cNvSpPr txBox="1"/>
          <p:nvPr/>
        </p:nvSpPr>
        <p:spPr>
          <a:xfrm>
            <a:off x="8693151" y="1655663"/>
            <a:ext cx="264070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金额 / 币种、out_trade_no、resource_id、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8693151" y="1853010"/>
            <a:ext cx="230633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pay_before、卖家与 service_id，连同</a:t>
            </a:r>
            <a:endParaRPr/>
          </a:p>
        </p:txBody>
      </p:sp>
      <p:sp>
        <p:nvSpPr>
          <p:cNvPr id="70" name="文字 70"/>
          <p:cNvSpPr txBox="1"/>
          <p:nvPr/>
        </p:nvSpPr>
        <p:spPr>
          <a:xfrm>
            <a:off x="8693151" y="2050355"/>
            <a:ext cx="170467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seller_signature 一起封装。</a:t>
            </a:r>
            <a:endParaRPr/>
          </a:p>
        </p:txBody>
      </p:sp>
      <p:sp>
        <p:nvSpPr>
          <p:cNvPr id="71" name="文字 71"/>
          <p:cNvSpPr txBox="1"/>
          <p:nvPr/>
        </p:nvSpPr>
        <p:spPr>
          <a:xfrm>
            <a:off x="8693151" y="2311202"/>
            <a:ext cx="292288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商户本地用应用私钥做 RSA2 签名，生成报价无需</a:t>
            </a:r>
            <a:endParaRPr/>
          </a:p>
        </p:txBody>
      </p:sp>
      <p:sp>
        <p:nvSpPr>
          <p:cNvPr id="72" name="文字 72"/>
          <p:cNvSpPr txBox="1"/>
          <p:nvPr/>
        </p:nvSpPr>
        <p:spPr>
          <a:xfrm>
            <a:off x="8693151" y="2504480"/>
            <a:ext cx="1212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先调用支付宝扣款。</a:t>
            </a:r>
            <a:endParaRPr/>
          </a:p>
        </p:txBody>
      </p:sp>
      <p:sp>
        <p:nvSpPr>
          <p:cNvPr id="73" name="文字 73"/>
          <p:cNvSpPr txBox="1"/>
          <p:nvPr/>
        </p:nvSpPr>
        <p:spPr>
          <a:xfrm>
            <a:off x="8693151" y="2843808"/>
            <a:ext cx="2619176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Payment-Proof：付款后的验付材料</a:t>
            </a:r>
            <a:endParaRPr/>
          </a:p>
        </p:txBody>
      </p:sp>
      <p:sp>
        <p:nvSpPr>
          <p:cNvPr id="74" name="文字 74"/>
          <p:cNvSpPr txBox="1"/>
          <p:nvPr/>
        </p:nvSpPr>
        <p:spPr>
          <a:xfrm>
            <a:off x="8693151" y="3115270"/>
            <a:ext cx="304085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包含 trade_no、payment_proof，以及通道需要时</a:t>
            </a:r>
            <a:endParaRPr/>
          </a:p>
        </p:txBody>
      </p:sp>
      <p:sp>
        <p:nvSpPr>
          <p:cNvPr id="75" name="文字 75"/>
          <p:cNvSpPr txBox="1"/>
          <p:nvPr/>
        </p:nvSpPr>
        <p:spPr>
          <a:xfrm>
            <a:off x="8693151" y="3312616"/>
            <a:ext cx="265856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的 client_session。商户将它们交支付宝在线</a:t>
            </a:r>
            <a:endParaRPr/>
          </a:p>
        </p:txBody>
      </p:sp>
      <p:sp>
        <p:nvSpPr>
          <p:cNvPr id="76" name="文字 76"/>
          <p:cNvSpPr txBox="1"/>
          <p:nvPr/>
        </p:nvSpPr>
        <p:spPr>
          <a:xfrm>
            <a:off x="8693151" y="3509963"/>
            <a:ext cx="48974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verify。</a:t>
            </a:r>
            <a:endParaRPr/>
          </a:p>
        </p:txBody>
      </p:sp>
      <p:sp>
        <p:nvSpPr>
          <p:cNvPr id="77" name="文字 77"/>
          <p:cNvSpPr txBox="1"/>
          <p:nvPr/>
        </p:nvSpPr>
        <p:spPr>
          <a:xfrm>
            <a:off x="8693151" y="3853359"/>
            <a:ext cx="2832397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Base64URL 负责封装，真实性另行校验</a:t>
            </a:r>
            <a:endParaRPr/>
          </a:p>
        </p:txBody>
      </p:sp>
      <p:sp>
        <p:nvSpPr>
          <p:cNvPr id="78" name="文字 78"/>
          <p:cNvSpPr txBox="1"/>
          <p:nvPr/>
        </p:nvSpPr>
        <p:spPr>
          <a:xfrm>
            <a:off x="8693151" y="4124821"/>
            <a:ext cx="294639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解码可读不代表可信。报价签名、支付宝验付和商</a:t>
            </a:r>
            <a:endParaRPr/>
          </a:p>
        </p:txBody>
      </p:sp>
      <p:sp>
        <p:nvSpPr>
          <p:cNvPr id="79" name="文字 79"/>
          <p:cNvSpPr txBox="1"/>
          <p:nvPr/>
        </p:nvSpPr>
        <p:spPr>
          <a:xfrm>
            <a:off x="8693151" y="4322167"/>
            <a:ext cx="18796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户业务核对各自承担不同验证。</a:t>
            </a:r>
            <a:endParaRPr/>
          </a:p>
        </p:txBody>
      </p:sp>
      <p:sp>
        <p:nvSpPr>
          <p:cNvPr id="80" name="文字 80"/>
          <p:cNvSpPr txBox="1"/>
          <p:nvPr/>
        </p:nvSpPr>
        <p:spPr>
          <a:xfrm>
            <a:off x="8693151" y="4665564"/>
            <a:ext cx="19177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图示采用用户确认支付路径</a:t>
            </a:r>
            <a:endParaRPr/>
          </a:p>
        </p:txBody>
      </p:sp>
      <p:sp>
        <p:nvSpPr>
          <p:cNvPr id="81" name="文字 81"/>
          <p:cNvSpPr txBox="1"/>
          <p:nvPr/>
        </p:nvSpPr>
        <p:spPr>
          <a:xfrm>
            <a:off x="8693151" y="4937026"/>
            <a:ext cx="294639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钱包已开通不等于任意消费均已授权。自动付款须</a:t>
            </a:r>
            <a:endParaRPr/>
          </a:p>
        </p:txBody>
      </p:sp>
      <p:sp>
        <p:nvSpPr>
          <p:cNvPr id="82" name="文字 82"/>
          <p:cNvSpPr txBox="1"/>
          <p:nvPr/>
        </p:nvSpPr>
        <p:spPr>
          <a:xfrm>
            <a:off x="8693151" y="5134372"/>
            <a:ext cx="20129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符合另行授予的范围和风控条件。</a:t>
            </a:r>
            <a:endParaRPr/>
          </a:p>
        </p:txBody>
      </p:sp>
      <p:cxnSp>
        <p:nvCxnSpPr>
          <p:cNvPr id="83" name="Editable line 83"/>
          <p:cNvCxnSpPr/>
          <p:nvPr/>
        </p:nvCxnSpPr>
        <p:spPr>
          <a:xfrm>
            <a:off x="463734" y="6069548"/>
            <a:ext cx="11264532" cy="0"/>
          </a:xfrm>
          <a:prstGeom prst="line">
            <a:avLst/>
          </a:prstGeom>
          <a:ln w="11717" cap="flat">
            <a:solidFill>
              <a:srgbClr val="B5333B"/>
            </a:solidFill>
            <a:prstDash val="solid"/>
          </a:ln>
        </p:spPr>
      </p:cxnSp>
      <p:sp>
        <p:nvSpPr>
          <p:cNvPr id="84" name="文字 84"/>
          <p:cNvSpPr txBox="1"/>
          <p:nvPr/>
        </p:nvSpPr>
        <p:spPr>
          <a:xfrm>
            <a:off x="457200" y="6169422"/>
            <a:ext cx="818614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人民币接入指南使用 payment.verify 与 fulfillment.confirm。产品页的通用 /verify、/settle、交易哈希图，不能直接当成这套人民币 API。</a:t>
            </a:r>
            <a:endParaRPr/>
          </a:p>
        </p:txBody>
      </p:sp>
      <p:pic>
        <p:nvPicPr>
          <p:cNvPr id="86" name="slide-003-imag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678" y="6688247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7" name="文字 7"/>
          <p:cNvSpPr txBox="1"/>
          <p:nvPr/>
        </p:nvSpPr>
        <p:spPr>
          <a:xfrm>
            <a:off x="457200" y="308610"/>
            <a:ext cx="11247120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2400" b="1">
                <a:latin typeface="微软雅黑"/>
              </a:defRPr>
            </a:pPr>
            <a:r>
              <a:rPr sz="2400" b="1" i="0" u="none" spc="0">
                <a:solidFill>
                  <a:srgbClr val="C7000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支付宝验证支付事实，商户核对业务账并恢复唯一履约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457200" y="1390551"/>
            <a:ext cx="2159000" cy="234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同一交易，需要对齐两边记录</a:t>
            </a:r>
            <a:endParaRPr/>
          </a:p>
        </p:txBody>
      </p:sp>
      <p:sp>
        <p:nvSpPr>
          <p:cNvPr id="11" name="形状 11"/>
          <p:cNvSpPr/>
          <p:nvPr/>
        </p:nvSpPr>
        <p:spPr>
          <a:xfrm>
            <a:off x="457200" y="1746151"/>
            <a:ext cx="2825750" cy="1047750"/>
          </a:xfrm>
          <a:prstGeom prst="roundRect">
            <a:avLst>
              <a:gd name="adj" fmla="val 8485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文字 12"/>
          <p:cNvSpPr txBox="1"/>
          <p:nvPr/>
        </p:nvSpPr>
        <p:spPr>
          <a:xfrm>
            <a:off x="1336675" y="1860451"/>
            <a:ext cx="10795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支付宝交易事实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1037431" y="2109292"/>
            <a:ext cx="167788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trade_no + payment_proof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884634" y="2295922"/>
            <a:ext cx="198348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active、金额、订单与资源返回值</a:t>
            </a:r>
            <a:endParaRPr/>
          </a:p>
        </p:txBody>
      </p:sp>
      <p:cxnSp>
        <p:nvCxnSpPr>
          <p:cNvPr id="15" name="Editable line 15"/>
          <p:cNvCxnSpPr/>
          <p:nvPr/>
        </p:nvCxnSpPr>
        <p:spPr>
          <a:xfrm>
            <a:off x="3289430" y="2274789"/>
            <a:ext cx="1257041" cy="0"/>
          </a:xfrm>
          <a:prstGeom prst="line">
            <a:avLst/>
          </a:prstGeom>
          <a:ln w="8965" cap="flat">
            <a:solidFill>
              <a:srgbClr val="B5333B"/>
            </a:solidFill>
            <a:prstDash val="solid"/>
          </a:ln>
        </p:spPr>
      </p:cxnSp>
      <p:sp>
        <p:nvSpPr>
          <p:cNvPr id="16" name="文字 16"/>
          <p:cNvSpPr/>
          <p:nvPr/>
        </p:nvSpPr>
        <p:spPr>
          <a:xfrm rot="5400000">
            <a:off x="4464050" y="2235101"/>
            <a:ext cx="88900" cy="88900"/>
          </a:xfrm>
          <a:prstGeom prst="triangle">
            <a:avLst/>
          </a:prstGeom>
          <a:solidFill>
            <a:srgbClr val="B5333B"/>
          </a:solidFill>
          <a:ln>
            <a:noFill/>
          </a:ln>
        </p:spPr>
        <p:txBody>
          <a:bodyPr/>
          <a:p/>
        </p:txBody>
      </p:sp>
      <p:sp>
        <p:nvSpPr>
          <p:cNvPr id="17" name="形状 17"/>
          <p:cNvSpPr/>
          <p:nvPr/>
        </p:nvSpPr>
        <p:spPr>
          <a:xfrm>
            <a:off x="3346450" y="2050951"/>
            <a:ext cx="1143000" cy="16887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8" name="文字 18"/>
          <p:cNvSpPr txBox="1"/>
          <p:nvPr/>
        </p:nvSpPr>
        <p:spPr>
          <a:xfrm>
            <a:off x="3561259" y="2063651"/>
            <a:ext cx="725984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verify 后核对</a:t>
            </a:r>
            <a:endParaRPr/>
          </a:p>
        </p:txBody>
      </p:sp>
      <p:sp>
        <p:nvSpPr>
          <p:cNvPr id="19" name="形状 19"/>
          <p:cNvSpPr/>
          <p:nvPr/>
        </p:nvSpPr>
        <p:spPr>
          <a:xfrm>
            <a:off x="4552950" y="1746151"/>
            <a:ext cx="2825750" cy="1047750"/>
          </a:xfrm>
          <a:prstGeom prst="roundRect">
            <a:avLst>
              <a:gd name="adj" fmla="val 8485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文字 20"/>
          <p:cNvSpPr txBox="1"/>
          <p:nvPr/>
        </p:nvSpPr>
        <p:spPr>
          <a:xfrm>
            <a:off x="5508625" y="1860451"/>
            <a:ext cx="9271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商户业务订单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5107682" y="2109292"/>
            <a:ext cx="172898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out_trade_no + resource_id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4965700" y="2295922"/>
            <a:ext cx="20129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价格、请求摘要、结果与履约状态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457200" y="2959001"/>
            <a:ext cx="527784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核对当前订单买的是什么，再决定是否执行。active=true 不能代替业务关联和并发控制。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457200" y="3181251"/>
            <a:ext cx="2324100" cy="234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生成结果与履约回执分开持久化</a:t>
            </a:r>
            <a:endParaRPr/>
          </a:p>
        </p:txBody>
      </p:sp>
      <p:sp>
        <p:nvSpPr>
          <p:cNvPr id="25" name="形状 25"/>
          <p:cNvSpPr/>
          <p:nvPr/>
        </p:nvSpPr>
        <p:spPr>
          <a:xfrm>
            <a:off x="457200" y="3568601"/>
            <a:ext cx="1428750" cy="704850"/>
          </a:xfrm>
          <a:prstGeom prst="roundRect">
            <a:avLst>
              <a:gd name="adj" fmla="val 12613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文字 26"/>
          <p:cNvSpPr txBox="1"/>
          <p:nvPr/>
        </p:nvSpPr>
        <p:spPr>
          <a:xfrm>
            <a:off x="942975" y="3682901"/>
            <a:ext cx="469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待支付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571500" y="3931741"/>
            <a:ext cx="1212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本地订单与签名报价</a:t>
            </a:r>
            <a:endParaRPr/>
          </a:p>
        </p:txBody>
      </p:sp>
      <p:cxnSp>
        <p:nvCxnSpPr>
          <p:cNvPr id="28" name="Editable line 28"/>
          <p:cNvCxnSpPr/>
          <p:nvPr/>
        </p:nvCxnSpPr>
        <p:spPr>
          <a:xfrm>
            <a:off x="1889178" y="3932668"/>
            <a:ext cx="380894" cy="0"/>
          </a:xfrm>
          <a:prstGeom prst="line">
            <a:avLst/>
          </a:prstGeom>
          <a:ln w="8218" cap="flat">
            <a:solidFill>
              <a:srgbClr val="566472"/>
            </a:solidFill>
            <a:prstDash val="solid"/>
          </a:ln>
        </p:spPr>
      </p:cxnSp>
      <p:sp>
        <p:nvSpPr>
          <p:cNvPr id="29" name="文字 29"/>
          <p:cNvSpPr/>
          <p:nvPr/>
        </p:nvSpPr>
        <p:spPr>
          <a:xfrm rot="5400000">
            <a:off x="2184400" y="389245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30" name="形状 30"/>
          <p:cNvSpPr/>
          <p:nvPr/>
        </p:nvSpPr>
        <p:spPr>
          <a:xfrm>
            <a:off x="2273300" y="3568601"/>
            <a:ext cx="1428750" cy="704850"/>
          </a:xfrm>
          <a:prstGeom prst="roundRect">
            <a:avLst>
              <a:gd name="adj" fmla="val 12613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文字 31"/>
          <p:cNvSpPr txBox="1"/>
          <p:nvPr/>
        </p:nvSpPr>
        <p:spPr>
          <a:xfrm>
            <a:off x="2759075" y="3682901"/>
            <a:ext cx="469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已验付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2520950" y="3931741"/>
            <a:ext cx="9461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已匹配本次购买</a:t>
            </a:r>
            <a:endParaRPr/>
          </a:p>
        </p:txBody>
      </p:sp>
      <p:cxnSp>
        <p:nvCxnSpPr>
          <p:cNvPr id="33" name="Editable line 33"/>
          <p:cNvCxnSpPr/>
          <p:nvPr/>
        </p:nvCxnSpPr>
        <p:spPr>
          <a:xfrm>
            <a:off x="3708400" y="3932668"/>
            <a:ext cx="374650" cy="0"/>
          </a:xfrm>
          <a:prstGeom prst="line">
            <a:avLst/>
          </a:prstGeom>
          <a:ln w="8218" cap="flat">
            <a:solidFill>
              <a:srgbClr val="566472"/>
            </a:solidFill>
            <a:prstDash val="solid"/>
          </a:ln>
        </p:spPr>
      </p:cxnSp>
      <p:sp>
        <p:nvSpPr>
          <p:cNvPr id="34" name="文字 34"/>
          <p:cNvSpPr/>
          <p:nvPr/>
        </p:nvSpPr>
        <p:spPr>
          <a:xfrm rot="5400000">
            <a:off x="4000500" y="389245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35" name="形状 35"/>
          <p:cNvSpPr/>
          <p:nvPr/>
        </p:nvSpPr>
        <p:spPr>
          <a:xfrm>
            <a:off x="4089400" y="3568601"/>
            <a:ext cx="1651000" cy="704850"/>
          </a:xfrm>
          <a:prstGeom prst="roundRect">
            <a:avLst>
              <a:gd name="adj" fmla="val 12613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B5333B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文字 36"/>
          <p:cNvSpPr txBox="1"/>
          <p:nvPr/>
        </p:nvSpPr>
        <p:spPr>
          <a:xfrm>
            <a:off x="4238030" y="3682901"/>
            <a:ext cx="1366441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PENDING_CONFIRM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4314825" y="3915271"/>
            <a:ext cx="1212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唯一结果已持久保存</a:t>
            </a:r>
            <a:endParaRPr/>
          </a:p>
        </p:txBody>
      </p:sp>
      <p:cxnSp>
        <p:nvCxnSpPr>
          <p:cNvPr id="38" name="Editable line 38"/>
          <p:cNvCxnSpPr/>
          <p:nvPr/>
        </p:nvCxnSpPr>
        <p:spPr>
          <a:xfrm>
            <a:off x="5746859" y="3932668"/>
            <a:ext cx="364961" cy="0"/>
          </a:xfrm>
          <a:prstGeom prst="line">
            <a:avLst/>
          </a:prstGeom>
          <a:ln w="8218" cap="flat">
            <a:solidFill>
              <a:srgbClr val="566472"/>
            </a:solidFill>
            <a:prstDash val="solid"/>
          </a:ln>
        </p:spPr>
      </p:cxnSp>
      <p:sp>
        <p:nvSpPr>
          <p:cNvPr id="39" name="文字 39"/>
          <p:cNvSpPr/>
          <p:nvPr/>
        </p:nvSpPr>
        <p:spPr>
          <a:xfrm rot="5400000">
            <a:off x="6026150" y="389245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40" name="形状 40"/>
          <p:cNvSpPr/>
          <p:nvPr/>
        </p:nvSpPr>
        <p:spPr>
          <a:xfrm>
            <a:off x="6115050" y="3568601"/>
            <a:ext cx="1263650" cy="704850"/>
          </a:xfrm>
          <a:prstGeom prst="roundRect">
            <a:avLst>
              <a:gd name="adj" fmla="val 12613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文字 41"/>
          <p:cNvSpPr txBox="1"/>
          <p:nvPr/>
        </p:nvSpPr>
        <p:spPr>
          <a:xfrm>
            <a:off x="6375797" y="3682901"/>
            <a:ext cx="754758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FULFILLED</a:t>
            </a:r>
            <a:endParaRPr/>
          </a:p>
        </p:txBody>
      </p:sp>
      <p:sp>
        <p:nvSpPr>
          <p:cNvPr id="42" name="文字 42"/>
          <p:cNvSpPr txBox="1"/>
          <p:nvPr/>
        </p:nvSpPr>
        <p:spPr>
          <a:xfrm>
            <a:off x="6346825" y="3915271"/>
            <a:ext cx="8128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回执确认完成</a:t>
            </a:r>
            <a:endParaRPr/>
          </a:p>
        </p:txBody>
      </p:sp>
      <p:cxnSp>
        <p:nvCxnSpPr>
          <p:cNvPr id="43" name="Editable line 43"/>
          <p:cNvCxnSpPr/>
          <p:nvPr/>
        </p:nvCxnSpPr>
        <p:spPr>
          <a:xfrm>
            <a:off x="4920192" y="4282976"/>
            <a:ext cx="0" cy="368300"/>
          </a:xfrm>
          <a:prstGeom prst="line">
            <a:avLst/>
          </a:prstGeom>
          <a:ln w="8226" cap="flat">
            <a:solidFill>
              <a:srgbClr val="566472"/>
            </a:solidFill>
            <a:prstDash val="solid"/>
          </a:ln>
        </p:spPr>
      </p:cxnSp>
      <p:sp>
        <p:nvSpPr>
          <p:cNvPr id="44" name="文字 44"/>
          <p:cNvSpPr/>
          <p:nvPr/>
        </p:nvSpPr>
        <p:spPr>
          <a:xfrm rot="10800000">
            <a:off x="4876800" y="4578251"/>
            <a:ext cx="88900" cy="88900"/>
          </a:xfrm>
          <a:prstGeom prst="triangle">
            <a:avLst/>
          </a:prstGeom>
          <a:solidFill>
            <a:srgbClr val="566472"/>
          </a:solidFill>
          <a:ln>
            <a:noFill/>
          </a:ln>
        </p:spPr>
        <p:txBody>
          <a:bodyPr/>
          <a:p/>
        </p:txBody>
      </p:sp>
      <p:sp>
        <p:nvSpPr>
          <p:cNvPr id="45" name="形状 45"/>
          <p:cNvSpPr/>
          <p:nvPr/>
        </p:nvSpPr>
        <p:spPr>
          <a:xfrm>
            <a:off x="3556000" y="4654451"/>
            <a:ext cx="2717800" cy="66675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文字 46"/>
          <p:cNvSpPr txBox="1"/>
          <p:nvPr/>
        </p:nvSpPr>
        <p:spPr>
          <a:xfrm>
            <a:off x="4229100" y="4768751"/>
            <a:ext cx="13843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回执失败或状态未知</a:t>
            </a:r>
            <a:endParaRPr/>
          </a:p>
        </p:txBody>
      </p:sp>
      <p:sp>
        <p:nvSpPr>
          <p:cNvPr id="47" name="文字 47"/>
          <p:cNvSpPr txBox="1"/>
          <p:nvPr/>
        </p:nvSpPr>
        <p:spPr>
          <a:xfrm>
            <a:off x="3914775" y="5017591"/>
            <a:ext cx="20129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恢复同一订单，按错误码核实状态</a:t>
            </a:r>
            <a:endParaRPr/>
          </a:p>
        </p:txBody>
      </p:sp>
      <p:sp>
        <p:nvSpPr>
          <p:cNvPr id="48" name="文字 48"/>
          <p:cNvSpPr txBox="1"/>
          <p:nvPr/>
        </p:nvSpPr>
        <p:spPr>
          <a:xfrm>
            <a:off x="6273800" y="4679851"/>
            <a:ext cx="9779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确认成功后转入最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6273800" y="4848721"/>
            <a:ext cx="3746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终完成</a:t>
            </a:r>
            <a:endParaRPr/>
          </a:p>
        </p:txBody>
      </p:sp>
      <p:sp>
        <p:nvSpPr>
          <p:cNvPr id="50" name="文字 50"/>
          <p:cNvSpPr txBox="1"/>
          <p:nvPr/>
        </p:nvSpPr>
        <p:spPr>
          <a:xfrm>
            <a:off x="457200" y="4800501"/>
            <a:ext cx="1387475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重试回执 / 读已有结果</a:t>
            </a:r>
            <a:endParaRPr/>
          </a:p>
        </p:txBody>
      </p:sp>
      <p:sp>
        <p:nvSpPr>
          <p:cNvPr id="51" name="文字 51"/>
          <p:cNvSpPr txBox="1"/>
          <p:nvPr/>
        </p:nvSpPr>
        <p:spPr>
          <a:xfrm>
            <a:off x="457200" y="4996061"/>
            <a:ext cx="22479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不重新生成，也不直接要求再付一次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457200" y="5397401"/>
            <a:ext cx="3838079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这是 alipay/ai 当前模板的本地状态抽象，数据库事务和幂等端口仍需商户实现。</a:t>
            </a:r>
            <a:endParaRPr/>
          </a:p>
        </p:txBody>
      </p:sp>
      <p:cxnSp>
        <p:nvCxnSpPr>
          <p:cNvPr id="53" name="Editable line 53"/>
          <p:cNvCxnSpPr/>
          <p:nvPr/>
        </p:nvCxnSpPr>
        <p:spPr>
          <a:xfrm>
            <a:off x="7610565" y="1371688"/>
            <a:ext cx="0" cy="4209863"/>
          </a:xfrm>
          <a:prstGeom prst="line">
            <a:avLst/>
          </a:prstGeom>
          <a:ln w="6339" cap="flat">
            <a:solidFill>
              <a:srgbClr val="D8DCE1"/>
            </a:solidFill>
            <a:prstDash val="solid"/>
          </a:ln>
        </p:spPr>
      </p:cxnSp>
      <p:sp>
        <p:nvSpPr>
          <p:cNvPr id="54" name="文字 54"/>
          <p:cNvSpPr txBox="1"/>
          <p:nvPr/>
        </p:nvSpPr>
        <p:spPr>
          <a:xfrm>
            <a:off x="7791450" y="1377851"/>
            <a:ext cx="12827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业务请求也要固定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7791450" y="1649313"/>
            <a:ext cx="386209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示例 resource_id 可以只是路径。同一路径接收不同 prompt 或文</a:t>
            </a:r>
            <a:endParaRPr/>
          </a:p>
        </p:txBody>
      </p:sp>
      <p:sp>
        <p:nvSpPr>
          <p:cNvPr id="56" name="文字 56"/>
          <p:cNvSpPr txBox="1"/>
          <p:nvPr/>
        </p:nvSpPr>
        <p:spPr>
          <a:xfrm>
            <a:off x="7791450" y="1846659"/>
            <a:ext cx="25463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件时，商户还应绑定请求摘要和购买范围。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7791450" y="2183706"/>
            <a:ext cx="14414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网络失败先恢复原单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7791450" y="2455168"/>
            <a:ext cx="3879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回执待确认已有业务结果，应重试确认或取存量结果。支付状态未</a:t>
            </a:r>
            <a:endParaRPr/>
          </a:p>
        </p:txBody>
      </p:sp>
      <p:sp>
        <p:nvSpPr>
          <p:cNvPr id="59" name="文字 59"/>
          <p:cNvSpPr txBox="1"/>
          <p:nvPr/>
        </p:nvSpPr>
        <p:spPr>
          <a:xfrm>
            <a:off x="7791450" y="2652514"/>
            <a:ext cx="20129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知不应直接创建新订单要求再买。</a:t>
            </a:r>
            <a:endParaRPr/>
          </a:p>
        </p:txBody>
      </p:sp>
      <p:sp>
        <p:nvSpPr>
          <p:cNvPr id="60" name="文字 60"/>
          <p:cNvSpPr txBox="1"/>
          <p:nvPr/>
        </p:nvSpPr>
        <p:spPr>
          <a:xfrm>
            <a:off x="7791450" y="2989560"/>
            <a:ext cx="20764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回执确认与资金结算分开理解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7791450" y="3261023"/>
            <a:ext cx="387419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fulfillment.confirm 的含义是“商家履约回执”。公共接口没有公</a:t>
            </a:r>
            <a:endParaRPr/>
          </a:p>
        </p:txBody>
      </p:sp>
      <p:sp>
        <p:nvSpPr>
          <p:cNvPr id="62" name="文字 62"/>
          <p:cNvSpPr txBox="1"/>
          <p:nvPr/>
        </p:nvSpPr>
        <p:spPr>
          <a:xfrm>
            <a:off x="7791450" y="3458369"/>
            <a:ext cx="24130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开其与资金释放、退款的完整内部条件。</a:t>
            </a:r>
            <a:endParaRPr/>
          </a:p>
        </p:txBody>
      </p:sp>
      <p:sp>
        <p:nvSpPr>
          <p:cNvPr id="63" name="文字 63"/>
          <p:cNvSpPr txBox="1"/>
          <p:nvPr/>
        </p:nvSpPr>
        <p:spPr>
          <a:xfrm>
            <a:off x="7791450" y="3795415"/>
            <a:ext cx="20764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过期与重试策略需按版本核对</a:t>
            </a:r>
            <a:endParaRPr/>
          </a:p>
        </p:txBody>
      </p:sp>
      <p:sp>
        <p:nvSpPr>
          <p:cNvPr id="64" name="文字 64"/>
          <p:cNvSpPr txBox="1"/>
          <p:nvPr/>
        </p:nvSpPr>
        <p:spPr>
          <a:xfrm>
            <a:off x="7791450" y="4066878"/>
            <a:ext cx="391388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当前模板和 ACT 映射例的截止检查、回执顺序不同；重复确认也可</a:t>
            </a:r>
            <a:endParaRPr/>
          </a:p>
        </p:txBody>
      </p:sp>
      <p:sp>
        <p:nvSpPr>
          <p:cNvPr id="65" name="文字 65"/>
          <p:cNvSpPr txBox="1"/>
          <p:nvPr/>
        </p:nvSpPr>
        <p:spPr>
          <a:xfrm>
            <a:off x="7791450" y="4264224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能返回交易状态错误。</a:t>
            </a:r>
            <a:endParaRPr/>
          </a:p>
        </p:txBody>
      </p:sp>
      <p:cxnSp>
        <p:nvCxnSpPr>
          <p:cNvPr id="66" name="Editable line 66"/>
          <p:cNvCxnSpPr/>
          <p:nvPr/>
        </p:nvCxnSpPr>
        <p:spPr>
          <a:xfrm>
            <a:off x="463734" y="5603115"/>
            <a:ext cx="11264532" cy="0"/>
          </a:xfrm>
          <a:prstGeom prst="line">
            <a:avLst/>
          </a:prstGeom>
          <a:ln w="12527" cap="flat">
            <a:solidFill>
              <a:srgbClr val="B5333B"/>
            </a:solidFill>
            <a:prstDash val="solid"/>
          </a:ln>
        </p:spPr>
      </p:cxnSp>
      <p:sp>
        <p:nvSpPr>
          <p:cNvPr id="67" name="文字 67"/>
          <p:cNvSpPr txBox="1"/>
          <p:nvPr/>
        </p:nvSpPr>
        <p:spPr>
          <a:xfrm>
            <a:off x="457200" y="5696546"/>
            <a:ext cx="2544465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SkillPay：经营商品权益和知识交付</a:t>
            </a:r>
            <a:endParaRPr/>
          </a:p>
        </p:txBody>
      </p:sp>
      <p:sp>
        <p:nvSpPr>
          <p:cNvPr id="68" name="文字 68"/>
          <p:cNvSpPr txBox="1"/>
          <p:nvPr/>
        </p:nvSpPr>
        <p:spPr>
          <a:xfrm>
            <a:off x="457200" y="5968008"/>
            <a:ext cx="5480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决定买断文件、订阅期限、试用、版本和云端原文保护；有效权益下的使用不等于每次重新购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457200" y="6165354"/>
            <a:ext cx="2794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买。</a:t>
            </a:r>
            <a:endParaRPr/>
          </a:p>
        </p:txBody>
      </p:sp>
      <p:sp>
        <p:nvSpPr>
          <p:cNvPr id="70" name="文字 70"/>
          <p:cNvSpPr txBox="1"/>
          <p:nvPr/>
        </p:nvSpPr>
        <p:spPr>
          <a:xfrm>
            <a:off x="6210300" y="5696546"/>
            <a:ext cx="3334246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MachinePay：让资源请求具备收款与验付协议</a:t>
            </a:r>
            <a:endParaRPr/>
          </a:p>
        </p:txBody>
      </p:sp>
      <p:sp>
        <p:nvSpPr>
          <p:cNvPr id="71" name="文字 71"/>
          <p:cNvSpPr txBox="1"/>
          <p:nvPr/>
        </p:nvSpPr>
        <p:spPr>
          <a:xfrm>
            <a:off x="6210300" y="5968008"/>
            <a:ext cx="5480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商户签报价，支付宝付款与验付，商户承担业务绑定、幂等和交付。两者复用支付能力，不宜</a:t>
            </a:r>
            <a:endParaRPr/>
          </a:p>
        </p:txBody>
      </p:sp>
      <p:sp>
        <p:nvSpPr>
          <p:cNvPr id="72" name="文字 72"/>
          <p:cNvSpPr txBox="1"/>
          <p:nvPr/>
        </p:nvSpPr>
        <p:spPr>
          <a:xfrm>
            <a:off x="6210300" y="6165354"/>
            <a:ext cx="18796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推定全部流量走同一内部链路。</a:t>
            </a:r>
            <a:endParaRPr/>
          </a:p>
        </p:txBody>
      </p:sp>
      <p:pic>
        <p:nvPicPr>
          <p:cNvPr id="74" name="slide-004-imag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678" y="6691517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" name="文字 6"/>
          <p:cNvSpPr txBox="1"/>
          <p:nvPr/>
        </p:nvSpPr>
        <p:spPr>
          <a:xfrm>
            <a:off x="457200" y="308610"/>
            <a:ext cx="11247120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2400" b="1">
                <a:latin typeface="微软雅黑"/>
              </a:defRPr>
            </a:pPr>
            <a:r>
              <a:rPr sz="2400" b="1" i="0" u="none" spc="0">
                <a:solidFill>
                  <a:srgbClr val="C7000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阿里把 Agent 支付拆成两层：SkillPay 卖商品，MachinePay 卖调用</a:t>
            </a:r>
            <a:endParaRPr/>
          </a:p>
        </p:txBody>
      </p:sp>
      <p:pic>
        <p:nvPicPr>
          <p:cNvPr id="9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3091"/>
            <a:ext cx="3759200" cy="400050"/>
          </a:xfrm>
          <a:prstGeom prst="rect">
            <a:avLst/>
          </a:prstGeom>
        </p:spPr>
      </p:pic>
      <p:sp>
        <p:nvSpPr>
          <p:cNvPr id="10" name="文字 10"/>
          <p:cNvSpPr txBox="1"/>
          <p:nvPr/>
        </p:nvSpPr>
        <p:spPr>
          <a:xfrm>
            <a:off x="457200" y="1258491"/>
            <a:ext cx="625773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AI 付钱包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457200" y="1480741"/>
            <a:ext cx="1615678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绑定 · 逐笔授权 · 风控/结算</a:t>
            </a:r>
            <a:endParaRPr/>
          </a:p>
        </p:txBody>
      </p:sp>
      <p:pic>
        <p:nvPicPr>
          <p:cNvPr id="12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400" y="1233091"/>
            <a:ext cx="3759200" cy="400050"/>
          </a:xfrm>
          <a:prstGeom prst="rect">
            <a:avLst/>
          </a:prstGeom>
        </p:spPr>
      </p:pic>
      <p:sp>
        <p:nvSpPr>
          <p:cNvPr id="13" name="文字 13"/>
          <p:cNvSpPr txBox="1"/>
          <p:nvPr/>
        </p:nvSpPr>
        <p:spPr>
          <a:xfrm>
            <a:off x="4343400" y="1258491"/>
            <a:ext cx="58926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SkillPay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4343400" y="1480741"/>
            <a:ext cx="1501675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上架 · 定价 · 交付 · 退款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8102600" y="1258491"/>
            <a:ext cx="877689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MachinePay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8102600" y="1480741"/>
            <a:ext cx="1875234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402 · 按量 · verify · fulfillment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457200" y="1849041"/>
            <a:ext cx="1453158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SkillPay · 商品层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5314950" y="1906191"/>
            <a:ext cx="6985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卖“交付权”</a:t>
            </a:r>
            <a:endParaRPr/>
          </a:p>
        </p:txBody>
      </p:sp>
      <p:sp>
        <p:nvSpPr>
          <p:cNvPr id="19" name="文字 19"/>
          <p:cNvSpPr txBox="1"/>
          <p:nvPr/>
        </p:nvSpPr>
        <p:spPr>
          <a:xfrm>
            <a:off x="457200" y="2103041"/>
            <a:ext cx="2608461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把 Skill 做成可定价、可试用、可退款的商品。</a:t>
            </a:r>
            <a:endParaRPr/>
          </a:p>
        </p:txBody>
      </p:sp>
      <p:pic>
        <p:nvPicPr>
          <p:cNvPr id="20" name="slide-001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293541"/>
            <a:ext cx="5543550" cy="505420"/>
          </a:xfrm>
          <a:prstGeom prst="rect">
            <a:avLst/>
          </a:prstGeom>
        </p:spPr>
      </p:pic>
      <p:sp>
        <p:nvSpPr>
          <p:cNvPr id="21" name="文字 21"/>
          <p:cNvSpPr txBox="1"/>
          <p:nvPr/>
        </p:nvSpPr>
        <p:spPr>
          <a:xfrm>
            <a:off x="457200" y="2357041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01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749300" y="2369741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创作者上架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749300" y="2564011"/>
            <a:ext cx="3710583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上传 Skill → 安全检测 → 商品页；签署 SkillPay + AI 按量付费协议</a:t>
            </a:r>
            <a:endParaRPr/>
          </a:p>
        </p:txBody>
      </p:sp>
      <p:pic>
        <p:nvPicPr>
          <p:cNvPr id="24" name="slide-001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798961"/>
            <a:ext cx="5543550" cy="505420"/>
          </a:xfrm>
          <a:prstGeom prst="rect">
            <a:avLst/>
          </a:prstGeom>
        </p:spPr>
      </p:pic>
      <p:sp>
        <p:nvSpPr>
          <p:cNvPr id="25" name="文字 25"/>
          <p:cNvSpPr txBox="1"/>
          <p:nvPr/>
        </p:nvSpPr>
        <p:spPr>
          <a:xfrm>
            <a:off x="457200" y="2862461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02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749300" y="2875161"/>
            <a:ext cx="5715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买家购买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749300" y="3069431"/>
            <a:ext cx="2158306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任务中触发 → 支付宝确认 → 获得权益</a:t>
            </a:r>
            <a:endParaRPr/>
          </a:p>
        </p:txBody>
      </p:sp>
      <p:pic>
        <p:nvPicPr>
          <p:cNvPr id="28" name="slide-001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304381"/>
            <a:ext cx="5543550" cy="505420"/>
          </a:xfrm>
          <a:prstGeom prst="rect">
            <a:avLst/>
          </a:prstGeom>
        </p:spPr>
      </p:pic>
      <p:sp>
        <p:nvSpPr>
          <p:cNvPr id="29" name="文字 29"/>
          <p:cNvSpPr txBox="1"/>
          <p:nvPr/>
        </p:nvSpPr>
        <p:spPr>
          <a:xfrm>
            <a:off x="457200" y="3367881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03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749300" y="3380581"/>
            <a:ext cx="5715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两种交付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749300" y="3574852"/>
            <a:ext cx="3060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一次性交付完整源码；周期订阅走云端保护，不交明文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457200" y="3873302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04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749300" y="3886002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资金与退款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749300" y="4080272"/>
            <a:ext cx="2552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成交即到账开发者支付宝；退款由开发者发起</a:t>
            </a:r>
            <a:endParaRPr/>
          </a:p>
        </p:txBody>
      </p:sp>
      <p:pic>
        <p:nvPicPr>
          <p:cNvPr id="35" name="slide-001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823641"/>
            <a:ext cx="5543551" cy="3304679"/>
          </a:xfrm>
          <a:prstGeom prst="rect">
            <a:avLst/>
          </a:prstGeom>
        </p:spPr>
      </p:pic>
      <p:sp>
        <p:nvSpPr>
          <p:cNvPr id="36" name="文字 36"/>
          <p:cNvSpPr txBox="1"/>
          <p:nvPr/>
        </p:nvSpPr>
        <p:spPr>
          <a:xfrm>
            <a:off x="6375400" y="1849041"/>
            <a:ext cx="1791792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MachinePay · 协议层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10934700" y="1906191"/>
            <a:ext cx="8128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卖“按量调用”</a:t>
            </a:r>
            <a:endParaRPr/>
          </a:p>
        </p:txBody>
      </p:sp>
      <p:sp>
        <p:nvSpPr>
          <p:cNvPr id="38" name="文字 38"/>
          <p:cNvSpPr txBox="1"/>
          <p:nvPr/>
        </p:nvSpPr>
        <p:spPr>
          <a:xfrm>
            <a:off x="6375400" y="2103041"/>
            <a:ext cx="2804319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在 API 调用链路里完成报价、支付、验单与履约。</a:t>
            </a:r>
            <a:endParaRPr/>
          </a:p>
        </p:txBody>
      </p:sp>
      <p:pic>
        <p:nvPicPr>
          <p:cNvPr id="39" name="slide-001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5400" y="2293541"/>
            <a:ext cx="5359401" cy="505420"/>
          </a:xfrm>
          <a:prstGeom prst="rect">
            <a:avLst/>
          </a:prstGeom>
        </p:spPr>
      </p:pic>
      <p:sp>
        <p:nvSpPr>
          <p:cNvPr id="40" name="文字 40"/>
          <p:cNvSpPr txBox="1"/>
          <p:nvPr/>
        </p:nvSpPr>
        <p:spPr>
          <a:xfrm>
            <a:off x="6375400" y="2357041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01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6667500" y="2369741"/>
            <a:ext cx="5715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商家报价</a:t>
            </a:r>
            <a:endParaRPr/>
          </a:p>
        </p:txBody>
      </p:sp>
      <p:sp>
        <p:nvSpPr>
          <p:cNvPr id="42" name="文字 42"/>
          <p:cNvSpPr txBox="1"/>
          <p:nvPr/>
        </p:nvSpPr>
        <p:spPr>
          <a:xfrm>
            <a:off x="6667500" y="2564011"/>
            <a:ext cx="2885976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无 Payment-Proof → 402 + Payment-Needed 账单</a:t>
            </a:r>
            <a:endParaRPr/>
          </a:p>
        </p:txBody>
      </p:sp>
      <p:pic>
        <p:nvPicPr>
          <p:cNvPr id="43" name="slide-001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5400" y="2798961"/>
            <a:ext cx="5359401" cy="505420"/>
          </a:xfrm>
          <a:prstGeom prst="rect">
            <a:avLst/>
          </a:prstGeom>
        </p:spPr>
      </p:pic>
      <p:sp>
        <p:nvSpPr>
          <p:cNvPr id="44" name="文字 44"/>
          <p:cNvSpPr txBox="1"/>
          <p:nvPr/>
        </p:nvSpPr>
        <p:spPr>
          <a:xfrm>
            <a:off x="6375400" y="2862461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02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6667500" y="2875161"/>
            <a:ext cx="722809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Agent 支付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6667500" y="3069431"/>
            <a:ext cx="2144217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AI 付钱包付款 → 拿到 Payment-Proof</a:t>
            </a:r>
            <a:endParaRPr/>
          </a:p>
        </p:txBody>
      </p:sp>
      <p:pic>
        <p:nvPicPr>
          <p:cNvPr id="47" name="slide-001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5400" y="3304381"/>
            <a:ext cx="5359401" cy="505420"/>
          </a:xfrm>
          <a:prstGeom prst="rect">
            <a:avLst/>
          </a:prstGeom>
        </p:spPr>
      </p:pic>
      <p:sp>
        <p:nvSpPr>
          <p:cNvPr id="48" name="文字 48"/>
          <p:cNvSpPr txBox="1"/>
          <p:nvPr/>
        </p:nvSpPr>
        <p:spPr>
          <a:xfrm>
            <a:off x="6375400" y="3367881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03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6667500" y="3380581"/>
            <a:ext cx="5715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商家验单</a:t>
            </a:r>
            <a:endParaRPr/>
          </a:p>
        </p:txBody>
      </p:sp>
      <p:sp>
        <p:nvSpPr>
          <p:cNvPr id="50" name="文字 50"/>
          <p:cNvSpPr txBox="1"/>
          <p:nvPr/>
        </p:nvSpPr>
        <p:spPr>
          <a:xfrm>
            <a:off x="6667500" y="3574852"/>
            <a:ext cx="2161878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verify：active/金额/订单/资源/防重放</a:t>
            </a:r>
            <a:endParaRPr/>
          </a:p>
        </p:txBody>
      </p:sp>
      <p:sp>
        <p:nvSpPr>
          <p:cNvPr id="51" name="文字 51"/>
          <p:cNvSpPr txBox="1"/>
          <p:nvPr/>
        </p:nvSpPr>
        <p:spPr>
          <a:xfrm>
            <a:off x="6375400" y="3873302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04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6667500" y="3886002"/>
            <a:ext cx="711201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交付与结算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6667500" y="4080272"/>
            <a:ext cx="2335014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返回资源 → 履约回执 → 支付宝收单/结算</a:t>
            </a:r>
            <a:endParaRPr/>
          </a:p>
        </p:txBody>
      </p:sp>
      <p:pic>
        <p:nvPicPr>
          <p:cNvPr id="54" name="slide-001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5191820"/>
            <a:ext cx="3683000" cy="373360"/>
          </a:xfrm>
          <a:prstGeom prst="rect">
            <a:avLst/>
          </a:prstGeom>
        </p:spPr>
      </p:pic>
      <p:sp>
        <p:nvSpPr>
          <p:cNvPr id="55" name="文字 55"/>
          <p:cNvSpPr txBox="1"/>
          <p:nvPr/>
        </p:nvSpPr>
        <p:spPr>
          <a:xfrm>
            <a:off x="457200" y="5261670"/>
            <a:ext cx="10985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商品层：信任与交付</a:t>
            </a:r>
            <a:endParaRPr/>
          </a:p>
        </p:txBody>
      </p:sp>
      <p:sp>
        <p:nvSpPr>
          <p:cNvPr id="56" name="文字 56"/>
          <p:cNvSpPr txBox="1"/>
          <p:nvPr/>
        </p:nvSpPr>
        <p:spPr>
          <a:xfrm>
            <a:off x="457200" y="5426770"/>
            <a:ext cx="2322016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定价、试用、安全检测、源码/云端交付、退款。</a:t>
            </a:r>
            <a:endParaRPr/>
          </a:p>
        </p:txBody>
      </p:sp>
      <p:pic>
        <p:nvPicPr>
          <p:cNvPr id="57" name="slide-001-image-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54500" y="5191820"/>
            <a:ext cx="3683000" cy="373360"/>
          </a:xfrm>
          <a:prstGeom prst="rect">
            <a:avLst/>
          </a:prstGeom>
        </p:spPr>
      </p:pic>
      <p:sp>
        <p:nvSpPr>
          <p:cNvPr id="58" name="文字 58"/>
          <p:cNvSpPr txBox="1"/>
          <p:nvPr/>
        </p:nvSpPr>
        <p:spPr>
          <a:xfrm>
            <a:off x="4254500" y="5261670"/>
            <a:ext cx="12192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协议层：机器可读计价</a:t>
            </a:r>
            <a:endParaRPr/>
          </a:p>
        </p:txBody>
      </p:sp>
      <p:sp>
        <p:nvSpPr>
          <p:cNvPr id="59" name="文字 59"/>
          <p:cNvSpPr txBox="1"/>
          <p:nvPr/>
        </p:nvSpPr>
        <p:spPr>
          <a:xfrm>
            <a:off x="4254500" y="5426770"/>
            <a:ext cx="217170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每次调用报价、支付凭证、验单、履约回执。</a:t>
            </a:r>
            <a:endParaRPr/>
          </a:p>
        </p:txBody>
      </p:sp>
      <p:pic>
        <p:nvPicPr>
          <p:cNvPr id="60" name="slide-001-image-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51800" y="5191820"/>
            <a:ext cx="3683000" cy="373360"/>
          </a:xfrm>
          <a:prstGeom prst="rect">
            <a:avLst/>
          </a:prstGeom>
        </p:spPr>
      </p:pic>
      <p:sp>
        <p:nvSpPr>
          <p:cNvPr id="61" name="文字 61"/>
          <p:cNvSpPr txBox="1"/>
          <p:nvPr/>
        </p:nvSpPr>
        <p:spPr>
          <a:xfrm>
            <a:off x="8051800" y="5261670"/>
            <a:ext cx="10985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共同底座：钱怎么付</a:t>
            </a:r>
            <a:endParaRPr/>
          </a:p>
        </p:txBody>
      </p:sp>
      <p:sp>
        <p:nvSpPr>
          <p:cNvPr id="62" name="文字 62"/>
          <p:cNvSpPr txBox="1"/>
          <p:nvPr/>
        </p:nvSpPr>
        <p:spPr>
          <a:xfrm>
            <a:off x="8051800" y="5426770"/>
            <a:ext cx="1753393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AI 付钱包、逐笔授权、风控与结算。</a:t>
            </a:r>
            <a:endParaRPr/>
          </a:p>
        </p:txBody>
      </p:sp>
      <p:sp>
        <p:nvSpPr>
          <p:cNvPr id="63" name="形状 63"/>
          <p:cNvSpPr/>
          <p:nvPr/>
        </p:nvSpPr>
        <p:spPr>
          <a:xfrm>
            <a:off x="457200" y="5641380"/>
            <a:ext cx="5568950" cy="511770"/>
          </a:xfrm>
          <a:prstGeom prst="roundRect">
            <a:avLst>
              <a:gd name="adj" fmla="val 9926"/>
            </a:avLst>
          </a:prstGeom>
          <a:solidFill>
            <a:srgbClr val="FCFCFD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4" name="文字 64"/>
          <p:cNvSpPr txBox="1"/>
          <p:nvPr/>
        </p:nvSpPr>
        <p:spPr>
          <a:xfrm>
            <a:off x="558800" y="5730280"/>
            <a:ext cx="1457623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同一任务 · MachinePay</a:t>
            </a:r>
            <a:endParaRPr/>
          </a:p>
        </p:txBody>
      </p:sp>
      <p:sp>
        <p:nvSpPr>
          <p:cNvPr id="65" name="文字 65"/>
          <p:cNvSpPr txBox="1"/>
          <p:nvPr/>
        </p:nvSpPr>
        <p:spPr>
          <a:xfrm>
            <a:off x="558800" y="5927130"/>
            <a:ext cx="5003502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查一次钢材价格：GET API → 示例报价 0.01 元 → 用户确认 → 返回行情；按次收费，不买断。</a:t>
            </a:r>
            <a:endParaRPr/>
          </a:p>
        </p:txBody>
      </p:sp>
      <p:sp>
        <p:nvSpPr>
          <p:cNvPr id="66" name="形状 66"/>
          <p:cNvSpPr/>
          <p:nvPr/>
        </p:nvSpPr>
        <p:spPr>
          <a:xfrm>
            <a:off x="6165850" y="5641380"/>
            <a:ext cx="5568950" cy="511770"/>
          </a:xfrm>
          <a:prstGeom prst="roundRect">
            <a:avLst>
              <a:gd name="adj" fmla="val 9926"/>
            </a:avLst>
          </a:prstGeom>
          <a:solidFill>
            <a:srgbClr val="FDF0F1">
              <a:alpha val="100000"/>
            </a:srgbClr>
          </a:solidFill>
          <a:ln w="6350">
            <a:solidFill>
              <a:srgbClr val="EFC9CC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" name="文字 67"/>
          <p:cNvSpPr txBox="1"/>
          <p:nvPr/>
        </p:nvSpPr>
        <p:spPr>
          <a:xfrm>
            <a:off x="6267450" y="5730280"/>
            <a:ext cx="1206797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同一任务 · SkillPay</a:t>
            </a:r>
            <a:endParaRPr/>
          </a:p>
        </p:txBody>
      </p:sp>
      <p:sp>
        <p:nvSpPr>
          <p:cNvPr id="68" name="文字 68"/>
          <p:cNvSpPr txBox="1"/>
          <p:nvPr/>
        </p:nvSpPr>
        <p:spPr>
          <a:xfrm>
            <a:off x="6267450" y="5927130"/>
            <a:ext cx="4957167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买一个行业研究 Skill：示例 99 元买断 / 19 元每月订阅 → 源码或云端 → 在 Agent 里反复用。</a:t>
            </a:r>
            <a:endParaRPr/>
          </a:p>
        </p:txBody>
      </p:sp>
      <p:sp>
        <p:nvSpPr>
          <p:cNvPr id="69" name="形状 69"/>
          <p:cNvSpPr/>
          <p:nvPr/>
        </p:nvSpPr>
        <p:spPr>
          <a:xfrm>
            <a:off x="457200" y="6242050"/>
            <a:ext cx="11277600" cy="336550"/>
          </a:xfrm>
          <a:prstGeom prst="roundRect">
            <a:avLst>
              <a:gd name="adj" fmla="val 15094"/>
            </a:avLst>
          </a:prstGeom>
          <a:solidFill>
            <a:srgbClr val="FDF0F1">
              <a:alpha val="100000"/>
            </a:srgbClr>
          </a:solidFill>
          <a:ln w="6350">
            <a:solidFill>
              <a:srgbClr val="EFC9CC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0" name="文字 70"/>
          <p:cNvSpPr txBox="1"/>
          <p:nvPr/>
        </p:nvSpPr>
        <p:spPr>
          <a:xfrm>
            <a:off x="577850" y="6337300"/>
            <a:ext cx="520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共同底座</a:t>
            </a:r>
            <a:endParaRPr/>
          </a:p>
        </p:txBody>
      </p:sp>
      <p:sp>
        <p:nvSpPr>
          <p:cNvPr id="71" name="文字 71"/>
          <p:cNvSpPr txBox="1"/>
          <p:nvPr/>
        </p:nvSpPr>
        <p:spPr>
          <a:xfrm>
            <a:off x="1174750" y="6337300"/>
            <a:ext cx="6926064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用户/Agent → AI 付钱包（绑定、逐笔授权）→ 402 账单/凭证 → 商家或开发者账户；支付链接约 5 分钟，账单 RSA2 签名。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" name="文字 6"/>
          <p:cNvSpPr txBox="1"/>
          <p:nvPr/>
        </p:nvSpPr>
        <p:spPr>
          <a:xfrm>
            <a:off x="457200" y="308610"/>
            <a:ext cx="11247120" cy="387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2400" b="1">
                <a:latin typeface="微软雅黑"/>
              </a:defRPr>
            </a:pPr>
            <a:r>
              <a:rPr sz="2400" b="1" i="0" u="none" spc="0">
                <a:solidFill>
                  <a:srgbClr val="C7000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SkillPay：把 Skill 变成可定价、可交付、可退款的产品</a:t>
            </a:r>
            <a:endParaRPr/>
          </a:p>
        </p:txBody>
      </p:sp>
      <p:sp>
        <p:nvSpPr>
          <p:cNvPr id="8" name="文字 8"/>
          <p:cNvSpPr txBox="1"/>
          <p:nvPr/>
        </p:nvSpPr>
        <p:spPr>
          <a:xfrm>
            <a:off x="457200" y="1154311"/>
            <a:ext cx="1729879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从上传到退款：5 个环节</a:t>
            </a:r>
            <a:endParaRPr/>
          </a:p>
        </p:txBody>
      </p:sp>
      <p:sp>
        <p:nvSpPr>
          <p:cNvPr id="9" name="文字 9"/>
          <p:cNvSpPr txBox="1"/>
          <p:nvPr/>
        </p:nvSpPr>
        <p:spPr>
          <a:xfrm>
            <a:off x="457200" y="1389261"/>
            <a:ext cx="23050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平台做审核与交付，开发者做定价与售后。</a:t>
            </a:r>
            <a:endParaRPr/>
          </a:p>
        </p:txBody>
      </p:sp>
      <p:pic>
        <p:nvPicPr>
          <p:cNvPr id="10" name="slide-002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9761"/>
            <a:ext cx="5654377" cy="505420"/>
          </a:xfrm>
          <a:prstGeom prst="rect">
            <a:avLst/>
          </a:prstGeom>
        </p:spPr>
      </p:pic>
      <p:sp>
        <p:nvSpPr>
          <p:cNvPr id="11" name="文字 11"/>
          <p:cNvSpPr txBox="1"/>
          <p:nvPr/>
        </p:nvSpPr>
        <p:spPr>
          <a:xfrm>
            <a:off x="457200" y="1643261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01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749300" y="1655961"/>
            <a:ext cx="2921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上架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749300" y="1850231"/>
            <a:ext cx="4268391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上传 Skill → 安全检测/风险扫描 → 商品页；签署 SkillPay + AI 按量付费协议</a:t>
            </a:r>
            <a:endParaRPr/>
          </a:p>
        </p:txBody>
      </p:sp>
      <p:pic>
        <p:nvPicPr>
          <p:cNvPr id="14" name="slide-002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85181"/>
            <a:ext cx="5654377" cy="505420"/>
          </a:xfrm>
          <a:prstGeom prst="rect">
            <a:avLst/>
          </a:prstGeom>
        </p:spPr>
      </p:pic>
      <p:sp>
        <p:nvSpPr>
          <p:cNvPr id="15" name="文字 15"/>
          <p:cNvSpPr txBox="1"/>
          <p:nvPr/>
        </p:nvSpPr>
        <p:spPr>
          <a:xfrm>
            <a:off x="457200" y="2148681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02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749300" y="2161381"/>
            <a:ext cx="2921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定价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749300" y="2355652"/>
            <a:ext cx="3146822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一次性买断 / 周期订阅 / 免费试用；周期付费不自动续费</a:t>
            </a:r>
            <a:endParaRPr/>
          </a:p>
        </p:txBody>
      </p:sp>
      <p:pic>
        <p:nvPicPr>
          <p:cNvPr id="18" name="slide-002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90602"/>
            <a:ext cx="5654377" cy="505420"/>
          </a:xfrm>
          <a:prstGeom prst="rect">
            <a:avLst/>
          </a:prstGeom>
        </p:spPr>
      </p:pic>
      <p:sp>
        <p:nvSpPr>
          <p:cNvPr id="19" name="文字 19"/>
          <p:cNvSpPr txBox="1"/>
          <p:nvPr/>
        </p:nvSpPr>
        <p:spPr>
          <a:xfrm>
            <a:off x="457200" y="2654102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03</a:t>
            </a:r>
            <a:endParaRPr/>
          </a:p>
        </p:txBody>
      </p:sp>
      <p:sp>
        <p:nvSpPr>
          <p:cNvPr id="20" name="文字 20"/>
          <p:cNvSpPr txBox="1"/>
          <p:nvPr/>
        </p:nvSpPr>
        <p:spPr>
          <a:xfrm>
            <a:off x="749300" y="2666802"/>
            <a:ext cx="2921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触发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749300" y="2861072"/>
            <a:ext cx="3054648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任务中无有效权益 → 402/支付要求 → 用户支付宝确认</a:t>
            </a:r>
            <a:endParaRPr/>
          </a:p>
        </p:txBody>
      </p:sp>
      <p:pic>
        <p:nvPicPr>
          <p:cNvPr id="22" name="slide-002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96022"/>
            <a:ext cx="5654377" cy="505420"/>
          </a:xfrm>
          <a:prstGeom prst="rect">
            <a:avLst/>
          </a:prstGeom>
        </p:spPr>
      </p:pic>
      <p:sp>
        <p:nvSpPr>
          <p:cNvPr id="23" name="文字 23"/>
          <p:cNvSpPr txBox="1"/>
          <p:nvPr/>
        </p:nvSpPr>
        <p:spPr>
          <a:xfrm>
            <a:off x="457200" y="3159522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04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749300" y="3172222"/>
            <a:ext cx="2921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交付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749300" y="3366492"/>
            <a:ext cx="3441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一次性交付完整源码；订阅走云端保护，只返回任务执行文本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457200" y="3664942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05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749300" y="3677642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结算与退款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749300" y="3871913"/>
            <a:ext cx="3822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成交即到账开发者支付宝；退款由开发者发起，周期订单整单全额退</a:t>
            </a:r>
            <a:endParaRPr/>
          </a:p>
        </p:txBody>
      </p:sp>
      <p:pic>
        <p:nvPicPr>
          <p:cNvPr id="29" name="slide-002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5010150"/>
            <a:ext cx="5654377" cy="393700"/>
          </a:xfrm>
          <a:prstGeom prst="rect">
            <a:avLst/>
          </a:prstGeom>
        </p:spPr>
      </p:pic>
      <p:sp>
        <p:nvSpPr>
          <p:cNvPr id="30" name="文字 30"/>
          <p:cNvSpPr txBox="1"/>
          <p:nvPr/>
        </p:nvSpPr>
        <p:spPr>
          <a:xfrm>
            <a:off x="457200" y="5092700"/>
            <a:ext cx="1221085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安装链路：seller proxy 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1665585" y="5092700"/>
            <a:ext cx="835720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firsttimebuy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2488605" y="5092700"/>
            <a:ext cx="1537593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 → 支付待确认 → 查询状态 → 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4013498" y="5092700"/>
            <a:ext cx="1178619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fulfillment_proof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5179417" y="5092700"/>
            <a:ext cx="794445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 → 安全下载/解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457200" y="5257800"/>
            <a:ext cx="51474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压/安装。</a:t>
            </a:r>
            <a:endParaRPr/>
          </a:p>
        </p:txBody>
      </p:sp>
      <p:pic>
        <p:nvPicPr>
          <p:cNvPr id="36" name="slide-002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2077" y="1128911"/>
            <a:ext cx="5432723" cy="4274939"/>
          </a:xfrm>
          <a:prstGeom prst="rect">
            <a:avLst/>
          </a:prstGeom>
        </p:spPr>
      </p:pic>
      <p:sp>
        <p:nvSpPr>
          <p:cNvPr id="37" name="文字 37"/>
          <p:cNvSpPr txBox="1"/>
          <p:nvPr/>
        </p:nvSpPr>
        <p:spPr>
          <a:xfrm>
            <a:off x="6486228" y="1154311"/>
            <a:ext cx="2318543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200" b="1">
                <a:latin typeface="微软雅黑"/>
              </a:defRPr>
            </a:pPr>
            <a:r>
              <a:rPr sz="1200" b="1" i="0" u="none" spc="-5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两种交付：源码买断 vs 云端订阅</a:t>
            </a:r>
            <a:endParaRPr/>
          </a:p>
        </p:txBody>
      </p:sp>
      <p:sp>
        <p:nvSpPr>
          <p:cNvPr id="38" name="形状 38"/>
          <p:cNvSpPr/>
          <p:nvPr/>
        </p:nvSpPr>
        <p:spPr>
          <a:xfrm>
            <a:off x="6486228" y="1408311"/>
            <a:ext cx="5248573" cy="565150"/>
          </a:xfrm>
          <a:prstGeom prst="roundRect">
            <a:avLst>
              <a:gd name="adj" fmla="val 8989"/>
            </a:avLst>
          </a:prstGeom>
          <a:noFill/>
          <a:ln w="6350">
            <a:solidFill>
              <a:srgbClr val="D5D9DE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文字 39"/>
          <p:cNvSpPr txBox="1"/>
          <p:nvPr/>
        </p:nvSpPr>
        <p:spPr>
          <a:xfrm>
            <a:off x="6594177" y="1516261"/>
            <a:ext cx="74295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一次性买断 </a:t>
            </a:r>
            <a:endParaRPr/>
          </a:p>
        </p:txBody>
      </p:sp>
      <p:sp>
        <p:nvSpPr>
          <p:cNvPr id="40" name="文字 40"/>
          <p:cNvSpPr txBox="1"/>
          <p:nvPr/>
        </p:nvSpPr>
        <p:spPr>
          <a:xfrm>
            <a:off x="7324428" y="1541661"/>
            <a:ext cx="561380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ONE-TIME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6594177" y="1725811"/>
            <a:ext cx="424061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支付 → 完整 Skill 源码 zip → 本地安装 → Agent 直接执行；适合永久使用。</a:t>
            </a:r>
            <a:endParaRPr/>
          </a:p>
        </p:txBody>
      </p:sp>
      <p:sp>
        <p:nvSpPr>
          <p:cNvPr id="42" name="形状 42"/>
          <p:cNvSpPr/>
          <p:nvPr/>
        </p:nvSpPr>
        <p:spPr>
          <a:xfrm>
            <a:off x="6486228" y="2036961"/>
            <a:ext cx="5248573" cy="565150"/>
          </a:xfrm>
          <a:prstGeom prst="roundRect">
            <a:avLst>
              <a:gd name="adj" fmla="val 8989"/>
            </a:avLst>
          </a:prstGeom>
          <a:solidFill>
            <a:srgbClr val="FDF0F1">
              <a:alpha val="100000"/>
            </a:srgbClr>
          </a:solidFill>
          <a:ln w="6350">
            <a:solidFill>
              <a:srgbClr val="EFC9CC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文字 43"/>
          <p:cNvSpPr txBox="1"/>
          <p:nvPr/>
        </p:nvSpPr>
        <p:spPr>
          <a:xfrm>
            <a:off x="6594177" y="2144911"/>
            <a:ext cx="60325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周期订阅 </a:t>
            </a:r>
            <a:endParaRPr/>
          </a:p>
        </p:txBody>
      </p:sp>
      <p:sp>
        <p:nvSpPr>
          <p:cNvPr id="44" name="文字 44"/>
          <p:cNvSpPr txBox="1"/>
          <p:nvPr/>
        </p:nvSpPr>
        <p:spPr>
          <a:xfrm>
            <a:off x="7184727" y="2170311"/>
            <a:ext cx="835720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SUBSCRIPTION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6594177" y="2354461"/>
            <a:ext cx="4952305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支付周期 → 获得云端使用权 → 每次调用返回任务执行文本；不交付明文，不自动续费。</a:t>
            </a:r>
            <a:endParaRPr/>
          </a:p>
        </p:txBody>
      </p:sp>
      <p:pic>
        <p:nvPicPr>
          <p:cNvPr id="46" name="slide-002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228" y="2678311"/>
            <a:ext cx="5248573" cy="577850"/>
          </a:xfrm>
          <a:prstGeom prst="rect">
            <a:avLst/>
          </a:prstGeom>
        </p:spPr>
      </p:pic>
      <p:sp>
        <p:nvSpPr>
          <p:cNvPr id="47" name="文字 47"/>
          <p:cNvSpPr txBox="1"/>
          <p:nvPr/>
        </p:nvSpPr>
        <p:spPr>
          <a:xfrm>
            <a:off x="6594177" y="2697361"/>
            <a:ext cx="24130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云端保护：保护的是“方法”，不是答案</a:t>
            </a:r>
            <a:endParaRPr/>
          </a:p>
        </p:txBody>
      </p:sp>
      <p:sp>
        <p:nvSpPr>
          <p:cNvPr id="48" name="文字 48"/>
          <p:cNvSpPr txBox="1"/>
          <p:nvPr/>
        </p:nvSpPr>
        <p:spPr>
          <a:xfrm>
            <a:off x="6594177" y="2906911"/>
            <a:ext cx="5092701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原文隔离在云；按任务最小披露；防角色扮演、指令覆盖、编码转换与多轮套取。不是绝对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6594177" y="3091061"/>
            <a:ext cx="1790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0" i="0" u="none" spc="-10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安全，是提高批量复制的成本。</a:t>
            </a:r>
            <a:endParaRPr/>
          </a:p>
        </p:txBody>
      </p:sp>
      <p:pic>
        <p:nvPicPr>
          <p:cNvPr id="50" name="slide-002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228" y="3319661"/>
            <a:ext cx="5248573" cy="400050"/>
          </a:xfrm>
          <a:prstGeom prst="rect">
            <a:avLst/>
          </a:prstGeom>
        </p:spPr>
      </p:pic>
      <p:sp>
        <p:nvSpPr>
          <p:cNvPr id="51" name="文字 51"/>
          <p:cNvSpPr txBox="1"/>
          <p:nvPr/>
        </p:nvSpPr>
        <p:spPr>
          <a:xfrm>
            <a:off x="6486228" y="3389511"/>
            <a:ext cx="7366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商品页要写清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6486228" y="3573661"/>
            <a:ext cx="3379589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价格 · 免费试用 · 交付方式（源码/云端）· 退款规则 · 适用宿主</a:t>
            </a:r>
            <a:endParaRPr/>
          </a:p>
        </p:txBody>
      </p:sp>
      <p:sp>
        <p:nvSpPr>
          <p:cNvPr id="53" name="形状 53"/>
          <p:cNvSpPr/>
          <p:nvPr/>
        </p:nvSpPr>
        <p:spPr>
          <a:xfrm>
            <a:off x="6486228" y="3776861"/>
            <a:ext cx="508000" cy="215900"/>
          </a:xfrm>
          <a:prstGeom prst="roundRect">
            <a:avLst>
              <a:gd name="adj" fmla="val 11765"/>
            </a:avLst>
          </a:prstGeom>
          <a:solidFill>
            <a:srgbClr val="FAFAFA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文字 54"/>
          <p:cNvSpPr txBox="1"/>
          <p:nvPr/>
        </p:nvSpPr>
        <p:spPr>
          <a:xfrm>
            <a:off x="6537028" y="3827661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原文隔离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7025978" y="3827661"/>
            <a:ext cx="1143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→</a:t>
            </a:r>
            <a:endParaRPr/>
          </a:p>
        </p:txBody>
      </p:sp>
      <p:sp>
        <p:nvSpPr>
          <p:cNvPr id="56" name="形状 56"/>
          <p:cNvSpPr/>
          <p:nvPr/>
        </p:nvSpPr>
        <p:spPr>
          <a:xfrm>
            <a:off x="7159327" y="3776861"/>
            <a:ext cx="508000" cy="215900"/>
          </a:xfrm>
          <a:prstGeom prst="roundRect">
            <a:avLst>
              <a:gd name="adj" fmla="val 11765"/>
            </a:avLst>
          </a:prstGeom>
          <a:solidFill>
            <a:srgbClr val="FAFAFA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文字 57"/>
          <p:cNvSpPr txBox="1"/>
          <p:nvPr/>
        </p:nvSpPr>
        <p:spPr>
          <a:xfrm>
            <a:off x="7210128" y="3827661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任务请求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7699078" y="3827661"/>
            <a:ext cx="1143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→</a:t>
            </a:r>
            <a:endParaRPr/>
          </a:p>
        </p:txBody>
      </p:sp>
      <p:sp>
        <p:nvSpPr>
          <p:cNvPr id="59" name="形状 59"/>
          <p:cNvSpPr/>
          <p:nvPr/>
        </p:nvSpPr>
        <p:spPr>
          <a:xfrm>
            <a:off x="7832427" y="3776861"/>
            <a:ext cx="508001" cy="215900"/>
          </a:xfrm>
          <a:prstGeom prst="roundRect">
            <a:avLst>
              <a:gd name="adj" fmla="val 11765"/>
            </a:avLst>
          </a:prstGeom>
          <a:solidFill>
            <a:srgbClr val="FDF0F1">
              <a:alpha val="100000"/>
            </a:srgbClr>
          </a:solidFill>
          <a:ln w="6350">
            <a:solidFill>
              <a:srgbClr val="EFC9CC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文字 60"/>
          <p:cNvSpPr txBox="1"/>
          <p:nvPr/>
        </p:nvSpPr>
        <p:spPr>
          <a:xfrm>
            <a:off x="7883228" y="3827661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最小披露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8372178" y="3827661"/>
            <a:ext cx="1143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→</a:t>
            </a:r>
            <a:endParaRPr/>
          </a:p>
        </p:txBody>
      </p:sp>
      <p:sp>
        <p:nvSpPr>
          <p:cNvPr id="62" name="形状 62"/>
          <p:cNvSpPr/>
          <p:nvPr/>
        </p:nvSpPr>
        <p:spPr>
          <a:xfrm>
            <a:off x="8505527" y="3776861"/>
            <a:ext cx="508001" cy="215900"/>
          </a:xfrm>
          <a:prstGeom prst="roundRect">
            <a:avLst>
              <a:gd name="adj" fmla="val 11765"/>
            </a:avLst>
          </a:prstGeom>
          <a:solidFill>
            <a:srgbClr val="FAFAFA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文字 63"/>
          <p:cNvSpPr txBox="1"/>
          <p:nvPr/>
        </p:nvSpPr>
        <p:spPr>
          <a:xfrm>
            <a:off x="8556328" y="3827661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本地执行</a:t>
            </a:r>
            <a:endParaRPr/>
          </a:p>
        </p:txBody>
      </p:sp>
      <p:pic>
        <p:nvPicPr>
          <p:cNvPr id="64" name="slide-002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6228" y="5175250"/>
            <a:ext cx="5248573" cy="228600"/>
          </a:xfrm>
          <a:prstGeom prst="rect">
            <a:avLst/>
          </a:prstGeom>
        </p:spPr>
      </p:pic>
      <p:sp>
        <p:nvSpPr>
          <p:cNvPr id="65" name="文字 65"/>
          <p:cNvSpPr txBox="1"/>
          <p:nvPr/>
        </p:nvSpPr>
        <p:spPr>
          <a:xfrm>
            <a:off x="6486228" y="5251450"/>
            <a:ext cx="4396085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支持宿主：WorkBuddy、豆包工作、千问办公、Cursor、Codex、Claude Code。</a:t>
            </a:r>
            <a:endParaRPr/>
          </a:p>
        </p:txBody>
      </p:sp>
      <p:pic>
        <p:nvPicPr>
          <p:cNvPr id="66" name="slide-002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5467350"/>
            <a:ext cx="11277600" cy="641350"/>
          </a:xfrm>
          <a:prstGeom prst="rect">
            <a:avLst/>
          </a:prstGeom>
        </p:spPr>
      </p:pic>
      <p:sp>
        <p:nvSpPr>
          <p:cNvPr id="67" name="文字 67"/>
          <p:cNvSpPr txBox="1"/>
          <p:nvPr/>
        </p:nvSpPr>
        <p:spPr>
          <a:xfrm>
            <a:off x="457200" y="5543550"/>
            <a:ext cx="2239665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购买/安装链路：卖家 proxy + alipay-bot</a:t>
            </a:r>
            <a:endParaRPr/>
          </a:p>
        </p:txBody>
      </p:sp>
      <p:pic>
        <p:nvPicPr>
          <p:cNvPr id="68" name="slide-002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5727700"/>
            <a:ext cx="1578372" cy="381000"/>
          </a:xfrm>
          <a:prstGeom prst="rect">
            <a:avLst/>
          </a:prstGeom>
        </p:spPr>
      </p:pic>
      <p:sp>
        <p:nvSpPr>
          <p:cNvPr id="69" name="文字 69"/>
          <p:cNvSpPr txBox="1"/>
          <p:nvPr/>
        </p:nvSpPr>
        <p:spPr>
          <a:xfrm>
            <a:off x="501650" y="5791200"/>
            <a:ext cx="3175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商品页</a:t>
            </a:r>
            <a:endParaRPr/>
          </a:p>
        </p:txBody>
      </p:sp>
      <p:sp>
        <p:nvSpPr>
          <p:cNvPr id="70" name="文字 70"/>
          <p:cNvSpPr txBox="1"/>
          <p:nvPr/>
        </p:nvSpPr>
        <p:spPr>
          <a:xfrm>
            <a:off x="501650" y="5943600"/>
            <a:ext cx="458986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价格/试用</a:t>
            </a:r>
            <a:endParaRPr/>
          </a:p>
        </p:txBody>
      </p:sp>
      <p:pic>
        <p:nvPicPr>
          <p:cNvPr id="71" name="slide-002-image-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73672" y="5727700"/>
            <a:ext cx="1578471" cy="381000"/>
          </a:xfrm>
          <a:prstGeom prst="rect">
            <a:avLst/>
          </a:prstGeom>
        </p:spPr>
      </p:pic>
      <p:sp>
        <p:nvSpPr>
          <p:cNvPr id="72" name="文字 72"/>
          <p:cNvSpPr txBox="1"/>
          <p:nvPr/>
        </p:nvSpPr>
        <p:spPr>
          <a:xfrm>
            <a:off x="2118122" y="5791200"/>
            <a:ext cx="630634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firsttimebuy</a:t>
            </a:r>
            <a:endParaRPr/>
          </a:p>
        </p:txBody>
      </p:sp>
      <p:sp>
        <p:nvSpPr>
          <p:cNvPr id="73" name="文字 73"/>
          <p:cNvSpPr txBox="1"/>
          <p:nvPr/>
        </p:nvSpPr>
        <p:spPr>
          <a:xfrm>
            <a:off x="2118122" y="5943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幂等下单</a:t>
            </a:r>
            <a:endParaRPr/>
          </a:p>
        </p:txBody>
      </p:sp>
      <p:pic>
        <p:nvPicPr>
          <p:cNvPr id="74" name="slide-002-image-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90243" y="5727700"/>
            <a:ext cx="1578372" cy="381000"/>
          </a:xfrm>
          <a:prstGeom prst="rect">
            <a:avLst/>
          </a:prstGeom>
        </p:spPr>
      </p:pic>
      <p:sp>
        <p:nvSpPr>
          <p:cNvPr id="75" name="文字 75"/>
          <p:cNvSpPr txBox="1"/>
          <p:nvPr/>
        </p:nvSpPr>
        <p:spPr>
          <a:xfrm>
            <a:off x="3734693" y="5791200"/>
            <a:ext cx="5207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支付待确认</a:t>
            </a:r>
            <a:endParaRPr/>
          </a:p>
        </p:txBody>
      </p:sp>
      <p:sp>
        <p:nvSpPr>
          <p:cNvPr id="76" name="文字 76"/>
          <p:cNvSpPr txBox="1"/>
          <p:nvPr/>
        </p:nvSpPr>
        <p:spPr>
          <a:xfrm>
            <a:off x="3734693" y="5943600"/>
            <a:ext cx="458986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订单/链接</a:t>
            </a:r>
            <a:endParaRPr/>
          </a:p>
        </p:txBody>
      </p:sp>
      <p:pic>
        <p:nvPicPr>
          <p:cNvPr id="77" name="slide-002-image-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06715" y="5727700"/>
            <a:ext cx="1578471" cy="381000"/>
          </a:xfrm>
          <a:prstGeom prst="rect">
            <a:avLst/>
          </a:prstGeom>
        </p:spPr>
      </p:pic>
      <p:sp>
        <p:nvSpPr>
          <p:cNvPr id="78" name="文字 78"/>
          <p:cNvSpPr txBox="1"/>
          <p:nvPr/>
        </p:nvSpPr>
        <p:spPr>
          <a:xfrm>
            <a:off x="5351165" y="57912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用户支付</a:t>
            </a:r>
            <a:endParaRPr/>
          </a:p>
        </p:txBody>
      </p:sp>
      <p:sp>
        <p:nvSpPr>
          <p:cNvPr id="79" name="文字 79"/>
          <p:cNvSpPr txBox="1"/>
          <p:nvPr/>
        </p:nvSpPr>
        <p:spPr>
          <a:xfrm>
            <a:off x="5351165" y="5943600"/>
            <a:ext cx="5207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支付宝确认</a:t>
            </a:r>
            <a:endParaRPr/>
          </a:p>
        </p:txBody>
      </p:sp>
      <p:pic>
        <p:nvPicPr>
          <p:cNvPr id="80" name="slide-002-image-1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23286" y="5727700"/>
            <a:ext cx="1578372" cy="381000"/>
          </a:xfrm>
          <a:prstGeom prst="rect">
            <a:avLst/>
          </a:prstGeom>
        </p:spPr>
      </p:pic>
      <p:sp>
        <p:nvSpPr>
          <p:cNvPr id="81" name="文字 81"/>
          <p:cNvSpPr txBox="1"/>
          <p:nvPr/>
        </p:nvSpPr>
        <p:spPr>
          <a:xfrm>
            <a:off x="6967736" y="57912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查询状态</a:t>
            </a:r>
            <a:endParaRPr/>
          </a:p>
        </p:txBody>
      </p:sp>
      <p:sp>
        <p:nvSpPr>
          <p:cNvPr id="82" name="文字 82"/>
          <p:cNvSpPr txBox="1"/>
          <p:nvPr/>
        </p:nvSpPr>
        <p:spPr>
          <a:xfrm>
            <a:off x="6967736" y="5943600"/>
            <a:ext cx="520701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原订单恢复</a:t>
            </a:r>
            <a:endParaRPr/>
          </a:p>
        </p:txBody>
      </p:sp>
      <p:pic>
        <p:nvPicPr>
          <p:cNvPr id="83" name="slide-002-image-1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39758" y="5727700"/>
            <a:ext cx="1578472" cy="381000"/>
          </a:xfrm>
          <a:prstGeom prst="rect">
            <a:avLst/>
          </a:prstGeom>
        </p:spPr>
      </p:pic>
      <p:sp>
        <p:nvSpPr>
          <p:cNvPr id="84" name="文字 84"/>
          <p:cNvSpPr txBox="1"/>
          <p:nvPr/>
        </p:nvSpPr>
        <p:spPr>
          <a:xfrm>
            <a:off x="8584208" y="5791200"/>
            <a:ext cx="874216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fulfillment_proof</a:t>
            </a:r>
            <a:endParaRPr/>
          </a:p>
        </p:txBody>
      </p:sp>
      <p:sp>
        <p:nvSpPr>
          <p:cNvPr id="85" name="文字 85"/>
          <p:cNvSpPr txBox="1"/>
          <p:nvPr/>
        </p:nvSpPr>
        <p:spPr>
          <a:xfrm>
            <a:off x="8584208" y="5943600"/>
            <a:ext cx="6223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唯一下载地址</a:t>
            </a:r>
            <a:endParaRPr/>
          </a:p>
        </p:txBody>
      </p:sp>
      <p:pic>
        <p:nvPicPr>
          <p:cNvPr id="86" name="slide-002-image-1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56329" y="5727700"/>
            <a:ext cx="1578372" cy="381000"/>
          </a:xfrm>
          <a:prstGeom prst="rect">
            <a:avLst/>
          </a:prstGeom>
        </p:spPr>
      </p:pic>
      <p:sp>
        <p:nvSpPr>
          <p:cNvPr id="87" name="文字 87"/>
          <p:cNvSpPr txBox="1"/>
          <p:nvPr/>
        </p:nvSpPr>
        <p:spPr>
          <a:xfrm>
            <a:off x="10200779" y="5791200"/>
            <a:ext cx="45849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下载/解压</a:t>
            </a:r>
            <a:endParaRPr/>
          </a:p>
        </p:txBody>
      </p:sp>
      <p:sp>
        <p:nvSpPr>
          <p:cNvPr id="88" name="文字 88"/>
          <p:cNvSpPr txBox="1"/>
          <p:nvPr/>
        </p:nvSpPr>
        <p:spPr>
          <a:xfrm>
            <a:off x="10200779" y="5943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安装验证</a:t>
            </a:r>
            <a:endParaRPr/>
          </a:p>
        </p:txBody>
      </p:sp>
      <p:pic>
        <p:nvPicPr>
          <p:cNvPr id="89" name="slide-002-image-18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6184900"/>
            <a:ext cx="11277600" cy="393700"/>
          </a:xfrm>
          <a:prstGeom prst="rect">
            <a:avLst/>
          </a:prstGeom>
        </p:spPr>
      </p:pic>
      <p:sp>
        <p:nvSpPr>
          <p:cNvPr id="90" name="文字 90"/>
          <p:cNvSpPr txBox="1"/>
          <p:nvPr/>
        </p:nvSpPr>
        <p:spPr>
          <a:xfrm>
            <a:off x="457200" y="6267450"/>
            <a:ext cx="494903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402 支付</a:t>
            </a:r>
            <a:endParaRPr/>
          </a:p>
        </p:txBody>
      </p:sp>
      <p:sp>
        <p:nvSpPr>
          <p:cNvPr id="92" name="文字 92"/>
          <p:cNvSpPr txBox="1"/>
          <p:nvPr/>
        </p:nvSpPr>
        <p:spPr>
          <a:xfrm>
            <a:off x="3298825" y="6267450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云端交付</a:t>
            </a:r>
            <a:endParaRPr/>
          </a:p>
        </p:txBody>
      </p:sp>
      <p:sp>
        <p:nvSpPr>
          <p:cNvPr id="93" name="文字 93"/>
          <p:cNvSpPr txBox="1"/>
          <p:nvPr/>
        </p:nvSpPr>
        <p:spPr>
          <a:xfrm>
            <a:off x="3298825" y="6438900"/>
            <a:ext cx="9842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提供能力、不交原文</a:t>
            </a:r>
            <a:endParaRPr/>
          </a:p>
        </p:txBody>
      </p:sp>
      <p:sp>
        <p:nvSpPr>
          <p:cNvPr id="94" name="文字 94"/>
          <p:cNvSpPr txBox="1"/>
          <p:nvPr/>
        </p:nvSpPr>
        <p:spPr>
          <a:xfrm>
            <a:off x="6140450" y="6267450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安全保护</a:t>
            </a:r>
            <a:endParaRPr/>
          </a:p>
        </p:txBody>
      </p:sp>
      <p:sp>
        <p:nvSpPr>
          <p:cNvPr id="95" name="文字 95"/>
          <p:cNvSpPr txBox="1"/>
          <p:nvPr/>
        </p:nvSpPr>
        <p:spPr>
          <a:xfrm>
            <a:off x="6140450" y="6438900"/>
            <a:ext cx="9842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降低套取与复制风险</a:t>
            </a:r>
            <a:endParaRPr/>
          </a:p>
        </p:txBody>
      </p:sp>
      <p:sp>
        <p:nvSpPr>
          <p:cNvPr id="96" name="文字 96"/>
          <p:cNvSpPr txBox="1"/>
          <p:nvPr/>
        </p:nvSpPr>
        <p:spPr>
          <a:xfrm>
            <a:off x="8982075" y="6267450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商业经营</a:t>
            </a:r>
            <a:endParaRPr/>
          </a:p>
        </p:txBody>
      </p:sp>
      <p:sp>
        <p:nvSpPr>
          <p:cNvPr id="97" name="文字 97"/>
          <p:cNvSpPr txBox="1"/>
          <p:nvPr/>
        </p:nvSpPr>
        <p:spPr>
          <a:xfrm>
            <a:off x="8982075" y="6438900"/>
            <a:ext cx="87630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试用、订阅与履约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" name="文字 6"/>
          <p:cNvSpPr txBox="1"/>
          <p:nvPr/>
        </p:nvSpPr>
        <p:spPr>
          <a:xfrm>
            <a:off x="457200" y="308610"/>
            <a:ext cx="11247120" cy="368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2400" b="1">
                <a:latin typeface="微软雅黑"/>
              </a:defRPr>
            </a:pPr>
            <a:r>
              <a:rPr sz="2400" b="1" i="0" u="none" spc="0">
                <a:solidFill>
                  <a:srgbClr val="C7000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MachinePay：用 402 把每次 API 调用变成一笔可验证的交易</a:t>
            </a:r>
            <a:endParaRPr/>
          </a:p>
        </p:txBody>
      </p:sp>
      <p:sp>
        <p:nvSpPr>
          <p:cNvPr id="8" name="形状 8"/>
          <p:cNvSpPr/>
          <p:nvPr/>
        </p:nvSpPr>
        <p:spPr>
          <a:xfrm>
            <a:off x="457200" y="1022350"/>
            <a:ext cx="1787327" cy="215900"/>
          </a:xfrm>
          <a:prstGeom prst="roundRect">
            <a:avLst>
              <a:gd name="adj" fmla="val 11765"/>
            </a:avLst>
          </a:prstGeom>
          <a:solidFill>
            <a:srgbClr val="FDF0F1">
              <a:alpha val="100000"/>
            </a:srgbClr>
          </a:solidFill>
          <a:ln w="6350">
            <a:solidFill>
              <a:srgbClr val="EFC9CC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文字 9"/>
          <p:cNvSpPr txBox="1"/>
          <p:nvPr/>
        </p:nvSpPr>
        <p:spPr>
          <a:xfrm>
            <a:off x="539750" y="1066800"/>
            <a:ext cx="381595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① 报价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908645" y="1066800"/>
            <a:ext cx="1266031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 402 + Payment-Needed</a:t>
            </a:r>
            <a:endParaRPr/>
          </a:p>
        </p:txBody>
      </p:sp>
      <p:sp>
        <p:nvSpPr>
          <p:cNvPr id="11" name="形状 11"/>
          <p:cNvSpPr/>
          <p:nvPr/>
        </p:nvSpPr>
        <p:spPr>
          <a:xfrm>
            <a:off x="2308027" y="1022350"/>
            <a:ext cx="1602780" cy="215900"/>
          </a:xfrm>
          <a:prstGeom prst="roundRect">
            <a:avLst>
              <a:gd name="adj" fmla="val 11765"/>
            </a:avLst>
          </a:prstGeom>
          <a:solidFill>
            <a:srgbClr val="FDF0F1">
              <a:alpha val="100000"/>
            </a:srgbClr>
          </a:solidFill>
          <a:ln w="6350">
            <a:solidFill>
              <a:srgbClr val="EFC9CC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文字 12"/>
          <p:cNvSpPr txBox="1"/>
          <p:nvPr/>
        </p:nvSpPr>
        <p:spPr>
          <a:xfrm>
            <a:off x="2390577" y="1066800"/>
            <a:ext cx="381595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② 付款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2759472" y="1066800"/>
            <a:ext cx="1081484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 AI 付钱包 + 用户确认</a:t>
            </a:r>
            <a:endParaRPr/>
          </a:p>
        </p:txBody>
      </p:sp>
      <p:sp>
        <p:nvSpPr>
          <p:cNvPr id="14" name="形状 14"/>
          <p:cNvSpPr/>
          <p:nvPr/>
        </p:nvSpPr>
        <p:spPr>
          <a:xfrm>
            <a:off x="3974306" y="1022350"/>
            <a:ext cx="1523405" cy="215900"/>
          </a:xfrm>
          <a:prstGeom prst="roundRect">
            <a:avLst>
              <a:gd name="adj" fmla="val 11765"/>
            </a:avLst>
          </a:prstGeom>
          <a:solidFill>
            <a:srgbClr val="FDF0F1">
              <a:alpha val="100000"/>
            </a:srgbClr>
          </a:solidFill>
          <a:ln w="6350">
            <a:solidFill>
              <a:srgbClr val="EFC9CC">
                <a:alpha val="10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文字 15"/>
          <p:cNvSpPr txBox="1"/>
          <p:nvPr/>
        </p:nvSpPr>
        <p:spPr>
          <a:xfrm>
            <a:off x="4056856" y="1066800"/>
            <a:ext cx="381595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③ 验单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4425752" y="1066800"/>
            <a:ext cx="100211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 verify + fulfillment</a:t>
            </a:r>
            <a:endParaRPr/>
          </a:p>
        </p:txBody>
      </p:sp>
      <p:pic>
        <p:nvPicPr>
          <p:cNvPr id="17" name="slide-003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94669"/>
            <a:ext cx="11277600" cy="3449539"/>
          </a:xfrm>
          <a:prstGeom prst="rect">
            <a:avLst/>
          </a:prstGeom>
        </p:spPr>
      </p:pic>
      <p:pic>
        <p:nvPicPr>
          <p:cNvPr id="18" name="slide-003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788025"/>
            <a:ext cx="11277600" cy="803275"/>
          </a:xfrm>
          <a:prstGeom prst="rect">
            <a:avLst/>
          </a:prstGeom>
        </p:spPr>
      </p:pic>
      <p:sp>
        <p:nvSpPr>
          <p:cNvPr id="19" name="文字 19"/>
          <p:cNvSpPr txBox="1"/>
          <p:nvPr/>
        </p:nvSpPr>
        <p:spPr>
          <a:xfrm>
            <a:off x="457200" y="5864225"/>
            <a:ext cx="1761927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Payment-Needed（商家报价）</a:t>
            </a:r>
            <a:endParaRPr/>
          </a:p>
        </p:txBody>
      </p:sp>
      <p:sp>
        <p:nvSpPr>
          <p:cNvPr id="20" name="形状 20"/>
          <p:cNvSpPr/>
          <p:nvPr/>
        </p:nvSpPr>
        <p:spPr>
          <a:xfrm>
            <a:off x="457200" y="6035675"/>
            <a:ext cx="5791696" cy="361950"/>
          </a:xfrm>
          <a:prstGeom prst="roundRect">
            <a:avLst>
              <a:gd name="adj" fmla="val 7018"/>
            </a:avLst>
          </a:prstGeom>
          <a:solidFill>
            <a:srgbClr val="F4F5F7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1" name="文字 21"/>
          <p:cNvSpPr txBox="1"/>
          <p:nvPr/>
        </p:nvSpPr>
        <p:spPr>
          <a:xfrm>
            <a:off x="514350" y="6080125"/>
            <a:ext cx="504190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protocol: out_trade_no / amount / currency / resource_id / pay_before / seller_signature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6388596" y="5864225"/>
            <a:ext cx="2098973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Payment-Proof + verify（买家凭证）</a:t>
            </a:r>
            <a:endParaRPr/>
          </a:p>
        </p:txBody>
      </p:sp>
      <p:sp>
        <p:nvSpPr>
          <p:cNvPr id="25" name="形状 25"/>
          <p:cNvSpPr/>
          <p:nvPr/>
        </p:nvSpPr>
        <p:spPr>
          <a:xfrm>
            <a:off x="6388596" y="6035675"/>
            <a:ext cx="5346105" cy="219075"/>
          </a:xfrm>
          <a:prstGeom prst="roundRect">
            <a:avLst>
              <a:gd name="adj" fmla="val 11594"/>
            </a:avLst>
          </a:prstGeom>
          <a:solidFill>
            <a:srgbClr val="F4F5F7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26" name="文字 26"/>
          <p:cNvSpPr txBox="1"/>
          <p:nvPr/>
        </p:nvSpPr>
        <p:spPr>
          <a:xfrm>
            <a:off x="6445746" y="6080125"/>
            <a:ext cx="235585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payment_proof / trade_no / client_session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6388596" y="6292850"/>
            <a:ext cx="5350471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active=true · amount · out_trade_no · resource_id · trade_no 未重放 · pay_before；失败→402，成功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6388596" y="6451600"/>
            <a:ext cx="1459508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→200 + fulfillment.confirm。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6" name="文字 6"/>
          <p:cNvSpPr txBox="1"/>
          <p:nvPr/>
        </p:nvSpPr>
        <p:spPr>
          <a:xfrm>
            <a:off x="457200" y="308610"/>
            <a:ext cx="11247120" cy="387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2400" b="1">
                <a:latin typeface="微软雅黑"/>
              </a:defRPr>
            </a:pPr>
            <a:r>
              <a:rPr sz="2400" b="1" i="0" u="none" spc="0">
                <a:solidFill>
                  <a:srgbClr val="C7000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SkillPay vs MachinePay：商品化与计费化的分工</a:t>
            </a:r>
            <a:endParaRPr/>
          </a:p>
        </p:txBody>
      </p:sp>
      <p:graphicFrame>
        <p:nvGraphicFramePr>
          <p:cNvPr id="8" name="表格 8"/>
          <p:cNvGraphicFramePr/>
          <p:nvPr/>
        </p:nvGraphicFramePr>
        <p:xfrm>
          <a:off x="457200" y="1116211"/>
          <a:ext cx="11277600" cy="1890613"/>
        </p:xfrm>
        <a:graphic>
          <a:graphicData uri="http://schemas.openxmlformats.org/drawingml/2006/table">
            <a:tbl>
              <a:tblPr firstRow="0" bandRow="0"/>
              <a:tblGrid>
                <a:gridCol w="1689695"/>
                <a:gridCol w="4843860"/>
                <a:gridCol w="4731346"/>
              </a:tblGrid>
              <a:tr h="257175"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1" i="0" u="none" spc="-4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维度</a:t>
                      </a:r>
                      <a:endParaRPr/>
                    </a:p>
                  </a:txBody>
                  <a:tcPr marL="27432" marR="27432" marT="4572" marB="4572" anchor="ctr">
                    <a:lnL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B5333B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1" i="0" u="none" spc="-4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SkillPay</a:t>
                      </a:r>
                      <a:endParaRPr/>
                    </a:p>
                  </a:txBody>
                  <a:tcPr marL="27432" marR="27432" marT="4572" marB="4572" anchor="ctr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B5333B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1" i="0" u="none" spc="-4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MachinePay</a:t>
                      </a:r>
                      <a:endParaRPr/>
                    </a:p>
                  </a:txBody>
                  <a:tcPr marL="27432" marR="27432" marT="4572" marB="4572" anchor="ctr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B5333B">
                        <a:alpha val="100000"/>
                      </a:srgbClr>
                    </a:solidFill>
                  </a:tcPr>
                </a:tc>
              </a:tr>
              <a:tr h="231081"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1" i="0" u="none" spc="-40">
                          <a:solidFill>
                            <a:srgbClr val="1A1A1C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卖什么</a:t>
                      </a:r>
                      <a:endParaRPr/>
                    </a:p>
                  </a:txBody>
                  <a:tcPr marL="27432" marR="27432" marT="4572" marB="4572" anchor="t">
                    <a:lnL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u="none" spc="-40">
                          <a:solidFill>
                            <a:srgbClr val="1A1A1C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Skill 商品 / 权益（源码或云端使用权）</a:t>
                      </a:r>
                      <a:endParaRPr/>
                    </a:p>
                  </a:txBody>
                  <a:tcPr marL="27432" marR="27432" marT="4572" marB="4572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u="none" spc="-40">
                          <a:solidFill>
                            <a:srgbClr val="1A1A1C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API、MCP、算力等按次调用的资源</a:t>
                      </a:r>
                      <a:endParaRPr/>
                    </a:p>
                  </a:txBody>
                  <a:tcPr marL="27432" marR="27432" marT="4572" marB="4572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31080"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1" i="0" u="none" spc="-40">
                          <a:solidFill>
                            <a:srgbClr val="1A1A1C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计费单位</a:t>
                      </a:r>
                      <a:endParaRPr/>
                    </a:p>
                  </a:txBody>
                  <a:tcPr marL="27432" marR="27432" marT="4572" marB="4572" anchor="t">
                    <a:lnL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u="none" spc="-40">
                          <a:solidFill>
                            <a:srgbClr val="1A1A1C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一次性买断 / 周期订阅 / 免费试用</a:t>
                      </a:r>
                      <a:endParaRPr/>
                    </a:p>
                  </a:txBody>
                  <a:tcPr marL="27432" marR="27432" marT="4572" marB="4572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u="none" spc="-40">
                          <a:solidFill>
                            <a:srgbClr val="1A1A1C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每次调用独立定价，商家在 402 账单里报价</a:t>
                      </a:r>
                      <a:endParaRPr/>
                    </a:p>
                  </a:txBody>
                  <a:tcPr marL="27432" marR="27432" marT="4572" marB="4572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31080"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1" i="0" u="none" spc="-40">
                          <a:solidFill>
                            <a:srgbClr val="1A1A1C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触发方式</a:t>
                      </a:r>
                      <a:endParaRPr/>
                    </a:p>
                  </a:txBody>
                  <a:tcPr marL="27432" marR="27432" marT="4572" marB="4572" anchor="t">
                    <a:lnL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u="none" spc="-40">
                          <a:solidFill>
                            <a:srgbClr val="1A1A1C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任务中无有效权益 → 402 / 支付要求</a:t>
                      </a:r>
                      <a:endParaRPr/>
                    </a:p>
                  </a:txBody>
                  <a:tcPr marL="27432" marR="27432" marT="4572" marB="4572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u="none" spc="-40">
                          <a:solidFill>
                            <a:srgbClr val="1A1A1C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无 Payment-Proof → 402 + Payment-Needed</a:t>
                      </a:r>
                      <a:endParaRPr/>
                    </a:p>
                  </a:txBody>
                  <a:tcPr marL="27432" marR="27432" marT="4572" marB="4572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31080"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1" i="0" u="none" spc="-40">
                          <a:solidFill>
                            <a:srgbClr val="1A1A1C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交付物</a:t>
                      </a:r>
                      <a:endParaRPr/>
                    </a:p>
                  </a:txBody>
                  <a:tcPr marL="27432" marR="27432" marT="4572" marB="4572" anchor="t">
                    <a:lnL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u="none" spc="-40">
                          <a:solidFill>
                            <a:srgbClr val="1A1A1C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完整源码 zip（买断）或云端执行文本（订阅）</a:t>
                      </a:r>
                      <a:endParaRPr/>
                    </a:p>
                  </a:txBody>
                  <a:tcPr marL="27432" marR="27432" marT="4572" marB="4572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u="none" spc="-40">
                          <a:solidFill>
                            <a:srgbClr val="1A1A1C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API 结果；支付后返回资源并回传履约</a:t>
                      </a:r>
                      <a:endParaRPr/>
                    </a:p>
                  </a:txBody>
                  <a:tcPr marL="27432" marR="27432" marT="4572" marB="4572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31081"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1" i="0" u="none" spc="-40">
                          <a:solidFill>
                            <a:srgbClr val="1A1A1C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资金路径</a:t>
                      </a:r>
                      <a:endParaRPr/>
                    </a:p>
                  </a:txBody>
                  <a:tcPr marL="27432" marR="27432" marT="4572" marB="4572" anchor="t">
                    <a:lnL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u="none" spc="-40">
                          <a:solidFill>
                            <a:srgbClr val="1A1A1C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成交即到账开发者支付宝；退款开发者发起</a:t>
                      </a:r>
                      <a:endParaRPr/>
                    </a:p>
                  </a:txBody>
                  <a:tcPr marL="27432" marR="27432" marT="4572" marB="4572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u="none" spc="-40">
                          <a:solidFill>
                            <a:srgbClr val="1A1A1C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支付宝收单/结算到商家账户</a:t>
                      </a:r>
                      <a:endParaRPr/>
                    </a:p>
                  </a:txBody>
                  <a:tcPr marL="27432" marR="27432" marT="4572" marB="4572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31080"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1" i="0" u="none" spc="-40">
                          <a:solidFill>
                            <a:srgbClr val="1A1A1C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信任机制</a:t>
                      </a:r>
                      <a:endParaRPr/>
                    </a:p>
                  </a:txBody>
                  <a:tcPr marL="27432" marR="27432" marT="4572" marB="4572" anchor="t">
                    <a:lnL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u="none" spc="-40">
                          <a:solidFill>
                            <a:srgbClr val="1A1A1C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安全检测 + 云端保护 + 支付宝支付</a:t>
                      </a:r>
                      <a:endParaRPr/>
                    </a:p>
                  </a:txBody>
                  <a:tcPr marL="27432" marR="27432" marT="4572" marB="4572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u="none" spc="-40">
                          <a:solidFill>
                            <a:srgbClr val="1A1A1C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RSA2 签名 + verify + 防重放 + 履约回执</a:t>
                      </a:r>
                      <a:endParaRPr/>
                    </a:p>
                  </a:txBody>
                  <a:tcPr marL="27432" marR="27432" marT="4572" marB="4572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34255"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1" i="0" u="none" spc="-40">
                          <a:solidFill>
                            <a:srgbClr val="1A1A1C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关键风险</a:t>
                      </a:r>
                      <a:endParaRPr/>
                    </a:p>
                  </a:txBody>
                  <a:tcPr marL="27432" marR="27432" marT="4572" marB="4572" anchor="t">
                    <a:lnL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u="none" spc="-40">
                          <a:solidFill>
                            <a:srgbClr val="1A1A1C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云端保护非绝对；退款靠协商；订阅不自动续费</a:t>
                      </a:r>
                      <a:endParaRPr/>
                    </a:p>
                  </a:txBody>
                  <a:tcPr marL="27432" marR="27432" marT="4572" marB="4572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u="none" spc="-40">
                          <a:solidFill>
                            <a:srgbClr val="1A1A1C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 xml:space="preserve">金额/资源校验；结算/退款规则未公开；逐笔授权</a:t>
                      </a:r>
                      <a:endParaRPr/>
                    </a:p>
                  </a:txBody>
                  <a:tcPr marL="27432" marR="27432" marT="4572" marB="4572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9" name="slide-004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89374"/>
            <a:ext cx="2733675" cy="713581"/>
          </a:xfrm>
          <a:prstGeom prst="rect">
            <a:avLst/>
          </a:prstGeom>
        </p:spPr>
      </p:pic>
      <p:sp>
        <p:nvSpPr>
          <p:cNvPr id="10" name="文字 10"/>
          <p:cNvSpPr txBox="1"/>
          <p:nvPr/>
        </p:nvSpPr>
        <p:spPr>
          <a:xfrm>
            <a:off x="457200" y="3146524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01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457200" y="3305274"/>
            <a:ext cx="1790204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402 是收费握手，不是支付本身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457200" y="3495774"/>
            <a:ext cx="268138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它让机器读懂价格；真正的支付仍由 AI 付钱包与用户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457200" y="3655715"/>
            <a:ext cx="5842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确认完成。</a:t>
            </a:r>
            <a:endParaRPr/>
          </a:p>
        </p:txBody>
      </p:sp>
      <p:pic>
        <p:nvPicPr>
          <p:cNvPr id="14" name="slide-004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175" y="3089374"/>
            <a:ext cx="2733675" cy="713581"/>
          </a:xfrm>
          <a:prstGeom prst="rect">
            <a:avLst/>
          </a:prstGeom>
        </p:spPr>
      </p:pic>
      <p:sp>
        <p:nvSpPr>
          <p:cNvPr id="15" name="文字 15"/>
          <p:cNvSpPr txBox="1"/>
          <p:nvPr/>
        </p:nvSpPr>
        <p:spPr>
          <a:xfrm>
            <a:off x="3305175" y="3146524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02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3305175" y="3305274"/>
            <a:ext cx="1304925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SkillPay 卖“交付权”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3305175" y="3495774"/>
            <a:ext cx="26416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一次性源码或周期云端；核心是商品、试用、交付与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3305175" y="3655715"/>
            <a:ext cx="3556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退款。</a:t>
            </a:r>
            <a:endParaRPr/>
          </a:p>
        </p:txBody>
      </p:sp>
      <p:pic>
        <p:nvPicPr>
          <p:cNvPr id="19" name="slide-004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150" y="3089374"/>
            <a:ext cx="2733675" cy="713581"/>
          </a:xfrm>
          <a:prstGeom prst="rect">
            <a:avLst/>
          </a:prstGeom>
        </p:spPr>
      </p:pic>
      <p:sp>
        <p:nvSpPr>
          <p:cNvPr id="20" name="文字 20"/>
          <p:cNvSpPr txBox="1"/>
          <p:nvPr/>
        </p:nvSpPr>
        <p:spPr>
          <a:xfrm>
            <a:off x="6153150" y="3146524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03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6153150" y="3305274"/>
            <a:ext cx="16827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MachinePay 卖“按量调用”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6153150" y="3495774"/>
            <a:ext cx="26416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商家自签账单、按次计价；验单后交付，履约回执闭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6153150" y="3655715"/>
            <a:ext cx="2413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环。</a:t>
            </a:r>
            <a:endParaRPr/>
          </a:p>
        </p:txBody>
      </p:sp>
      <p:pic>
        <p:nvPicPr>
          <p:cNvPr id="24" name="slide-004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25" y="3089374"/>
            <a:ext cx="2733676" cy="713581"/>
          </a:xfrm>
          <a:prstGeom prst="rect">
            <a:avLst/>
          </a:prstGeom>
        </p:spPr>
      </p:pic>
      <p:sp>
        <p:nvSpPr>
          <p:cNvPr id="25" name="文字 25"/>
          <p:cNvSpPr txBox="1"/>
          <p:nvPr/>
        </p:nvSpPr>
        <p:spPr>
          <a:xfrm>
            <a:off x="9001125" y="3146524"/>
            <a:ext cx="127001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04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9001125" y="3305274"/>
            <a:ext cx="1028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壁垒在信任与结算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9001125" y="3495774"/>
            <a:ext cx="2729409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钱包绑定、RSA2、防重放、退款/争议；自主支付仍靠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9001125" y="3655715"/>
            <a:ext cx="984251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委托支付（邀测）。</a:t>
            </a:r>
            <a:endParaRPr/>
          </a:p>
        </p:txBody>
      </p:sp>
      <p:pic>
        <p:nvPicPr>
          <p:cNvPr id="29" name="slide-004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879156"/>
            <a:ext cx="3683000" cy="516731"/>
          </a:xfrm>
          <a:prstGeom prst="rect">
            <a:avLst/>
          </a:prstGeom>
        </p:spPr>
      </p:pic>
      <p:sp>
        <p:nvSpPr>
          <p:cNvPr id="30" name="文字 30"/>
          <p:cNvSpPr txBox="1"/>
          <p:nvPr/>
        </p:nvSpPr>
        <p:spPr>
          <a:xfrm>
            <a:off x="558800" y="3898206"/>
            <a:ext cx="852984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对 Skill 创作者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558800" y="4088706"/>
            <a:ext cx="3328293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定价 + 试用 + 交付 + 退款；用云端保护守住核心方法，而不是只卖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558800" y="4248646"/>
            <a:ext cx="528638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Prompt。</a:t>
            </a:r>
            <a:endParaRPr/>
          </a:p>
        </p:txBody>
      </p:sp>
      <p:pic>
        <p:nvPicPr>
          <p:cNvPr id="33" name="slide-004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500" y="3879156"/>
            <a:ext cx="3683000" cy="516731"/>
          </a:xfrm>
          <a:prstGeom prst="rect">
            <a:avLst/>
          </a:prstGeom>
        </p:spPr>
      </p:pic>
      <p:sp>
        <p:nvSpPr>
          <p:cNvPr id="34" name="文字 34"/>
          <p:cNvSpPr txBox="1"/>
          <p:nvPr/>
        </p:nvSpPr>
        <p:spPr>
          <a:xfrm>
            <a:off x="4356100" y="3898206"/>
            <a:ext cx="737493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对 API / 商家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4356100" y="4088706"/>
            <a:ext cx="3568998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把 402 当收费网关：先报价后交付；验单、防重放、履约回执一个不能</a:t>
            </a:r>
            <a:endParaRPr/>
          </a:p>
        </p:txBody>
      </p:sp>
      <p:sp>
        <p:nvSpPr>
          <p:cNvPr id="36" name="文字 36"/>
          <p:cNvSpPr txBox="1"/>
          <p:nvPr/>
        </p:nvSpPr>
        <p:spPr>
          <a:xfrm>
            <a:off x="4356100" y="4248646"/>
            <a:ext cx="2413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少。</a:t>
            </a:r>
            <a:endParaRPr/>
          </a:p>
        </p:txBody>
      </p:sp>
      <p:pic>
        <p:nvPicPr>
          <p:cNvPr id="37" name="slide-004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1800" y="3879156"/>
            <a:ext cx="3683000" cy="516731"/>
          </a:xfrm>
          <a:prstGeom prst="rect">
            <a:avLst/>
          </a:prstGeom>
        </p:spPr>
      </p:pic>
      <p:sp>
        <p:nvSpPr>
          <p:cNvPr id="38" name="文字 38"/>
          <p:cNvSpPr txBox="1"/>
          <p:nvPr/>
        </p:nvSpPr>
        <p:spPr>
          <a:xfrm>
            <a:off x="8153400" y="3898206"/>
            <a:ext cx="81409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微软雅黑"/>
              </a:defRPr>
            </a:pPr>
            <a:r>
              <a:rPr sz="1000" b="1" i="0" u="none" spc="-10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对 Agent 平台</a:t>
            </a:r>
            <a:endParaRPr/>
          </a:p>
        </p:txBody>
      </p:sp>
      <p:sp>
        <p:nvSpPr>
          <p:cNvPr id="39" name="文字 39"/>
          <p:cNvSpPr txBox="1"/>
          <p:nvPr/>
        </p:nvSpPr>
        <p:spPr>
          <a:xfrm>
            <a:off x="8153400" y="4088706"/>
            <a:ext cx="3532088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钱包绑定 + 逐笔授权 + 限额/委托 + 退款/争议；自主支付不是“静默扣</a:t>
            </a:r>
            <a:endParaRPr/>
          </a:p>
        </p:txBody>
      </p:sp>
      <p:sp>
        <p:nvSpPr>
          <p:cNvPr id="40" name="文字 40"/>
          <p:cNvSpPr txBox="1"/>
          <p:nvPr/>
        </p:nvSpPr>
        <p:spPr>
          <a:xfrm>
            <a:off x="8153400" y="4248646"/>
            <a:ext cx="3556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款”。</a:t>
            </a:r>
            <a:endParaRPr/>
          </a:p>
        </p:txBody>
      </p:sp>
      <p:pic>
        <p:nvPicPr>
          <p:cNvPr id="41" name="slide-004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472087"/>
            <a:ext cx="3683000" cy="436860"/>
          </a:xfrm>
          <a:prstGeom prst="rect">
            <a:avLst/>
          </a:prstGeom>
        </p:spPr>
      </p:pic>
      <p:sp>
        <p:nvSpPr>
          <p:cNvPr id="42" name="文字 42"/>
          <p:cNvSpPr txBox="1"/>
          <p:nvPr/>
        </p:nvSpPr>
        <p:spPr>
          <a:xfrm>
            <a:off x="558800" y="4541937"/>
            <a:ext cx="6159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账单即协议</a:t>
            </a:r>
            <a:endParaRPr/>
          </a:p>
        </p:txBody>
      </p:sp>
      <p:sp>
        <p:nvSpPr>
          <p:cNvPr id="43" name="文字 43"/>
          <p:cNvSpPr txBox="1"/>
          <p:nvPr/>
        </p:nvSpPr>
        <p:spPr>
          <a:xfrm>
            <a:off x="558800" y="4719737"/>
            <a:ext cx="2723654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价格、资源、过期时间与签名写进 402 响应，机器可读。</a:t>
            </a:r>
            <a:endParaRPr/>
          </a:p>
        </p:txBody>
      </p:sp>
      <p:pic>
        <p:nvPicPr>
          <p:cNvPr id="44" name="slide-004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4500" y="4472087"/>
            <a:ext cx="3683000" cy="436860"/>
          </a:xfrm>
          <a:prstGeom prst="rect">
            <a:avLst/>
          </a:prstGeom>
        </p:spPr>
      </p:pic>
      <p:sp>
        <p:nvSpPr>
          <p:cNvPr id="45" name="文字 45"/>
          <p:cNvSpPr txBox="1"/>
          <p:nvPr/>
        </p:nvSpPr>
        <p:spPr>
          <a:xfrm>
            <a:off x="4356100" y="4541937"/>
            <a:ext cx="6159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凭证即收据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4356100" y="4719737"/>
            <a:ext cx="27114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一次一证、验单后交付、履约回执；防重放与重复履约。</a:t>
            </a:r>
            <a:endParaRPr/>
          </a:p>
        </p:txBody>
      </p:sp>
      <p:pic>
        <p:nvPicPr>
          <p:cNvPr id="47" name="slide-004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1800" y="4472087"/>
            <a:ext cx="3683000" cy="436860"/>
          </a:xfrm>
          <a:prstGeom prst="rect">
            <a:avLst/>
          </a:prstGeom>
        </p:spPr>
      </p:pic>
      <p:sp>
        <p:nvSpPr>
          <p:cNvPr id="48" name="文字 48"/>
          <p:cNvSpPr txBox="1"/>
          <p:nvPr/>
        </p:nvSpPr>
        <p:spPr>
          <a:xfrm>
            <a:off x="8153400" y="4541937"/>
            <a:ext cx="6159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权益即商品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8153400" y="4719737"/>
            <a:ext cx="2364283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买断/订阅/试用都必须有明确交付物与退款出口。</a:t>
            </a:r>
            <a:endParaRPr/>
          </a:p>
        </p:txBody>
      </p:sp>
      <p:pic>
        <p:nvPicPr>
          <p:cNvPr id="50" name="slide-004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6356350"/>
            <a:ext cx="11277600" cy="222250"/>
          </a:xfrm>
          <a:prstGeom prst="rect">
            <a:avLst/>
          </a:prstGeom>
        </p:spPr>
      </p:pic>
      <p:sp>
        <p:nvSpPr>
          <p:cNvPr id="51" name="文字 51"/>
          <p:cNvSpPr txBox="1"/>
          <p:nvPr/>
        </p:nvSpPr>
        <p:spPr>
          <a:xfrm>
            <a:off x="457200" y="6432550"/>
            <a:ext cx="4699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1A1A1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待回答：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1028700" y="6432550"/>
            <a:ext cx="74334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平台佣金/费率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1873647" y="6432550"/>
            <a:ext cx="5842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退款与争议</a:t>
            </a:r>
            <a:endParaRPr/>
          </a:p>
        </p:txBody>
      </p:sp>
      <p:sp>
        <p:nvSpPr>
          <p:cNvPr id="54" name="文字 54"/>
          <p:cNvSpPr txBox="1"/>
          <p:nvPr/>
        </p:nvSpPr>
        <p:spPr>
          <a:xfrm>
            <a:off x="2559447" y="6432550"/>
            <a:ext cx="5842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跨境与合规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3245247" y="6432550"/>
            <a:ext cx="917774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Agent 限额与责任</a:t>
            </a:r>
            <a:endParaRPr/>
          </a:p>
        </p:txBody>
      </p:sp>
      <p:sp>
        <p:nvSpPr>
          <p:cNvPr id="56" name="文字 56"/>
          <p:cNvSpPr txBox="1"/>
          <p:nvPr/>
        </p:nvSpPr>
        <p:spPr>
          <a:xfrm>
            <a:off x="4264620" y="6432550"/>
            <a:ext cx="723106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 xml:space="preserve">Skill 质量评测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308610"/>
            <a:ext cx="11216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7000B"/>
                </a:solidFill>
                <a:latin typeface="微软雅黑"/>
                <a:ea typeface="微软雅黑"/>
                <a:cs typeface="微软雅黑"/>
              </a:rPr>
              <a:t>两个平台的商业化：阿里卖商品权益，腾讯连付费服务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680" y="925830"/>
          <a:ext cx="12192000" cy="298323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06880"/>
                <a:gridCol w="5242560"/>
                <a:gridCol w="5242560"/>
              </a:tblGrid>
              <a:tr h="37719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 marL="36576" marR="36576" marT="18288" marB="18288" anchor="ctr">
                    <a:solidFill>
                      <a:srgbClr val="B5333B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阿里：SkillPay + MachinePay</a:t>
                      </a:r>
                    </a:p>
                  </a:txBody>
                  <a:tcPr marL="36576" marR="36576" marT="18288" marB="18288" anchor="ctr">
                    <a:solidFill>
                      <a:srgbClr val="B5333B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腾讯：SkillHub SkillPay</a:t>
                      </a:r>
                    </a:p>
                  </a:txBody>
                  <a:tcPr marL="36576" marR="36576" marT="18288" marB="18288" anchor="ctr">
                    <a:solidFill>
                      <a:srgbClr val="B5333B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卖什么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Skill 商品/权益：买断源码、订阅云端；MachinePay 按次 API / MCP 资源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Skill 包负责发现与调用；远程服务按次收费，如 WorkRally 0.36 元/次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平台角色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商品化、试用/版本/权益、402 支付、云端保护、退款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企业认证、商户绑定、开发者签名、定价审核、分发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交易与履约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402 报价 → 付款凭证 → 验付 → 履约回执；商户做幂等与业务核对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微信订单 → AI 支付码 → payment_code → payment_id；商户验付后交付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收入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开发者定价、资金直达；平台费率未公开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平台技术服务费暂免；服务商从远程服务变现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值得借鉴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先定义购买权益与交付形态，再做试用、续购与持续更新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保留低门槛安装入口，把收费放在持续服务端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87680" y="4217670"/>
            <a:ext cx="3535679" cy="12001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3984" y="4299966"/>
            <a:ext cx="3243071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阿里：商品经营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984" y="4526280"/>
            <a:ext cx="3243071" cy="788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买断 / 订阅 / 试用 / 退款 + 402 验付；强在权益与交付；平台费率未公开。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7200" y="4217670"/>
            <a:ext cx="3535679" cy="12001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3504" y="4299966"/>
            <a:ext cx="3243071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腾讯：服务入口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3504" y="4526280"/>
            <a:ext cx="3243071" cy="788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免费包 + 远程按次 + 微信支付；强在分发与商户连接；平台技术服务费暂免。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217670"/>
            <a:ext cx="3535679" cy="12001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4299966"/>
            <a:ext cx="3243071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共同待解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3024" y="4526280"/>
            <a:ext cx="3243071" cy="788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费率、结算、退款、质量；公开信息不足，需按协议核实；不要把示例当全量。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680" y="5589270"/>
            <a:ext cx="1121664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一句话：阿里把 Skill 变成商品，腾讯把 Skill 变成付费服务的入口。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680" y="5932170"/>
            <a:ext cx="54864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判断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96" y="5932170"/>
            <a:ext cx="10607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阿里证明 Skill 可以商品化，腾讯证明 Skill 可以服务化；智果园要选一条能对账的路径。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308610"/>
            <a:ext cx="11216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7000B"/>
                </a:solidFill>
                <a:latin typeface="微软雅黑"/>
                <a:ea typeface="微软雅黑"/>
                <a:cs typeface="微软雅黑"/>
              </a:rPr>
              <a:t>对智果园的启示：补商业编排，而不是再堆资产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6720" y="960120"/>
            <a:ext cx="5486400" cy="14401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7408" y="1042416"/>
            <a:ext cx="34137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68" y="1042416"/>
            <a:ext cx="47548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先定义卖什么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7408" y="1337310"/>
            <a:ext cx="5145024" cy="925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买断、订阅、按次三种形态并存；商品是权益，不是文件；先定 SKU、价格、许可与版本；试用、续购、更新要连成经营。先做一个可售 SKU 试点，再扩品类。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880" y="960120"/>
            <a:ext cx="5486400" cy="14401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9568" y="1042416"/>
            <a:ext cx="34137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5328" y="1042416"/>
            <a:ext cx="47548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把交易接进任务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9568" y="1337310"/>
            <a:ext cx="5145024" cy="925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402/支付凭证/验付/履约，或微信支付码/回调；支付成功 ≠ 交付成功；重试不重复扣费；已付未交付可恢复。把支付、权益、履约写成状态机。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20" y="2571750"/>
            <a:ext cx="5486400" cy="14401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7408" y="2654046"/>
            <a:ext cx="34137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3168" y="2654046"/>
            <a:ext cx="47548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平台做可信中介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408" y="2948940"/>
            <a:ext cx="5145024" cy="925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企业认证、开发者签名、版本/许可、退款/争议；上架补质量与收费测试；订单、收益、退款要能对账。把作者收益、退款、申诉产品化。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880" y="2571750"/>
            <a:ext cx="5486400" cy="14401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9568" y="2654046"/>
            <a:ext cx="34137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5328" y="2654046"/>
            <a:ext cx="47548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智果园的差异化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9568" y="2948940"/>
            <a:ext cx="5145024" cy="925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复用 AI 资产广场供给 + CodeArts Agent 宿主；先做行业标杆，不追规模；首期免费入口 + 付费远程能力。先用 3–5 个行业标杆验证。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6720" y="4354830"/>
            <a:ext cx="11338560" cy="92583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2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4437126"/>
            <a:ext cx="1950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首期路径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629150"/>
            <a:ext cx="16459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发现 / 安装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4793742"/>
            <a:ext cx="16459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免费 Skill 入口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279904" y="4766310"/>
            <a:ext cx="121920" cy="68580"/>
          </a:xfrm>
          <a:prstGeom prst="rightArrow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14016" y="4629150"/>
            <a:ext cx="16459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绑定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4793742"/>
            <a:ext cx="16459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资产 / 版本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084320" y="4766310"/>
            <a:ext cx="121920" cy="68580"/>
          </a:xfrm>
          <a:prstGeom prst="rightArrow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18432" y="4629150"/>
            <a:ext cx="16459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试用 / 购买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18432" y="4793742"/>
            <a:ext cx="16459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商品 / 订单 / 买家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888736" y="4766310"/>
            <a:ext cx="121920" cy="68580"/>
          </a:xfrm>
          <a:prstGeom prst="rightArrow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22847" y="4629150"/>
            <a:ext cx="16459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服务端验权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22847" y="4793742"/>
            <a:ext cx="16459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限额 / 有效期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693151" y="4766310"/>
            <a:ext cx="121920" cy="68580"/>
          </a:xfrm>
          <a:prstGeom prst="rightArrow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27264" y="4629150"/>
            <a:ext cx="16459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执行 / 计量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27264" y="4793742"/>
            <a:ext cx="16459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同一任务一次消费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497568" y="4766310"/>
            <a:ext cx="121920" cy="68580"/>
          </a:xfrm>
          <a:prstGeom prst="rightArrow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31680" y="4629150"/>
            <a:ext cx="16459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交付 / 对账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1680" y="4793742"/>
            <a:ext cx="16459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恢复 / 补偿 / 售后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7680" y="5520690"/>
            <a:ext cx="112166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首期建议：免费 Skill 入口 + 付费远程能力，先跑通一条可对账的交易闭环。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7680" y="5897880"/>
            <a:ext cx="11216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16B"/>
                </a:solidFill>
                <a:latin typeface="微软雅黑"/>
                <a:ea typeface="微软雅黑"/>
                <a:cs typeface="微软雅黑"/>
              </a:rPr>
              <a:t>验收以付费任务履约为准：重复请求不重复扣费，已付未交付可恢复，退款与权益、账单一致。</a:t>
            </a:r>
          </a:p>
        </p:txBody>
      </p:sp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Skill 资产与商业化研究合集 v1（旅程版）</dc:title>
  <cp:lastModifiedBy>python-pptx</cp:lastModifiedBy>
  <cp:revision>1</cp:revision>
  <dcterms:modified xsi:type="dcterms:W3CDTF">2026-10-20T01:37:13Z</dcterms:modified>
  <dc:subject>魔搭 / SkillHub / SkillPay / 支付宝 / 智果园</dc:subject>
</cp:coreProperties>
</file>