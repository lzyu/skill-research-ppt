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ns2="http://schemas.microsoft.com/office/powerpoint/2010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ns2:creationId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Relationship Id="rId12" Type="http://schemas.openxmlformats.org/officeDocument/2006/relationships/image" Target="../media/image16.png"/><Relationship Id="rId13" Type="http://schemas.openxmlformats.org/officeDocument/2006/relationships/image" Target="../media/image17.png"/><Relationship Id="rId14" Type="http://schemas.openxmlformats.org/officeDocument/2006/relationships/image" Target="../media/image18.png"/><Relationship Id="rId15" Type="http://schemas.openxmlformats.org/officeDocument/2006/relationships/image" Target="../media/image19.png"/><Relationship Id="rId1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Relationship Id="rId9" Type="http://schemas.openxmlformats.org/officeDocument/2006/relationships/image" Target="../media/image25.png"/><Relationship Id="rId10" Type="http://schemas.openxmlformats.org/officeDocument/2006/relationships/image" Target="../media/image26.png"/><Relationship Id="rId11" Type="http://schemas.openxmlformats.org/officeDocument/2006/relationships/image" Target="../media/image27.png"/><Relationship Id="rId12" Type="http://schemas.openxmlformats.org/officeDocument/2006/relationships/image" Target="../media/image28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7.png"/><Relationship Id="rId18" Type="http://schemas.openxmlformats.org/officeDocument/2006/relationships/image" Target="../media/image18.png"/><Relationship Id="rId19" Type="http://schemas.openxmlformats.org/officeDocument/2006/relationships/image" Target="../media/image19.png"/><Relationship Id="rId20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image" Target="../media/image39.png"/><Relationship Id="rId13" Type="http://schemas.openxmlformats.org/officeDocument/2006/relationships/image" Target="../media/image40.png"/><Relationship Id="rId14" Type="http://schemas.openxmlformats.org/officeDocument/2006/relationships/image" Target="../media/image41.png"/><Relationship Id="rId15" Type="http://schemas.openxmlformats.org/officeDocument/2006/relationships/image" Target="../media/image42.png"/><Relationship Id="rId16" Type="http://schemas.openxmlformats.org/officeDocument/2006/relationships/image" Target="../media/image43.png"/><Relationship Id="rId17" Type="http://schemas.openxmlformats.org/officeDocument/2006/relationships/image" Target="../media/image44.png"/><Relationship Id="rId18" Type="http://schemas.openxmlformats.org/officeDocument/2006/relationships/image" Target="../media/image45.png"/><Relationship Id="rId19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image" Target="../media/image59.png"/><Relationship Id="rId16" Type="http://schemas.openxmlformats.org/officeDocument/2006/relationships/image" Target="../media/image60.png"/><Relationship Id="rId17" Type="http://schemas.openxmlformats.org/officeDocument/2006/relationships/image" Target="../media/image61.png"/><Relationship Id="rId18" Type="http://schemas.openxmlformats.org/officeDocument/2006/relationships/image" Target="../media/image62.png"/><Relationship Id="rId19" Type="http://schemas.openxmlformats.org/officeDocument/2006/relationships/image" Target="../media/image63.png"/><Relationship Id="rId20" Type="http://schemas.openxmlformats.org/officeDocument/2006/relationships/image" Target="../media/image64.png"/><Relationship Id="rId21" Type="http://schemas.openxmlformats.org/officeDocument/2006/relationships/image" Target="../media/image65.png"/><Relationship Id="rId22" Type="http://schemas.openxmlformats.org/officeDocument/2006/relationships/image" Target="../media/image66.png"/><Relationship Id="rId23" Type="http://schemas.openxmlformats.org/officeDocument/2006/relationships/image" Target="../media/image67.png"/><Relationship Id="rId24" Type="http://schemas.openxmlformats.org/officeDocument/2006/relationships/image" Target="../media/image68.png"/><Relationship Id="rId25" Type="http://schemas.openxmlformats.org/officeDocument/2006/relationships/image" Target="../media/image69.png"/><Relationship Id="rId26" Type="http://schemas.openxmlformats.org/officeDocument/2006/relationships/image" Target="../media/image70.png"/><Relationship Id="rId27" Type="http://schemas.openxmlformats.org/officeDocument/2006/relationships/image" Target="../media/image71.png"/><Relationship Id="rId28" Type="http://schemas.openxmlformats.org/officeDocument/2006/relationships/image" Target="../media/image72.png"/><Relationship Id="rId29" Type="http://schemas.openxmlformats.org/officeDocument/2006/relationships/image" Target="../media/image73.png"/><Relationship Id="rId30" Type="http://schemas.openxmlformats.org/officeDocument/2006/relationships/image" Target="../media/image74.png"/><Relationship Id="rId31" Type="http://schemas.openxmlformats.org/officeDocument/2006/relationships/image" Target="../media/image75.png"/><Relationship Id="rId32" Type="http://schemas.openxmlformats.org/officeDocument/2006/relationships/image" Target="../media/image76.png"/><Relationship Id="rId33" Type="http://schemas.openxmlformats.org/officeDocument/2006/relationships/image" Target="../media/image77.png"/><Relationship Id="rId34" Type="http://schemas.openxmlformats.org/officeDocument/2006/relationships/image" Target="../media/image78.png"/><Relationship Id="rId35" Type="http://schemas.openxmlformats.org/officeDocument/2006/relationships/image" Target="../media/image79.png"/><Relationship Id="rId36" Type="http://schemas.openxmlformats.org/officeDocument/2006/relationships/image" Target="../media/image8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1.png"/><Relationship Id="rId3" Type="http://schemas.openxmlformats.org/officeDocument/2006/relationships/image" Target="../media/image82.png"/><Relationship Id="rId4" Type="http://schemas.openxmlformats.org/officeDocument/2006/relationships/image" Target="../media/image83.png"/><Relationship Id="rId5" Type="http://schemas.openxmlformats.org/officeDocument/2006/relationships/image" Target="../media/image84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Relationship Id="rId1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8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5.png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Relationship Id="rId19" Type="http://schemas.openxmlformats.org/officeDocument/2006/relationships/image" Target="../media/image122.png"/><Relationship Id="rId20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Relationship Id="rId4" Type="http://schemas.openxmlformats.org/officeDocument/2006/relationships/image" Target="../media/image125.png"/><Relationship Id="rId5" Type="http://schemas.openxmlformats.org/officeDocument/2006/relationships/image" Target="../media/image126.png"/><Relationship Id="rId6" Type="http://schemas.openxmlformats.org/officeDocument/2006/relationships/image" Target="../media/image127.png"/><Relationship Id="rId7" Type="http://schemas.openxmlformats.org/officeDocument/2006/relationships/image" Target="../media/image128.png"/><Relationship Id="rId8" Type="http://schemas.openxmlformats.org/officeDocument/2006/relationships/image" Target="../media/image129.png"/><Relationship Id="rId9" Type="http://schemas.openxmlformats.org/officeDocument/2006/relationships/image" Target="../media/image130.png"/><Relationship Id="rId10" Type="http://schemas.openxmlformats.org/officeDocument/2006/relationships/image" Target="../media/image131.png"/><Relationship Id="rId11" Type="http://schemas.openxmlformats.org/officeDocument/2006/relationships/image" Target="../media/image132.png"/><Relationship Id="rId12" Type="http://schemas.openxmlformats.org/officeDocument/2006/relationships/image" Target="../media/image133.png"/><Relationship Id="rId1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4.png"/><Relationship Id="rId3" Type="http://schemas.openxmlformats.org/officeDocument/2006/relationships/image" Target="../media/image135.png"/><Relationship Id="rId4" Type="http://schemas.openxmlformats.org/officeDocument/2006/relationships/image" Target="../media/image136.png"/><Relationship Id="rId5" Type="http://schemas.openxmlformats.org/officeDocument/2006/relationships/image" Target="../media/image137.png"/><Relationship Id="rId6" Type="http://schemas.openxmlformats.org/officeDocument/2006/relationships/image" Target="../media/image138.png"/><Relationship Id="rId7" Type="http://schemas.openxmlformats.org/officeDocument/2006/relationships/image" Target="../media/image139.png"/><Relationship Id="rId8" Type="http://schemas.openxmlformats.org/officeDocument/2006/relationships/image" Target="../media/image140.png"/><Relationship Id="rId9" Type="http://schemas.openxmlformats.org/officeDocument/2006/relationships/image" Target="../media/image141.png"/><Relationship Id="rId10" Type="http://schemas.openxmlformats.org/officeDocument/2006/relationships/image" Target="../media/image142.png"/><Relationship Id="rId11" Type="http://schemas.openxmlformats.org/officeDocument/2006/relationships/image" Target="../media/image143.png"/><Relationship Id="rId12" Type="http://schemas.openxmlformats.org/officeDocument/2006/relationships/image" Target="../media/image144.png"/><Relationship Id="rId13" Type="http://schemas.openxmlformats.org/officeDocument/2006/relationships/image" Target="../media/image145.png"/><Relationship Id="rId14" Type="http://schemas.openxmlformats.org/officeDocument/2006/relationships/image" Target="../media/image14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7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5.png"/><Relationship Id="rId3" Type="http://schemas.openxmlformats.org/officeDocument/2006/relationships/image" Target="../media/image16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7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Relationship Id="rId5" Type="http://schemas.openxmlformats.org/officeDocument/2006/relationships/image" Target="../media/image170.png"/><Relationship Id="rId6" Type="http://schemas.openxmlformats.org/officeDocument/2006/relationships/image" Target="../media/image171.png"/><Relationship Id="rId7" Type="http://schemas.openxmlformats.org/officeDocument/2006/relationships/image" Target="../media/image172.png"/><Relationship Id="rId8" Type="http://schemas.openxmlformats.org/officeDocument/2006/relationships/image" Target="../media/image173.png"/><Relationship Id="rId9" Type="http://schemas.openxmlformats.org/officeDocument/2006/relationships/image" Target="../media/image174.png"/><Relationship Id="rId10" Type="http://schemas.openxmlformats.org/officeDocument/2006/relationships/image" Target="../media/image175.png"/><Relationship Id="rId11" Type="http://schemas.openxmlformats.org/officeDocument/2006/relationships/image" Target="../media/image176.png"/><Relationship Id="rId12" Type="http://schemas.openxmlformats.org/officeDocument/2006/relationships/image" Target="../media/image17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508000" y="311150"/>
            <a:ext cx="2959398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162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MODELSCOPE SKILLS CENTER / 生态洞察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508000" y="527050"/>
            <a:ext cx="7727057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魔搭 Skills 中心：8.35 万技能撑起四层框架，验证闭环仍缺一环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08000" y="932160"/>
            <a:ext cx="73945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 是模型与 Agent 之间的方法资产层。魔搭已跑通来源、发布、安装与多宿主消费，但技能级试运行与质量信号仍未成形。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10534849" y="330200"/>
            <a:ext cx="1161851" cy="107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78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 · 公开数据快照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10508457" y="476250"/>
            <a:ext cx="1188243" cy="107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52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国际站 328 · 样本 2,400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0498535" y="609600"/>
            <a:ext cx="1198166" cy="107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52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来源：OpenAPI / 官方文档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508000" y="1207691"/>
            <a:ext cx="11176001" cy="531416"/>
          </a:xfrm>
          <a:prstGeom prst="roundRect">
            <a:avLst>
              <a:gd name="adj" fmla="val 1433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pic>
        <p:nvPicPr>
          <p:cNvPr id="12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214041"/>
            <a:ext cx="2790825" cy="518716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641350" y="1258491"/>
            <a:ext cx="78998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83,509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41350" y="1542256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技能总数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1214041"/>
            <a:ext cx="2790825" cy="518716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3432175" y="1258491"/>
            <a:ext cx="660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30.9%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432175" y="1542256"/>
            <a:ext cx="5842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聚合镜像占比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214041"/>
            <a:ext cx="2790825" cy="518716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6223000" y="1258491"/>
            <a:ext cx="530919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0.4%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6223000" y="1542256"/>
            <a:ext cx="1007864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平台官方占比 · 阿里系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9013825" y="1258491"/>
            <a:ext cx="66040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7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65.9%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9013825" y="1542256"/>
            <a:ext cx="91271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Top1% 技能下载占比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08000" y="1872456"/>
            <a:ext cx="2152352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119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 · 资产定位与结构 / 4 LAYERS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508000" y="2062956"/>
            <a:ext cx="3660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 不是模型，也不是 Agent 运行时；它是可加载的方法层。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08000" y="2253258"/>
            <a:ext cx="1577876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 层为分析框架，非 ModelScope 官方定义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508000" y="2424013"/>
            <a:ext cx="3743524" cy="720626"/>
          </a:xfrm>
          <a:prstGeom prst="roundRect">
            <a:avLst>
              <a:gd name="adj" fmla="val 105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27" name="文字 27"/>
          <p:cNvSpPr txBox="1"/>
          <p:nvPr/>
        </p:nvSpPr>
        <p:spPr>
          <a:xfrm>
            <a:off x="670520" y="273982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L4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20750" y="25958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应用交付层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733550" y="2646660"/>
            <a:ext cx="59382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创空间 17.3k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20750" y="2811760"/>
            <a:ext cx="27273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调用 Skill 完成任务；实验场可直接对话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201789"/>
            <a:ext cx="3743524" cy="720725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689570" y="351770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L3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39800" y="337373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方法资产层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1752600" y="3424535"/>
            <a:ext cx="538857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Skills 83.5k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2380357" y="3430885"/>
            <a:ext cx="4889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核心资产层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39800" y="3589635"/>
            <a:ext cx="24426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SKILL.md + scripts + references + assets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508000" y="3979664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38" name="文字 38"/>
          <p:cNvSpPr txBox="1"/>
          <p:nvPr/>
        </p:nvSpPr>
        <p:spPr>
          <a:xfrm>
            <a:off x="670520" y="4295577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L2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920750" y="415161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工具连接层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733550" y="4202410"/>
            <a:ext cx="500559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MCP 12.7k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920750" y="4367510"/>
            <a:ext cx="24319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把外部工具与模型服务接进 Agent 运行时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508000" y="4757539"/>
            <a:ext cx="3743524" cy="720725"/>
          </a:xfrm>
          <a:prstGeom prst="roundRect">
            <a:avLst>
              <a:gd name="adj" fmla="val 1057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43" name="文字 43"/>
          <p:cNvSpPr txBox="1"/>
          <p:nvPr/>
        </p:nvSpPr>
        <p:spPr>
          <a:xfrm>
            <a:off x="670520" y="5073452"/>
            <a:ext cx="1194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1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L1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920750" y="4929485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基础资源层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1733550" y="4980285"/>
            <a:ext cx="119201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模型 273k · 数据集 44.7k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920750" y="5145385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模型与数据，提供能力原料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391224" y="1872456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119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 · 资产消费 / 4 环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391224" y="2062956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来源、发布、消费已通；试运行有入口、无沙箱。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391224" y="2310408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50" name="文字 50"/>
          <p:cNvSpPr txBox="1"/>
          <p:nvPr/>
        </p:nvSpPr>
        <p:spPr>
          <a:xfrm>
            <a:off x="4438154" y="2351683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683324" y="2310408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5026224" y="2367558"/>
            <a:ext cx="386159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7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SOURCE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83324" y="2517378"/>
            <a:ext cx="23135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GitHub 占 74% · 6 月批量入库占 47%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683324" y="2707680"/>
            <a:ext cx="26742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source_url 关联原作；官方仓库提供 ms-hub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4391224" y="3105547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56" name="文字 56"/>
          <p:cNvSpPr txBox="1"/>
          <p:nvPr/>
        </p:nvSpPr>
        <p:spPr>
          <a:xfrm>
            <a:off x="4438154" y="3146822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683324" y="3105547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发布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5026224" y="3162697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7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PUBLISH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683324" y="3312517"/>
            <a:ext cx="12467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上传 zip → 创建 Skill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683324" y="3502819"/>
            <a:ext cx="21057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根目录仅 1 个 SKILL.md、≤5MB；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683324" y="3686770"/>
            <a:ext cx="123715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owner/name 不可改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4391224" y="3900686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63" name="文字 63"/>
          <p:cNvSpPr txBox="1"/>
          <p:nvPr/>
        </p:nvSpPr>
        <p:spPr>
          <a:xfrm>
            <a:off x="4438154" y="3941961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683324" y="3900686"/>
            <a:ext cx="3048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消费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026224" y="3957836"/>
            <a:ext cx="44837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7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CONSUME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683324" y="4107656"/>
            <a:ext cx="183147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npx / curl / CLI / SDK 四种方式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683324" y="4297958"/>
            <a:ext cx="2361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装到 ~/.agents/skills；Cursor、Claude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683324" y="4481910"/>
            <a:ext cx="12855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Code、Codex 可发现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391224" y="4695825"/>
            <a:ext cx="215900" cy="215900"/>
          </a:xfrm>
          <a:prstGeom prst="ellipse">
            <a:avLst/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70" name="文字 70"/>
          <p:cNvSpPr txBox="1"/>
          <p:nvPr/>
        </p:nvSpPr>
        <p:spPr>
          <a:xfrm>
            <a:off x="4438154" y="473710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683324" y="4695825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试运行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5172274" y="4752975"/>
            <a:ext cx="199430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 u="none" spc="7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TRY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683324" y="4902795"/>
            <a:ext cx="25653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详情页「前往实验场试用」→ Agent 实验场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4683324" y="5093097"/>
            <a:ext cx="248245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需登录；MCP 有实验场，Skill 侧没有沙箱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606110" y="1872456"/>
            <a:ext cx="2361704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119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 · 生态画像 / 规模 · 供给 · 消费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606110" y="2062956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开发者工具供给最厚，官方与垂直供给最薄。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606110" y="230405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一级分类供给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656491" y="2342158"/>
            <a:ext cx="104021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共 10 类 · Top3 占 66%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606110" y="25390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开发工具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330010" y="25644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</p:sp>
      <p:sp>
        <p:nvSpPr>
          <p:cNvPr id="81" name="形状 81"/>
          <p:cNvSpPr/>
          <p:nvPr/>
        </p:nvSpPr>
        <p:spPr>
          <a:xfrm>
            <a:off x="8330010" y="2564408"/>
            <a:ext cx="2896790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82" name="文字 82"/>
          <p:cNvSpPr txBox="1"/>
          <p:nvPr/>
        </p:nvSpPr>
        <p:spPr>
          <a:xfrm>
            <a:off x="11290300" y="25326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27,928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606110" y="27549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代码质检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330010" y="27803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</p:sp>
      <p:sp>
        <p:nvSpPr>
          <p:cNvPr id="85" name="形状 85"/>
          <p:cNvSpPr/>
          <p:nvPr/>
        </p:nvSpPr>
        <p:spPr>
          <a:xfrm>
            <a:off x="8330010" y="2780308"/>
            <a:ext cx="1748135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86" name="文字 86"/>
          <p:cNvSpPr txBox="1"/>
          <p:nvPr/>
        </p:nvSpPr>
        <p:spPr>
          <a:xfrm>
            <a:off x="11290300" y="27485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16,854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606110" y="29708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媒体处理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8330010" y="29962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</p:sp>
      <p:sp>
        <p:nvSpPr>
          <p:cNvPr id="89" name="形状 89"/>
          <p:cNvSpPr/>
          <p:nvPr/>
        </p:nvSpPr>
        <p:spPr>
          <a:xfrm>
            <a:off x="8330010" y="2996208"/>
            <a:ext cx="109606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90" name="文字 90"/>
          <p:cNvSpPr txBox="1"/>
          <p:nvPr/>
        </p:nvSpPr>
        <p:spPr>
          <a:xfrm>
            <a:off x="11290300" y="29644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10,569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7606110" y="31867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前端开发</a:t>
            </a:r>
            <a:endParaRPr/>
          </a:p>
        </p:txBody>
      </p:sp>
      <p:sp>
        <p:nvSpPr>
          <p:cNvPr id="92" name="形状 92"/>
          <p:cNvSpPr/>
          <p:nvPr/>
        </p:nvSpPr>
        <p:spPr>
          <a:xfrm>
            <a:off x="8330010" y="32121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</p:sp>
      <p:sp>
        <p:nvSpPr>
          <p:cNvPr id="93" name="形状 93"/>
          <p:cNvSpPr/>
          <p:nvPr/>
        </p:nvSpPr>
        <p:spPr>
          <a:xfrm>
            <a:off x="8330010" y="3212108"/>
            <a:ext cx="693439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94" name="文字 94"/>
          <p:cNvSpPr txBox="1"/>
          <p:nvPr/>
        </p:nvSpPr>
        <p:spPr>
          <a:xfrm>
            <a:off x="11341100" y="31803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6,686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7606110" y="34026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云效工具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8330010" y="34280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</p:sp>
      <p:sp>
        <p:nvSpPr>
          <p:cNvPr id="97" name="形状 97"/>
          <p:cNvSpPr/>
          <p:nvPr/>
        </p:nvSpPr>
        <p:spPr>
          <a:xfrm>
            <a:off x="8330010" y="3428008"/>
            <a:ext cx="57497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98" name="文字 98"/>
          <p:cNvSpPr txBox="1"/>
          <p:nvPr/>
        </p:nvSpPr>
        <p:spPr>
          <a:xfrm>
            <a:off x="11341100" y="33962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5,544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7606110" y="3618508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市场推广</a:t>
            </a:r>
            <a:endParaRPr/>
          </a:p>
        </p:txBody>
      </p:sp>
      <p:sp>
        <p:nvSpPr>
          <p:cNvPr id="100" name="形状 100"/>
          <p:cNvSpPr/>
          <p:nvPr/>
        </p:nvSpPr>
        <p:spPr>
          <a:xfrm>
            <a:off x="8330010" y="36439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</p:sp>
      <p:sp>
        <p:nvSpPr>
          <p:cNvPr id="101" name="形状 101"/>
          <p:cNvSpPr/>
          <p:nvPr/>
        </p:nvSpPr>
        <p:spPr>
          <a:xfrm>
            <a:off x="8330010" y="3643908"/>
            <a:ext cx="561082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102" name="文字 102"/>
          <p:cNvSpPr txBox="1"/>
          <p:nvPr/>
        </p:nvSpPr>
        <p:spPr>
          <a:xfrm>
            <a:off x="11341100" y="3612158"/>
            <a:ext cx="3556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5,409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7606110" y="3834408"/>
            <a:ext cx="49559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其他 5 类</a:t>
            </a:r>
            <a:endParaRPr/>
          </a:p>
        </p:txBody>
      </p:sp>
      <p:sp>
        <p:nvSpPr>
          <p:cNvPr id="104" name="形状 104"/>
          <p:cNvSpPr/>
          <p:nvPr/>
        </p:nvSpPr>
        <p:spPr>
          <a:xfrm>
            <a:off x="8330010" y="3859808"/>
            <a:ext cx="2896790" cy="82550"/>
          </a:xfrm>
          <a:prstGeom prst="roundRect">
            <a:avLst>
              <a:gd name="adj" fmla="val 23077"/>
            </a:avLst>
          </a:prstGeom>
          <a:solidFill>
            <a:srgbClr val="F0F0F2">
              <a:alpha val="100000"/>
            </a:srgbClr>
          </a:solidFill>
          <a:ln>
            <a:noFill/>
          </a:ln>
        </p:spPr>
      </p:sp>
      <p:sp>
        <p:nvSpPr>
          <p:cNvPr id="105" name="形状 105"/>
          <p:cNvSpPr/>
          <p:nvPr/>
        </p:nvSpPr>
        <p:spPr>
          <a:xfrm>
            <a:off x="8330010" y="3859808"/>
            <a:ext cx="1090910" cy="82550"/>
          </a:xfrm>
          <a:prstGeom prst="rect">
            <a:avLst/>
          </a:prstGeom>
          <a:solidFill>
            <a:srgbClr val="B9BEC5">
              <a:alpha val="100000"/>
            </a:srgbClr>
          </a:solidFill>
          <a:ln>
            <a:noFill/>
          </a:ln>
        </p:spPr>
      </p:sp>
      <p:sp>
        <p:nvSpPr>
          <p:cNvPr id="106" name="文字 106"/>
          <p:cNvSpPr txBox="1"/>
          <p:nvPr/>
        </p:nvSpPr>
        <p:spPr>
          <a:xfrm>
            <a:off x="11290300" y="3828058"/>
            <a:ext cx="42425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10,519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7606110" y="4088408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三类供给角色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1303000" y="4126508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账号口径</a:t>
            </a:r>
            <a:endParaRPr/>
          </a:p>
        </p:txBody>
      </p:sp>
      <p:graphicFrame>
        <p:nvGraphicFramePr>
          <p:cNvPr id="109" name="表格 109"/>
          <p:cNvGraphicFramePr/>
          <p:nvPr/>
        </p:nvGraphicFramePr>
        <p:xfrm>
          <a:off x="7606110" y="4297958"/>
          <a:ext cx="4077891" cy="892175"/>
        </p:xfrm>
        <a:graphic>
          <a:graphicData uri="http://schemas.openxmlformats.org/drawingml/2006/table">
            <a:tbl>
              <a:tblPr firstRow="0" bandRow="0"/>
              <a:tblGrid>
                <a:gridCol w="650379"/>
                <a:gridCol w="894259"/>
                <a:gridCol w="1382117"/>
                <a:gridCol w="1138436"/>
              </a:tblGrid>
              <a:tr h="238125"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角色</a:t>
                      </a:r>
                      <a:endParaRPr/>
                    </a:p>
                  </a:txBody>
                  <a:tcPr marL="38100" marR="38100" marT="31750" marB="31750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规模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代表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ctr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中位下载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平台官方</a:t>
                      </a:r>
                      <a:endParaRPr/>
                    </a:p>
                  </a:txBody>
                  <a:tcPr marL="38100" marR="38100" marT="31750" marB="31750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337 · 0.4%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ModelScope / 阿里云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374（2.5×）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272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品牌垂直</a:t>
                      </a:r>
                      <a:endParaRPr/>
                    </a:p>
                  </a:txBody>
                  <a:tcPr marL="38100" marR="38100" marT="31750" marB="31750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~550 · &lt;1%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Anthropic / 小包公 / 网盘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516（3.5×）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  <a:tr h="21590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社区泛用</a:t>
                      </a:r>
                      <a:endParaRPr/>
                    </a:p>
                  </a:txBody>
                  <a:tcPr marL="38100" marR="38100" marT="31750" marB="31750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8.26 万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个人 / 开源 / 聚合镜像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148（镜像 145）</a:t>
                      </a:r>
                      <a:endParaRPr/>
                    </a:p>
                  </a:txBody>
                  <a:tcPr marL="38100" marR="38100" marT="31750" marB="3175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AFAFA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0" name="文字 110"/>
          <p:cNvSpPr txBox="1"/>
          <p:nvPr/>
        </p:nvSpPr>
        <p:spPr>
          <a:xfrm>
            <a:off x="7606110" y="524728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下载分布：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8209359" y="5247283"/>
            <a:ext cx="12675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中位 158 · P90 673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508000" y="5598914"/>
            <a:ext cx="1426865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119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 · 结论 / 3 个判断</a:t>
            </a:r>
            <a:endParaRPr/>
          </a:p>
        </p:txBody>
      </p:sp>
      <p:sp>
        <p:nvSpPr>
          <p:cNvPr id="113" name="形状 113"/>
          <p:cNvSpPr/>
          <p:nvPr/>
        </p:nvSpPr>
        <p:spPr>
          <a:xfrm>
            <a:off x="5080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114" name="文字 114"/>
          <p:cNvSpPr txBox="1"/>
          <p:nvPr/>
        </p:nvSpPr>
        <p:spPr>
          <a:xfrm>
            <a:off x="6159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814090" y="588466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框架已成立，供给靠聚合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814090" y="6077347"/>
            <a:ext cx="313372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官方仅 0.4%，聚合镜像占 30.9%；Top3 分类 66%，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814090" y="6261299"/>
            <a:ext cx="12574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24 个二级类目为空。</a:t>
            </a:r>
            <a:endParaRPr/>
          </a:p>
        </p:txBody>
      </p:sp>
      <p:sp>
        <p:nvSpPr>
          <p:cNvPr id="118" name="形状 118"/>
          <p:cNvSpPr/>
          <p:nvPr/>
        </p:nvSpPr>
        <p:spPr>
          <a:xfrm>
            <a:off x="4267200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119" name="文字 119"/>
          <p:cNvSpPr txBox="1"/>
          <p:nvPr/>
        </p:nvSpPr>
        <p:spPr>
          <a:xfrm>
            <a:off x="4375150" y="5871964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4573290" y="588466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消费头部化，垂直更易破圈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3290" y="6077347"/>
            <a:ext cx="3228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品牌/垂直中位 516 下载（长尾 3.5×）；聚合镜像中位</a:t>
            </a:r>
            <a:endParaRPr/>
          </a:p>
        </p:txBody>
      </p:sp>
      <p:sp>
        <p:nvSpPr>
          <p:cNvPr id="122" name="文字 122"/>
          <p:cNvSpPr txBox="1"/>
          <p:nvPr/>
        </p:nvSpPr>
        <p:spPr>
          <a:xfrm>
            <a:off x="4573290" y="6261299"/>
            <a:ext cx="531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仅 145。</a:t>
            </a:r>
            <a:endParaRPr/>
          </a:p>
        </p:txBody>
      </p:sp>
      <p:sp>
        <p:nvSpPr>
          <p:cNvPr id="123" name="形状 123"/>
          <p:cNvSpPr/>
          <p:nvPr/>
        </p:nvSpPr>
        <p:spPr>
          <a:xfrm>
            <a:off x="8026401" y="5789414"/>
            <a:ext cx="3657600" cy="725686"/>
          </a:xfrm>
          <a:prstGeom prst="roundRect">
            <a:avLst>
              <a:gd name="adj" fmla="val 10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124" name="文字 124"/>
          <p:cNvSpPr txBox="1"/>
          <p:nvPr/>
        </p:nvSpPr>
        <p:spPr>
          <a:xfrm>
            <a:off x="8134350" y="5871964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8332490" y="58846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验证与治理是下一环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8332490" y="6077347"/>
            <a:ext cx="316607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发布/安装已通；但无技能级沙箱、无版本号，34% 未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8332490" y="6261299"/>
            <a:ext cx="77420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标 License。</a:t>
            </a:r>
            <a:endParaRPr/>
          </a:p>
        </p:txBody>
      </p:sp>
      <p:pic>
        <p:nvPicPr>
          <p:cNvPr id="128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  <p:sp>
        <p:nvSpPr>
          <p:cNvPr id="129" name="文字 129"/>
          <p:cNvSpPr txBox="1"/>
          <p:nvPr/>
        </p:nvSpPr>
        <p:spPr>
          <a:xfrm>
            <a:off x="26163" y="6619262"/>
            <a:ext cx="867599" cy="124275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70" b="0" i="0" u="none" spc="20">
                <a:solidFill>
                  <a:srgbClr val="9A9AA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Huawei Confidential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38340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 平台洞察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1049000" y="279400"/>
            <a:ext cx="698501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2026.10.19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5833765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将技能分发扩展到场景组合与云端验证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公开 API 条目数 199,511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49832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面向中国用户的 Agent 能力供给网络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全球同步扩大覆盖，本土共建与企业服务补充专业能力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资产结构：四层分析视图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043410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职责可组合，非官方强制依赖层级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2297410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</p:sp>
      <p:sp>
        <p:nvSpPr>
          <p:cNvPr id="21" name="形状 21"/>
          <p:cNvSpPr/>
          <p:nvPr/>
        </p:nvSpPr>
        <p:spPr>
          <a:xfrm>
            <a:off x="463550" y="2303760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22" name="文字 22"/>
          <p:cNvSpPr txBox="1"/>
          <p:nvPr/>
        </p:nvSpPr>
        <p:spPr>
          <a:xfrm>
            <a:off x="632420" y="242500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L4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71500" y="2594471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角色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041400" y="2400895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SOUL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1041400" y="2630686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人格、表达与协作方式</a:t>
            </a:r>
            <a:endParaRPr/>
          </a:p>
        </p:txBody>
      </p:sp>
      <p:sp>
        <p:nvSpPr>
          <p:cNvPr id="26" name="形状 26"/>
          <p:cNvSpPr/>
          <p:nvPr/>
        </p:nvSpPr>
        <p:spPr>
          <a:xfrm>
            <a:off x="457200" y="2971701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</p:sp>
      <p:sp>
        <p:nvSpPr>
          <p:cNvPr id="27" name="形状 27"/>
          <p:cNvSpPr/>
          <p:nvPr/>
        </p:nvSpPr>
        <p:spPr>
          <a:xfrm>
            <a:off x="463550" y="2978051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28" name="文字 28"/>
          <p:cNvSpPr txBox="1"/>
          <p:nvPr/>
        </p:nvSpPr>
        <p:spPr>
          <a:xfrm>
            <a:off x="632420" y="3099296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571500" y="326876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组合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041400" y="3075186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专家包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041400" y="3304977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按场景组织多个 Skills</a:t>
            </a:r>
            <a:endParaRPr/>
          </a:p>
        </p:txBody>
      </p:sp>
      <p:sp>
        <p:nvSpPr>
          <p:cNvPr id="32" name="形状 32"/>
          <p:cNvSpPr/>
          <p:nvPr/>
        </p:nvSpPr>
        <p:spPr>
          <a:xfrm>
            <a:off x="457200" y="364599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</p:sp>
      <p:sp>
        <p:nvSpPr>
          <p:cNvPr id="33" name="形状 33"/>
          <p:cNvSpPr/>
          <p:nvPr/>
        </p:nvSpPr>
        <p:spPr>
          <a:xfrm>
            <a:off x="463550" y="365234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34" name="文字 34"/>
          <p:cNvSpPr txBox="1"/>
          <p:nvPr/>
        </p:nvSpPr>
        <p:spPr>
          <a:xfrm>
            <a:off x="632420" y="377358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L2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71500" y="3943052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方法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1041400" y="3749477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41400" y="3979267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指令、脚本、参考与模板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457200" y="4320282"/>
            <a:ext cx="2794000" cy="598091"/>
          </a:xfrm>
          <a:prstGeom prst="roundRect">
            <a:avLst>
              <a:gd name="adj" fmla="val 849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9DE">
                <a:alpha val="100000"/>
              </a:srgbClr>
            </a:solidFill>
            <a:prstDash val="solid"/>
          </a:ln>
        </p:spPr>
      </p:sp>
      <p:sp>
        <p:nvSpPr>
          <p:cNvPr id="39" name="形状 39"/>
          <p:cNvSpPr/>
          <p:nvPr/>
        </p:nvSpPr>
        <p:spPr>
          <a:xfrm>
            <a:off x="463550" y="4326632"/>
            <a:ext cx="482600" cy="585391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40" name="文字 40"/>
          <p:cNvSpPr txBox="1"/>
          <p:nvPr/>
        </p:nvSpPr>
        <p:spPr>
          <a:xfrm>
            <a:off x="632420" y="4447877"/>
            <a:ext cx="15755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571500" y="4617343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FFFFF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工具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41400" y="4423767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MCP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041400" y="4653558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连接外部数据与受控动作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5013623"/>
            <a:ext cx="27058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Plugin 可跨层交付，运行仍依赖宿主与授权。</a:t>
            </a:r>
            <a:endParaRPr/>
          </a:p>
        </p:txBody>
      </p:sp>
      <p:pic>
        <p:nvPicPr>
          <p:cNvPr id="4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950" y="1744960"/>
            <a:ext cx="3492500" cy="3442593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7505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资产消费：从获取到验证</a:t>
            </a:r>
            <a:endParaRPr/>
          </a:p>
        </p:txBody>
      </p:sp>
      <p:sp>
        <p:nvSpPr>
          <p:cNvPr id="47" name="形状 47"/>
          <p:cNvSpPr/>
          <p:nvPr/>
        </p:nvSpPr>
        <p:spPr>
          <a:xfrm>
            <a:off x="3575050" y="2119610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48" name="文字 48"/>
          <p:cNvSpPr txBox="1"/>
          <p:nvPr/>
        </p:nvSpPr>
        <p:spPr>
          <a:xfrm>
            <a:off x="3621981" y="216088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937000" y="2132310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来源：全球同步与本土共建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3937000" y="2362101"/>
            <a:ext cx="194161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ClawHub 同步，个人与企业发布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3575050" y="2843014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52" name="文字 52"/>
          <p:cNvSpPr txBox="1"/>
          <p:nvPr/>
        </p:nvSpPr>
        <p:spPr>
          <a:xfrm>
            <a:off x="3621981" y="2884289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937000" y="2855714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发布：导入、版本与可见性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3937000" y="3085505"/>
            <a:ext cx="20723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文件 / GitHub / CLI，组织内技能库</a:t>
            </a:r>
            <a:endParaRPr/>
          </a:p>
        </p:txBody>
      </p:sp>
      <p:sp>
        <p:nvSpPr>
          <p:cNvPr id="55" name="形状 55"/>
          <p:cNvSpPr/>
          <p:nvPr/>
        </p:nvSpPr>
        <p:spPr>
          <a:xfrm>
            <a:off x="3575050" y="3566517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56" name="文字 56"/>
          <p:cNvSpPr txBox="1"/>
          <p:nvPr/>
        </p:nvSpPr>
        <p:spPr>
          <a:xfrm>
            <a:off x="3621981" y="3607792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937000" y="3579217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消费：发现后进入目标宿主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937000" y="3809008"/>
            <a:ext cx="228818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中文搜索与榜单，ZIP / CLI / API / DSH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575050" y="4289921"/>
            <a:ext cx="254000" cy="2540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60" name="文字 60"/>
          <p:cNvSpPr txBox="1"/>
          <p:nvPr/>
        </p:nvSpPr>
        <p:spPr>
          <a:xfrm>
            <a:off x="3621981" y="43311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937000" y="4302621"/>
            <a:ext cx="1993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试运行：云端会话与运行案例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937000" y="453241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流式结果与案例留存；代码已核，未实跑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575050" y="4826992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体验重点：发现入口与宿主内消费衔接，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575050" y="5013623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运行案例补充选用依据。</a:t>
            </a:r>
            <a:endParaRPr/>
          </a:p>
        </p:txBody>
      </p:sp>
      <p:pic>
        <p:nvPicPr>
          <p:cNvPr id="65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1200" y="1744960"/>
            <a:ext cx="4673601" cy="3442593"/>
          </a:xfrm>
          <a:prstGeom prst="rect">
            <a:avLst/>
          </a:prstGeom>
        </p:spPr>
      </p:pic>
      <p:sp>
        <p:nvSpPr>
          <p:cNvPr id="66" name="文字 66"/>
          <p:cNvSpPr txBox="1"/>
          <p:nvPr/>
        </p:nvSpPr>
        <p:spPr>
          <a:xfrm>
            <a:off x="7226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生态画像：三类供需并存</a:t>
            </a:r>
            <a:endParaRPr/>
          </a:p>
        </p:txBody>
      </p:sp>
      <p:pic>
        <p:nvPicPr>
          <p:cNvPr id="67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6300" y="2024360"/>
            <a:ext cx="4508501" cy="507901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226300" y="210691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官方与产品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7988300" y="2106910"/>
            <a:ext cx="18482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腾讯文档、ima、平台查找技能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988300" y="2305943"/>
            <a:ext cx="18224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需求：产品连接、办公与知识协作</a:t>
            </a:r>
            <a:endParaRPr/>
          </a:p>
        </p:txBody>
      </p:sp>
      <p:pic>
        <p:nvPicPr>
          <p:cNvPr id="7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26300" y="2532261"/>
            <a:ext cx="4508501" cy="507901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7226300" y="261481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垂直专业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988300" y="261481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钢联智能问数、电子印章平台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988300" y="2813844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需求：行业数据与专业业务流程</a:t>
            </a:r>
            <a:endParaRPr/>
          </a:p>
        </p:txBody>
      </p:sp>
      <p:pic>
        <p:nvPicPr>
          <p:cNvPr id="7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26300" y="3040162"/>
            <a:ext cx="4508501" cy="507901"/>
          </a:xfrm>
          <a:prstGeom prst="rect">
            <a:avLst/>
          </a:prstGeom>
        </p:spPr>
      </p:pic>
      <p:sp>
        <p:nvSpPr>
          <p:cNvPr id="76" name="文字 76"/>
          <p:cNvSpPr txBox="1"/>
          <p:nvPr/>
        </p:nvSpPr>
        <p:spPr>
          <a:xfrm>
            <a:off x="7226300" y="3122712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社区泛用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988300" y="3122712"/>
            <a:ext cx="20794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Find Skills、Agent Browser、摘要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988300" y="3321745"/>
            <a:ext cx="193327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需求：Agent 研发、检索与通用效率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226300" y="3675063"/>
            <a:ext cx="204132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下载榜 Top50：样本下载记录占比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7226300" y="39417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开发编程</a:t>
            </a:r>
            <a:endParaRPr/>
          </a:p>
        </p:txBody>
      </p:sp>
      <p:sp>
        <p:nvSpPr>
          <p:cNvPr id="81" name="形状 81"/>
          <p:cNvSpPr/>
          <p:nvPr/>
        </p:nvSpPr>
        <p:spPr>
          <a:xfrm>
            <a:off x="7886700" y="39608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82" name="形状 82"/>
          <p:cNvSpPr/>
          <p:nvPr/>
        </p:nvSpPr>
        <p:spPr>
          <a:xfrm>
            <a:off x="7886700" y="3960813"/>
            <a:ext cx="1237159" cy="95250"/>
          </a:xfrm>
          <a:prstGeom prst="roundRect">
            <a:avLst>
              <a:gd name="adj" fmla="val 2000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83" name="文字 83"/>
          <p:cNvSpPr txBox="1"/>
          <p:nvPr/>
        </p:nvSpPr>
        <p:spPr>
          <a:xfrm>
            <a:off x="11372850" y="392906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36.9%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226300" y="4170363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AI Agent</a:t>
            </a:r>
            <a:endParaRPr/>
          </a:p>
        </p:txBody>
      </p:sp>
      <p:sp>
        <p:nvSpPr>
          <p:cNvPr id="85" name="形状 85"/>
          <p:cNvSpPr/>
          <p:nvPr/>
        </p:nvSpPr>
        <p:spPr>
          <a:xfrm>
            <a:off x="7886700" y="41894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86" name="形状 86"/>
          <p:cNvSpPr/>
          <p:nvPr/>
        </p:nvSpPr>
        <p:spPr>
          <a:xfrm>
            <a:off x="7886700" y="4189413"/>
            <a:ext cx="442515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87" name="文字 87"/>
          <p:cNvSpPr txBox="1"/>
          <p:nvPr/>
        </p:nvSpPr>
        <p:spPr>
          <a:xfrm>
            <a:off x="11372850" y="41576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13.2%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226300" y="4398963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知识管理</a:t>
            </a:r>
            <a:endParaRPr/>
          </a:p>
        </p:txBody>
      </p:sp>
      <p:sp>
        <p:nvSpPr>
          <p:cNvPr id="89" name="形状 89"/>
          <p:cNvSpPr/>
          <p:nvPr/>
        </p:nvSpPr>
        <p:spPr>
          <a:xfrm>
            <a:off x="7886700" y="4418013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90" name="形状 90"/>
          <p:cNvSpPr/>
          <p:nvPr/>
        </p:nvSpPr>
        <p:spPr>
          <a:xfrm>
            <a:off x="7886700" y="4418013"/>
            <a:ext cx="338534" cy="95250"/>
          </a:xfrm>
          <a:prstGeom prst="roundRect">
            <a:avLst>
              <a:gd name="adj" fmla="val 2000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91" name="文字 91"/>
          <p:cNvSpPr txBox="1"/>
          <p:nvPr/>
        </p:nvSpPr>
        <p:spPr>
          <a:xfrm>
            <a:off x="11372850" y="43862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10.1%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226300" y="4627563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其他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886700" y="4646612"/>
            <a:ext cx="3352800" cy="95250"/>
          </a:xfrm>
          <a:prstGeom prst="roundRect">
            <a:avLst>
              <a:gd name="adj" fmla="val 2000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94" name="形状 94"/>
          <p:cNvSpPr/>
          <p:nvPr/>
        </p:nvSpPr>
        <p:spPr>
          <a:xfrm>
            <a:off x="7886700" y="4646612"/>
            <a:ext cx="1331019" cy="95250"/>
          </a:xfrm>
          <a:prstGeom prst="roundRect">
            <a:avLst>
              <a:gd name="adj" fmla="val 2000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</p:sp>
      <p:sp>
        <p:nvSpPr>
          <p:cNvPr id="95" name="文字 95"/>
          <p:cNvSpPr txBox="1"/>
          <p:nvPr/>
        </p:nvSpPr>
        <p:spPr>
          <a:xfrm>
            <a:off x="11372850" y="4614863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39.7%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7226300" y="4862513"/>
            <a:ext cx="255736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编程类 5 条贡献 36.9%；消费画像按任务推断，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7226300" y="5031383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下载记录不代表活跃用户或任务成功。</a:t>
            </a:r>
            <a:endParaRPr/>
          </a:p>
        </p:txBody>
      </p:sp>
      <p:pic>
        <p:nvPicPr>
          <p:cNvPr id="98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9" name="文字 99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TRACE 五维质量评测 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维度内均分后，五维等权</a:t>
            </a:r>
            <a:endParaRPr/>
          </a:p>
        </p:txBody>
      </p:sp>
      <p:pic>
        <p:nvPicPr>
          <p:cNvPr id="10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可信度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安全与本土可用</a:t>
            </a:r>
            <a:endParaRPr/>
          </a:p>
        </p:txBody>
      </p:sp>
      <p:pic>
        <p:nvPicPr>
          <p:cNvPr id="105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R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可靠性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功能与异常处理</a:t>
            </a:r>
            <a:endParaRPr/>
          </a:p>
        </p:txBody>
      </p:sp>
      <p:pic>
        <p:nvPicPr>
          <p:cNvPr id="109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适应性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触发条件与边界</a:t>
            </a:r>
            <a:endParaRPr/>
          </a:p>
        </p:txBody>
      </p:sp>
      <p:pic>
        <p:nvPicPr>
          <p:cNvPr id="113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规范性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结构与文档</a:t>
            </a:r>
            <a:endParaRPr/>
          </a:p>
        </p:txBody>
      </p:sp>
      <p:pic>
        <p:nvPicPr>
          <p:cNvPr id="117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E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有效性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准确、完整、可用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22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平台建设启示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7773790" y="5746353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多类资产与宿主消费共同建设，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7773790" y="593963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把版本、质量证据和实际任务结果关联。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待核查：统计口径与评测版本一致性；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开源 evaluator 不等于全量动态实测。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457200" y="6597650"/>
            <a:ext cx="3730724" cy="1206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来源：腾讯官方仓库、官网及公开 API，本次只读核查；详细口径与链接见 PPT 备注和伴生调研文档。</a:t>
            </a:r>
            <a:endParaRPr/>
          </a:p>
        </p:txBody>
      </p:sp>
      <p:pic>
        <p:nvPicPr>
          <p:cNvPr id="129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38340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 平台洞察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1049000" y="279400"/>
            <a:ext cx="698501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2026.10.19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785372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围绕 Skill 打通生态供给、可信分发与宿主安装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32160"/>
            <a:ext cx="11277600" cy="66040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982960"/>
            <a:ext cx="81280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25730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万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344910"/>
            <a:ext cx="13174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公开 API 条目数 199,514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2489200" y="982960"/>
            <a:ext cx="332780" cy="355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13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809280" y="1097260"/>
            <a:ext cx="1997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类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2489200" y="1344910"/>
            <a:ext cx="14605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一级分类，覆盖通用与行业</a:t>
            </a:r>
            <a:endParaRPr/>
          </a:p>
        </p:txBody>
      </p:sp>
      <p:pic>
        <p:nvPicPr>
          <p:cNvPr id="15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0200" y="1047651"/>
            <a:ext cx="7594600" cy="42306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305300" y="1060351"/>
            <a:ext cx="254506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面向中国用户的 Skill 发现与分发平台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05300" y="1296491"/>
            <a:ext cx="3213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全球同步补齐长尾，本土原创与企业供给扩展任务覆盖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1770360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生态供给：同步、原创与企业</a:t>
            </a:r>
            <a:endParaRPr/>
          </a:p>
        </p:txBody>
      </p:sp>
      <p:pic>
        <p:nvPicPr>
          <p:cNvPr id="19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11660"/>
            <a:ext cx="3016250" cy="56247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457200" y="2100560"/>
            <a:ext cx="145484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全球同步：ClawHub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231765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中文描述与国内下载，补齐长尾覆盖</a:t>
            </a:r>
            <a:endParaRPr/>
          </a:p>
        </p:txBody>
      </p:sp>
      <p:pic>
        <p:nvPicPr>
          <p:cNvPr id="22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574131"/>
            <a:ext cx="3016250" cy="575171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266303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个人与社区发布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2892822"/>
            <a:ext cx="26088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本土工具、Prompt 与 SOP，网页 / CLI 接入</a:t>
            </a:r>
            <a:endParaRPr/>
          </a:p>
        </p:txBody>
      </p:sp>
      <p:pic>
        <p:nvPicPr>
          <p:cNvPr id="25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149303"/>
            <a:ext cx="3016250" cy="780851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238202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企业与产品团队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57200" y="3467993"/>
            <a:ext cx="158154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官方产品：腾讯文档、ima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67367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垂直领域：钢联问数、电子印章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4019054"/>
            <a:ext cx="218241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平台自供给：技能查找、TRACE 评测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4476750"/>
            <a:ext cx="151358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下载榜 Top50 来源条目占比</a:t>
            </a:r>
            <a:endParaRPr/>
          </a:p>
        </p:txBody>
      </p:sp>
      <p:sp>
        <p:nvSpPr>
          <p:cNvPr id="31" name="形状 31"/>
          <p:cNvSpPr/>
          <p:nvPr/>
        </p:nvSpPr>
        <p:spPr>
          <a:xfrm>
            <a:off x="457200" y="4679950"/>
            <a:ext cx="1387475" cy="1016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32" name="形状 32"/>
          <p:cNvSpPr/>
          <p:nvPr/>
        </p:nvSpPr>
        <p:spPr>
          <a:xfrm>
            <a:off x="1844675" y="4679950"/>
            <a:ext cx="844550" cy="1016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33" name="形状 33"/>
          <p:cNvSpPr/>
          <p:nvPr/>
        </p:nvSpPr>
        <p:spPr>
          <a:xfrm>
            <a:off x="2689225" y="4679950"/>
            <a:ext cx="784225" cy="1016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</p:sp>
      <p:sp>
        <p:nvSpPr>
          <p:cNvPr id="34" name="文字 34"/>
          <p:cNvSpPr txBox="1"/>
          <p:nvPr/>
        </p:nvSpPr>
        <p:spPr>
          <a:xfrm>
            <a:off x="457200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社区 46%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1573411" y="4845050"/>
            <a:ext cx="79652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ClawHub 28%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2959993" y="4845050"/>
            <a:ext cx="52615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 26%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57200" y="5048250"/>
            <a:ext cx="15240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供给渠道样本，不代表全量结构</a:t>
            </a:r>
            <a:endParaRPr/>
          </a:p>
        </p:txBody>
      </p:sp>
      <p:pic>
        <p:nvPicPr>
          <p:cNvPr id="3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200" y="1744960"/>
            <a:ext cx="3873500" cy="3442593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3797300" y="17703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分发安装：从平台到宿主</a:t>
            </a:r>
            <a:endParaRPr/>
          </a:p>
        </p:txBody>
      </p:sp>
      <p:sp>
        <p:nvSpPr>
          <p:cNvPr id="40" name="形状 40"/>
          <p:cNvSpPr/>
          <p:nvPr/>
        </p:nvSpPr>
        <p:spPr>
          <a:xfrm>
            <a:off x="3797300" y="2119610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41" name="文字 41"/>
          <p:cNvSpPr txBox="1"/>
          <p:nvPr/>
        </p:nvSpPr>
        <p:spPr>
          <a:xfrm>
            <a:off x="3837881" y="2154535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4140200" y="2132310"/>
            <a:ext cx="154652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发布：目录或 ZIP 入库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140200" y="2362101"/>
            <a:ext cx="24223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网页 / CLI / Agent 发布，版本审核后可见</a:t>
            </a:r>
            <a:endParaRPr/>
          </a:p>
        </p:txBody>
      </p:sp>
      <p:sp>
        <p:nvSpPr>
          <p:cNvPr id="44" name="形状 44"/>
          <p:cNvSpPr/>
          <p:nvPr/>
        </p:nvSpPr>
        <p:spPr>
          <a:xfrm>
            <a:off x="3797300" y="280789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45" name="文字 45"/>
          <p:cNvSpPr txBox="1"/>
          <p:nvPr/>
        </p:nvSpPr>
        <p:spPr>
          <a:xfrm>
            <a:off x="3837881" y="284281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40200" y="282059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分发：检索后获取版本包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140200" y="3050381"/>
            <a:ext cx="22440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榜单、搜索与 API；指定版本 ZIP 下载</a:t>
            </a:r>
            <a:endParaRPr/>
          </a:p>
        </p:txBody>
      </p:sp>
      <p:sp>
        <p:nvSpPr>
          <p:cNvPr id="48" name="形状 48"/>
          <p:cNvSpPr/>
          <p:nvPr/>
        </p:nvSpPr>
        <p:spPr>
          <a:xfrm>
            <a:off x="3797300" y="3496171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49" name="文字 49"/>
          <p:cNvSpPr txBox="1"/>
          <p:nvPr/>
        </p:nvSpPr>
        <p:spPr>
          <a:xfrm>
            <a:off x="3837881" y="3531096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40200" y="350887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安装：文件落到宿主目录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40200" y="3738662"/>
            <a:ext cx="24160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CLI 默认 ./skills；DSH 默认 ~/.dsh/skills</a:t>
            </a:r>
            <a:endParaRPr/>
          </a:p>
        </p:txBody>
      </p:sp>
      <p:sp>
        <p:nvSpPr>
          <p:cNvPr id="52" name="形状 52"/>
          <p:cNvSpPr/>
          <p:nvPr/>
        </p:nvSpPr>
        <p:spPr>
          <a:xfrm>
            <a:off x="3797300" y="4184452"/>
            <a:ext cx="241300" cy="2413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53" name="文字 53"/>
          <p:cNvSpPr txBox="1"/>
          <p:nvPr/>
        </p:nvSpPr>
        <p:spPr>
          <a:xfrm>
            <a:off x="3837881" y="4219377"/>
            <a:ext cx="17274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140200" y="419715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使用：宿主加载并执行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4140200" y="442694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依赖与账号需就绪；云端案例未实跑</a:t>
            </a:r>
            <a:endParaRPr/>
          </a:p>
        </p:txBody>
      </p:sp>
      <p:pic>
        <p:nvPicPr>
          <p:cNvPr id="56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7300" y="4708823"/>
            <a:ext cx="3708400" cy="478730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797300" y="4791373"/>
            <a:ext cx="276354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install &lt;slug&gt; --dir ./skills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797300" y="5013623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不自动装依赖，安装目录须被宿主发现。</a:t>
            </a:r>
            <a:endParaRPr/>
          </a:p>
        </p:txBody>
      </p:sp>
      <p:pic>
        <p:nvPicPr>
          <p:cNvPr id="5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64450" y="1744960"/>
            <a:ext cx="4070350" cy="3442593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7829550" y="1770360"/>
            <a:ext cx="2413001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消费画像：通用任务与专业服务</a:t>
            </a:r>
            <a:endParaRPr/>
          </a:p>
        </p:txBody>
      </p:sp>
      <p:pic>
        <p:nvPicPr>
          <p:cNvPr id="61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29550" y="2043410"/>
            <a:ext cx="3905251" cy="345380"/>
          </a:xfrm>
          <a:prstGeom prst="rect">
            <a:avLst/>
          </a:prstGeom>
        </p:spPr>
      </p:pic>
      <p:sp>
        <p:nvSpPr>
          <p:cNvPr id="62" name="文字 62"/>
          <p:cNvSpPr txBox="1"/>
          <p:nvPr/>
        </p:nvSpPr>
        <p:spPr>
          <a:xfrm>
            <a:off x="7829550" y="213231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研发任务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8528050" y="2132310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编程、浏览器操作、技能发现与自改进</a:t>
            </a:r>
            <a:endParaRPr/>
          </a:p>
        </p:txBody>
      </p:sp>
      <p:pic>
        <p:nvPicPr>
          <p:cNvPr id="64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29550" y="2388791"/>
            <a:ext cx="3905251" cy="345381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7829550" y="247769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知识办公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528050" y="24776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摘要、文档协作、数据与内容处理</a:t>
            </a:r>
            <a:endParaRPr/>
          </a:p>
        </p:txBody>
      </p:sp>
      <p:pic>
        <p:nvPicPr>
          <p:cNvPr id="67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9550" y="2734171"/>
            <a:ext cx="3905251" cy="345380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7829550" y="282307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行业业务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528050" y="2823071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专业数据查询、业务接口与服务对接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7829550" y="3225601"/>
            <a:ext cx="217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Top50 样本内，下载记录的类别占比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7829550" y="35177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开发编程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8489950" y="35335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73" name="形状 73"/>
          <p:cNvSpPr/>
          <p:nvPr/>
        </p:nvSpPr>
        <p:spPr>
          <a:xfrm>
            <a:off x="8489950" y="3533577"/>
            <a:ext cx="1015108" cy="101600"/>
          </a:xfrm>
          <a:prstGeom prst="roundRect">
            <a:avLst>
              <a:gd name="adj" fmla="val 18750"/>
            </a:avLst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74" name="文字 74"/>
          <p:cNvSpPr txBox="1"/>
          <p:nvPr/>
        </p:nvSpPr>
        <p:spPr>
          <a:xfrm>
            <a:off x="11372850" y="35050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36.9%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829550" y="3765352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AI Agent</a:t>
            </a:r>
            <a:endParaRPr/>
          </a:p>
        </p:txBody>
      </p:sp>
      <p:sp>
        <p:nvSpPr>
          <p:cNvPr id="76" name="形状 76"/>
          <p:cNvSpPr/>
          <p:nvPr/>
        </p:nvSpPr>
        <p:spPr>
          <a:xfrm>
            <a:off x="8489950" y="37812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77" name="形状 77"/>
          <p:cNvSpPr/>
          <p:nvPr/>
        </p:nvSpPr>
        <p:spPr>
          <a:xfrm>
            <a:off x="8489950" y="3781227"/>
            <a:ext cx="363736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78" name="文字 78"/>
          <p:cNvSpPr txBox="1"/>
          <p:nvPr/>
        </p:nvSpPr>
        <p:spPr>
          <a:xfrm>
            <a:off x="11372850" y="37526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13.2%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829550" y="4013002"/>
            <a:ext cx="4953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知识管理</a:t>
            </a:r>
            <a:endParaRPr/>
          </a:p>
        </p:txBody>
      </p:sp>
      <p:sp>
        <p:nvSpPr>
          <p:cNvPr id="80" name="形状 80"/>
          <p:cNvSpPr/>
          <p:nvPr/>
        </p:nvSpPr>
        <p:spPr>
          <a:xfrm>
            <a:off x="8489950" y="402887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81" name="形状 81"/>
          <p:cNvSpPr/>
          <p:nvPr/>
        </p:nvSpPr>
        <p:spPr>
          <a:xfrm>
            <a:off x="8489950" y="4028877"/>
            <a:ext cx="279599" cy="101600"/>
          </a:xfrm>
          <a:prstGeom prst="roundRect">
            <a:avLst>
              <a:gd name="adj" fmla="val 18750"/>
            </a:avLst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82" name="文字 82"/>
          <p:cNvSpPr txBox="1"/>
          <p:nvPr/>
        </p:nvSpPr>
        <p:spPr>
          <a:xfrm>
            <a:off x="11372850" y="400030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10.2%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829550" y="426065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其他</a:t>
            </a:r>
            <a:endParaRPr/>
          </a:p>
        </p:txBody>
      </p:sp>
      <p:sp>
        <p:nvSpPr>
          <p:cNvPr id="84" name="形状 84"/>
          <p:cNvSpPr/>
          <p:nvPr/>
        </p:nvSpPr>
        <p:spPr>
          <a:xfrm>
            <a:off x="8489950" y="4276527"/>
            <a:ext cx="2749550" cy="101600"/>
          </a:xfrm>
          <a:prstGeom prst="roundRect">
            <a:avLst>
              <a:gd name="adj" fmla="val 18750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85" name="形状 85"/>
          <p:cNvSpPr/>
          <p:nvPr/>
        </p:nvSpPr>
        <p:spPr>
          <a:xfrm>
            <a:off x="8489950" y="4276527"/>
            <a:ext cx="1091010" cy="101600"/>
          </a:xfrm>
          <a:prstGeom prst="roundRect">
            <a:avLst>
              <a:gd name="adj" fmla="val 18750"/>
            </a:avLst>
          </a:prstGeom>
          <a:solidFill>
            <a:srgbClr val="A5ACB4">
              <a:alpha val="100000"/>
            </a:srgbClr>
          </a:solidFill>
          <a:ln>
            <a:noFill/>
          </a:ln>
        </p:spPr>
      </p:sp>
      <p:sp>
        <p:nvSpPr>
          <p:cNvPr id="86" name="文字 86"/>
          <p:cNvSpPr txBox="1"/>
          <p:nvPr/>
        </p:nvSpPr>
        <p:spPr>
          <a:xfrm>
            <a:off x="11372850" y="4247952"/>
            <a:ext cx="3746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39.7%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829550" y="4521002"/>
            <a:ext cx="23884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编程类 5 条贡献 36.9%，AI Agent 有 11 条。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829550" y="4689872"/>
            <a:ext cx="18224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下载不代表活跃用户或任务成功。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7829550" y="5048250"/>
            <a:ext cx="20637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消费需求按技能能力推断，非真实用户分群</a:t>
            </a:r>
            <a:endParaRPr/>
          </a:p>
        </p:txBody>
      </p:sp>
      <p:pic>
        <p:nvPicPr>
          <p:cNvPr id="90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5333603"/>
            <a:ext cx="11277600" cy="1181497"/>
          </a:xfrm>
          <a:prstGeom prst="rect">
            <a:avLst/>
          </a:prstGeom>
        </p:spPr>
      </p:pic>
      <p:sp>
        <p:nvSpPr>
          <p:cNvPr id="91" name="文字 91"/>
          <p:cNvSpPr txBox="1"/>
          <p:nvPr/>
        </p:nvSpPr>
        <p:spPr>
          <a:xfrm>
            <a:off x="457200" y="5479653"/>
            <a:ext cx="148222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TRACE 五维质量评测 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1926729" y="5511403"/>
            <a:ext cx="13398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维度内均分后，五维等权</a:t>
            </a:r>
            <a:endParaRPr/>
          </a:p>
        </p:txBody>
      </p:sp>
      <p:pic>
        <p:nvPicPr>
          <p:cNvPr id="93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7200" y="5759053"/>
            <a:ext cx="1337568" cy="435571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457200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548680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可信度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457200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安全与本土可用</a:t>
            </a:r>
            <a:endParaRPr/>
          </a:p>
        </p:txBody>
      </p:sp>
      <p:pic>
        <p:nvPicPr>
          <p:cNvPr id="9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870968" y="5759053"/>
            <a:ext cx="1337568" cy="435571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1870968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R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1962448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可靠性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1870968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功能与异常处理</a:t>
            </a:r>
            <a:endParaRPr/>
          </a:p>
        </p:txBody>
      </p:sp>
      <p:pic>
        <p:nvPicPr>
          <p:cNvPr id="101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84736" y="5759053"/>
            <a:ext cx="1337568" cy="435571"/>
          </a:xfrm>
          <a:prstGeom prst="rect">
            <a:avLst/>
          </a:prstGeom>
        </p:spPr>
      </p:pic>
      <p:sp>
        <p:nvSpPr>
          <p:cNvPr id="102" name="文字 102"/>
          <p:cNvSpPr txBox="1"/>
          <p:nvPr/>
        </p:nvSpPr>
        <p:spPr>
          <a:xfrm>
            <a:off x="3284736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3376216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适应性</a:t>
            </a:r>
            <a:endParaRPr/>
          </a:p>
        </p:txBody>
      </p:sp>
      <p:sp>
        <p:nvSpPr>
          <p:cNvPr id="104" name="文字 104"/>
          <p:cNvSpPr txBox="1"/>
          <p:nvPr/>
        </p:nvSpPr>
        <p:spPr>
          <a:xfrm>
            <a:off x="3284736" y="6038453"/>
            <a:ext cx="8572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触发条件与边界</a:t>
            </a:r>
            <a:endParaRPr/>
          </a:p>
        </p:txBody>
      </p:sp>
      <p:pic>
        <p:nvPicPr>
          <p:cNvPr id="105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698504" y="5759053"/>
            <a:ext cx="1337568" cy="435571"/>
          </a:xfrm>
          <a:prstGeom prst="rect">
            <a:avLst/>
          </a:prstGeom>
        </p:spPr>
      </p:pic>
      <p:sp>
        <p:nvSpPr>
          <p:cNvPr id="106" name="文字 106"/>
          <p:cNvSpPr txBox="1"/>
          <p:nvPr/>
        </p:nvSpPr>
        <p:spPr>
          <a:xfrm>
            <a:off x="4698504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  <a:endParaRPr/>
          </a:p>
        </p:txBody>
      </p:sp>
      <p:sp>
        <p:nvSpPr>
          <p:cNvPr id="107" name="文字 107"/>
          <p:cNvSpPr txBox="1"/>
          <p:nvPr/>
        </p:nvSpPr>
        <p:spPr>
          <a:xfrm>
            <a:off x="4789984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规范性</a:t>
            </a:r>
            <a:endParaRPr/>
          </a:p>
        </p:txBody>
      </p:sp>
      <p:sp>
        <p:nvSpPr>
          <p:cNvPr id="108" name="文字 108"/>
          <p:cNvSpPr txBox="1"/>
          <p:nvPr/>
        </p:nvSpPr>
        <p:spPr>
          <a:xfrm>
            <a:off x="4698504" y="6038453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结构与文档</a:t>
            </a:r>
            <a:endParaRPr/>
          </a:p>
        </p:txBody>
      </p:sp>
      <p:pic>
        <p:nvPicPr>
          <p:cNvPr id="109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12272" y="5759053"/>
            <a:ext cx="1337667" cy="435571"/>
          </a:xfrm>
          <a:prstGeom prst="rect">
            <a:avLst/>
          </a:prstGeom>
        </p:spPr>
      </p:pic>
      <p:sp>
        <p:nvSpPr>
          <p:cNvPr id="110" name="文字 110"/>
          <p:cNvSpPr txBox="1"/>
          <p:nvPr/>
        </p:nvSpPr>
        <p:spPr>
          <a:xfrm>
            <a:off x="6112272" y="5784453"/>
            <a:ext cx="104180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E</a:t>
            </a:r>
            <a:endParaRPr/>
          </a:p>
        </p:txBody>
      </p:sp>
      <p:sp>
        <p:nvSpPr>
          <p:cNvPr id="111" name="文字 111"/>
          <p:cNvSpPr txBox="1"/>
          <p:nvPr/>
        </p:nvSpPr>
        <p:spPr>
          <a:xfrm>
            <a:off x="6203752" y="5784453"/>
            <a:ext cx="50452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有效性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112272" y="6038453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准确、完整、可用</a:t>
            </a:r>
            <a:endParaRPr/>
          </a:p>
        </p:txBody>
      </p:sp>
      <p:sp>
        <p:nvSpPr>
          <p:cNvPr id="113" name="文字 113"/>
          <p:cNvSpPr txBox="1"/>
          <p:nvPr/>
        </p:nvSpPr>
        <p:spPr>
          <a:xfrm>
            <a:off x="457200" y="6296223"/>
            <a:ext cx="338832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热度 score、TRACE 质量分与双路安全报告分别表达不同信号。</a:t>
            </a:r>
            <a:endParaRPr/>
          </a:p>
        </p:txBody>
      </p:sp>
      <p:pic>
        <p:nvPicPr>
          <p:cNvPr id="114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621389" y="5454253"/>
            <a:ext cx="4113411" cy="1060846"/>
          </a:xfrm>
          <a:prstGeom prst="rect">
            <a:avLst/>
          </a:prstGeom>
        </p:spPr>
      </p:pic>
      <p:sp>
        <p:nvSpPr>
          <p:cNvPr id="115" name="文字 115"/>
          <p:cNvSpPr txBox="1"/>
          <p:nvPr/>
        </p:nvSpPr>
        <p:spPr>
          <a:xfrm>
            <a:off x="7773790" y="5479653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平台建设启示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7773790" y="5746353"/>
            <a:ext cx="220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以 Skill 为管理单元，贯通来源版本、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773790" y="5939631"/>
            <a:ext cx="22796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安装条件、质量证据和实际任务结果。</a:t>
            </a:r>
            <a:endParaRPr/>
          </a:p>
        </p:txBody>
      </p:sp>
      <p:sp>
        <p:nvSpPr>
          <p:cNvPr id="118" name="文字 118"/>
          <p:cNvSpPr txBox="1"/>
          <p:nvPr/>
        </p:nvSpPr>
        <p:spPr>
          <a:xfrm>
            <a:off x="7773790" y="6190060"/>
            <a:ext cx="20637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待核查：统计口径与评测版本一致性；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7773790" y="6358930"/>
            <a:ext cx="204598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开源 evaluator 不等于全量动态实测。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457200" y="6597650"/>
            <a:ext cx="3730724" cy="1206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来源：腾讯官方仓库、官网及公开 API，本次只读核查；详细口径与链接见 PPT 备注和伴生调研文档。</a:t>
            </a:r>
            <a:endParaRPr/>
          </a:p>
        </p:txBody>
      </p:sp>
      <p:pic>
        <p:nvPicPr>
          <p:cNvPr id="121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73050"/>
            <a:ext cx="191899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 / TRACE 评测洞察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157421" y="273050"/>
            <a:ext cx="15900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2026.10.19 · 公开数据快照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476250"/>
            <a:ext cx="7752258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SkillHub：用 TRACE 把 Skill 分发从「能装」推向「可评」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881360"/>
            <a:ext cx="91559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用 ClawHub 同步补齐供给、用企业认证补齐专业场景，再用 TRACE 五维评分、双路安全报告与内容签名，把「选哪个 Skill」变成可解释的决策。</a:t>
            </a:r>
            <a:endParaRPr/>
          </a:p>
        </p:txBody>
      </p:sp>
      <p:pic>
        <p:nvPicPr>
          <p:cNvPr id="9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4191"/>
            <a:ext cx="11277600" cy="565150"/>
          </a:xfrm>
          <a:prstGeom prst="rect">
            <a:avLst/>
          </a:prstGeom>
        </p:spPr>
      </p:pic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4041"/>
            <a:ext cx="2819400" cy="42545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182291"/>
            <a:ext cx="97284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199,516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487091"/>
            <a:ext cx="85496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公开 API 技能数</a:t>
            </a:r>
            <a:endParaRPr/>
          </a:p>
        </p:txBody>
      </p:sp>
      <p:pic>
        <p:nvPicPr>
          <p:cNvPr id="13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6600" y="1214041"/>
            <a:ext cx="2819400" cy="425450"/>
          </a:xfrm>
          <a:prstGeom prst="rect">
            <a:avLst/>
          </a:prstGeom>
        </p:spPr>
      </p:pic>
      <p:sp>
        <p:nvSpPr>
          <p:cNvPr id="14" name="文字 14"/>
          <p:cNvSpPr txBox="1"/>
          <p:nvPr/>
        </p:nvSpPr>
        <p:spPr>
          <a:xfrm>
            <a:off x="3390900" y="1182291"/>
            <a:ext cx="69850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1,993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3390900" y="148709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入驻企业</a:t>
            </a:r>
            <a:endParaRPr/>
          </a:p>
        </p:txBody>
      </p:sp>
      <p:pic>
        <p:nvPicPr>
          <p:cNvPr id="1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1214041"/>
            <a:ext cx="2819400" cy="4254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6210300" y="1182291"/>
            <a:ext cx="42426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155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6210300" y="1487091"/>
            <a:ext cx="819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腾讯官方 Skills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9029700" y="1182291"/>
            <a:ext cx="561380" cy="3048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4.54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9029700" y="1487091"/>
            <a:ext cx="1346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TRACE 均分 · 40 条有效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572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 · 资产结构 / 4 层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57200" y="2058591"/>
            <a:ext cx="17917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人格 → 场景 → 方法 → 工具。</a:t>
            </a:r>
            <a:endParaRPr/>
          </a:p>
        </p:txBody>
      </p:sp>
      <p:pic>
        <p:nvPicPr>
          <p:cNvPr id="23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270621"/>
            <a:ext cx="2762250" cy="549771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457200" y="2340471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L4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52500" y="2353171"/>
            <a:ext cx="4272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SOUL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52500" y="257026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人格、表达与协作方式</a:t>
            </a:r>
            <a:endParaRPr/>
          </a:p>
        </p:txBody>
      </p:sp>
      <p:pic>
        <p:nvPicPr>
          <p:cNvPr id="27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820392"/>
            <a:ext cx="2762250" cy="549771"/>
          </a:xfrm>
          <a:prstGeom prst="rect">
            <a:avLst/>
          </a:prstGeom>
        </p:spPr>
      </p:pic>
      <p:sp>
        <p:nvSpPr>
          <p:cNvPr id="28" name="文字 28"/>
          <p:cNvSpPr txBox="1"/>
          <p:nvPr/>
        </p:nvSpPr>
        <p:spPr>
          <a:xfrm>
            <a:off x="457200" y="2890242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L3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952500" y="2902942"/>
            <a:ext cx="1055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专家包 / 技能包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952500" y="3120033"/>
            <a:ext cx="13039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按场景组合多个 Skills</a:t>
            </a:r>
            <a:endParaRPr/>
          </a:p>
        </p:txBody>
      </p:sp>
      <p:pic>
        <p:nvPicPr>
          <p:cNvPr id="31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3370163"/>
            <a:ext cx="2762250" cy="549771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3440013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L2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952500" y="3452713"/>
            <a:ext cx="34220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952500" y="3669804"/>
            <a:ext cx="14805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指令 + 脚本 + 参考 + 模板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3989785"/>
            <a:ext cx="1651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L1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952500" y="4002484"/>
            <a:ext cx="34458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MCP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952500" y="4219575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连接外部数据与受控动作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57200" y="4526855"/>
            <a:ext cx="16319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分析视图；评测与安全横跨四层。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57200" y="4851400"/>
            <a:ext cx="17828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19.95 万 Skill / 13 类 / 1,993 企业</a:t>
            </a:r>
            <a:endParaRPr/>
          </a:p>
        </p:txBody>
      </p:sp>
      <p:pic>
        <p:nvPicPr>
          <p:cNvPr id="40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71850" y="1798241"/>
            <a:ext cx="3270250" cy="3205559"/>
          </a:xfrm>
          <a:prstGeom prst="rect">
            <a:avLst/>
          </a:prstGeom>
        </p:spPr>
      </p:pic>
      <p:sp>
        <p:nvSpPr>
          <p:cNvPr id="41" name="文字 41"/>
          <p:cNvSpPr txBox="1"/>
          <p:nvPr/>
        </p:nvSpPr>
        <p:spPr>
          <a:xfrm>
            <a:off x="3517900" y="1823641"/>
            <a:ext cx="1546721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 · 资产消费 / 4 环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3517900" y="2058591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从全球同步到云端试跑，入口已铺到宿主内。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17900" y="2257921"/>
            <a:ext cx="3124200" cy="702767"/>
          </a:xfrm>
          <a:prstGeom prst="rect">
            <a:avLst/>
          </a:prstGeom>
        </p:spPr>
      </p:pic>
      <p:sp>
        <p:nvSpPr>
          <p:cNvPr id="44" name="形状 44"/>
          <p:cNvSpPr/>
          <p:nvPr/>
        </p:nvSpPr>
        <p:spPr>
          <a:xfrm>
            <a:off x="3517900" y="2315071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45" name="文字 45"/>
          <p:cNvSpPr txBox="1"/>
          <p:nvPr/>
        </p:nvSpPr>
        <p:spPr>
          <a:xfrm>
            <a:off x="3559770" y="2349996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3854450" y="2321421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来源：全球同步与本土共建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54450" y="2536627"/>
            <a:ext cx="27436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ClawHub 同步 / 社区 / 企业；Top50 样本 46%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54450" y="2723257"/>
            <a:ext cx="74860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/ 28% / 26%</a:t>
            </a:r>
            <a:endParaRPr/>
          </a:p>
        </p:txBody>
      </p:sp>
      <p:pic>
        <p:nvPicPr>
          <p:cNvPr id="49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17900" y="2960688"/>
            <a:ext cx="3124200" cy="516136"/>
          </a:xfrm>
          <a:prstGeom prst="rect">
            <a:avLst/>
          </a:prstGeom>
        </p:spPr>
      </p:pic>
      <p:sp>
        <p:nvSpPr>
          <p:cNvPr id="50" name="形状 50"/>
          <p:cNvSpPr/>
          <p:nvPr/>
        </p:nvSpPr>
        <p:spPr>
          <a:xfrm>
            <a:off x="3517900" y="3017838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51" name="文字 51"/>
          <p:cNvSpPr txBox="1"/>
          <p:nvPr/>
        </p:nvSpPr>
        <p:spPr>
          <a:xfrm>
            <a:off x="3559770" y="3052763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854450" y="3024188"/>
            <a:ext cx="17415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发布：目录、ZIP 与团队库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3854450" y="3239393"/>
            <a:ext cx="273913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网页 / CLI / GitHub；版本、可见性、团队审核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17900" y="3476823"/>
            <a:ext cx="3124200" cy="516136"/>
          </a:xfrm>
          <a:prstGeom prst="rect">
            <a:avLst/>
          </a:prstGeom>
        </p:spPr>
      </p:pic>
      <p:sp>
        <p:nvSpPr>
          <p:cNvPr id="55" name="形状 55"/>
          <p:cNvSpPr/>
          <p:nvPr/>
        </p:nvSpPr>
        <p:spPr>
          <a:xfrm>
            <a:off x="3517900" y="3533974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56" name="文字 56"/>
          <p:cNvSpPr txBox="1"/>
          <p:nvPr/>
        </p:nvSpPr>
        <p:spPr>
          <a:xfrm>
            <a:off x="3559770" y="3568898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3854450" y="3540323"/>
            <a:ext cx="182840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消费：CLI / DSH / API / ZIP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854450" y="3755529"/>
            <a:ext cx="206771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install &lt;slug&gt; --dir ./skills</a:t>
            </a:r>
            <a:endParaRPr/>
          </a:p>
        </p:txBody>
      </p:sp>
      <p:pic>
        <p:nvPicPr>
          <p:cNvPr id="59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17900" y="3992960"/>
            <a:ext cx="3124200" cy="516136"/>
          </a:xfrm>
          <a:prstGeom prst="rect">
            <a:avLst/>
          </a:prstGeom>
        </p:spPr>
      </p:pic>
      <p:sp>
        <p:nvSpPr>
          <p:cNvPr id="60" name="形状 60"/>
          <p:cNvSpPr/>
          <p:nvPr/>
        </p:nvSpPr>
        <p:spPr>
          <a:xfrm>
            <a:off x="3517900" y="4050110"/>
            <a:ext cx="228600" cy="228600"/>
          </a:xfrm>
          <a:prstGeom prst="ellipse">
            <a:avLst/>
          </a:prstGeom>
          <a:noFill/>
          <a:ln w="6350">
            <a:solidFill>
              <a:srgbClr val="C9CDD2">
                <a:alpha val="100000"/>
              </a:srgbClr>
            </a:solidFill>
            <a:prstDash val="solid"/>
          </a:ln>
        </p:spPr>
      </p:sp>
      <p:sp>
        <p:nvSpPr>
          <p:cNvPr id="61" name="文字 61"/>
          <p:cNvSpPr txBox="1"/>
          <p:nvPr/>
        </p:nvSpPr>
        <p:spPr>
          <a:xfrm>
            <a:off x="3559770" y="4085035"/>
            <a:ext cx="15756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3854450" y="4056460"/>
            <a:ext cx="19177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试运行：云端会话 + 运行案例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3854450" y="4271665"/>
            <a:ext cx="238412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前端已实现创建/恢复/加载；本次未实测</a:t>
            </a:r>
            <a:endParaRPr/>
          </a:p>
        </p:txBody>
      </p:sp>
      <p:pic>
        <p:nvPicPr>
          <p:cNvPr id="64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17900" y="4593630"/>
            <a:ext cx="3124200" cy="41017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3517900" y="4663480"/>
            <a:ext cx="26187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install &lt;slug&gt; --dir ./skills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3517900" y="4847630"/>
            <a:ext cx="26774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默认 ./skills；DSH ~/.dsh/skills；不自动装依赖。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94501" y="1798241"/>
            <a:ext cx="4940300" cy="320555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6940550" y="1823641"/>
            <a:ext cx="1773238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 · 评测机制 / TRACE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0501908" y="1874441"/>
            <a:ext cx="1245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5 维 · 15 子项 · 满分 5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940550" y="2058591"/>
            <a:ext cx="25909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维度内均分，再五维等权；40 条有效样本。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940550" y="229602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012980" y="2283321"/>
            <a:ext cx="57596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可信任度</a:t>
            </a:r>
            <a:endParaRPr/>
          </a:p>
        </p:txBody>
      </p:sp>
      <p:sp>
        <p:nvSpPr>
          <p:cNvPr id="73" name="形状 73"/>
          <p:cNvSpPr/>
          <p:nvPr/>
        </p:nvSpPr>
        <p:spPr>
          <a:xfrm>
            <a:off x="7969250" y="232390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74" name="形状 74"/>
          <p:cNvSpPr/>
          <p:nvPr/>
        </p:nvSpPr>
        <p:spPr>
          <a:xfrm>
            <a:off x="7969250" y="2323902"/>
            <a:ext cx="3271738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75" name="文字 75"/>
          <p:cNvSpPr txBox="1"/>
          <p:nvPr/>
        </p:nvSpPr>
        <p:spPr>
          <a:xfrm>
            <a:off x="11445181" y="228897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4.87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940550" y="252968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R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012980" y="2516981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可靠性</a:t>
            </a:r>
            <a:endParaRPr/>
          </a:p>
        </p:txBody>
      </p:sp>
      <p:sp>
        <p:nvSpPr>
          <p:cNvPr id="78" name="形状 78"/>
          <p:cNvSpPr/>
          <p:nvPr/>
        </p:nvSpPr>
        <p:spPr>
          <a:xfrm>
            <a:off x="7969250" y="255756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79" name="形状 79"/>
          <p:cNvSpPr/>
          <p:nvPr/>
        </p:nvSpPr>
        <p:spPr>
          <a:xfrm>
            <a:off x="7969250" y="2557562"/>
            <a:ext cx="2922389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80" name="文字 80"/>
          <p:cNvSpPr txBox="1"/>
          <p:nvPr/>
        </p:nvSpPr>
        <p:spPr>
          <a:xfrm>
            <a:off x="11445181" y="252263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4.35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940550" y="2763341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012980" y="275064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适应性</a:t>
            </a:r>
            <a:endParaRPr/>
          </a:p>
        </p:txBody>
      </p:sp>
      <p:sp>
        <p:nvSpPr>
          <p:cNvPr id="83" name="形状 83"/>
          <p:cNvSpPr/>
          <p:nvPr/>
        </p:nvSpPr>
        <p:spPr>
          <a:xfrm>
            <a:off x="7969250" y="279122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84" name="形状 84"/>
          <p:cNvSpPr/>
          <p:nvPr/>
        </p:nvSpPr>
        <p:spPr>
          <a:xfrm>
            <a:off x="7969250" y="2791222"/>
            <a:ext cx="3009702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85" name="文字 85"/>
          <p:cNvSpPr txBox="1"/>
          <p:nvPr/>
        </p:nvSpPr>
        <p:spPr>
          <a:xfrm>
            <a:off x="11445181" y="275629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4.48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6940550" y="299700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7012980" y="298430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规范性</a:t>
            </a:r>
            <a:endParaRPr/>
          </a:p>
        </p:txBody>
      </p:sp>
      <p:sp>
        <p:nvSpPr>
          <p:cNvPr id="88" name="形状 88"/>
          <p:cNvSpPr/>
          <p:nvPr/>
        </p:nvSpPr>
        <p:spPr>
          <a:xfrm>
            <a:off x="7969250" y="302488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89" name="形状 89"/>
          <p:cNvSpPr/>
          <p:nvPr/>
        </p:nvSpPr>
        <p:spPr>
          <a:xfrm>
            <a:off x="7969250" y="3024882"/>
            <a:ext cx="294253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90" name="文字 90"/>
          <p:cNvSpPr txBox="1"/>
          <p:nvPr/>
        </p:nvSpPr>
        <p:spPr>
          <a:xfrm>
            <a:off x="11445181" y="298995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4.38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940550" y="3230662"/>
            <a:ext cx="8513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E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7012980" y="3217962"/>
            <a:ext cx="4426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有效性</a:t>
            </a:r>
            <a:endParaRPr/>
          </a:p>
        </p:txBody>
      </p:sp>
      <p:sp>
        <p:nvSpPr>
          <p:cNvPr id="93" name="形状 93"/>
          <p:cNvSpPr/>
          <p:nvPr/>
        </p:nvSpPr>
        <p:spPr>
          <a:xfrm>
            <a:off x="7969250" y="3258542"/>
            <a:ext cx="3359150" cy="88900"/>
          </a:xfrm>
          <a:prstGeom prst="roundRect">
            <a:avLst>
              <a:gd name="adj" fmla="val 21429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94" name="形状 94"/>
          <p:cNvSpPr/>
          <p:nvPr/>
        </p:nvSpPr>
        <p:spPr>
          <a:xfrm>
            <a:off x="7969250" y="3258542"/>
            <a:ext cx="3097113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95" name="文字 95"/>
          <p:cNvSpPr txBox="1"/>
          <p:nvPr/>
        </p:nvSpPr>
        <p:spPr>
          <a:xfrm>
            <a:off x="11445181" y="3223617"/>
            <a:ext cx="3023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4.61</a:t>
            </a:r>
            <a:endParaRPr/>
          </a:p>
        </p:txBody>
      </p:sp>
      <p:sp>
        <p:nvSpPr>
          <p:cNvPr id="96" name="形状 96"/>
          <p:cNvSpPr/>
          <p:nvPr/>
        </p:nvSpPr>
        <p:spPr>
          <a:xfrm>
            <a:off x="6940550" y="3464322"/>
            <a:ext cx="1312863" cy="260350"/>
          </a:xfrm>
          <a:prstGeom prst="roundRect">
            <a:avLst>
              <a:gd name="adj" fmla="val 975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97" name="文字 97"/>
          <p:cNvSpPr txBox="1"/>
          <p:nvPr/>
        </p:nvSpPr>
        <p:spPr>
          <a:xfrm>
            <a:off x="7023100" y="3496072"/>
            <a:ext cx="378519" cy="1968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4.54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7388920" y="3534172"/>
            <a:ext cx="79464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/ 5 · 五维等权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8342313" y="3530997"/>
            <a:ext cx="253861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中位 4.56 · 72.5% ≥4.5 · 最低 4.12 · 0 条 &lt;4.0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940550" y="3807222"/>
            <a:ext cx="202634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评测覆盖：企业最高，ClawHub 空白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940550" y="400407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</a:t>
            </a:r>
            <a:endParaRPr/>
          </a:p>
        </p:txBody>
      </p:sp>
      <p:sp>
        <p:nvSpPr>
          <p:cNvPr id="102" name="形状 102"/>
          <p:cNvSpPr/>
          <p:nvPr/>
        </p:nvSpPr>
        <p:spPr>
          <a:xfrm>
            <a:off x="7499350" y="40358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103" name="形状 103"/>
          <p:cNvSpPr/>
          <p:nvPr/>
        </p:nvSpPr>
        <p:spPr>
          <a:xfrm>
            <a:off x="7499350" y="4035822"/>
            <a:ext cx="3854450" cy="698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104" name="文字 104"/>
          <p:cNvSpPr txBox="1"/>
          <p:nvPr/>
        </p:nvSpPr>
        <p:spPr>
          <a:xfrm>
            <a:off x="11475641" y="4000897"/>
            <a:ext cx="2718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100%</a:t>
            </a:r>
            <a:endParaRPr/>
          </a:p>
        </p:txBody>
      </p:sp>
      <p:sp>
        <p:nvSpPr>
          <p:cNvPr id="105" name="文字 105"/>
          <p:cNvSpPr txBox="1"/>
          <p:nvPr/>
        </p:nvSpPr>
        <p:spPr>
          <a:xfrm>
            <a:off x="6940550" y="4213622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社区</a:t>
            </a:r>
            <a:endParaRPr/>
          </a:p>
        </p:txBody>
      </p:sp>
      <p:sp>
        <p:nvSpPr>
          <p:cNvPr id="106" name="形状 106"/>
          <p:cNvSpPr/>
          <p:nvPr/>
        </p:nvSpPr>
        <p:spPr>
          <a:xfrm>
            <a:off x="7499350" y="424537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107" name="形状 107"/>
          <p:cNvSpPr/>
          <p:nvPr/>
        </p:nvSpPr>
        <p:spPr>
          <a:xfrm>
            <a:off x="7499350" y="4245372"/>
            <a:ext cx="2852242" cy="698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108" name="文字 108"/>
          <p:cNvSpPr txBox="1"/>
          <p:nvPr/>
        </p:nvSpPr>
        <p:spPr>
          <a:xfrm>
            <a:off x="11540431" y="4210447"/>
            <a:ext cx="20707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74%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940550" y="4423172"/>
            <a:ext cx="52437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ClawHub</a:t>
            </a:r>
            <a:endParaRPr/>
          </a:p>
        </p:txBody>
      </p:sp>
      <p:sp>
        <p:nvSpPr>
          <p:cNvPr id="110" name="形状 110"/>
          <p:cNvSpPr/>
          <p:nvPr/>
        </p:nvSpPr>
        <p:spPr>
          <a:xfrm>
            <a:off x="7499350" y="4454922"/>
            <a:ext cx="3854450" cy="69850"/>
          </a:xfrm>
          <a:prstGeom prst="roundRect">
            <a:avLst>
              <a:gd name="adj" fmla="val 27273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111" name="文字 111"/>
          <p:cNvSpPr txBox="1"/>
          <p:nvPr/>
        </p:nvSpPr>
        <p:spPr>
          <a:xfrm>
            <a:off x="11605220" y="4419997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0%</a:t>
            </a:r>
            <a:endParaRPr/>
          </a:p>
        </p:txBody>
      </p:sp>
      <p:sp>
        <p:nvSpPr>
          <p:cNvPr id="112" name="文字 112"/>
          <p:cNvSpPr txBox="1"/>
          <p:nvPr/>
        </p:nvSpPr>
        <p:spPr>
          <a:xfrm>
            <a:off x="6940550" y="4620022"/>
            <a:ext cx="32275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抽样 60：企业 20/20、社区 20/27、ClawHub 0/6；去重 53，有效 40。</a:t>
            </a:r>
            <a:endParaRPr/>
          </a:p>
        </p:txBody>
      </p:sp>
      <p:pic>
        <p:nvPicPr>
          <p:cNvPr id="113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40550" y="4750792"/>
            <a:ext cx="4794251" cy="406995"/>
          </a:xfrm>
          <a:prstGeom prst="rect">
            <a:avLst/>
          </a:prstGeom>
        </p:spPr>
      </p:pic>
      <p:sp>
        <p:nvSpPr>
          <p:cNvPr id="114" name="文字 114"/>
          <p:cNvSpPr txBox="1"/>
          <p:nvPr/>
        </p:nvSpPr>
        <p:spPr>
          <a:xfrm>
            <a:off x="6940550" y="4826992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证据：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7302500" y="4826992"/>
            <a:ext cx="332501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科恩/云鼎双报告 · 内容指纹 · 数字签名（逐文件 SHA-256）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6940550" y="5001915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示例：</a:t>
            </a:r>
            <a:endParaRPr/>
          </a:p>
        </p:txBody>
      </p:sp>
      <p:sp>
        <p:nvSpPr>
          <p:cNvPr id="117" name="文字 117"/>
          <p:cNvSpPr txBox="1"/>
          <p:nvPr/>
        </p:nvSpPr>
        <p:spPr>
          <a:xfrm>
            <a:off x="7302500" y="5001915"/>
            <a:ext cx="279469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编程专家Pro 4.4/5；274.5K tokens/次（沙箱预估）</a:t>
            </a:r>
            <a:endParaRPr/>
          </a:p>
        </p:txBody>
      </p:sp>
      <p:pic>
        <p:nvPicPr>
          <p:cNvPr id="11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7200" y="5105400"/>
            <a:ext cx="11277600" cy="1447800"/>
          </a:xfrm>
          <a:prstGeom prst="rect">
            <a:avLst/>
          </a:prstGeom>
        </p:spPr>
      </p:pic>
      <p:sp>
        <p:nvSpPr>
          <p:cNvPr id="119" name="文字 119"/>
          <p:cNvSpPr txBox="1"/>
          <p:nvPr/>
        </p:nvSpPr>
        <p:spPr>
          <a:xfrm>
            <a:off x="457200" y="5213350"/>
            <a:ext cx="106580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 · 生态画像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5049242" y="5270500"/>
            <a:ext cx="11387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Top50 样本，不代表全量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457200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来源结构</a:t>
            </a:r>
            <a:endParaRPr/>
          </a:p>
        </p:txBody>
      </p:sp>
      <p:sp>
        <p:nvSpPr>
          <p:cNvPr id="122" name="形状 122"/>
          <p:cNvSpPr/>
          <p:nvPr/>
        </p:nvSpPr>
        <p:spPr>
          <a:xfrm>
            <a:off x="457200" y="5664200"/>
            <a:ext cx="1282998" cy="889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123" name="形状 123"/>
          <p:cNvSpPr/>
          <p:nvPr/>
        </p:nvSpPr>
        <p:spPr>
          <a:xfrm>
            <a:off x="1740198" y="5664200"/>
            <a:ext cx="780951" cy="889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124" name="形状 124"/>
          <p:cNvSpPr/>
          <p:nvPr/>
        </p:nvSpPr>
        <p:spPr>
          <a:xfrm>
            <a:off x="2521148" y="5664200"/>
            <a:ext cx="725091" cy="8890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</p:sp>
      <p:sp>
        <p:nvSpPr>
          <p:cNvPr id="125" name="文字 125"/>
          <p:cNvSpPr txBox="1"/>
          <p:nvPr/>
        </p:nvSpPr>
        <p:spPr>
          <a:xfrm>
            <a:off x="457200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社区 46%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1521718" y="5797550"/>
            <a:ext cx="672802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ClawHub 28%</a:t>
            </a:r>
            <a:endParaRPr/>
          </a:p>
        </p:txBody>
      </p:sp>
      <p:sp>
        <p:nvSpPr>
          <p:cNvPr id="127" name="文字 127"/>
          <p:cNvSpPr txBox="1"/>
          <p:nvPr/>
        </p:nvSpPr>
        <p:spPr>
          <a:xfrm>
            <a:off x="2813943" y="5797550"/>
            <a:ext cx="445095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 26%</a:t>
            </a:r>
            <a:endParaRPr/>
          </a:p>
        </p:txBody>
      </p:sp>
      <p:sp>
        <p:nvSpPr>
          <p:cNvPr id="128" name="文字 128"/>
          <p:cNvSpPr txBox="1"/>
          <p:nvPr/>
        </p:nvSpPr>
        <p:spPr>
          <a:xfrm>
            <a:off x="3386038" y="548640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下载类别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3386038" y="56832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开发编程</a:t>
            </a:r>
            <a:endParaRPr/>
          </a:p>
        </p:txBody>
      </p:sp>
      <p:sp>
        <p:nvSpPr>
          <p:cNvPr id="130" name="形状 130"/>
          <p:cNvSpPr/>
          <p:nvPr/>
        </p:nvSpPr>
        <p:spPr>
          <a:xfrm>
            <a:off x="3989288" y="57086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131" name="形状 131"/>
          <p:cNvSpPr/>
          <p:nvPr/>
        </p:nvSpPr>
        <p:spPr>
          <a:xfrm>
            <a:off x="3989288" y="5708650"/>
            <a:ext cx="659011" cy="8255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132" name="文字 132"/>
          <p:cNvSpPr txBox="1"/>
          <p:nvPr/>
        </p:nvSpPr>
        <p:spPr>
          <a:xfrm>
            <a:off x="5851426" y="56800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36.9%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3386038" y="5905500"/>
            <a:ext cx="47347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AI Agent</a:t>
            </a:r>
            <a:endParaRPr/>
          </a:p>
        </p:txBody>
      </p:sp>
      <p:sp>
        <p:nvSpPr>
          <p:cNvPr id="134" name="形状 134"/>
          <p:cNvSpPr/>
          <p:nvPr/>
        </p:nvSpPr>
        <p:spPr>
          <a:xfrm>
            <a:off x="3989288" y="59309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135" name="形状 135"/>
          <p:cNvSpPr/>
          <p:nvPr/>
        </p:nvSpPr>
        <p:spPr>
          <a:xfrm>
            <a:off x="3989288" y="5930900"/>
            <a:ext cx="235744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136" name="文字 136"/>
          <p:cNvSpPr txBox="1"/>
          <p:nvPr/>
        </p:nvSpPr>
        <p:spPr>
          <a:xfrm>
            <a:off x="5851426" y="59023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13.2%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3386038" y="61277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知识管理</a:t>
            </a:r>
            <a:endParaRPr/>
          </a:p>
        </p:txBody>
      </p:sp>
      <p:sp>
        <p:nvSpPr>
          <p:cNvPr id="138" name="形状 138"/>
          <p:cNvSpPr/>
          <p:nvPr/>
        </p:nvSpPr>
        <p:spPr>
          <a:xfrm>
            <a:off x="3989288" y="615315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139" name="形状 139"/>
          <p:cNvSpPr/>
          <p:nvPr/>
        </p:nvSpPr>
        <p:spPr>
          <a:xfrm>
            <a:off x="3989288" y="6153150"/>
            <a:ext cx="182166" cy="8255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140" name="文字 140"/>
          <p:cNvSpPr txBox="1"/>
          <p:nvPr/>
        </p:nvSpPr>
        <p:spPr>
          <a:xfrm>
            <a:off x="5851426" y="612457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10.2%</a:t>
            </a:r>
            <a:endParaRPr/>
          </a:p>
        </p:txBody>
      </p:sp>
      <p:sp>
        <p:nvSpPr>
          <p:cNvPr id="141" name="文字 141"/>
          <p:cNvSpPr txBox="1"/>
          <p:nvPr/>
        </p:nvSpPr>
        <p:spPr>
          <a:xfrm>
            <a:off x="3386038" y="6350000"/>
            <a:ext cx="2540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其他</a:t>
            </a:r>
            <a:endParaRPr/>
          </a:p>
        </p:txBody>
      </p:sp>
      <p:sp>
        <p:nvSpPr>
          <p:cNvPr id="142" name="形状 142"/>
          <p:cNvSpPr/>
          <p:nvPr/>
        </p:nvSpPr>
        <p:spPr>
          <a:xfrm>
            <a:off x="3989288" y="6375400"/>
            <a:ext cx="1785938" cy="82550"/>
          </a:xfrm>
          <a:prstGeom prst="roundRect">
            <a:avLst>
              <a:gd name="adj" fmla="val 23077"/>
            </a:avLst>
          </a:prstGeom>
          <a:solidFill>
            <a:srgbClr val="F0F1F3">
              <a:alpha val="100000"/>
            </a:srgbClr>
          </a:solidFill>
          <a:ln>
            <a:noFill/>
          </a:ln>
        </p:spPr>
      </p:sp>
      <p:sp>
        <p:nvSpPr>
          <p:cNvPr id="143" name="形状 143"/>
          <p:cNvSpPr/>
          <p:nvPr/>
        </p:nvSpPr>
        <p:spPr>
          <a:xfrm>
            <a:off x="3989288" y="6375400"/>
            <a:ext cx="709017" cy="82550"/>
          </a:xfrm>
          <a:prstGeom prst="rect">
            <a:avLst/>
          </a:prstGeom>
          <a:solidFill>
            <a:srgbClr val="A5ACB4">
              <a:alpha val="100000"/>
            </a:srgbClr>
          </a:solidFill>
          <a:ln>
            <a:noFill/>
          </a:ln>
        </p:spPr>
      </p:sp>
      <p:sp>
        <p:nvSpPr>
          <p:cNvPr id="144" name="文字 144"/>
          <p:cNvSpPr txBox="1"/>
          <p:nvPr/>
        </p:nvSpPr>
        <p:spPr>
          <a:xfrm>
            <a:off x="5851426" y="6346825"/>
            <a:ext cx="33655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39.7%</a:t>
            </a:r>
            <a:endParaRPr/>
          </a:p>
        </p:txBody>
      </p:sp>
      <p:pic>
        <p:nvPicPr>
          <p:cNvPr id="145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40376" y="5187950"/>
            <a:ext cx="5394425" cy="1365250"/>
          </a:xfrm>
          <a:prstGeom prst="rect">
            <a:avLst/>
          </a:prstGeom>
        </p:spPr>
      </p:pic>
      <p:sp>
        <p:nvSpPr>
          <p:cNvPr id="146" name="文字 146"/>
          <p:cNvSpPr txBox="1"/>
          <p:nvPr/>
        </p:nvSpPr>
        <p:spPr>
          <a:xfrm>
            <a:off x="6486426" y="5213350"/>
            <a:ext cx="148778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05 · 结论 / 3 个判断</a:t>
            </a:r>
            <a:endParaRPr/>
          </a:p>
        </p:txBody>
      </p:sp>
      <p:sp>
        <p:nvSpPr>
          <p:cNvPr id="147" name="文字 147"/>
          <p:cNvSpPr txBox="1"/>
          <p:nvPr/>
        </p:nvSpPr>
        <p:spPr>
          <a:xfrm>
            <a:off x="6486426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148" name="文字 148"/>
          <p:cNvSpPr txBox="1"/>
          <p:nvPr/>
        </p:nvSpPr>
        <p:spPr>
          <a:xfrm>
            <a:off x="6486426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评测成为分发的一部分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6486426" y="5793085"/>
            <a:ext cx="158105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TRACE 五维/15 子项 + 双路安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6486426" y="5961955"/>
            <a:ext cx="16287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全 + 内容指纹/签名，把「选」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486426" y="6130826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从下载量变成证据链。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8269684" y="5441950"/>
            <a:ext cx="13464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69684" y="559435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评测与企业供给强绑定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8269684" y="5793085"/>
            <a:ext cx="131703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抽样中企业 100%、社区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8269684" y="5961955"/>
            <a:ext cx="15779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74%、ClawHub 0%；高分集</a:t>
            </a:r>
            <a:endParaRPr/>
          </a:p>
        </p:txBody>
      </p:sp>
      <p:sp>
        <p:nvSpPr>
          <p:cNvPr id="156" name="文字 156"/>
          <p:cNvSpPr txBox="1"/>
          <p:nvPr/>
        </p:nvSpPr>
        <p:spPr>
          <a:xfrm>
            <a:off x="8269684" y="6130826"/>
            <a:ext cx="103554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中，72.5% ≥4.5。</a:t>
            </a:r>
            <a:endParaRPr/>
          </a:p>
        </p:txBody>
      </p:sp>
      <p:sp>
        <p:nvSpPr>
          <p:cNvPr id="157" name="文字 157"/>
          <p:cNvSpPr txBox="1"/>
          <p:nvPr/>
        </p:nvSpPr>
        <p:spPr>
          <a:xfrm>
            <a:off x="10053043" y="5441950"/>
            <a:ext cx="13463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10053043" y="559435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下一关是可信规模化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10053043" y="579308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全量覆盖、版本一致、评测与</a:t>
            </a:r>
            <a:endParaRPr/>
          </a:p>
        </p:txBody>
      </p:sp>
      <p:sp>
        <p:nvSpPr>
          <p:cNvPr id="160" name="文字 160"/>
          <p:cNvSpPr txBox="1"/>
          <p:nvPr/>
        </p:nvSpPr>
        <p:spPr>
          <a:xfrm>
            <a:off x="10053043" y="5961955"/>
            <a:ext cx="15811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包内容对齐；否则评测只是精</a:t>
            </a:r>
            <a:endParaRPr/>
          </a:p>
        </p:txBody>
      </p:sp>
      <p:sp>
        <p:nvSpPr>
          <p:cNvPr id="161" name="文字 161"/>
          <p:cNvSpPr txBox="1"/>
          <p:nvPr/>
        </p:nvSpPr>
        <p:spPr>
          <a:xfrm>
            <a:off x="10053043" y="6130826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品标签。</a:t>
            </a:r>
            <a:endParaRPr/>
          </a:p>
        </p:txBody>
      </p:sp>
      <p:sp>
        <p:nvSpPr>
          <p:cNvPr id="162" name="文字 162"/>
          <p:cNvSpPr txBox="1"/>
          <p:nvPr/>
        </p:nvSpPr>
        <p:spPr>
          <a:xfrm>
            <a:off x="457200" y="6610350"/>
            <a:ext cx="4570909" cy="120651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来源：腾讯 SkillHub 官网 / 公开 API / Tencent/skillhub 官方仓库，2026-10-19 只读核查；完整口径与链接见伴生调研笔记。</a:t>
            </a:r>
            <a:endParaRPr/>
          </a:p>
        </p:txBody>
      </p:sp>
      <p:pic>
        <p:nvPicPr>
          <p:cNvPr id="163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>
              <a:alpha val="100000"/>
            </a:srgbClr>
          </a:solidFill>
          <a:ln>
            <a:noFill/>
          </a:ln>
        </p:spPr>
      </p:sp>
      <p:pic>
        <p:nvPicPr>
          <p:cNvPr id="4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文字 5"/>
          <p:cNvSpPr txBox="1"/>
          <p:nvPr/>
        </p:nvSpPr>
        <p:spPr>
          <a:xfrm>
            <a:off x="533400" y="387350"/>
            <a:ext cx="248582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18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 LIFECYCLE · 四段实际做法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533400" y="628650"/>
            <a:ext cx="7613452" cy="412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u="none" spc="-41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一个 Skill 的四段路：写出来 → 发出去 → 装进去 → 用起来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533400" y="1099245"/>
            <a:ext cx="48656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 以 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1007269" y="1117914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SKILL.md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1550491" y="1099245"/>
            <a:ext cx="503535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为入口，按需配脚本 / 资料 / 模板；四段路各有具体做法，用完的反馈再回到生产。</a:t>
            </a:r>
            <a:endParaRPr/>
          </a:p>
        </p:txBody>
      </p:sp>
      <p:pic>
        <p:nvPicPr>
          <p:cNvPr id="10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1451670"/>
            <a:ext cx="2571750" cy="3798788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692150" y="1686024"/>
            <a:ext cx="279202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spc="-95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104755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生产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47552" y="1858069"/>
            <a:ext cx="464642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117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PRODUCE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2150" y="2073970"/>
            <a:ext cx="16891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把一次做对的过程写下来</a:t>
            </a:r>
            <a:endParaRPr/>
          </a:p>
        </p:txBody>
      </p:sp>
      <p:pic>
        <p:nvPicPr>
          <p:cNvPr id="1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150" y="2391470"/>
            <a:ext cx="2254250" cy="378619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793750" y="2416489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SKILL.md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1336973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：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470323" y="2416489"/>
            <a:ext cx="28436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name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741984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、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1875334" y="2416489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description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2622252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，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93750" y="2587129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正文写步骤、异常与验收</a:t>
            </a:r>
            <a:endParaRPr/>
          </a:p>
        </p:txBody>
      </p:sp>
      <p:pic>
        <p:nvPicPr>
          <p:cNvPr id="23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50" y="2846288"/>
            <a:ext cx="2254250" cy="378619"/>
          </a:xfrm>
          <a:prstGeom prst="rect">
            <a:avLst/>
          </a:prstGeom>
        </p:spPr>
      </p:pic>
      <p:sp>
        <p:nvSpPr>
          <p:cNvPr id="24" name="文字 24"/>
          <p:cNvSpPr txBox="1"/>
          <p:nvPr/>
        </p:nvSpPr>
        <p:spPr>
          <a:xfrm>
            <a:off x="793750" y="2852638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跑 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971550" y="2871307"/>
            <a:ext cx="96331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$skill-creator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1922165" y="2852638"/>
            <a:ext cx="7239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生成草稿，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93750" y="3041948"/>
            <a:ext cx="9461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再拿真实任务改</a:t>
            </a:r>
            <a:endParaRPr/>
          </a:p>
        </p:txBody>
      </p:sp>
      <p:pic>
        <p:nvPicPr>
          <p:cNvPr id="28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50" y="3301107"/>
            <a:ext cx="2254250" cy="378619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793750" y="3307457"/>
            <a:ext cx="141208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现成 MCP / API / SOP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93750" y="3496766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封装成方法，并声明依赖</a:t>
            </a:r>
            <a:endParaRPr/>
          </a:p>
        </p:txBody>
      </p:sp>
      <p:pic>
        <p:nvPicPr>
          <p:cNvPr id="31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150" y="3755926"/>
            <a:ext cx="2254250" cy="378619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793750" y="3762276"/>
            <a:ext cx="165725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用「该用 / 不该用 / 边界」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93750" y="3951585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三类任务验证触发与结果</a:t>
            </a:r>
            <a:endParaRPr/>
          </a:p>
        </p:txBody>
      </p:sp>
      <p:pic>
        <p:nvPicPr>
          <p:cNvPr id="34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150" y="4210745"/>
            <a:ext cx="2254250" cy="378619"/>
          </a:xfrm>
          <a:prstGeom prst="rect">
            <a:avLst/>
          </a:prstGeom>
        </p:spPr>
      </p:pic>
      <p:sp>
        <p:nvSpPr>
          <p:cNvPr id="35" name="文字 35"/>
          <p:cNvSpPr txBox="1"/>
          <p:nvPr/>
        </p:nvSpPr>
        <p:spPr>
          <a:xfrm>
            <a:off x="793750" y="4217095"/>
            <a:ext cx="13462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留一个能跑通的样例，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793750" y="4406404"/>
            <a:ext cx="1212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再写清不适用的情况</a:t>
            </a:r>
            <a:endParaRPr/>
          </a:p>
        </p:txBody>
      </p:sp>
      <p:sp>
        <p:nvSpPr>
          <p:cNvPr id="37" name="形状 37"/>
          <p:cNvSpPr/>
          <p:nvPr/>
        </p:nvSpPr>
        <p:spPr>
          <a:xfrm>
            <a:off x="692150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</p:sp>
      <p:sp>
        <p:nvSpPr>
          <p:cNvPr id="38" name="文字 38"/>
          <p:cNvSpPr txBox="1"/>
          <p:nvPr/>
        </p:nvSpPr>
        <p:spPr>
          <a:xfrm>
            <a:off x="78105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39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产物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1013222" y="4866719"/>
            <a:ext cx="49847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-8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SKILL.md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498997" y="4861322"/>
            <a:ext cx="14992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+ 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636216" y="4866719"/>
            <a:ext cx="49847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-8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scripts/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013222" y="5023187"/>
            <a:ext cx="680641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-8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references/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681163" y="5017790"/>
            <a:ext cx="58172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+ 评测记录</a:t>
            </a:r>
            <a:endParaRPr/>
          </a:p>
        </p:txBody>
      </p:sp>
      <p:pic>
        <p:nvPicPr>
          <p:cNvPr id="44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49600" y="3274814"/>
            <a:ext cx="190500" cy="152400"/>
          </a:xfrm>
          <a:prstGeom prst="rect">
            <a:avLst/>
          </a:prstGeom>
        </p:spPr>
      </p:pic>
      <p:pic>
        <p:nvPicPr>
          <p:cNvPr id="45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84550" y="1451670"/>
            <a:ext cx="2571750" cy="3798788"/>
          </a:xfrm>
          <a:prstGeom prst="rect">
            <a:avLst/>
          </a:prstGeom>
        </p:spPr>
      </p:pic>
      <p:sp>
        <p:nvSpPr>
          <p:cNvPr id="46" name="文字 46"/>
          <p:cNvSpPr txBox="1"/>
          <p:nvPr/>
        </p:nvSpPr>
        <p:spPr>
          <a:xfrm>
            <a:off x="3543300" y="1686024"/>
            <a:ext cx="279201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spc="-95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89870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分发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3898702" y="1858069"/>
            <a:ext cx="658316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117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DISTRIBUTE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3543300" y="2073970"/>
            <a:ext cx="15367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把确定的版本交到手上</a:t>
            </a:r>
            <a:endParaRPr/>
          </a:p>
        </p:txBody>
      </p:sp>
      <p:pic>
        <p:nvPicPr>
          <p:cNvPr id="50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43300" y="2391470"/>
            <a:ext cx="2254250" cy="378619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3644900" y="2397820"/>
            <a:ext cx="174138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Git 仓库：目录 + 提交历史，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3644900" y="2587129"/>
            <a:ext cx="126801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ref 指向实际 commit</a:t>
            </a:r>
            <a:endParaRPr/>
          </a:p>
        </p:txBody>
      </p:sp>
      <p:pic>
        <p:nvPicPr>
          <p:cNvPr id="53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43300" y="2846288"/>
            <a:ext cx="2254250" cy="378619"/>
          </a:xfrm>
          <a:prstGeom prst="rect">
            <a:avLst/>
          </a:prstGeom>
        </p:spPr>
      </p:pic>
      <p:sp>
        <p:nvSpPr>
          <p:cNvPr id="54" name="文字 54"/>
          <p:cNvSpPr txBox="1"/>
          <p:nvPr/>
        </p:nvSpPr>
        <p:spPr>
          <a:xfrm>
            <a:off x="3644900" y="2852638"/>
            <a:ext cx="156884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ZIP / 目录包：离线交付，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644900" y="3041948"/>
            <a:ext cx="1212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附依赖与完整性说明</a:t>
            </a:r>
            <a:endParaRPr/>
          </a:p>
        </p:txBody>
      </p:sp>
      <p:pic>
        <p:nvPicPr>
          <p:cNvPr id="56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43300" y="3301107"/>
            <a:ext cx="2254250" cy="378619"/>
          </a:xfrm>
          <a:prstGeom prst="rect">
            <a:avLst/>
          </a:prstGeom>
        </p:spPr>
      </p:pic>
      <p:sp>
        <p:nvSpPr>
          <p:cNvPr id="57" name="文字 57"/>
          <p:cNvSpPr txBox="1"/>
          <p:nvPr/>
        </p:nvSpPr>
        <p:spPr>
          <a:xfrm>
            <a:off x="3644900" y="3307457"/>
            <a:ext cx="20196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市场目录（如 Skills.sh）做发现，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3644900" y="3496766"/>
            <a:ext cx="66426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CLI 负责取</a:t>
            </a:r>
            <a:endParaRPr/>
          </a:p>
        </p:txBody>
      </p:sp>
      <p:pic>
        <p:nvPicPr>
          <p:cNvPr id="59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43300" y="3755926"/>
            <a:ext cx="2254250" cy="378619"/>
          </a:xfrm>
          <a:prstGeom prst="rect">
            <a:avLst/>
          </a:prstGeom>
        </p:spPr>
      </p:pic>
      <p:sp>
        <p:nvSpPr>
          <p:cNvPr id="60" name="文字 60"/>
          <p:cNvSpPr txBox="1"/>
          <p:nvPr/>
        </p:nvSpPr>
        <p:spPr>
          <a:xfrm>
            <a:off x="3644900" y="3762276"/>
            <a:ext cx="5251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Plugin：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157365" y="3780945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plugin.json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904284" y="3762276"/>
            <a:ext cx="1822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+ 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5073848" y="3780945"/>
            <a:ext cx="48805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skills/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3644900" y="3951585"/>
            <a:ext cx="13781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+ 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3770015" y="3970254"/>
            <a:ext cx="55592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mcp.json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313237" y="3951585"/>
            <a:ext cx="590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组合交付</a:t>
            </a:r>
            <a:endParaRPr/>
          </a:p>
        </p:txBody>
      </p:sp>
      <p:pic>
        <p:nvPicPr>
          <p:cNvPr id="67" name="slide-001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543300" y="4210745"/>
            <a:ext cx="2254250" cy="378619"/>
          </a:xfrm>
          <a:prstGeom prst="rect">
            <a:avLst/>
          </a:prstGeom>
        </p:spPr>
      </p:pic>
      <p:sp>
        <p:nvSpPr>
          <p:cNvPr id="68" name="文字 68"/>
          <p:cNvSpPr txBox="1"/>
          <p:nvPr/>
        </p:nvSpPr>
        <p:spPr>
          <a:xfrm>
            <a:off x="3644900" y="4217095"/>
            <a:ext cx="157360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托管 API：上传 ZIP，返回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644900" y="4425073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skill_id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188123" y="4406404"/>
            <a:ext cx="1822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+ 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357688" y="4425073"/>
            <a:ext cx="48805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version</a:t>
            </a:r>
            <a:endParaRPr/>
          </a:p>
        </p:txBody>
      </p:sp>
      <p:sp>
        <p:nvSpPr>
          <p:cNvPr id="72" name="形状 72"/>
          <p:cNvSpPr/>
          <p:nvPr/>
        </p:nvSpPr>
        <p:spPr>
          <a:xfrm>
            <a:off x="3543300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</p:sp>
      <p:sp>
        <p:nvSpPr>
          <p:cNvPr id="73" name="文字 73"/>
          <p:cNvSpPr txBox="1"/>
          <p:nvPr/>
        </p:nvSpPr>
        <p:spPr>
          <a:xfrm>
            <a:off x="363220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39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产物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3864372" y="4861322"/>
            <a:ext cx="1373287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发布包 + 来源 / 版本 / 许可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3864372" y="5017790"/>
            <a:ext cx="618927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Plugin 另含 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4470599" y="5023187"/>
            <a:ext cx="49847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7" b="1" i="0" u="none" spc="-8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mcp.json</a:t>
            </a:r>
            <a:endParaRPr/>
          </a:p>
        </p:txBody>
      </p:sp>
      <p:pic>
        <p:nvPicPr>
          <p:cNvPr id="77" name="slide-001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00750" y="3274814"/>
            <a:ext cx="190500" cy="152400"/>
          </a:xfrm>
          <a:prstGeom prst="rect">
            <a:avLst/>
          </a:prstGeom>
        </p:spPr>
      </p:pic>
      <p:pic>
        <p:nvPicPr>
          <p:cNvPr id="78" name="slide-001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35700" y="1451670"/>
            <a:ext cx="2571750" cy="3798788"/>
          </a:xfrm>
          <a:prstGeom prst="rect">
            <a:avLst/>
          </a:prstGeom>
        </p:spPr>
      </p:pic>
      <p:sp>
        <p:nvSpPr>
          <p:cNvPr id="79" name="文字 79"/>
          <p:cNvSpPr txBox="1"/>
          <p:nvPr/>
        </p:nvSpPr>
        <p:spPr>
          <a:xfrm>
            <a:off x="6394450" y="1686024"/>
            <a:ext cx="279201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spc="-95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674985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6749852" y="1858069"/>
            <a:ext cx="464641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117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INSTALL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394450" y="2073970"/>
            <a:ext cx="1536700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让宿主发现并跑得起来</a:t>
            </a:r>
            <a:endParaRPr/>
          </a:p>
        </p:txBody>
      </p:sp>
      <p:pic>
        <p:nvPicPr>
          <p:cNvPr id="83" name="slide-001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94450" y="2391470"/>
            <a:ext cx="2254250" cy="378619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6496050" y="2397820"/>
            <a:ext cx="4572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复制到 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6940550" y="2416489"/>
            <a:ext cx="116701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~/.claude/skills/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8094861" y="2397820"/>
            <a:ext cx="1460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、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6496050" y="2605798"/>
            <a:ext cx="116701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~/.agents/skills/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7650361" y="2587129"/>
            <a:ext cx="94614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（也可项目级）</a:t>
            </a:r>
            <a:endParaRPr/>
          </a:p>
        </p:txBody>
      </p:sp>
      <p:pic>
        <p:nvPicPr>
          <p:cNvPr id="89" name="slide-001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94450" y="2846288"/>
            <a:ext cx="2254250" cy="378619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6496050" y="2852638"/>
            <a:ext cx="3532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CLI：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836569" y="2871307"/>
            <a:ext cx="143857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npx skills add &lt;repo&gt;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496050" y="3060617"/>
            <a:ext cx="17781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--skill &lt;name&gt; -g -a codex</a:t>
            </a:r>
            <a:endParaRPr/>
          </a:p>
        </p:txBody>
      </p:sp>
      <p:pic>
        <p:nvPicPr>
          <p:cNvPr id="93" name="slide-001-image-19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94450" y="3301107"/>
            <a:ext cx="2254250" cy="378619"/>
          </a:xfrm>
          <a:prstGeom prst="rect">
            <a:avLst/>
          </a:prstGeom>
        </p:spPr>
      </p:pic>
      <p:sp>
        <p:nvSpPr>
          <p:cNvPr id="94" name="文字 94"/>
          <p:cNvSpPr txBox="1"/>
          <p:nvPr/>
        </p:nvSpPr>
        <p:spPr>
          <a:xfrm>
            <a:off x="6496050" y="3307457"/>
            <a:ext cx="6861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内：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7169547" y="3326126"/>
            <a:ext cx="1099146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$skill-installer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6496050" y="3496766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从指定仓库装，并报位置</a:t>
            </a:r>
            <a:endParaRPr/>
          </a:p>
        </p:txBody>
      </p:sp>
      <p:pic>
        <p:nvPicPr>
          <p:cNvPr id="97" name="slide-001-image-20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94450" y="3755926"/>
            <a:ext cx="2254250" cy="378619"/>
          </a:xfrm>
          <a:prstGeom prst="rect">
            <a:avLst/>
          </a:prstGeom>
        </p:spPr>
      </p:pic>
      <p:sp>
        <p:nvSpPr>
          <p:cNvPr id="98" name="文字 98"/>
          <p:cNvSpPr txBox="1"/>
          <p:nvPr/>
        </p:nvSpPr>
        <p:spPr>
          <a:xfrm>
            <a:off x="6496050" y="3762276"/>
            <a:ext cx="41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云端：</a:t>
            </a:r>
            <a:endParaRPr/>
          </a:p>
        </p:txBody>
      </p:sp>
      <p:sp>
        <p:nvSpPr>
          <p:cNvPr id="99" name="文字 99"/>
          <p:cNvSpPr txBox="1"/>
          <p:nvPr/>
        </p:nvSpPr>
        <p:spPr>
          <a:xfrm>
            <a:off x="6896100" y="3780945"/>
            <a:ext cx="103118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skill_reference</a:t>
            </a:r>
            <a:endParaRPr/>
          </a:p>
        </p:txBody>
      </p:sp>
      <p:sp>
        <p:nvSpPr>
          <p:cNvPr id="100" name="文字 100"/>
          <p:cNvSpPr txBox="1"/>
          <p:nvPr/>
        </p:nvSpPr>
        <p:spPr>
          <a:xfrm>
            <a:off x="6496050" y="3951585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挂 </a:t>
            </a:r>
            <a:endParaRPr/>
          </a:p>
        </p:txBody>
      </p:sp>
      <p:sp>
        <p:nvSpPr>
          <p:cNvPr id="101" name="文字 101"/>
          <p:cNvSpPr txBox="1"/>
          <p:nvPr/>
        </p:nvSpPr>
        <p:spPr>
          <a:xfrm>
            <a:off x="6673850" y="3970254"/>
            <a:ext cx="555923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skill_id</a:t>
            </a:r>
            <a:endParaRPr/>
          </a:p>
        </p:txBody>
      </p:sp>
      <p:sp>
        <p:nvSpPr>
          <p:cNvPr id="102" name="文字 102"/>
          <p:cNvSpPr txBox="1"/>
          <p:nvPr/>
        </p:nvSpPr>
        <p:spPr>
          <a:xfrm>
            <a:off x="7217073" y="3951585"/>
            <a:ext cx="18226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+ </a:t>
            </a:r>
            <a:endParaRPr/>
          </a:p>
        </p:txBody>
      </p:sp>
      <p:sp>
        <p:nvSpPr>
          <p:cNvPr id="103" name="文字 103"/>
          <p:cNvSpPr txBox="1"/>
          <p:nvPr/>
        </p:nvSpPr>
        <p:spPr>
          <a:xfrm>
            <a:off x="7386638" y="3970254"/>
            <a:ext cx="48805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version</a:t>
            </a:r>
            <a:endParaRPr/>
          </a:p>
        </p:txBody>
      </p:sp>
      <p:pic>
        <p:nvPicPr>
          <p:cNvPr id="104" name="slide-001-image-21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394450" y="4210745"/>
            <a:ext cx="2254250" cy="378619"/>
          </a:xfrm>
          <a:prstGeom prst="rect">
            <a:avLst/>
          </a:prstGeom>
        </p:spPr>
      </p:pic>
      <p:sp>
        <p:nvSpPr>
          <p:cNvPr id="105" name="文字 105"/>
          <p:cNvSpPr txBox="1"/>
          <p:nvPr/>
        </p:nvSpPr>
        <p:spPr>
          <a:xfrm>
            <a:off x="6496050" y="4217095"/>
            <a:ext cx="9461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查依赖与权限，</a:t>
            </a:r>
            <a:endParaRPr/>
          </a:p>
        </p:txBody>
      </p:sp>
      <p:sp>
        <p:nvSpPr>
          <p:cNvPr id="106" name="文字 106"/>
          <p:cNvSpPr txBox="1"/>
          <p:nvPr/>
        </p:nvSpPr>
        <p:spPr>
          <a:xfrm>
            <a:off x="6496050" y="4406404"/>
            <a:ext cx="1212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跑一个最小任务验证</a:t>
            </a:r>
            <a:endParaRPr/>
          </a:p>
        </p:txBody>
      </p:sp>
      <p:sp>
        <p:nvSpPr>
          <p:cNvPr id="107" name="形状 107"/>
          <p:cNvSpPr/>
          <p:nvPr/>
        </p:nvSpPr>
        <p:spPr>
          <a:xfrm>
            <a:off x="6394450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</p:sp>
      <p:sp>
        <p:nvSpPr>
          <p:cNvPr id="108" name="文字 108"/>
          <p:cNvSpPr txBox="1"/>
          <p:nvPr/>
        </p:nvSpPr>
        <p:spPr>
          <a:xfrm>
            <a:off x="648335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39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产物</a:t>
            </a:r>
            <a:endParaRPr/>
          </a:p>
        </p:txBody>
      </p:sp>
      <p:sp>
        <p:nvSpPr>
          <p:cNvPr id="109" name="文字 109"/>
          <p:cNvSpPr txBox="1"/>
          <p:nvPr/>
        </p:nvSpPr>
        <p:spPr>
          <a:xfrm>
            <a:off x="6715523" y="4861322"/>
            <a:ext cx="1013519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安装实例 + 就绪检查</a:t>
            </a:r>
            <a:endParaRPr/>
          </a:p>
        </p:txBody>
      </p:sp>
      <p:sp>
        <p:nvSpPr>
          <p:cNvPr id="110" name="文字 110"/>
          <p:cNvSpPr txBox="1"/>
          <p:nvPr/>
        </p:nvSpPr>
        <p:spPr>
          <a:xfrm>
            <a:off x="6715523" y="5017790"/>
            <a:ext cx="120015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记下宿主、作用域、版本</a:t>
            </a:r>
            <a:endParaRPr/>
          </a:p>
        </p:txBody>
      </p:sp>
      <p:pic>
        <p:nvPicPr>
          <p:cNvPr id="111" name="slide-001-image-22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851900" y="3274814"/>
            <a:ext cx="190500" cy="152400"/>
          </a:xfrm>
          <a:prstGeom prst="rect">
            <a:avLst/>
          </a:prstGeom>
        </p:spPr>
      </p:pic>
      <p:pic>
        <p:nvPicPr>
          <p:cNvPr id="112" name="slide-001-image-23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086850" y="1451670"/>
            <a:ext cx="2571750" cy="3798788"/>
          </a:xfrm>
          <a:prstGeom prst="rect">
            <a:avLst/>
          </a:prstGeom>
        </p:spPr>
      </p:pic>
      <p:sp>
        <p:nvSpPr>
          <p:cNvPr id="113" name="文字 113"/>
          <p:cNvSpPr txBox="1"/>
          <p:nvPr/>
        </p:nvSpPr>
        <p:spPr>
          <a:xfrm>
            <a:off x="9245601" y="1686024"/>
            <a:ext cx="279201" cy="279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900" b="1" i="0" u="none" spc="-95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114" name="文字 114"/>
          <p:cNvSpPr txBox="1"/>
          <p:nvPr/>
        </p:nvSpPr>
        <p:spPr>
          <a:xfrm>
            <a:off x="9601002" y="1604070"/>
            <a:ext cx="393700" cy="266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使用</a:t>
            </a:r>
            <a:endParaRPr/>
          </a:p>
        </p:txBody>
      </p:sp>
      <p:sp>
        <p:nvSpPr>
          <p:cNvPr id="115" name="文字 115"/>
          <p:cNvSpPr txBox="1"/>
          <p:nvPr/>
        </p:nvSpPr>
        <p:spPr>
          <a:xfrm>
            <a:off x="9601002" y="1858069"/>
            <a:ext cx="206375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117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USE</a:t>
            </a:r>
            <a:endParaRPr/>
          </a:p>
        </p:txBody>
      </p:sp>
      <p:sp>
        <p:nvSpPr>
          <p:cNvPr id="116" name="文字 116"/>
          <p:cNvSpPr txBox="1"/>
          <p:nvPr/>
        </p:nvSpPr>
        <p:spPr>
          <a:xfrm>
            <a:off x="9245601" y="2073970"/>
            <a:ext cx="1536699" cy="2095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选中、加载，交付结果</a:t>
            </a:r>
            <a:endParaRPr/>
          </a:p>
        </p:txBody>
      </p:sp>
      <p:pic>
        <p:nvPicPr>
          <p:cNvPr id="117" name="slide-001-image-24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245601" y="2391470"/>
            <a:ext cx="2254250" cy="378619"/>
          </a:xfrm>
          <a:prstGeom prst="rect">
            <a:avLst/>
          </a:prstGeom>
        </p:spPr>
      </p:pic>
      <p:sp>
        <p:nvSpPr>
          <p:cNvPr id="118" name="文字 118"/>
          <p:cNvSpPr txBox="1"/>
          <p:nvPr/>
        </p:nvSpPr>
        <p:spPr>
          <a:xfrm>
            <a:off x="9347200" y="2397820"/>
            <a:ext cx="17462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提目标、输入、约束和验收；</a:t>
            </a:r>
            <a:endParaRPr/>
          </a:p>
        </p:txBody>
      </p:sp>
      <p:sp>
        <p:nvSpPr>
          <p:cNvPr id="119" name="文字 119"/>
          <p:cNvSpPr txBox="1"/>
          <p:nvPr/>
        </p:nvSpPr>
        <p:spPr>
          <a:xfrm>
            <a:off x="9347200" y="2587129"/>
            <a:ext cx="59719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按 </a:t>
            </a:r>
            <a:endParaRPr/>
          </a:p>
        </p:txBody>
      </p:sp>
      <p:sp>
        <p:nvSpPr>
          <p:cNvPr id="120" name="文字 120"/>
          <p:cNvSpPr txBox="1"/>
          <p:nvPr/>
        </p:nvSpPr>
        <p:spPr>
          <a:xfrm>
            <a:off x="9931698" y="2605798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description</a:t>
            </a:r>
            <a:endParaRPr/>
          </a:p>
        </p:txBody>
      </p:sp>
      <p:sp>
        <p:nvSpPr>
          <p:cNvPr id="121" name="文字 121"/>
          <p:cNvSpPr txBox="1"/>
          <p:nvPr/>
        </p:nvSpPr>
        <p:spPr>
          <a:xfrm>
            <a:off x="10678617" y="2587129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选</a:t>
            </a:r>
            <a:endParaRPr/>
          </a:p>
        </p:txBody>
      </p:sp>
      <p:pic>
        <p:nvPicPr>
          <p:cNvPr id="122" name="slide-001-image-25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9245601" y="2846288"/>
            <a:ext cx="2254250" cy="378619"/>
          </a:xfrm>
          <a:prstGeom prst="rect">
            <a:avLst/>
          </a:prstGeom>
        </p:spPr>
      </p:pic>
      <p:sp>
        <p:nvSpPr>
          <p:cNvPr id="123" name="文字 123"/>
          <p:cNvSpPr txBox="1"/>
          <p:nvPr/>
        </p:nvSpPr>
        <p:spPr>
          <a:xfrm>
            <a:off x="9347200" y="2852638"/>
            <a:ext cx="10647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点名：Claude 用 </a:t>
            </a:r>
            <a:endParaRPr/>
          </a:p>
        </p:txBody>
      </p:sp>
      <p:sp>
        <p:nvSpPr>
          <p:cNvPr id="124" name="文字 124"/>
          <p:cNvSpPr txBox="1"/>
          <p:nvPr/>
        </p:nvSpPr>
        <p:spPr>
          <a:xfrm>
            <a:off x="10399217" y="2871307"/>
            <a:ext cx="103118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/pdf-processing</a:t>
            </a:r>
            <a:endParaRPr/>
          </a:p>
        </p:txBody>
      </p:sp>
      <p:sp>
        <p:nvSpPr>
          <p:cNvPr id="125" name="文字 125"/>
          <p:cNvSpPr txBox="1"/>
          <p:nvPr/>
        </p:nvSpPr>
        <p:spPr>
          <a:xfrm>
            <a:off x="9347200" y="3041948"/>
            <a:ext cx="63013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Codex 用 </a:t>
            </a:r>
            <a:endParaRPr/>
          </a:p>
        </p:txBody>
      </p:sp>
      <p:sp>
        <p:nvSpPr>
          <p:cNvPr id="126" name="文字 126"/>
          <p:cNvSpPr txBox="1"/>
          <p:nvPr/>
        </p:nvSpPr>
        <p:spPr>
          <a:xfrm>
            <a:off x="9964638" y="3060617"/>
            <a:ext cx="1031181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$pdf-processing</a:t>
            </a:r>
            <a:endParaRPr/>
          </a:p>
        </p:txBody>
      </p:sp>
      <p:pic>
        <p:nvPicPr>
          <p:cNvPr id="127" name="slide-001-image-26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245601" y="3301107"/>
            <a:ext cx="2254250" cy="378619"/>
          </a:xfrm>
          <a:prstGeom prst="rect">
            <a:avLst/>
          </a:prstGeom>
        </p:spPr>
      </p:pic>
      <p:sp>
        <p:nvSpPr>
          <p:cNvPr id="128" name="文字 128"/>
          <p:cNvSpPr txBox="1"/>
          <p:nvPr/>
        </p:nvSpPr>
        <p:spPr>
          <a:xfrm>
            <a:off x="9347200" y="3307457"/>
            <a:ext cx="11684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渐进加载：目录 → </a:t>
            </a:r>
            <a:endParaRPr/>
          </a:p>
        </p:txBody>
      </p:sp>
      <p:sp>
        <p:nvSpPr>
          <p:cNvPr id="129" name="文字 129"/>
          <p:cNvSpPr txBox="1"/>
          <p:nvPr/>
        </p:nvSpPr>
        <p:spPr>
          <a:xfrm>
            <a:off x="10502900" y="3326126"/>
            <a:ext cx="55592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SKILL.md</a:t>
            </a:r>
            <a:endParaRPr/>
          </a:p>
        </p:txBody>
      </p:sp>
      <p:sp>
        <p:nvSpPr>
          <p:cNvPr id="130" name="文字 130"/>
          <p:cNvSpPr txBox="1"/>
          <p:nvPr/>
        </p:nvSpPr>
        <p:spPr>
          <a:xfrm>
            <a:off x="11046123" y="3307457"/>
            <a:ext cx="190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→</a:t>
            </a:r>
            <a:endParaRPr/>
          </a:p>
        </p:txBody>
      </p:sp>
      <p:sp>
        <p:nvSpPr>
          <p:cNvPr id="131" name="文字 131"/>
          <p:cNvSpPr txBox="1"/>
          <p:nvPr/>
        </p:nvSpPr>
        <p:spPr>
          <a:xfrm>
            <a:off x="9347200" y="3496766"/>
            <a:ext cx="4572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按需读 </a:t>
            </a:r>
            <a:endParaRPr/>
          </a:p>
        </p:txBody>
      </p:sp>
      <p:sp>
        <p:nvSpPr>
          <p:cNvPr id="132" name="文字 132"/>
          <p:cNvSpPr txBox="1"/>
          <p:nvPr/>
        </p:nvSpPr>
        <p:spPr>
          <a:xfrm>
            <a:off x="9791700" y="3515435"/>
            <a:ext cx="759619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references/</a:t>
            </a:r>
            <a:endParaRPr/>
          </a:p>
        </p:txBody>
      </p:sp>
      <p:sp>
        <p:nvSpPr>
          <p:cNvPr id="133" name="文字 133"/>
          <p:cNvSpPr txBox="1"/>
          <p:nvPr/>
        </p:nvSpPr>
        <p:spPr>
          <a:xfrm>
            <a:off x="10538619" y="3496766"/>
            <a:ext cx="3238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、跑 </a:t>
            </a:r>
            <a:endParaRPr/>
          </a:p>
        </p:txBody>
      </p:sp>
      <p:sp>
        <p:nvSpPr>
          <p:cNvPr id="134" name="文字 134"/>
          <p:cNvSpPr txBox="1"/>
          <p:nvPr/>
        </p:nvSpPr>
        <p:spPr>
          <a:xfrm>
            <a:off x="10849769" y="3515435"/>
            <a:ext cx="55592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3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scripts/</a:t>
            </a:r>
            <a:endParaRPr/>
          </a:p>
        </p:txBody>
      </p:sp>
      <p:pic>
        <p:nvPicPr>
          <p:cNvPr id="135" name="slide-001-image-27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245601" y="3755926"/>
            <a:ext cx="2254250" cy="378619"/>
          </a:xfrm>
          <a:prstGeom prst="rect">
            <a:avLst/>
          </a:prstGeom>
        </p:spPr>
      </p:pic>
      <p:sp>
        <p:nvSpPr>
          <p:cNvPr id="136" name="文字 136"/>
          <p:cNvSpPr txBox="1"/>
          <p:nvPr/>
        </p:nvSpPr>
        <p:spPr>
          <a:xfrm>
            <a:off x="9347200" y="3762276"/>
            <a:ext cx="14795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执行后验收，记录版本、</a:t>
            </a:r>
            <a:endParaRPr/>
          </a:p>
        </p:txBody>
      </p:sp>
      <p:sp>
        <p:nvSpPr>
          <p:cNvPr id="137" name="文字 137"/>
          <p:cNvSpPr txBox="1"/>
          <p:nvPr/>
        </p:nvSpPr>
        <p:spPr>
          <a:xfrm>
            <a:off x="9347200" y="3951585"/>
            <a:ext cx="6794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环境与修正</a:t>
            </a:r>
            <a:endParaRPr/>
          </a:p>
        </p:txBody>
      </p:sp>
      <p:pic>
        <p:nvPicPr>
          <p:cNvPr id="138" name="slide-001-image-28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245601" y="4210745"/>
            <a:ext cx="2254250" cy="378619"/>
          </a:xfrm>
          <a:prstGeom prst="rect">
            <a:avLst/>
          </a:prstGeom>
        </p:spPr>
      </p:pic>
      <p:sp>
        <p:nvSpPr>
          <p:cNvPr id="139" name="文字 139"/>
          <p:cNvSpPr txBox="1"/>
          <p:nvPr/>
        </p:nvSpPr>
        <p:spPr>
          <a:xfrm>
            <a:off x="9347200" y="4217095"/>
            <a:ext cx="18796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结果不合格时，先分清是方法、</a:t>
            </a:r>
            <a:endParaRPr/>
          </a:p>
        </p:txBody>
      </p:sp>
      <p:sp>
        <p:nvSpPr>
          <p:cNvPr id="140" name="文字 140"/>
          <p:cNvSpPr txBox="1"/>
          <p:nvPr/>
        </p:nvSpPr>
        <p:spPr>
          <a:xfrm>
            <a:off x="9347200" y="4406404"/>
            <a:ext cx="10795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输入还是环境问题</a:t>
            </a:r>
            <a:endParaRPr/>
          </a:p>
        </p:txBody>
      </p:sp>
      <p:sp>
        <p:nvSpPr>
          <p:cNvPr id="141" name="形状 141"/>
          <p:cNvSpPr/>
          <p:nvPr/>
        </p:nvSpPr>
        <p:spPr>
          <a:xfrm>
            <a:off x="9245601" y="4778772"/>
            <a:ext cx="2254250" cy="465336"/>
          </a:xfrm>
          <a:prstGeom prst="roundRect">
            <a:avLst>
              <a:gd name="adj" fmla="val 13646"/>
            </a:avLst>
          </a:prstGeom>
          <a:solidFill>
            <a:srgbClr val="FBF4EE">
              <a:alpha val="100000"/>
            </a:srgbClr>
          </a:solidFill>
          <a:ln>
            <a:noFill/>
          </a:ln>
        </p:spPr>
      </p:sp>
      <p:sp>
        <p:nvSpPr>
          <p:cNvPr id="142" name="文字 142"/>
          <p:cNvSpPr txBox="1"/>
          <p:nvPr/>
        </p:nvSpPr>
        <p:spPr>
          <a:xfrm>
            <a:off x="9334500" y="4886722"/>
            <a:ext cx="187722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39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产物</a:t>
            </a:r>
            <a:endParaRPr/>
          </a:p>
        </p:txBody>
      </p:sp>
      <p:sp>
        <p:nvSpPr>
          <p:cNvPr id="143" name="文字 143"/>
          <p:cNvSpPr txBox="1"/>
          <p:nvPr/>
        </p:nvSpPr>
        <p:spPr>
          <a:xfrm>
            <a:off x="9566672" y="4861322"/>
            <a:ext cx="101352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任务结果 + 使用记录</a:t>
            </a:r>
            <a:endParaRPr/>
          </a:p>
        </p:txBody>
      </p:sp>
      <p:sp>
        <p:nvSpPr>
          <p:cNvPr id="144" name="文字 144"/>
          <p:cNvSpPr txBox="1"/>
          <p:nvPr/>
        </p:nvSpPr>
        <p:spPr>
          <a:xfrm>
            <a:off x="9566672" y="5017790"/>
            <a:ext cx="876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版本、环境、修正</a:t>
            </a:r>
            <a:endParaRPr/>
          </a:p>
        </p:txBody>
      </p:sp>
      <p:sp>
        <p:nvSpPr>
          <p:cNvPr id="145" name="形状 145"/>
          <p:cNvSpPr/>
          <p:nvPr/>
        </p:nvSpPr>
        <p:spPr>
          <a:xfrm>
            <a:off x="533400" y="5364758"/>
            <a:ext cx="11125200" cy="978892"/>
          </a:xfrm>
          <a:prstGeom prst="roundRect">
            <a:avLst>
              <a:gd name="adj" fmla="val 1037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E3E4E8">
                <a:alpha val="100000"/>
              </a:srgbClr>
            </a:solidFill>
            <a:prstDash val="solid"/>
          </a:ln>
        </p:spPr>
      </p:sp>
      <p:pic>
        <p:nvPicPr>
          <p:cNvPr id="146" name="slide-001-image-29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66750" y="5460008"/>
            <a:ext cx="10858500" cy="228600"/>
          </a:xfrm>
          <a:prstGeom prst="rect">
            <a:avLst/>
          </a:prstGeom>
        </p:spPr>
      </p:pic>
      <p:sp>
        <p:nvSpPr>
          <p:cNvPr id="147" name="形状 147"/>
          <p:cNvSpPr/>
          <p:nvPr/>
        </p:nvSpPr>
        <p:spPr>
          <a:xfrm>
            <a:off x="666750" y="5460008"/>
            <a:ext cx="429915" cy="158750"/>
          </a:xfrm>
          <a:prstGeom prst="roundRect">
            <a:avLst>
              <a:gd name="adj" fmla="val 24000"/>
            </a:avLst>
          </a:prstGeom>
          <a:solidFill>
            <a:srgbClr val="FDF0F1">
              <a:alpha val="100000"/>
            </a:srgbClr>
          </a:solidFill>
          <a:ln>
            <a:noFill/>
          </a:ln>
        </p:spPr>
      </p:sp>
      <p:sp>
        <p:nvSpPr>
          <p:cNvPr id="148" name="文字 148"/>
          <p:cNvSpPr txBox="1"/>
          <p:nvPr/>
        </p:nvSpPr>
        <p:spPr>
          <a:xfrm>
            <a:off x="730250" y="5479058"/>
            <a:ext cx="31561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45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举个例</a:t>
            </a:r>
            <a:endParaRPr/>
          </a:p>
        </p:txBody>
      </p:sp>
      <p:sp>
        <p:nvSpPr>
          <p:cNvPr id="149" name="文字 149"/>
          <p:cNvSpPr txBox="1"/>
          <p:nvPr/>
        </p:nvSpPr>
        <p:spPr>
          <a:xfrm>
            <a:off x="1185565" y="5466358"/>
            <a:ext cx="139571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PDF 处理 Skill 怎么走完四段</a:t>
            </a:r>
            <a:endParaRPr/>
          </a:p>
        </p:txBody>
      </p:sp>
      <p:sp>
        <p:nvSpPr>
          <p:cNvPr id="150" name="文字 150"/>
          <p:cNvSpPr txBox="1"/>
          <p:nvPr/>
        </p:nvSpPr>
        <p:spPr>
          <a:xfrm>
            <a:off x="10148888" y="5479058"/>
            <a:ext cx="1389063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example · pdf-processing</a:t>
            </a:r>
            <a:endParaRPr/>
          </a:p>
        </p:txBody>
      </p:sp>
      <p:sp>
        <p:nvSpPr>
          <p:cNvPr id="151" name="文字 151"/>
          <p:cNvSpPr txBox="1"/>
          <p:nvPr/>
        </p:nvSpPr>
        <p:spPr>
          <a:xfrm>
            <a:off x="666750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91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生产</a:t>
            </a:r>
            <a:endParaRPr/>
          </a:p>
        </p:txBody>
      </p:sp>
      <p:sp>
        <p:nvSpPr>
          <p:cNvPr id="152" name="文字 152"/>
          <p:cNvSpPr txBox="1"/>
          <p:nvPr/>
        </p:nvSpPr>
        <p:spPr>
          <a:xfrm>
            <a:off x="666750" y="5904508"/>
            <a:ext cx="17353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写 </a:t>
            </a:r>
            <a:endParaRPr/>
          </a:p>
        </p:txBody>
      </p:sp>
      <p:sp>
        <p:nvSpPr>
          <p:cNvPr id="153" name="文字 153"/>
          <p:cNvSpPr txBox="1"/>
          <p:nvPr/>
        </p:nvSpPr>
        <p:spPr>
          <a:xfrm>
            <a:off x="827584" y="5916573"/>
            <a:ext cx="5270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SKILL.md</a:t>
            </a:r>
            <a:endParaRPr/>
          </a:p>
        </p:txBody>
      </p:sp>
      <p:sp>
        <p:nvSpPr>
          <p:cNvPr id="154" name="文字 154"/>
          <p:cNvSpPr txBox="1"/>
          <p:nvPr/>
        </p:nvSpPr>
        <p:spPr>
          <a:xfrm>
            <a:off x="666750" y="6073279"/>
            <a:ext cx="1259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+ </a:t>
            </a:r>
            <a:endParaRPr/>
          </a:p>
        </p:txBody>
      </p:sp>
      <p:sp>
        <p:nvSpPr>
          <p:cNvPr id="155" name="文字 155"/>
          <p:cNvSpPr txBox="1"/>
          <p:nvPr/>
        </p:nvSpPr>
        <p:spPr>
          <a:xfrm>
            <a:off x="779959" y="6085344"/>
            <a:ext cx="5270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scripts/</a:t>
            </a:r>
            <a:endParaRPr/>
          </a:p>
        </p:txBody>
      </p:sp>
      <p:pic>
        <p:nvPicPr>
          <p:cNvPr id="156" name="slide-001-image-30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360017" y="5936754"/>
            <a:ext cx="139700" cy="114300"/>
          </a:xfrm>
          <a:prstGeom prst="rect">
            <a:avLst/>
          </a:prstGeom>
        </p:spPr>
      </p:pic>
      <p:sp>
        <p:nvSpPr>
          <p:cNvPr id="157" name="文字 157"/>
          <p:cNvSpPr txBox="1"/>
          <p:nvPr/>
        </p:nvSpPr>
        <p:spPr>
          <a:xfrm>
            <a:off x="2499717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91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分发</a:t>
            </a:r>
            <a:endParaRPr/>
          </a:p>
        </p:txBody>
      </p:sp>
      <p:sp>
        <p:nvSpPr>
          <p:cNvPr id="158" name="文字 158"/>
          <p:cNvSpPr txBox="1"/>
          <p:nvPr/>
        </p:nvSpPr>
        <p:spPr>
          <a:xfrm>
            <a:off x="2499717" y="5904508"/>
            <a:ext cx="8203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推 Git / 打 ZIP</a:t>
            </a:r>
            <a:endParaRPr/>
          </a:p>
        </p:txBody>
      </p:sp>
      <p:sp>
        <p:nvSpPr>
          <p:cNvPr id="159" name="文字 159"/>
          <p:cNvSpPr txBox="1"/>
          <p:nvPr/>
        </p:nvSpPr>
        <p:spPr>
          <a:xfrm>
            <a:off x="2499717" y="6070997"/>
            <a:ext cx="38437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标 v1.0</a:t>
            </a:r>
            <a:endParaRPr/>
          </a:p>
        </p:txBody>
      </p:sp>
      <p:pic>
        <p:nvPicPr>
          <p:cNvPr id="160" name="slide-001-image-31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193084" y="5936754"/>
            <a:ext cx="139700" cy="114300"/>
          </a:xfrm>
          <a:prstGeom prst="rect">
            <a:avLst/>
          </a:prstGeom>
        </p:spPr>
      </p:pic>
      <p:sp>
        <p:nvSpPr>
          <p:cNvPr id="161" name="文字 161"/>
          <p:cNvSpPr txBox="1"/>
          <p:nvPr/>
        </p:nvSpPr>
        <p:spPr>
          <a:xfrm>
            <a:off x="4332784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91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</a:t>
            </a:r>
            <a:endParaRPr/>
          </a:p>
        </p:txBody>
      </p:sp>
      <p:sp>
        <p:nvSpPr>
          <p:cNvPr id="162" name="文字 162"/>
          <p:cNvSpPr txBox="1"/>
          <p:nvPr/>
        </p:nvSpPr>
        <p:spPr>
          <a:xfrm>
            <a:off x="4332784" y="5916573"/>
            <a:ext cx="912813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npx skills add</a:t>
            </a:r>
            <a:endParaRPr/>
          </a:p>
        </p:txBody>
      </p:sp>
      <p:sp>
        <p:nvSpPr>
          <p:cNvPr id="163" name="文字 163"/>
          <p:cNvSpPr txBox="1"/>
          <p:nvPr/>
        </p:nvSpPr>
        <p:spPr>
          <a:xfrm>
            <a:off x="4332784" y="6073279"/>
            <a:ext cx="2941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落到 </a:t>
            </a:r>
            <a:endParaRPr/>
          </a:p>
        </p:txBody>
      </p:sp>
      <p:sp>
        <p:nvSpPr>
          <p:cNvPr id="164" name="文字 164"/>
          <p:cNvSpPr txBox="1"/>
          <p:nvPr/>
        </p:nvSpPr>
        <p:spPr>
          <a:xfrm>
            <a:off x="4614267" y="6085344"/>
            <a:ext cx="1105595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~/.agents/skills/</a:t>
            </a:r>
            <a:endParaRPr/>
          </a:p>
        </p:txBody>
      </p:sp>
      <p:pic>
        <p:nvPicPr>
          <p:cNvPr id="165" name="slide-001-image-32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6026051" y="5936754"/>
            <a:ext cx="139700" cy="114300"/>
          </a:xfrm>
          <a:prstGeom prst="rect">
            <a:avLst/>
          </a:prstGeom>
        </p:spPr>
      </p:pic>
      <p:sp>
        <p:nvSpPr>
          <p:cNvPr id="166" name="文字 166"/>
          <p:cNvSpPr txBox="1"/>
          <p:nvPr/>
        </p:nvSpPr>
        <p:spPr>
          <a:xfrm>
            <a:off x="6165751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91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使用</a:t>
            </a:r>
            <a:endParaRPr/>
          </a:p>
        </p:txBody>
      </p:sp>
      <p:sp>
        <p:nvSpPr>
          <p:cNvPr id="167" name="文字 167"/>
          <p:cNvSpPr txBox="1"/>
          <p:nvPr/>
        </p:nvSpPr>
        <p:spPr>
          <a:xfrm>
            <a:off x="6165751" y="5916573"/>
            <a:ext cx="977106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5" b="1" i="0" u="none" spc="-9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/pdf-processing</a:t>
            </a:r>
            <a:endParaRPr/>
          </a:p>
        </p:txBody>
      </p:sp>
      <p:sp>
        <p:nvSpPr>
          <p:cNvPr id="168" name="文字 168"/>
          <p:cNvSpPr txBox="1"/>
          <p:nvPr/>
        </p:nvSpPr>
        <p:spPr>
          <a:xfrm>
            <a:off x="6165751" y="6073279"/>
            <a:ext cx="76775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合并三个 PDF</a:t>
            </a:r>
            <a:endParaRPr/>
          </a:p>
        </p:txBody>
      </p:sp>
      <p:pic>
        <p:nvPicPr>
          <p:cNvPr id="169" name="slide-001-image-33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859117" y="5936754"/>
            <a:ext cx="139700" cy="114300"/>
          </a:xfrm>
          <a:prstGeom prst="rect">
            <a:avLst/>
          </a:prstGeom>
        </p:spPr>
      </p:pic>
      <p:sp>
        <p:nvSpPr>
          <p:cNvPr id="170" name="文字 170"/>
          <p:cNvSpPr txBox="1"/>
          <p:nvPr/>
        </p:nvSpPr>
        <p:spPr>
          <a:xfrm>
            <a:off x="7998817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91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验收</a:t>
            </a:r>
            <a:endParaRPr/>
          </a:p>
        </p:txBody>
      </p:sp>
      <p:sp>
        <p:nvSpPr>
          <p:cNvPr id="171" name="文字 171"/>
          <p:cNvSpPr txBox="1"/>
          <p:nvPr/>
        </p:nvSpPr>
        <p:spPr>
          <a:xfrm>
            <a:off x="7998817" y="5904508"/>
            <a:ext cx="85725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页数、文本完整</a:t>
            </a:r>
            <a:endParaRPr/>
          </a:p>
        </p:txBody>
      </p:sp>
      <p:sp>
        <p:nvSpPr>
          <p:cNvPr id="172" name="文字 172"/>
          <p:cNvSpPr txBox="1"/>
          <p:nvPr/>
        </p:nvSpPr>
        <p:spPr>
          <a:xfrm>
            <a:off x="7998817" y="6070997"/>
            <a:ext cx="61595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输出能打开</a:t>
            </a:r>
            <a:endParaRPr/>
          </a:p>
        </p:txBody>
      </p:sp>
      <p:pic>
        <p:nvPicPr>
          <p:cNvPr id="173" name="slide-001-image-34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692184" y="5936754"/>
            <a:ext cx="139700" cy="114300"/>
          </a:xfrm>
          <a:prstGeom prst="rect">
            <a:avLst/>
          </a:prstGeom>
        </p:spPr>
      </p:pic>
      <p:sp>
        <p:nvSpPr>
          <p:cNvPr id="174" name="文字 174"/>
          <p:cNvSpPr txBox="1"/>
          <p:nvPr/>
        </p:nvSpPr>
        <p:spPr>
          <a:xfrm>
            <a:off x="9831884" y="5758458"/>
            <a:ext cx="200918" cy="95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1" i="0" u="none" spc="91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反馈</a:t>
            </a:r>
            <a:endParaRPr/>
          </a:p>
        </p:txBody>
      </p:sp>
      <p:sp>
        <p:nvSpPr>
          <p:cNvPr id="175" name="文字 175"/>
          <p:cNvSpPr txBox="1"/>
          <p:nvPr/>
        </p:nvSpPr>
        <p:spPr>
          <a:xfrm>
            <a:off x="9831884" y="5904508"/>
            <a:ext cx="71695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补 OCR 说明</a:t>
            </a:r>
            <a:endParaRPr/>
          </a:p>
        </p:txBody>
      </p:sp>
      <p:sp>
        <p:nvSpPr>
          <p:cNvPr id="176" name="文字 176"/>
          <p:cNvSpPr txBox="1"/>
          <p:nvPr/>
        </p:nvSpPr>
        <p:spPr>
          <a:xfrm>
            <a:off x="9831884" y="6070997"/>
            <a:ext cx="360362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 v1.1</a:t>
            </a:r>
            <a:endParaRPr/>
          </a:p>
        </p:txBody>
      </p:sp>
      <p:pic>
        <p:nvPicPr>
          <p:cNvPr id="177" name="slide-001-image-35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33400" y="6419850"/>
            <a:ext cx="11125200" cy="222250"/>
          </a:xfrm>
          <a:prstGeom prst="rect">
            <a:avLst/>
          </a:prstGeom>
        </p:spPr>
      </p:pic>
      <p:sp>
        <p:nvSpPr>
          <p:cNvPr id="178" name="文字 178"/>
          <p:cNvSpPr txBox="1"/>
          <p:nvPr/>
        </p:nvSpPr>
        <p:spPr>
          <a:xfrm>
            <a:off x="533400" y="6508750"/>
            <a:ext cx="312737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38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追溯链</a:t>
            </a:r>
            <a:endParaRPr/>
          </a:p>
        </p:txBody>
      </p:sp>
      <p:sp>
        <p:nvSpPr>
          <p:cNvPr id="179" name="文字 179"/>
          <p:cNvSpPr txBox="1"/>
          <p:nvPr/>
        </p:nvSpPr>
        <p:spPr>
          <a:xfrm>
            <a:off x="890587" y="6508750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资产标识</a:t>
            </a:r>
            <a:endParaRPr/>
          </a:p>
        </p:txBody>
      </p:sp>
      <p:sp>
        <p:nvSpPr>
          <p:cNvPr id="180" name="文字 180"/>
          <p:cNvSpPr txBox="1"/>
          <p:nvPr/>
        </p:nvSpPr>
        <p:spPr>
          <a:xfrm>
            <a:off x="1271588" y="6508750"/>
            <a:ext cx="184745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B9B9C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 → </a:t>
            </a:r>
            <a:endParaRPr/>
          </a:p>
        </p:txBody>
      </p:sp>
      <p:sp>
        <p:nvSpPr>
          <p:cNvPr id="181" name="文字 181"/>
          <p:cNvSpPr txBox="1"/>
          <p:nvPr/>
        </p:nvSpPr>
        <p:spPr>
          <a:xfrm>
            <a:off x="1443633" y="6508750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发布版本</a:t>
            </a:r>
            <a:endParaRPr/>
          </a:p>
        </p:txBody>
      </p:sp>
      <p:sp>
        <p:nvSpPr>
          <p:cNvPr id="182" name="文字 182"/>
          <p:cNvSpPr txBox="1"/>
          <p:nvPr/>
        </p:nvSpPr>
        <p:spPr>
          <a:xfrm>
            <a:off x="1824633" y="6508750"/>
            <a:ext cx="184745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B9B9C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 → </a:t>
            </a:r>
            <a:endParaRPr/>
          </a:p>
        </p:txBody>
      </p:sp>
      <p:sp>
        <p:nvSpPr>
          <p:cNvPr id="183" name="文字 183"/>
          <p:cNvSpPr txBox="1"/>
          <p:nvPr/>
        </p:nvSpPr>
        <p:spPr>
          <a:xfrm>
            <a:off x="1996678" y="6508750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安装实例</a:t>
            </a:r>
            <a:endParaRPr/>
          </a:p>
        </p:txBody>
      </p:sp>
      <p:sp>
        <p:nvSpPr>
          <p:cNvPr id="184" name="文字 184"/>
          <p:cNvSpPr txBox="1"/>
          <p:nvPr/>
        </p:nvSpPr>
        <p:spPr>
          <a:xfrm>
            <a:off x="2377678" y="6508750"/>
            <a:ext cx="184745" cy="114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B9B9C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 → </a:t>
            </a:r>
            <a:endParaRPr/>
          </a:p>
        </p:txBody>
      </p:sp>
      <p:sp>
        <p:nvSpPr>
          <p:cNvPr id="185" name="文字 185"/>
          <p:cNvSpPr txBox="1"/>
          <p:nvPr/>
        </p:nvSpPr>
        <p:spPr>
          <a:xfrm>
            <a:off x="2549724" y="6508750"/>
            <a:ext cx="39370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使用记录</a:t>
            </a:r>
            <a:endParaRPr/>
          </a:p>
        </p:txBody>
      </p:sp>
      <p:sp>
        <p:nvSpPr>
          <p:cNvPr id="186" name="文字 186"/>
          <p:cNvSpPr txBox="1"/>
          <p:nvPr/>
        </p:nvSpPr>
        <p:spPr>
          <a:xfrm>
            <a:off x="8720138" y="6511925"/>
            <a:ext cx="21272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38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口径</a:t>
            </a:r>
            <a:endParaRPr/>
          </a:p>
        </p:txBody>
      </p:sp>
      <p:sp>
        <p:nvSpPr>
          <p:cNvPr id="187" name="文字 187"/>
          <p:cNvSpPr txBox="1"/>
          <p:nvPr/>
        </p:nvSpPr>
        <p:spPr>
          <a:xfrm>
            <a:off x="8977312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已上架</a:t>
            </a:r>
            <a:endParaRPr/>
          </a:p>
        </p:txBody>
      </p:sp>
      <p:sp>
        <p:nvSpPr>
          <p:cNvPr id="188" name="文字 188"/>
          <p:cNvSpPr txBox="1"/>
          <p:nvPr/>
        </p:nvSpPr>
        <p:spPr>
          <a:xfrm>
            <a:off x="9263062" y="6511925"/>
            <a:ext cx="15081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 ≠ </a:t>
            </a:r>
            <a:endParaRPr/>
          </a:p>
        </p:txBody>
      </p:sp>
      <p:sp>
        <p:nvSpPr>
          <p:cNvPr id="189" name="文字 189"/>
          <p:cNvSpPr txBox="1"/>
          <p:nvPr/>
        </p:nvSpPr>
        <p:spPr>
          <a:xfrm>
            <a:off x="9401175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可获取</a:t>
            </a:r>
            <a:endParaRPr/>
          </a:p>
        </p:txBody>
      </p:sp>
      <p:sp>
        <p:nvSpPr>
          <p:cNvPr id="190" name="文字 190"/>
          <p:cNvSpPr txBox="1"/>
          <p:nvPr/>
        </p:nvSpPr>
        <p:spPr>
          <a:xfrm>
            <a:off x="9801225" y="6511925"/>
            <a:ext cx="6032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C9C9C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</a:t>
            </a:r>
            <a:endParaRPr/>
          </a:p>
        </p:txBody>
      </p:sp>
      <p:sp>
        <p:nvSpPr>
          <p:cNvPr id="191" name="文字 191"/>
          <p:cNvSpPr txBox="1"/>
          <p:nvPr/>
        </p:nvSpPr>
        <p:spPr>
          <a:xfrm>
            <a:off x="9963151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已安装</a:t>
            </a:r>
            <a:endParaRPr/>
          </a:p>
        </p:txBody>
      </p:sp>
      <p:sp>
        <p:nvSpPr>
          <p:cNvPr id="192" name="文字 192"/>
          <p:cNvSpPr txBox="1"/>
          <p:nvPr/>
        </p:nvSpPr>
        <p:spPr>
          <a:xfrm>
            <a:off x="10248901" y="6511925"/>
            <a:ext cx="15081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 ≠ </a:t>
            </a:r>
            <a:endParaRPr/>
          </a:p>
        </p:txBody>
      </p:sp>
      <p:sp>
        <p:nvSpPr>
          <p:cNvPr id="193" name="文字 193"/>
          <p:cNvSpPr txBox="1"/>
          <p:nvPr/>
        </p:nvSpPr>
        <p:spPr>
          <a:xfrm>
            <a:off x="10387013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已就绪</a:t>
            </a:r>
            <a:endParaRPr/>
          </a:p>
        </p:txBody>
      </p:sp>
      <p:sp>
        <p:nvSpPr>
          <p:cNvPr id="194" name="文字 194"/>
          <p:cNvSpPr txBox="1"/>
          <p:nvPr/>
        </p:nvSpPr>
        <p:spPr>
          <a:xfrm>
            <a:off x="10787063" y="6511925"/>
            <a:ext cx="60325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C9C9CF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</a:t>
            </a:r>
            <a:endParaRPr/>
          </a:p>
        </p:txBody>
      </p:sp>
      <p:sp>
        <p:nvSpPr>
          <p:cNvPr id="195" name="文字 195"/>
          <p:cNvSpPr txBox="1"/>
          <p:nvPr/>
        </p:nvSpPr>
        <p:spPr>
          <a:xfrm>
            <a:off x="10948988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已调用</a:t>
            </a:r>
            <a:endParaRPr/>
          </a:p>
        </p:txBody>
      </p:sp>
      <p:sp>
        <p:nvSpPr>
          <p:cNvPr id="196" name="文字 196"/>
          <p:cNvSpPr txBox="1"/>
          <p:nvPr/>
        </p:nvSpPr>
        <p:spPr>
          <a:xfrm>
            <a:off x="11234738" y="6511925"/>
            <a:ext cx="150812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 ≠ </a:t>
            </a:r>
            <a:endParaRPr/>
          </a:p>
        </p:txBody>
      </p:sp>
      <p:sp>
        <p:nvSpPr>
          <p:cNvPr id="197" name="文字 197"/>
          <p:cNvSpPr txBox="1"/>
          <p:nvPr/>
        </p:nvSpPr>
        <p:spPr>
          <a:xfrm>
            <a:off x="11372850" y="6511925"/>
            <a:ext cx="298450" cy="133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8A8A9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已验收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73050"/>
            <a:ext cx="29912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智果园 AI 资产广场 / Skill 资产建设启示 · 2026.10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6683871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-42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从魔搭、SkillHub 到智果园：Skill 资产平台的四个必答题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66081"/>
            <a:ext cx="917803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魔搭证明开放标准能起量，SkillHub 证明评测与商品化能建立信任；智果园已有标准、审核、优化与多平台分发，下一步是把质量信号、供给运营和商业闭环补齐。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107380"/>
            <a:ext cx="36998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9" name="文字 9"/>
          <p:cNvSpPr txBox="1"/>
          <p:nvPr/>
        </p:nvSpPr>
        <p:spPr>
          <a:xfrm>
            <a:off x="558800" y="1189931"/>
            <a:ext cx="91578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魔搭 Skills 中心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558800" y="1380430"/>
            <a:ext cx="13513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83,509 skills · 10 类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558800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强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98698" y="1564581"/>
            <a:ext cx="22186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Skills 标准、CLI 多宿主、规模与长尾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58800" y="173722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弱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698698" y="1737221"/>
            <a:ext cx="236984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无技能级试运行；30.9% 聚合镜像，官方 0.4%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4245967" y="1107380"/>
            <a:ext cx="3699966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16" name="文字 16"/>
          <p:cNvSpPr txBox="1"/>
          <p:nvPr/>
        </p:nvSpPr>
        <p:spPr>
          <a:xfrm>
            <a:off x="4347567" y="1189931"/>
            <a:ext cx="82897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347567" y="1380430"/>
            <a:ext cx="2214959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199,516 skills · 1,993 企业 · 13 类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347567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强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487466" y="1564581"/>
            <a:ext cx="319196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TRACE 5 维/15 子项 + 双路安全 + 签名；抽样企业 100% 覆盖；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347567" y="1724521"/>
            <a:ext cx="7993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商品化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347567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弱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87466" y="1897162"/>
            <a:ext cx="31758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抽样：社区 74%、ClawHub 0%；72.5% ≥4.5；评测错配风险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8034834" y="1107380"/>
            <a:ext cx="3699967" cy="1013222"/>
          </a:xfrm>
          <a:prstGeom prst="roundRect">
            <a:avLst>
              <a:gd name="adj" fmla="val 5014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24" name="文字 24"/>
          <p:cNvSpPr txBox="1"/>
          <p:nvPr/>
        </p:nvSpPr>
        <p:spPr>
          <a:xfrm>
            <a:off x="8136434" y="1189931"/>
            <a:ext cx="133667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华为智果园 AI 资产广场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136434" y="1380430"/>
            <a:ext cx="199906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239 Skills · 行业 / 云服务 / 通用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8136434" y="1564581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强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8276332" y="1564581"/>
            <a:ext cx="332323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Skills 标准、10MB 包规范、完整度评估、trace 驱动优化、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8136434" y="1724521"/>
            <a:ext cx="1155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多平台分发、商店变现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36434" y="1897162"/>
            <a:ext cx="1270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弱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276332" y="1897162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规模早期、仅贵阳一、导入/管理/浏览为主、部分需申请使用</a:t>
            </a:r>
            <a:endParaRPr/>
          </a:p>
        </p:txBody>
      </p:sp>
      <p:pic>
        <p:nvPicPr>
          <p:cNvPr id="31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09502"/>
            <a:ext cx="5549900" cy="740966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标准与分发：一个包，多平台触达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2619673"/>
            <a:ext cx="52797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沿用 Agent Skills 标准与 ZIP（≤10MB）；npx skills add / skills.sh 安装；一发布分发 CodeArts、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2794595"/>
            <a:ext cx="353724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ModelArts、AgentArts、CloudRobo；版本/可见性/许可证齐全。</a:t>
            </a:r>
            <a:endParaRPr/>
          </a:p>
        </p:txBody>
      </p:sp>
      <p:pic>
        <p:nvPicPr>
          <p:cNvPr id="3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2209502"/>
            <a:ext cx="5549901" cy="740966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184900" y="2260302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184900" y="2412702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质量与信任：把证据放在分数前面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6184900" y="2619673"/>
            <a:ext cx="5484019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完整度评估（步骤/输入输出/前置条件/错误处理）+ 安全审核 + 内容指纹/签名；评测报告公开、绑定版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6184900" y="2794595"/>
            <a:ext cx="17018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本，避免高分集中和黑箱评分。</a:t>
            </a:r>
            <a:endParaRPr/>
          </a:p>
        </p:txBody>
      </p:sp>
      <p:pic>
        <p:nvPicPr>
          <p:cNvPr id="41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90168"/>
            <a:ext cx="5549900" cy="740966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4572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457200" y="3293368"/>
            <a:ext cx="2260203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供给与生态：官方 + 行业 + 社区三层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57200" y="3500338"/>
            <a:ext cx="555426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官方做标杆，行业/企业做深度，社区做长尾；239 个只是起点，先做 5–10 个垂直行业标杆，再补分类、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57200" y="3675261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搜索、榜单、合集。</a:t>
            </a:r>
            <a:endParaRPr/>
          </a:p>
        </p:txBody>
      </p:sp>
      <p:pic>
        <p:nvPicPr>
          <p:cNvPr id="46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900" y="3090168"/>
            <a:ext cx="5549901" cy="740966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184900" y="3140968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184900" y="3293368"/>
            <a:ext cx="1689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商业与治理：从能用到能卖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184900" y="3500338"/>
            <a:ext cx="549126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商店上架 + 调用收益 + 持续创收；license/来源/退款/争议要可追溯；下载不等于用户，跨平台数据口径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184900" y="367526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要统一。</a:t>
            </a:r>
            <a:endParaRPr/>
          </a:p>
        </p:txBody>
      </p:sp>
      <p:sp>
        <p:nvSpPr>
          <p:cNvPr id="51" name="形状 51"/>
          <p:cNvSpPr/>
          <p:nvPr/>
        </p:nvSpPr>
        <p:spPr>
          <a:xfrm>
            <a:off x="457200" y="3920034"/>
            <a:ext cx="36998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</p:sp>
      <p:sp>
        <p:nvSpPr>
          <p:cNvPr id="52" name="文字 52"/>
          <p:cNvSpPr txBox="1"/>
          <p:nvPr/>
        </p:nvSpPr>
        <p:spPr>
          <a:xfrm>
            <a:off x="546100" y="3996234"/>
            <a:ext cx="4889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P0 · 现在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546100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统一入口与证据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546100" y="4339134"/>
            <a:ext cx="16136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包规范/导入导出/版本可见性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46100" y="4518124"/>
            <a:ext cx="22099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详情页补安装命令、文件、许可证、作者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546100" y="4697115"/>
            <a:ext cx="108198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接入 skills.sh 分发</a:t>
            </a:r>
            <a:endParaRPr/>
          </a:p>
        </p:txBody>
      </p:sp>
      <p:sp>
        <p:nvSpPr>
          <p:cNvPr id="57" name="形状 57"/>
          <p:cNvSpPr/>
          <p:nvPr/>
        </p:nvSpPr>
        <p:spPr>
          <a:xfrm>
            <a:off x="4245967" y="3920034"/>
            <a:ext cx="3699966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</p:sp>
      <p:sp>
        <p:nvSpPr>
          <p:cNvPr id="58" name="文字 58"/>
          <p:cNvSpPr txBox="1"/>
          <p:nvPr/>
        </p:nvSpPr>
        <p:spPr>
          <a:xfrm>
            <a:off x="4334867" y="3996234"/>
            <a:ext cx="7175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P1 · 3–6 个月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334867" y="4142284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质量与供给运营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4334867" y="4339134"/>
            <a:ext cx="18675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完整度评测 + 安全审核 + 评测报告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4334867" y="4518124"/>
            <a:ext cx="14097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trace 驱动 Skill 优化闭环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4334867" y="4697115"/>
            <a:ext cx="145464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企业/行业供给与分类榜单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8034834" y="3920034"/>
            <a:ext cx="3699967" cy="987822"/>
          </a:xfrm>
          <a:prstGeom prst="roundRect">
            <a:avLst>
              <a:gd name="adj" fmla="val 5143"/>
            </a:avLst>
          </a:prstGeom>
          <a:noFill/>
          <a:ln w="6350">
            <a:solidFill>
              <a:srgbClr val="E2E4E7">
                <a:alpha val="100000"/>
              </a:srgbClr>
            </a:solidFill>
            <a:prstDash val="solid"/>
          </a:ln>
        </p:spPr>
      </p:sp>
      <p:sp>
        <p:nvSpPr>
          <p:cNvPr id="64" name="文字 64"/>
          <p:cNvSpPr txBox="1"/>
          <p:nvPr/>
        </p:nvSpPr>
        <p:spPr>
          <a:xfrm>
            <a:off x="8123734" y="3996234"/>
            <a:ext cx="7747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P2 · 6–12 个月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8123734" y="4142284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商业与生态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8123734" y="4339134"/>
            <a:ext cx="138509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商店上架/调用计费/分成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8123734" y="4518124"/>
            <a:ext cx="9526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跨平台分发数据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123734" y="4697115"/>
            <a:ext cx="118129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· 生态指标与治理机制</a:t>
            </a:r>
            <a:endParaRPr/>
          </a:p>
        </p:txBody>
      </p:sp>
      <p:pic>
        <p:nvPicPr>
          <p:cNvPr id="69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4984055"/>
            <a:ext cx="11277600" cy="413941"/>
          </a:xfrm>
          <a:prstGeom prst="rect">
            <a:avLst/>
          </a:prstGeom>
        </p:spPr>
      </p:pic>
      <p:sp>
        <p:nvSpPr>
          <p:cNvPr id="70" name="文字 70"/>
          <p:cNvSpPr txBox="1"/>
          <p:nvPr/>
        </p:nvSpPr>
        <p:spPr>
          <a:xfrm>
            <a:off x="457200" y="5060255"/>
            <a:ext cx="774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标准是入场券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250756"/>
            <a:ext cx="305325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三平台都遵循 Agent Skills；差异不在格式，在分发与治理。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2545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评测是信任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254500" y="5250756"/>
            <a:ext cx="30740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都在补评测/安全/签名；覆盖、口径与版本一致性才是难点。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051800" y="5060255"/>
            <a:ext cx="647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生态是规模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051800" y="5250756"/>
            <a:ext cx="26421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官方 + 企业 + 社区三层；商业化决定能否持续供给。</a:t>
            </a:r>
            <a:endParaRPr/>
          </a:p>
        </p:txBody>
      </p:sp>
      <p:pic>
        <p:nvPicPr>
          <p:cNvPr id="76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324600"/>
            <a:ext cx="11277600" cy="254001"/>
          </a:xfrm>
          <a:prstGeom prst="rect">
            <a:avLst/>
          </a:prstGeom>
        </p:spPr>
      </p:pic>
      <p:sp>
        <p:nvSpPr>
          <p:cNvPr id="77" name="文字 77"/>
          <p:cNvSpPr txBox="1"/>
          <p:nvPr/>
        </p:nvSpPr>
        <p:spPr>
          <a:xfrm>
            <a:off x="457200" y="640715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1054100" y="6407150"/>
            <a:ext cx="8948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智果园不必重造一个市场，而应把「标准入口 + 质量证据 + 行业供给 + 商业闭环」做成可复用的能力层；评测和分发是两条护城河，供给运营是胜负手。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457200" y="6648450"/>
            <a:ext cx="6639620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来源：ModelScope 公开 API/文档、腾讯 SkillHub 官网/公开 API/官方仓库、华为云 AgentArts / AI 资产广场文档与公开页面；2026-10-19/20 只读核查，详见 references/ 调研笔记。</a:t>
            </a:r>
            <a:endParaRPr/>
          </a:p>
        </p:txBody>
      </p:sp>
      <p:pic>
        <p:nvPicPr>
          <p:cNvPr id="80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47022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72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 商业化洞察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1049000" y="279400"/>
            <a:ext cx="698501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381353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已有按次收费供给，平台暂不收技术服务费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758428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19.95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1327150" y="1141710"/>
            <a:ext cx="31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万条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17538"/>
            <a:ext cx="13825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公开 Skill 条目 199,545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290417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10.0%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290417" y="1417538"/>
            <a:ext cx="11463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付费标签 19,962 条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123734" y="1021060"/>
            <a:ext cx="831850" cy="361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19.3%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23734" y="1417538"/>
            <a:ext cx="15355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 API Key 标签 38,568 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1862038"/>
            <a:ext cx="13843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付费供给约占一成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186484"/>
            <a:ext cx="2170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付费标签 10.0%，其余条目约 90.0%</a:t>
            </a:r>
            <a:endParaRPr/>
          </a:p>
        </p:txBody>
      </p:sp>
      <p:sp>
        <p:nvSpPr>
          <p:cNvPr id="18" name="形状 18"/>
          <p:cNvSpPr/>
          <p:nvPr/>
        </p:nvSpPr>
        <p:spPr>
          <a:xfrm>
            <a:off x="457200" y="2455664"/>
            <a:ext cx="282277" cy="165100"/>
          </a:xfrm>
          <a:prstGeom prst="rect">
            <a:avLst/>
          </a:prstGeom>
          <a:solidFill>
            <a:srgbClr val="B5333B">
              <a:alpha val="100000"/>
            </a:srgbClr>
          </a:solidFill>
          <a:ln>
            <a:noFill/>
          </a:ln>
        </p:spPr>
      </p:sp>
      <p:sp>
        <p:nvSpPr>
          <p:cNvPr id="19" name="形状 19"/>
          <p:cNvSpPr/>
          <p:nvPr/>
        </p:nvSpPr>
        <p:spPr>
          <a:xfrm>
            <a:off x="739477" y="2455664"/>
            <a:ext cx="47823" cy="165100"/>
          </a:xfrm>
          <a:prstGeom prst="rect">
            <a:avLst/>
          </a:prstGeom>
          <a:solidFill>
            <a:srgbClr val="566472">
              <a:alpha val="100000"/>
            </a:srgbClr>
          </a:solidFill>
          <a:ln>
            <a:noFill/>
          </a:ln>
        </p:spPr>
      </p:sp>
      <p:sp>
        <p:nvSpPr>
          <p:cNvPr id="20" name="形状 20"/>
          <p:cNvSpPr/>
          <p:nvPr/>
        </p:nvSpPr>
        <p:spPr>
          <a:xfrm>
            <a:off x="787301" y="2455664"/>
            <a:ext cx="2971800" cy="165100"/>
          </a:xfrm>
          <a:prstGeom prst="rect">
            <a:avLst/>
          </a:prstGeom>
          <a:solidFill>
            <a:srgbClr val="E9EBEE">
              <a:alpha val="100000"/>
            </a:srgbClr>
          </a:solidFill>
          <a:ln>
            <a:noFill/>
          </a:ln>
        </p:spPr>
      </p:sp>
      <p:pic>
        <p:nvPicPr>
          <p:cNvPr id="21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16014"/>
            <a:ext cx="3302000" cy="361950"/>
          </a:xfrm>
          <a:prstGeom prst="rect">
            <a:avLst/>
          </a:prstGeom>
        </p:spPr>
      </p:pic>
      <p:sp>
        <p:nvSpPr>
          <p:cNvPr id="22" name="文字 22"/>
          <p:cNvSpPr txBox="1"/>
          <p:nvPr/>
        </p:nvSpPr>
        <p:spPr>
          <a:xfrm>
            <a:off x="457200" y="2817614"/>
            <a:ext cx="59809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paid 标签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2641600" y="2817614"/>
            <a:ext cx="420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17,061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3263900" y="281761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8.5%</a:t>
            </a:r>
            <a:endParaRPr/>
          </a:p>
        </p:txBody>
      </p:sp>
      <p:pic>
        <p:nvPicPr>
          <p:cNvPr id="25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077964"/>
            <a:ext cx="3302000" cy="361950"/>
          </a:xfrm>
          <a:prstGeom prst="rect">
            <a:avLst/>
          </a:prstGeom>
        </p:spPr>
      </p:pic>
      <p:sp>
        <p:nvSpPr>
          <p:cNvPr id="26" name="文字 26"/>
          <p:cNvSpPr txBox="1"/>
          <p:nvPr/>
        </p:nvSpPr>
        <p:spPr>
          <a:xfrm>
            <a:off x="457200" y="3179564"/>
            <a:ext cx="7095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alipay 标签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2641600" y="3179564"/>
            <a:ext cx="34597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2,901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3263900" y="3179564"/>
            <a:ext cx="3417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1.5%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354786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两标签是官网付费识别的两种取值。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457200" y="3747889"/>
            <a:ext cx="249386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 Skill 目录另计 19,974 条，口径不同。</a:t>
            </a:r>
            <a:endParaRPr/>
          </a:p>
        </p:txBody>
      </p:sp>
      <p:pic>
        <p:nvPicPr>
          <p:cNvPr id="31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074914"/>
            <a:ext cx="3302000" cy="323850"/>
          </a:xfrm>
          <a:prstGeom prst="rect">
            <a:avLst/>
          </a:prstGeom>
        </p:spPr>
      </p:pic>
      <p:sp>
        <p:nvSpPr>
          <p:cNvPr id="32" name="文字 32"/>
          <p:cNvSpPr txBox="1"/>
          <p:nvPr/>
        </p:nvSpPr>
        <p:spPr>
          <a:xfrm>
            <a:off x="457200" y="4201914"/>
            <a:ext cx="1979117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API Key 依赖与付费分别统计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57200" y="4474964"/>
            <a:ext cx="23129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 Key 占 19.3%，表示外部凭证依赖。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57200" y="4674989"/>
            <a:ext cx="189468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与付费标签交叉的仅约 332 条，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4875014"/>
            <a:ext cx="216783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不能将需 Key 的条目全部算成付费。</a:t>
            </a:r>
            <a:endParaRPr/>
          </a:p>
        </p:txBody>
      </p:sp>
      <p:pic>
        <p:nvPicPr>
          <p:cNvPr id="36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0650" y="1849338"/>
            <a:ext cx="3619500" cy="3282255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4108450" y="1862038"/>
            <a:ext cx="17272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主要收费点在远程服务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4108450" y="2199184"/>
            <a:ext cx="21382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典型模式：Skill 包免费获取，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4108450" y="242937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商户后端按服务调用收费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108450" y="2723059"/>
            <a:ext cx="34365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商家自主设定单次价格。Agent 按技能指令调用 API，用户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4108450" y="292308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在支付工具中授权。</a:t>
            </a:r>
            <a:endParaRPr/>
          </a:p>
        </p:txBody>
      </p:sp>
      <p:pic>
        <p:nvPicPr>
          <p:cNvPr id="42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08450" y="3250108"/>
            <a:ext cx="3441700" cy="787400"/>
          </a:xfrm>
          <a:prstGeom prst="rect">
            <a:avLst/>
          </a:prstGeom>
        </p:spPr>
      </p:pic>
      <p:sp>
        <p:nvSpPr>
          <p:cNvPr id="43" name="文字 43"/>
          <p:cNvSpPr txBox="1"/>
          <p:nvPr/>
        </p:nvSpPr>
        <p:spPr>
          <a:xfrm>
            <a:off x="4108450" y="3389809"/>
            <a:ext cx="142557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WorkRally 图片生成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6860580" y="3389809"/>
            <a:ext cx="70227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¥0.36 / 次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108450" y="36565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腾讯科技（深圳）有限公司认证供给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108450" y="3856534"/>
            <a:ext cx="237232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无需用户 API Key，远程生成并交付图片</a:t>
            </a:r>
            <a:endParaRPr/>
          </a:p>
        </p:txBody>
      </p:sp>
      <p:pic>
        <p:nvPicPr>
          <p:cNvPr id="47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8450" y="4164509"/>
            <a:ext cx="3441700" cy="78740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4108450" y="4304209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喜鹊标书解读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7089775" y="4304209"/>
            <a:ext cx="47307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¥1 / 次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108450" y="45709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北京喜鹊云智科技有限公司认证供给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108450" y="4770934"/>
            <a:ext cx="24657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无需用户 API Key，交付摘要和三份 Word</a:t>
            </a:r>
            <a:endParaRPr/>
          </a:p>
        </p:txBody>
      </p:sp>
      <p:pic>
        <p:nvPicPr>
          <p:cNvPr id="52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21600" y="1849338"/>
            <a:ext cx="4013201" cy="3282255"/>
          </a:xfrm>
          <a:prstGeom prst="rect">
            <a:avLst/>
          </a:prstGeom>
        </p:spPr>
      </p:pic>
      <p:sp>
        <p:nvSpPr>
          <p:cNvPr id="53" name="文字 53"/>
          <p:cNvSpPr txBox="1"/>
          <p:nvPr/>
        </p:nvSpPr>
        <p:spPr>
          <a:xfrm>
            <a:off x="7899400" y="1862038"/>
            <a:ext cx="22415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服务商变现，平台暂免服务费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899400" y="2122984"/>
            <a:ext cx="229890" cy="476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8205490" y="2326184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当前平台技术服务费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899400" y="264368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官网明确暂不收取技术服务费。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99400" y="2843709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支付渠道费用及结算仍按渠道规则。</a:t>
            </a:r>
            <a:endParaRPr/>
          </a:p>
        </p:txBody>
      </p:sp>
      <p:pic>
        <p:nvPicPr>
          <p:cNvPr id="58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400" y="3164384"/>
            <a:ext cx="3835401" cy="349250"/>
          </a:xfrm>
          <a:prstGeom prst="rect">
            <a:avLst/>
          </a:prstGeom>
        </p:spPr>
      </p:pic>
      <p:sp>
        <p:nvSpPr>
          <p:cNvPr id="59" name="文字 59"/>
          <p:cNvSpPr txBox="1"/>
          <p:nvPr/>
        </p:nvSpPr>
        <p:spPr>
          <a:xfrm>
            <a:off x="7899400" y="3310434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用户直接付款给创作者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99400" y="3589834"/>
            <a:ext cx="376892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提供展示、投诉处理及平台服务；交易款按渠道规则结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99400" y="3789859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算至绑定账户。</a:t>
            </a:r>
            <a:endParaRPr/>
          </a:p>
        </p:txBody>
      </p:sp>
      <p:pic>
        <p:nvPicPr>
          <p:cNvPr id="62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99400" y="4116884"/>
            <a:ext cx="3835401" cy="3492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7899400" y="4262934"/>
            <a:ext cx="2235201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已证实供给，成交规模仍待披露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99400" y="4542334"/>
            <a:ext cx="231963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全站 GMV、付费转化、复购和平台收入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899400" y="4742359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未见公开可核验数据。</a:t>
            </a:r>
            <a:endParaRPr/>
          </a:p>
        </p:txBody>
      </p:sp>
      <p:pic>
        <p:nvPicPr>
          <p:cNvPr id="66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258594"/>
            <a:ext cx="11277600" cy="1072356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385594"/>
            <a:ext cx="271581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将服务供给接入 Agent 的工作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696744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身份与支付准入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963444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企业认证、绑定微信商户号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个人提供支付宝接入路径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3319463" y="5696744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资产商品化与审核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3319463" y="596344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版本包、按次定价和费用说明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3319463" y="61567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校验支付链路后审核上架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6181725" y="5696744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发现、分发与宿主接入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6181725" y="5963444"/>
            <a:ext cx="15175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官网、CLI / API 获取 Skill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6181725" y="6156722"/>
            <a:ext cx="14985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向支持支付的 Agent 分发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9043988" y="5696744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支付身份与售后协同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9043988" y="5963444"/>
            <a:ext cx="16128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提供开发者密钥和接入指南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9043988" y="615672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展示交易边界、协助投诉退款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457200" y="6445250"/>
            <a:ext cx="6668096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口径：2026-10-20 同参数公开 API 的非原子快照，按条目计数，比例为近似值。付费标签不代表已开通微信收款或已成交；paid 标签不能直接等同微信份额。来源及查询链接见备注。</a:t>
            </a:r>
            <a:endParaRPr/>
          </a:p>
        </p:txBody>
      </p:sp>
      <p:pic>
        <p:nvPicPr>
          <p:cNvPr id="81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47022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72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 商业化洞察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1049000" y="279400"/>
            <a:ext cx="698501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632873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微信 SkillPay 将微信订单接入 Agent，商户验付后履约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82625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71860"/>
            <a:ext cx="246181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在交易前完成接入与分发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38560"/>
            <a:ext cx="81648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企业认证及微信商户绑定，提供开发者密钥，配置按次价格，审核并发布 Skill，接入支持支付的 Agent。实际服务与订单由商户后端承接。</a:t>
            </a:r>
            <a:endParaRPr/>
          </a:p>
        </p:txBody>
      </p:sp>
      <p:pic>
        <p:nvPicPr>
          <p:cNvPr id="11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785"/>
            <a:ext cx="11277600" cy="393700"/>
          </a:xfrm>
          <a:prstGeom prst="rect">
            <a:avLst/>
          </a:prstGeom>
        </p:spPr>
      </p:pic>
      <p:sp>
        <p:nvSpPr>
          <p:cNvPr id="12" name="文字 12"/>
          <p:cNvSpPr txBox="1"/>
          <p:nvPr/>
        </p:nvSpPr>
        <p:spPr>
          <a:xfrm>
            <a:off x="1536700" y="1830685"/>
            <a:ext cx="1016992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457700" y="1830685"/>
            <a:ext cx="10033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商户业务后端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204200" y="1830685"/>
            <a:ext cx="673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微信支付</a:t>
            </a:r>
            <a:endParaRPr/>
          </a:p>
        </p:txBody>
      </p:sp>
      <p:pic>
        <p:nvPicPr>
          <p:cNvPr id="15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35485"/>
            <a:ext cx="11277600" cy="858937"/>
          </a:xfrm>
          <a:prstGeom prst="rect">
            <a:avLst/>
          </a:prstGeom>
        </p:spPr>
      </p:pic>
      <p:sp>
        <p:nvSpPr>
          <p:cNvPr id="16" name="文字 16"/>
          <p:cNvSpPr txBox="1"/>
          <p:nvPr/>
        </p:nvSpPr>
        <p:spPr>
          <a:xfrm>
            <a:off x="457200" y="225613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2548235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创建订单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1536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调用付费业务接口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1536700" y="2512616"/>
            <a:ext cx="22048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读取 Skill 指令，向商户发起业务请求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457700" y="225613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先下传统微信订单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457700" y="2512616"/>
            <a:ext cx="18170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金额、商户订单号、notify_url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457700" y="2705894"/>
            <a:ext cx="18416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Native / JSAPI 等现有支付接口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8204200" y="2256135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返回微信预支付标识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8204200" y="2512616"/>
            <a:ext cx="129599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code_url / prepay_id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8204200" y="2705894"/>
            <a:ext cx="174625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保留原有微信订单及收款主体</a:t>
            </a:r>
            <a:endParaRPr/>
          </a:p>
        </p:txBody>
      </p:sp>
      <p:pic>
        <p:nvPicPr>
          <p:cNvPr id="26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994422"/>
            <a:ext cx="11277600" cy="858937"/>
          </a:xfrm>
          <a:prstGeom prst="rect">
            <a:avLst/>
          </a:prstGeom>
        </p:spPr>
      </p:pic>
      <p:sp>
        <p:nvSpPr>
          <p:cNvPr id="27" name="文字 27"/>
          <p:cNvSpPr txBox="1"/>
          <p:nvPr/>
        </p:nvSpPr>
        <p:spPr>
          <a:xfrm>
            <a:off x="457200" y="3115072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57200" y="340717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申请支付码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1536700" y="3115072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等待商户返回支付请求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1536700" y="3371552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商户的签名私钥保留在后端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36700" y="3564831"/>
            <a:ext cx="15569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不下发给 Agent 或 Skill 包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457700" y="3115072"/>
            <a:ext cx="1199158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再做 x402 预下单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457700" y="3371552"/>
            <a:ext cx="19676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 SkillHub 开发者 RSA 密钥签名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4457700" y="3564831"/>
            <a:ext cx="219273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将既有微信预支付标识登记到 AI 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204200" y="3115072"/>
            <a:ext cx="268456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校验开发者身份，返回 payment_code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204200" y="3371552"/>
            <a:ext cx="235406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此码用于拉起支付，有效期最长 15 分钟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204200" y="356483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它本身不证明付款成功</a:t>
            </a:r>
            <a:endParaRPr/>
          </a:p>
        </p:txBody>
      </p:sp>
      <p:pic>
        <p:nvPicPr>
          <p:cNvPr id="38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53359"/>
            <a:ext cx="11277600" cy="858937"/>
          </a:xfrm>
          <a:prstGeom prst="rect">
            <a:avLst/>
          </a:prstGeom>
        </p:spPr>
      </p:pic>
      <p:sp>
        <p:nvSpPr>
          <p:cNvPr id="39" name="文字 39"/>
          <p:cNvSpPr txBox="1"/>
          <p:nvPr/>
        </p:nvSpPr>
        <p:spPr>
          <a:xfrm>
            <a:off x="457200" y="3974009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457200" y="4266109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用户授权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1536700" y="3974009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支付工具拉起卡片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1536700" y="4230489"/>
            <a:ext cx="170596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宿主须支持 weixinpay_ 工具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1536700" y="44237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保留支付码原文，避免模型改写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4457700" y="3974009"/>
            <a:ext cx="168027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返回 HTTP 402 + 支付码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4457700" y="4230489"/>
            <a:ext cx="225325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WeixinPay-Required: payment_code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57700" y="4423767"/>
            <a:ext cx="159900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也支持 HTTP 200 兼容投递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8204200" y="3974009"/>
            <a:ext cx="232489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用户扫码到微信 Liteapp 逐笔确认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8204200" y="4230489"/>
            <a:ext cx="1259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从 AI 专属卡余额支付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204200" y="4423767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与用户微信主账户资金隔离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4712295"/>
            <a:ext cx="11277600" cy="858937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4832945"/>
            <a:ext cx="21848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125046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验付交付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536700" y="4832945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继续原任务，获取业务结果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1536700" y="5089426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可沿用原订单关联取回结果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1536700" y="528270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具体重试方式由服务接口约定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457700" y="4832945"/>
            <a:ext cx="18173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以微信回调 / 查单结果验付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457700" y="5089426"/>
            <a:ext cx="2085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验证签名、订单、金额及 SUCCESS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44577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履约并幂等保存结果，失败按需退款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8204200" y="4832945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通知商户支付结果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8204200" y="5089426"/>
            <a:ext cx="195867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沿用 notify_url / 微信查单与退款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204200" y="5282704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资金按渠道规则结算至商户绑定账户</a:t>
            </a:r>
            <a:endParaRPr/>
          </a:p>
        </p:txBody>
      </p:sp>
      <p:pic>
        <p:nvPicPr>
          <p:cNvPr id="62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5568950"/>
            <a:ext cx="11277600" cy="768350"/>
          </a:xfrm>
          <a:prstGeom prst="rect">
            <a:avLst/>
          </a:prstGeom>
        </p:spPr>
      </p:pic>
      <p:sp>
        <p:nvSpPr>
          <p:cNvPr id="63" name="文字 63"/>
          <p:cNvSpPr txBox="1"/>
          <p:nvPr/>
        </p:nvSpPr>
        <p:spPr>
          <a:xfrm>
            <a:off x="457200" y="569595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三类凭证用途不同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5956300"/>
            <a:ext cx="56848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业务 API Key 用于外部服务接入；SkillHub RSA 密钥签名 AI 预下单；微信商户证书与 APIv3 密钥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457200" y="6156325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处理支付请求和回调。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416675" y="569595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落地需对齐官方接口版本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6416675" y="5956300"/>
            <a:ext cx="524113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微信当前 API 与 SkillHub 教程 / Demo 的端点、鉴权位置和报文结构不同。不能混接；本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416675" y="6156325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次依据官方文档和源码，未真实交易。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445250"/>
            <a:ext cx="6422232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来源：微信 AI 支付接入准备、开发指引、x402 API、FAQ；SkillHub 接入教程、官方商户 Demo 及 WorkRally Skill。详细链接、版本差异与可核验范围见备注和伴生研究文档。</a:t>
            </a:r>
            <a:endParaRPr/>
          </a:p>
        </p:txBody>
      </p:sp>
      <p:pic>
        <p:nvPicPr>
          <p:cNvPr id="7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47022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72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 商业化原理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706100" y="279400"/>
            <a:ext cx="10414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V2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374706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两次下单接入 Agent，SkillHub 提供商户验签与分发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615950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46460"/>
            <a:ext cx="1485503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付费标签约 10.0%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19510"/>
            <a:ext cx="2095401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19,962 / 199,545 条，含 paid 与 alipay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667647" y="1046460"/>
            <a:ext cx="1686322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 API Key 约 19.3%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667647" y="1319510"/>
            <a:ext cx="2217936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38,568 条，外部凭证依赖与付费分别统计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8374162" y="1046460"/>
            <a:ext cx="16129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平台技术服务费暂免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374162" y="1319510"/>
            <a:ext cx="25463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真实成交、复购与平台收入尚无可核验全站数据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671711" y="1706860"/>
            <a:ext cx="9170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/ 用户</a:t>
            </a:r>
            <a:endParaRPr/>
          </a:p>
        </p:txBody>
      </p:sp>
      <p:pic>
        <p:nvPicPr>
          <p:cNvPr id="16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3950" y="1960860"/>
            <a:ext cx="6350" cy="3549650"/>
          </a:xfrm>
          <a:prstGeom prst="rect">
            <a:avLst/>
          </a:prstGeom>
        </p:spPr>
      </p:pic>
      <p:sp>
        <p:nvSpPr>
          <p:cNvPr id="17" name="文字 17"/>
          <p:cNvSpPr txBox="1"/>
          <p:nvPr/>
        </p:nvSpPr>
        <p:spPr>
          <a:xfrm>
            <a:off x="30289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商户后端</a:t>
            </a:r>
            <a:endParaRPr/>
          </a:p>
        </p:txBody>
      </p:sp>
      <p:pic>
        <p:nvPicPr>
          <p:cNvPr id="18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450" y="1960860"/>
            <a:ext cx="6350" cy="354965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5378450" y="1706860"/>
            <a:ext cx="64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微信支付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1960860"/>
            <a:ext cx="6350" cy="354965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7267575" y="1706860"/>
            <a:ext cx="679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</a:t>
            </a:r>
            <a:endParaRPr/>
          </a:p>
        </p:txBody>
      </p:sp>
      <p:pic>
        <p:nvPicPr>
          <p:cNvPr id="22" name="slide-001-image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0950" y="1960860"/>
            <a:ext cx="6350" cy="3549650"/>
          </a:xfrm>
          <a:prstGeom prst="rect">
            <a:avLst/>
          </a:prstGeom>
        </p:spPr>
      </p:pic>
      <p:pic>
        <p:nvPicPr>
          <p:cNvPr id="23" name="slide-001-image-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3950" y="2202160"/>
            <a:ext cx="2222500" cy="12700"/>
          </a:xfrm>
          <a:prstGeom prst="rect">
            <a:avLst/>
          </a:prstGeom>
        </p:spPr>
      </p:pic>
      <p:sp>
        <p:nvSpPr>
          <p:cNvPr id="24" name="文字 24"/>
          <p:cNvSpPr/>
          <p:nvPr/>
        </p:nvSpPr>
        <p:spPr>
          <a:xfrm rot="5400000">
            <a:off x="3257550" y="21704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25" name="形状 25"/>
          <p:cNvSpPr/>
          <p:nvPr/>
        </p:nvSpPr>
        <p:spPr>
          <a:xfrm>
            <a:off x="1200150" y="1992610"/>
            <a:ext cx="2070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6" name="文字 26"/>
          <p:cNvSpPr txBox="1"/>
          <p:nvPr/>
        </p:nvSpPr>
        <p:spPr>
          <a:xfrm>
            <a:off x="1753394" y="2005310"/>
            <a:ext cx="9762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① 调用付费服务</a:t>
            </a:r>
            <a:endParaRPr/>
          </a:p>
        </p:txBody>
      </p:sp>
      <p:pic>
        <p:nvPicPr>
          <p:cNvPr id="27" name="slide-001-image-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450" y="2500610"/>
            <a:ext cx="2349500" cy="12700"/>
          </a:xfrm>
          <a:prstGeom prst="rect">
            <a:avLst/>
          </a:prstGeom>
        </p:spPr>
      </p:pic>
      <p:sp>
        <p:nvSpPr>
          <p:cNvPr id="28" name="文字 28"/>
          <p:cNvSpPr/>
          <p:nvPr/>
        </p:nvSpPr>
        <p:spPr>
          <a:xfrm rot="5400000">
            <a:off x="5607050" y="2468860"/>
            <a:ext cx="88900" cy="88900"/>
          </a:xfrm>
          <a:prstGeom prst="triangle">
            <a:avLst/>
          </a:prstGeom>
          <a:solidFill>
            <a:srgbClr val="1A1A1C"/>
          </a:solidFill>
          <a:ln>
            <a:noFill/>
          </a:ln>
        </p:spPr>
      </p:sp>
      <p:sp>
        <p:nvSpPr>
          <p:cNvPr id="29" name="形状 29"/>
          <p:cNvSpPr/>
          <p:nvPr/>
        </p:nvSpPr>
        <p:spPr>
          <a:xfrm>
            <a:off x="3422650" y="22910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0" name="文字 30"/>
          <p:cNvSpPr txBox="1"/>
          <p:nvPr/>
        </p:nvSpPr>
        <p:spPr>
          <a:xfrm>
            <a:off x="3505994" y="2303760"/>
            <a:ext cx="2043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② 传统下单：商户、金额、订单号</a:t>
            </a:r>
            <a:endParaRPr/>
          </a:p>
        </p:txBody>
      </p:sp>
      <p:pic>
        <p:nvPicPr>
          <p:cNvPr id="31" name="slide-001-image-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6450" y="2799060"/>
            <a:ext cx="2349500" cy="12700"/>
          </a:xfrm>
          <a:prstGeom prst="rect">
            <a:avLst/>
          </a:prstGeom>
        </p:spPr>
      </p:pic>
      <p:sp>
        <p:nvSpPr>
          <p:cNvPr id="32" name="文字 32"/>
          <p:cNvSpPr/>
          <p:nvPr/>
        </p:nvSpPr>
        <p:spPr>
          <a:xfrm rot="16200000">
            <a:off x="3346450" y="27673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33" name="形状 33"/>
          <p:cNvSpPr/>
          <p:nvPr/>
        </p:nvSpPr>
        <p:spPr>
          <a:xfrm>
            <a:off x="3422650" y="2589510"/>
            <a:ext cx="21971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4" name="文字 34"/>
          <p:cNvSpPr txBox="1"/>
          <p:nvPr/>
        </p:nvSpPr>
        <p:spPr>
          <a:xfrm>
            <a:off x="3865959" y="2602210"/>
            <a:ext cx="1323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code_url / prepay_id</a:t>
            </a:r>
            <a:endParaRPr/>
          </a:p>
        </p:txBody>
      </p:sp>
      <p:pic>
        <p:nvPicPr>
          <p:cNvPr id="35" name="slide-001-image-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46450" y="3097510"/>
            <a:ext cx="2349500" cy="12700"/>
          </a:xfrm>
          <a:prstGeom prst="rect">
            <a:avLst/>
          </a:prstGeom>
        </p:spPr>
      </p:pic>
      <p:sp>
        <p:nvSpPr>
          <p:cNvPr id="36" name="文字 36"/>
          <p:cNvSpPr/>
          <p:nvPr/>
        </p:nvSpPr>
        <p:spPr>
          <a:xfrm rot="5400000">
            <a:off x="5607050" y="30657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37" name="形状 37"/>
          <p:cNvSpPr/>
          <p:nvPr/>
        </p:nvSpPr>
        <p:spPr>
          <a:xfrm>
            <a:off x="3422650" y="28879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8" name="文字 38"/>
          <p:cNvSpPr txBox="1"/>
          <p:nvPr/>
        </p:nvSpPr>
        <p:spPr>
          <a:xfrm>
            <a:off x="3688953" y="2900660"/>
            <a:ext cx="167719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③ x402：签名 + 预支付标识</a:t>
            </a:r>
            <a:endParaRPr/>
          </a:p>
        </p:txBody>
      </p:sp>
      <p:pic>
        <p:nvPicPr>
          <p:cNvPr id="39" name="slide-001-image-1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5950" y="3395960"/>
            <a:ext cx="1905000" cy="12700"/>
          </a:xfrm>
          <a:prstGeom prst="rect">
            <a:avLst/>
          </a:prstGeom>
        </p:spPr>
      </p:pic>
      <p:sp>
        <p:nvSpPr>
          <p:cNvPr id="40" name="文字 40"/>
          <p:cNvSpPr/>
          <p:nvPr/>
        </p:nvSpPr>
        <p:spPr>
          <a:xfrm rot="5400000">
            <a:off x="7512051" y="33642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41" name="形状 41"/>
          <p:cNvSpPr/>
          <p:nvPr/>
        </p:nvSpPr>
        <p:spPr>
          <a:xfrm>
            <a:off x="5772150" y="318641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2" name="文字 42"/>
          <p:cNvSpPr txBox="1"/>
          <p:nvPr/>
        </p:nvSpPr>
        <p:spPr>
          <a:xfrm>
            <a:off x="6160095" y="3199110"/>
            <a:ext cx="98941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身份 / 签名校验*</a:t>
            </a:r>
            <a:endParaRPr/>
          </a:p>
        </p:txBody>
      </p:sp>
      <p:pic>
        <p:nvPicPr>
          <p:cNvPr id="43" name="slide-001-image-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5950" y="3694410"/>
            <a:ext cx="1905000" cy="12700"/>
          </a:xfrm>
          <a:prstGeom prst="rect">
            <a:avLst/>
          </a:prstGeom>
        </p:spPr>
      </p:pic>
      <p:sp>
        <p:nvSpPr>
          <p:cNvPr id="44" name="文字 44"/>
          <p:cNvSpPr/>
          <p:nvPr/>
        </p:nvSpPr>
        <p:spPr>
          <a:xfrm rot="16200000">
            <a:off x="5695950" y="36626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45" name="形状 45"/>
          <p:cNvSpPr/>
          <p:nvPr/>
        </p:nvSpPr>
        <p:spPr>
          <a:xfrm>
            <a:off x="5772150" y="3484860"/>
            <a:ext cx="1752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6" name="文字 46"/>
          <p:cNvSpPr txBox="1"/>
          <p:nvPr/>
        </p:nvSpPr>
        <p:spPr>
          <a:xfrm>
            <a:off x="6149380" y="3497560"/>
            <a:ext cx="101074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确认开发者身份*</a:t>
            </a:r>
            <a:endParaRPr/>
          </a:p>
        </p:txBody>
      </p:sp>
      <p:pic>
        <p:nvPicPr>
          <p:cNvPr id="47" name="slide-001-image-12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46450" y="3992860"/>
            <a:ext cx="2349500" cy="12700"/>
          </a:xfrm>
          <a:prstGeom prst="rect">
            <a:avLst/>
          </a:prstGeom>
        </p:spPr>
      </p:pic>
      <p:sp>
        <p:nvSpPr>
          <p:cNvPr id="48" name="文字 48"/>
          <p:cNvSpPr/>
          <p:nvPr/>
        </p:nvSpPr>
        <p:spPr>
          <a:xfrm rot="16200000">
            <a:off x="3346450" y="39611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9" name="形状 49"/>
          <p:cNvSpPr/>
          <p:nvPr/>
        </p:nvSpPr>
        <p:spPr>
          <a:xfrm>
            <a:off x="3422650" y="378331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0" name="文字 50"/>
          <p:cNvSpPr txBox="1"/>
          <p:nvPr/>
        </p:nvSpPr>
        <p:spPr>
          <a:xfrm>
            <a:off x="3898205" y="3796010"/>
            <a:ext cx="12585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返回 payment_code</a:t>
            </a:r>
            <a:endParaRPr/>
          </a:p>
        </p:txBody>
      </p:sp>
      <p:pic>
        <p:nvPicPr>
          <p:cNvPr id="51" name="slide-001-image-1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23950" y="4291310"/>
            <a:ext cx="2222500" cy="12700"/>
          </a:xfrm>
          <a:prstGeom prst="rect">
            <a:avLst/>
          </a:prstGeom>
        </p:spPr>
      </p:pic>
      <p:sp>
        <p:nvSpPr>
          <p:cNvPr id="52" name="文字 52"/>
          <p:cNvSpPr/>
          <p:nvPr/>
        </p:nvSpPr>
        <p:spPr>
          <a:xfrm rot="16200000">
            <a:off x="1123950" y="42595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53" name="形状 53"/>
          <p:cNvSpPr/>
          <p:nvPr/>
        </p:nvSpPr>
        <p:spPr>
          <a:xfrm>
            <a:off x="1200150" y="40817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4" name="文字 54"/>
          <p:cNvSpPr txBox="1"/>
          <p:nvPr/>
        </p:nvSpPr>
        <p:spPr>
          <a:xfrm>
            <a:off x="1354435" y="4094460"/>
            <a:ext cx="17742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④ 402 + 支付码 + 业务关联 ID</a:t>
            </a:r>
            <a:endParaRPr/>
          </a:p>
        </p:txBody>
      </p:sp>
      <p:pic>
        <p:nvPicPr>
          <p:cNvPr id="55" name="slide-001-image-1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23950" y="4589760"/>
            <a:ext cx="4572000" cy="12700"/>
          </a:xfrm>
          <a:prstGeom prst="rect">
            <a:avLst/>
          </a:prstGeom>
        </p:spPr>
      </p:pic>
      <p:sp>
        <p:nvSpPr>
          <p:cNvPr id="56" name="文字 56"/>
          <p:cNvSpPr/>
          <p:nvPr/>
        </p:nvSpPr>
        <p:spPr>
          <a:xfrm rot="5400000">
            <a:off x="5607050" y="455801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57" name="形状 57"/>
          <p:cNvSpPr/>
          <p:nvPr/>
        </p:nvSpPr>
        <p:spPr>
          <a:xfrm>
            <a:off x="1200150" y="4380210"/>
            <a:ext cx="4419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8" name="文字 58"/>
          <p:cNvSpPr txBox="1"/>
          <p:nvPr/>
        </p:nvSpPr>
        <p:spPr>
          <a:xfrm>
            <a:off x="1969294" y="4392910"/>
            <a:ext cx="28939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⑤ 官方支付工具拉起，用户以 AI 专属卡逐笔确认</a:t>
            </a:r>
            <a:endParaRPr/>
          </a:p>
        </p:txBody>
      </p:sp>
      <p:pic>
        <p:nvPicPr>
          <p:cNvPr id="59" name="slide-001-image-15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6450" y="4888210"/>
            <a:ext cx="2349500" cy="12700"/>
          </a:xfrm>
          <a:prstGeom prst="rect">
            <a:avLst/>
          </a:prstGeom>
        </p:spPr>
      </p:pic>
      <p:sp>
        <p:nvSpPr>
          <p:cNvPr id="60" name="文字 60"/>
          <p:cNvSpPr/>
          <p:nvPr/>
        </p:nvSpPr>
        <p:spPr>
          <a:xfrm rot="16200000">
            <a:off x="3346450" y="4856460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61" name="形状 61"/>
          <p:cNvSpPr/>
          <p:nvPr/>
        </p:nvSpPr>
        <p:spPr>
          <a:xfrm>
            <a:off x="3422650" y="4678660"/>
            <a:ext cx="2197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62" name="文字 62"/>
          <p:cNvSpPr txBox="1"/>
          <p:nvPr/>
        </p:nvSpPr>
        <p:spPr>
          <a:xfrm>
            <a:off x="3675757" y="4691360"/>
            <a:ext cx="17035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⑥ 回调 / 查单确认 SUCCESS</a:t>
            </a:r>
            <a:endParaRPr/>
          </a:p>
        </p:txBody>
      </p:sp>
      <p:pic>
        <p:nvPicPr>
          <p:cNvPr id="63" name="slide-001-image-16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3950" y="5186660"/>
            <a:ext cx="2222500" cy="12700"/>
          </a:xfrm>
          <a:prstGeom prst="rect">
            <a:avLst/>
          </a:prstGeom>
        </p:spPr>
      </p:pic>
      <p:sp>
        <p:nvSpPr>
          <p:cNvPr id="64" name="文字 64"/>
          <p:cNvSpPr/>
          <p:nvPr/>
        </p:nvSpPr>
        <p:spPr>
          <a:xfrm rot="5400000">
            <a:off x="3257550" y="51549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65" name="形状 65"/>
          <p:cNvSpPr/>
          <p:nvPr/>
        </p:nvSpPr>
        <p:spPr>
          <a:xfrm>
            <a:off x="1200150" y="497711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66" name="文字 66"/>
          <p:cNvSpPr txBox="1"/>
          <p:nvPr/>
        </p:nvSpPr>
        <p:spPr>
          <a:xfrm>
            <a:off x="1389459" y="4989810"/>
            <a:ext cx="17040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⑦ 沿用原业务关联 ID 取结果</a:t>
            </a:r>
            <a:endParaRPr/>
          </a:p>
        </p:txBody>
      </p:sp>
      <p:pic>
        <p:nvPicPr>
          <p:cNvPr id="67" name="slide-001-image-17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3950" y="5485110"/>
            <a:ext cx="2222500" cy="12700"/>
          </a:xfrm>
          <a:prstGeom prst="rect">
            <a:avLst/>
          </a:prstGeom>
        </p:spPr>
      </p:pic>
      <p:sp>
        <p:nvSpPr>
          <p:cNvPr id="68" name="文字 68"/>
          <p:cNvSpPr/>
          <p:nvPr/>
        </p:nvSpPr>
        <p:spPr>
          <a:xfrm rot="16200000">
            <a:off x="1123950" y="545336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69" name="形状 69"/>
          <p:cNvSpPr/>
          <p:nvPr/>
        </p:nvSpPr>
        <p:spPr>
          <a:xfrm>
            <a:off x="1200150" y="5275560"/>
            <a:ext cx="20701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70" name="文字 70"/>
          <p:cNvSpPr txBox="1"/>
          <p:nvPr/>
        </p:nvSpPr>
        <p:spPr>
          <a:xfrm>
            <a:off x="1512392" y="5288260"/>
            <a:ext cx="14582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交付结果 / 返回生成状态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457200" y="5605760"/>
            <a:ext cx="401568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* 按 SkillHub 官方教程表达逻辑校验关系，内部调用方式、缓存和同步依赖未公开。</a:t>
            </a:r>
            <a:endParaRPr/>
          </a:p>
        </p:txBody>
      </p:sp>
      <p:pic>
        <p:nvPicPr>
          <p:cNvPr id="72" name="slide-001-image-18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521700" y="1687810"/>
            <a:ext cx="3213100" cy="4070350"/>
          </a:xfrm>
          <a:prstGeom prst="rect">
            <a:avLst/>
          </a:prstGeom>
        </p:spPr>
      </p:pic>
      <p:sp>
        <p:nvSpPr>
          <p:cNvPr id="73" name="文字 73"/>
          <p:cNvSpPr txBox="1"/>
          <p:nvPr/>
        </p:nvSpPr>
        <p:spPr>
          <a:xfrm>
            <a:off x="8693151" y="1700510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第一次下单确定商户和金额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1965623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传统微信订单保存商户、金额和回调地址。此时仍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216296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待支付。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2493665"/>
            <a:ext cx="212566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第二次预下单建立 Agent 入口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2758777"/>
            <a:ext cx="304452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x402 将既有预支付标识登记到微信 AI 支付，换取限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2956124"/>
            <a:ext cx="243939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时 payment_code。它不新增一次扣款。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3286820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两套验签分别确认身份与付款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3551932"/>
            <a:ext cx="296882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SkillHub 开发者签名用于预下单身份校验；商户另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3749278"/>
            <a:ext cx="26582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验微信回调 / 查单结果，确认这笔订单已付。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4079974"/>
            <a:ext cx="207644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交易款由用户直接付给创作者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8693151" y="4345087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平台目前暂免技术服务费，支付渠道费用与结算按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8693151" y="4542433"/>
            <a:ext cx="21862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渠道规则。供给占比无法推算 GMV。</a:t>
            </a:r>
            <a:endParaRPr/>
          </a:p>
        </p:txBody>
      </p:sp>
      <p:pic>
        <p:nvPicPr>
          <p:cNvPr id="85" name="slide-001-image-19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5820470"/>
            <a:ext cx="11277600" cy="529531"/>
          </a:xfrm>
          <a:prstGeom prst="rect">
            <a:avLst/>
          </a:prstGeom>
        </p:spPr>
      </p:pic>
      <p:sp>
        <p:nvSpPr>
          <p:cNvPr id="86" name="文字 86"/>
          <p:cNvSpPr txBox="1"/>
          <p:nvPr/>
        </p:nvSpPr>
        <p:spPr>
          <a:xfrm>
            <a:off x="457200" y="594112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供给准入</a:t>
            </a:r>
            <a:endParaRPr/>
          </a:p>
        </p:txBody>
      </p:sp>
      <p:sp>
        <p:nvSpPr>
          <p:cNvPr id="87" name="文字 87"/>
          <p:cNvSpPr txBox="1"/>
          <p:nvPr/>
        </p:nvSpPr>
        <p:spPr>
          <a:xfrm>
            <a:off x="457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企业认证、绑定微信商户号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3314700" y="594112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商品化发布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3314700" y="6176070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定价、版本包、支付链路审核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6172200" y="5941120"/>
            <a:ext cx="901105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分发到 Agent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722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发现与安装入口、宿主接入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9029700" y="5941120"/>
            <a:ext cx="8890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交易身份信任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9029700" y="6176070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开发者密钥及教程所述验签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457200" y="6445250"/>
            <a:ext cx="6056610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统计为 2026-10-20 公开 API 非原子快照，按资产条目计；paid 不等同微信已开户或成交。时序采用官方共识，微信 API 与 SkillHub Demo 版本差异及来源详见备注。</a:t>
            </a:r>
            <a:endParaRPr/>
          </a:p>
        </p:txBody>
      </p:sp>
      <p:pic>
        <p:nvPicPr>
          <p:cNvPr id="95" name="slide-001-image-20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47022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72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 SkillHub 商业化原理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706100" y="279400"/>
            <a:ext cx="104140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V2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932811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payment_code 发起付款，payment_id 串联任务与交付</a:t>
            </a:r>
            <a:endParaRPr/>
          </a:p>
        </p:txBody>
      </p:sp>
      <p:pic>
        <p:nvPicPr>
          <p:cNvPr id="8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44860"/>
            <a:ext cx="11277600" cy="401241"/>
          </a:xfrm>
          <a:prstGeom prst="rect">
            <a:avLst/>
          </a:prstGeom>
        </p:spPr>
      </p:pic>
      <p:sp>
        <p:nvSpPr>
          <p:cNvPr id="9" name="文字 9"/>
          <p:cNvSpPr txBox="1"/>
          <p:nvPr/>
        </p:nvSpPr>
        <p:spPr>
          <a:xfrm>
            <a:off x="457200" y="1059160"/>
            <a:ext cx="311616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真实案例：腾讯 WorkRally 图片生成 ¥0.36 / 次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3713063" y="1059160"/>
            <a:ext cx="44956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技能包可公开获取，用户无需业务 API Key；付费点在远程图片服务。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98501"/>
            <a:ext cx="271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同一响应里的两个标识，走向不同接口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457200" y="1847751"/>
            <a:ext cx="2730500" cy="958850"/>
          </a:xfrm>
          <a:prstGeom prst="roundRect">
            <a:avLst>
              <a:gd name="adj" fmla="val 662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13" name="文字 13"/>
          <p:cNvSpPr txBox="1"/>
          <p:nvPr/>
        </p:nvSpPr>
        <p:spPr>
          <a:xfrm>
            <a:off x="1029295" y="1943001"/>
            <a:ext cx="159901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invoke 返回 HTTP 402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912713" y="2179142"/>
            <a:ext cx="18321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Body: payment_id = WPAY_…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008658" y="2359124"/>
            <a:ext cx="164028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Header / WeixinPay 节点：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93564" y="2539107"/>
            <a:ext cx="187047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WeixinPay-Required = PMT_…</a:t>
            </a:r>
            <a:endParaRPr/>
          </a:p>
        </p:txBody>
      </p:sp>
      <p:pic>
        <p:nvPicPr>
          <p:cNvPr id="17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7700" y="1987451"/>
            <a:ext cx="1397000" cy="12700"/>
          </a:xfrm>
          <a:prstGeom prst="rect">
            <a:avLst/>
          </a:prstGeom>
        </p:spPr>
      </p:pic>
      <p:sp>
        <p:nvSpPr>
          <p:cNvPr id="18" name="文字 18"/>
          <p:cNvSpPr/>
          <p:nvPr/>
        </p:nvSpPr>
        <p:spPr>
          <a:xfrm rot="5400000">
            <a:off x="4495800" y="19557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19" name="形状 19"/>
          <p:cNvSpPr/>
          <p:nvPr/>
        </p:nvSpPr>
        <p:spPr>
          <a:xfrm>
            <a:off x="3263900" y="1777901"/>
            <a:ext cx="12446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0" name="文字 20"/>
          <p:cNvSpPr txBox="1"/>
          <p:nvPr/>
        </p:nvSpPr>
        <p:spPr>
          <a:xfrm>
            <a:off x="3686175" y="1790601"/>
            <a:ext cx="4127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支付码</a:t>
            </a:r>
            <a:endParaRPr/>
          </a:p>
        </p:txBody>
      </p:sp>
      <p:sp>
        <p:nvSpPr>
          <p:cNvPr id="21" name="形状 21"/>
          <p:cNvSpPr/>
          <p:nvPr/>
        </p:nvSpPr>
        <p:spPr>
          <a:xfrm>
            <a:off x="4584700" y="17017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</p:sp>
      <p:sp>
        <p:nvSpPr>
          <p:cNvPr id="22" name="文字 22"/>
          <p:cNvSpPr txBox="1"/>
          <p:nvPr/>
        </p:nvSpPr>
        <p:spPr>
          <a:xfrm>
            <a:off x="5356225" y="17969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交给微信支付工具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5128518" y="2033092"/>
            <a:ext cx="16873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用于拉起付款，最长 15 分钟</a:t>
            </a:r>
            <a:endParaRPr/>
          </a:p>
        </p:txBody>
      </p:sp>
      <p:pic>
        <p:nvPicPr>
          <p:cNvPr id="24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00" y="2590701"/>
            <a:ext cx="1397000" cy="12700"/>
          </a:xfrm>
          <a:prstGeom prst="rect">
            <a:avLst/>
          </a:prstGeom>
        </p:spPr>
      </p:pic>
      <p:sp>
        <p:nvSpPr>
          <p:cNvPr id="25" name="文字 25"/>
          <p:cNvSpPr/>
          <p:nvPr/>
        </p:nvSpPr>
        <p:spPr>
          <a:xfrm rot="5400000">
            <a:off x="4495800" y="2558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26" name="形状 26"/>
          <p:cNvSpPr/>
          <p:nvPr/>
        </p:nvSpPr>
        <p:spPr>
          <a:xfrm>
            <a:off x="3263900" y="2381151"/>
            <a:ext cx="1244600" cy="186631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7" name="文字 27"/>
          <p:cNvSpPr txBox="1"/>
          <p:nvPr/>
        </p:nvSpPr>
        <p:spPr>
          <a:xfrm>
            <a:off x="3537248" y="2393851"/>
            <a:ext cx="7106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业务关联 ID</a:t>
            </a:r>
            <a:endParaRPr/>
          </a:p>
        </p:txBody>
      </p:sp>
      <p:sp>
        <p:nvSpPr>
          <p:cNvPr id="28" name="形状 28"/>
          <p:cNvSpPr/>
          <p:nvPr/>
        </p:nvSpPr>
        <p:spPr>
          <a:xfrm>
            <a:off x="4584700" y="2324001"/>
            <a:ext cx="2762250" cy="584200"/>
          </a:xfrm>
          <a:prstGeom prst="roundRect">
            <a:avLst>
              <a:gd name="adj" fmla="val 1087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29" name="文字 29"/>
          <p:cNvSpPr txBox="1"/>
          <p:nvPr/>
        </p:nvSpPr>
        <p:spPr>
          <a:xfrm>
            <a:off x="5151239" y="2419251"/>
            <a:ext cx="164177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content {payment_id}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299075" y="2655392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沿用同一任务查询结果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457200" y="2933601"/>
            <a:ext cx="44736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两者来自同一次 invoke 响应，各自承担对应步骤。Agent 无需解析支付码。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219351"/>
            <a:ext cx="302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支付成功之后，商户还要完成业务状态迁移</a:t>
            </a:r>
            <a:endParaRPr/>
          </a:p>
        </p:txBody>
      </p:sp>
      <p:sp>
        <p:nvSpPr>
          <p:cNvPr id="33" name="形状 33"/>
          <p:cNvSpPr/>
          <p:nvPr/>
        </p:nvSpPr>
        <p:spPr>
          <a:xfrm>
            <a:off x="457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34" name="文字 34"/>
          <p:cNvSpPr txBox="1"/>
          <p:nvPr/>
        </p:nvSpPr>
        <p:spPr>
          <a:xfrm>
            <a:off x="1022350" y="37591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待支付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582513" y="3995242"/>
            <a:ext cx="134947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402 / code: NOT_PAID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3124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37" name="文字 37"/>
          <p:cNvSpPr txBox="1"/>
          <p:nvPr/>
        </p:nvSpPr>
        <p:spPr>
          <a:xfrm>
            <a:off x="3513832" y="3759101"/>
            <a:ext cx="82093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generating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3517900" y="39952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已付，生成中</a:t>
            </a:r>
            <a:endParaRPr/>
          </a:p>
        </p:txBody>
      </p:sp>
      <p:sp>
        <p:nvSpPr>
          <p:cNvPr id="39" name="形状 39"/>
          <p:cNvSpPr/>
          <p:nvPr/>
        </p:nvSpPr>
        <p:spPr>
          <a:xfrm>
            <a:off x="5791200" y="36638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</p:sp>
      <p:sp>
        <p:nvSpPr>
          <p:cNvPr id="40" name="文字 40"/>
          <p:cNvSpPr txBox="1"/>
          <p:nvPr/>
        </p:nvSpPr>
        <p:spPr>
          <a:xfrm>
            <a:off x="6232029" y="3759101"/>
            <a:ext cx="7185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delivered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003131" y="3995242"/>
            <a:ext cx="117633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交付同一 result_url</a:t>
            </a:r>
            <a:endParaRPr/>
          </a:p>
        </p:txBody>
      </p:sp>
      <p:pic>
        <p:nvPicPr>
          <p:cNvPr id="4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4700" y="3943251"/>
            <a:ext cx="1079500" cy="12700"/>
          </a:xfrm>
          <a:prstGeom prst="rect">
            <a:avLst/>
          </a:prstGeom>
        </p:spPr>
      </p:pic>
      <p:sp>
        <p:nvSpPr>
          <p:cNvPr id="43" name="文字 43"/>
          <p:cNvSpPr/>
          <p:nvPr/>
        </p:nvSpPr>
        <p:spPr>
          <a:xfrm rot="5400000">
            <a:off x="3035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4" name="形状 44"/>
          <p:cNvSpPr/>
          <p:nvPr/>
        </p:nvSpPr>
        <p:spPr>
          <a:xfrm>
            <a:off x="2120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5" name="文字 45"/>
          <p:cNvSpPr txBox="1"/>
          <p:nvPr/>
        </p:nvSpPr>
        <p:spPr>
          <a:xfrm>
            <a:off x="2282825" y="37464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验付后启动</a:t>
            </a:r>
            <a:endParaRPr/>
          </a:p>
        </p:txBody>
      </p:sp>
      <p:pic>
        <p:nvPicPr>
          <p:cNvPr id="46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1700" y="3943251"/>
            <a:ext cx="1079500" cy="12700"/>
          </a:xfrm>
          <a:prstGeom prst="rect">
            <a:avLst/>
          </a:prstGeom>
        </p:spPr>
      </p:pic>
      <p:sp>
        <p:nvSpPr>
          <p:cNvPr id="47" name="文字 47"/>
          <p:cNvSpPr/>
          <p:nvPr/>
        </p:nvSpPr>
        <p:spPr>
          <a:xfrm rot="5400000">
            <a:off x="5702300" y="3911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8" name="形状 48"/>
          <p:cNvSpPr/>
          <p:nvPr/>
        </p:nvSpPr>
        <p:spPr>
          <a:xfrm>
            <a:off x="4787900" y="373370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9" name="文字 49"/>
          <p:cNvSpPr txBox="1"/>
          <p:nvPr/>
        </p:nvSpPr>
        <p:spPr>
          <a:xfrm>
            <a:off x="5010150" y="374640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生成成功</a:t>
            </a:r>
            <a:endParaRPr/>
          </a:p>
        </p:txBody>
      </p:sp>
      <p:pic>
        <p:nvPicPr>
          <p:cNvPr id="50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50950" y="4241701"/>
            <a:ext cx="12700" cy="476250"/>
          </a:xfrm>
          <a:prstGeom prst="rect">
            <a:avLst/>
          </a:prstGeom>
        </p:spPr>
      </p:pic>
      <p:sp>
        <p:nvSpPr>
          <p:cNvPr id="51" name="文字 51"/>
          <p:cNvSpPr/>
          <p:nvPr/>
        </p:nvSpPr>
        <p:spPr>
          <a:xfrm rot="10800000">
            <a:off x="1212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52" name="文字 52"/>
          <p:cNvSpPr txBox="1"/>
          <p:nvPr/>
        </p:nvSpPr>
        <p:spPr>
          <a:xfrm>
            <a:off x="1346200" y="4305201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未支付超时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457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54" name="文字 54"/>
          <p:cNvSpPr txBox="1"/>
          <p:nvPr/>
        </p:nvSpPr>
        <p:spPr>
          <a:xfrm>
            <a:off x="967879" y="4813201"/>
            <a:ext cx="578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expired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647303" y="5049342"/>
            <a:ext cx="12198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旧 payment_id 终止</a:t>
            </a:r>
            <a:endParaRPr/>
          </a:p>
        </p:txBody>
      </p:sp>
      <p:pic>
        <p:nvPicPr>
          <p:cNvPr id="5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950" y="4241701"/>
            <a:ext cx="12700" cy="476250"/>
          </a:xfrm>
          <a:prstGeom prst="rect">
            <a:avLst/>
          </a:prstGeom>
        </p:spPr>
      </p:pic>
      <p:sp>
        <p:nvSpPr>
          <p:cNvPr id="57" name="文字 57"/>
          <p:cNvSpPr/>
          <p:nvPr/>
        </p:nvSpPr>
        <p:spPr>
          <a:xfrm rot="10800000">
            <a:off x="3879850" y="4641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58" name="文字 58"/>
          <p:cNvSpPr txBox="1"/>
          <p:nvPr/>
        </p:nvSpPr>
        <p:spPr>
          <a:xfrm>
            <a:off x="4013200" y="4305201"/>
            <a:ext cx="8378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生成失败 / 超时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3124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60" name="文字 60"/>
          <p:cNvSpPr txBox="1"/>
          <p:nvPr/>
        </p:nvSpPr>
        <p:spPr>
          <a:xfrm>
            <a:off x="3706217" y="4813201"/>
            <a:ext cx="43616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failed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3317875" y="5049342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失败，查看退款状态</a:t>
            </a:r>
            <a:endParaRPr/>
          </a:p>
        </p:txBody>
      </p:sp>
      <p:pic>
        <p:nvPicPr>
          <p:cNvPr id="62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5003701"/>
            <a:ext cx="1079500" cy="12700"/>
          </a:xfrm>
          <a:prstGeom prst="rect">
            <a:avLst/>
          </a:prstGeom>
        </p:spPr>
      </p:pic>
      <p:sp>
        <p:nvSpPr>
          <p:cNvPr id="63" name="文字 63"/>
          <p:cNvSpPr/>
          <p:nvPr/>
        </p:nvSpPr>
        <p:spPr>
          <a:xfrm rot="5400000">
            <a:off x="5702300" y="49719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64" name="形状 64"/>
          <p:cNvSpPr/>
          <p:nvPr/>
        </p:nvSpPr>
        <p:spPr>
          <a:xfrm>
            <a:off x="4787900" y="4794151"/>
            <a:ext cx="9271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65" name="文字 65"/>
          <p:cNvSpPr txBox="1"/>
          <p:nvPr/>
        </p:nvSpPr>
        <p:spPr>
          <a:xfrm>
            <a:off x="5010150" y="4806851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退款确认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5791200" y="4717951"/>
            <a:ext cx="1587500" cy="577850"/>
          </a:xfrm>
          <a:prstGeom prst="roundRect">
            <a:avLst>
              <a:gd name="adj" fmla="val 10989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67" name="文字 67"/>
          <p:cNvSpPr txBox="1"/>
          <p:nvPr/>
        </p:nvSpPr>
        <p:spPr>
          <a:xfrm>
            <a:off x="6241356" y="4813201"/>
            <a:ext cx="699889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refunded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184900" y="5049342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退款完成终态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5429151"/>
            <a:ext cx="423922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状态图依据 WorkRally 公开调用契约；支付状态、服务状态及退款状态由商户分别管理。</a:t>
            </a:r>
            <a:endParaRPr/>
          </a:p>
        </p:txBody>
      </p:sp>
      <p:pic>
        <p:nvPicPr>
          <p:cNvPr id="70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7300" y="1473101"/>
            <a:ext cx="4127501" cy="4108450"/>
          </a:xfrm>
          <a:prstGeom prst="rect">
            <a:avLst/>
          </a:prstGeom>
        </p:spPr>
      </p:pic>
      <p:sp>
        <p:nvSpPr>
          <p:cNvPr id="71" name="文字 71"/>
          <p:cNvSpPr txBox="1"/>
          <p:nvPr/>
        </p:nvSpPr>
        <p:spPr>
          <a:xfrm>
            <a:off x="7791450" y="1485801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生成中：继续原任务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7791450" y="1750913"/>
            <a:ext cx="394801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HTTP 200 + generating 仍未交付。按 retry_after_seconds（5 秒）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7791450" y="1948260"/>
            <a:ext cx="212983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用同一 payment_id 重试 content。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7791450" y="225990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已交付：重复取同一结果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7791450" y="2525018"/>
            <a:ext cx="390991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delivered 返回相同 result_url。WorkRally 契约承诺同任务不重复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7791450" y="2722364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扣费、不重复生成。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7791450" y="303401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终态：先处理旧任务，再决定新购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7791450" y="3299123"/>
            <a:ext cx="377834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failed / refunded / expired 按错误规则结束旧任务。按契约重新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7791450" y="3496469"/>
            <a:ext cx="269140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invoke，不能把“生成中”误判为需要再买。</a:t>
            </a:r>
            <a:endParaRPr/>
          </a:p>
        </p:txBody>
      </p:sp>
      <p:pic>
        <p:nvPicPr>
          <p:cNvPr id="80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1450" y="3820815"/>
            <a:ext cx="3943350" cy="3429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7791450" y="3960515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服务履约仍由商户保证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7791450" y="4239915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请求、回调、履约各有幂等约束</a:t>
            </a:r>
            <a:endParaRPr/>
          </a:p>
        </p:txBody>
      </p:sp>
      <p:sp>
        <p:nvSpPr>
          <p:cNvPr id="83" name="文字 83"/>
          <p:cNvSpPr txBox="1"/>
          <p:nvPr/>
        </p:nvSpPr>
        <p:spPr>
          <a:xfrm>
            <a:off x="7791450" y="450502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稳定业务订单防重复建单；验签后去重支付通知；唯一任务执行权</a:t>
            </a:r>
            <a:endParaRPr/>
          </a:p>
        </p:txBody>
      </p:sp>
      <p:sp>
        <p:nvSpPr>
          <p:cNvPr id="84" name="文字 84"/>
          <p:cNvSpPr txBox="1"/>
          <p:nvPr/>
        </p:nvSpPr>
        <p:spPr>
          <a:xfrm>
            <a:off x="7791450" y="4702374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和持久结果防重复生成。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7791450" y="4982270"/>
            <a:ext cx="395376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官方 Demo 使用内存 map，不能证明并发、重启与退款恢复已具备</a:t>
            </a:r>
            <a:endParaRPr/>
          </a:p>
        </p:txBody>
      </p:sp>
      <p:sp>
        <p:nvSpPr>
          <p:cNvPr id="86" name="文字 86"/>
          <p:cNvSpPr txBox="1"/>
          <p:nvPr/>
        </p:nvSpPr>
        <p:spPr>
          <a:xfrm>
            <a:off x="7791450" y="5179616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生产保证。</a:t>
            </a:r>
            <a:endParaRPr/>
          </a:p>
        </p:txBody>
      </p:sp>
      <p:pic>
        <p:nvPicPr>
          <p:cNvPr id="87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633839"/>
            <a:ext cx="11277600" cy="716161"/>
          </a:xfrm>
          <a:prstGeom prst="rect">
            <a:avLst/>
          </a:prstGeom>
        </p:spPr>
      </p:pic>
      <p:sp>
        <p:nvSpPr>
          <p:cNvPr id="88" name="文字 88"/>
          <p:cNvSpPr txBox="1"/>
          <p:nvPr/>
        </p:nvSpPr>
        <p:spPr>
          <a:xfrm>
            <a:off x="457200" y="5754489"/>
            <a:ext cx="23495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支付回调的真实性与保密性分开处理</a:t>
            </a:r>
            <a:endParaRPr/>
          </a:p>
        </p:txBody>
      </p:sp>
      <p:sp>
        <p:nvSpPr>
          <p:cNvPr id="89" name="文字 89"/>
          <p:cNvSpPr txBox="1"/>
          <p:nvPr/>
        </p:nvSpPr>
        <p:spPr>
          <a:xfrm>
            <a:off x="457200" y="5989439"/>
            <a:ext cx="553491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商户用微信支付公钥 / 平台证书验签，用 APIv3 密钥解密。SkillHub 开发者私钥只用于 AI 预下</a:t>
            </a:r>
            <a:endParaRPr/>
          </a:p>
        </p:txBody>
      </p:sp>
      <p:sp>
        <p:nvSpPr>
          <p:cNvPr id="90" name="文字 90"/>
          <p:cNvSpPr txBox="1"/>
          <p:nvPr/>
        </p:nvSpPr>
        <p:spPr>
          <a:xfrm>
            <a:off x="457200" y="6176070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单身份。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6197600" y="5754489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实现必须选定同一版本契约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6197600" y="5989439"/>
            <a:ext cx="552797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微信当前 API 采用 Authorization + JSON 对象；SkillHub Demo 仍采用旧端点和 Body 鉴权，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6197600" y="6176070"/>
            <a:ext cx="6794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不能混接。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457200" y="6445250"/>
            <a:ext cx="7182049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来源：WorkRally SKILL.md / invoke-flow / troubleshooting，微信 x402 API / FAQ / 支付回调，SkillHub 商户 Demo。本次为公开文档与源码核查，未真实交易；详细证据与恢复边界见伴生文档。</a:t>
            </a:r>
            <a:endParaRPr/>
          </a:p>
        </p:txBody>
      </p:sp>
      <p:pic>
        <p:nvPicPr>
          <p:cNvPr id="95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232717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63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 SkillPay 与 MachinePay 原理研究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826353" y="298450"/>
            <a:ext cx="9211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1/4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7533581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经营 Skill 商品，付款后分为源文件与使用权两种交付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56250"/>
            <a:ext cx="11264532" cy="0"/>
          </a:xfrm>
          <a:prstGeom prst="line">
            <a:avLst/>
          </a:prstGeom>
          <a:ln w="12622" cap="flat">
            <a:solidFill>
              <a:srgbClr val="B5333B"/>
            </a:solidFill>
            <a:prstDash val="solid"/>
          </a:ln>
        </p:spPr>
      </p:cxnSp>
      <p:sp>
        <p:nvSpPr>
          <p:cNvPr id="9" name="形状 9"/>
          <p:cNvSpPr/>
          <p:nvPr/>
        </p:nvSpPr>
        <p:spPr>
          <a:xfrm>
            <a:off x="457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10" name="文字 10"/>
          <p:cNvSpPr txBox="1"/>
          <p:nvPr/>
        </p:nvSpPr>
        <p:spPr>
          <a:xfrm>
            <a:off x="1132384" y="1243310"/>
            <a:ext cx="11388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作者提交源 Skill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8286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名称、文件、价格与收费模式</a:t>
            </a:r>
            <a:endParaRPr/>
          </a:p>
        </p:txBody>
      </p:sp>
      <p:sp>
        <p:nvSpPr>
          <p:cNvPr id="12" name="形状 12"/>
          <p:cNvSpPr/>
          <p:nvPr/>
        </p:nvSpPr>
        <p:spPr>
          <a:xfrm>
            <a:off x="34417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13" name="文字 13"/>
          <p:cNvSpPr txBox="1"/>
          <p:nvPr/>
        </p:nvSpPr>
        <p:spPr>
          <a:xfrm>
            <a:off x="4133155" y="1243310"/>
            <a:ext cx="110619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商品化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3813175" y="14921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扫描审核、版本、试用和权益</a:t>
            </a:r>
            <a:endParaRPr/>
          </a:p>
        </p:txBody>
      </p:sp>
      <p:sp>
        <p:nvSpPr>
          <p:cNvPr id="15" name="形状 15"/>
          <p:cNvSpPr/>
          <p:nvPr/>
        </p:nvSpPr>
        <p:spPr>
          <a:xfrm>
            <a:off x="6426200" y="1129010"/>
            <a:ext cx="24765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16" name="文字 16"/>
          <p:cNvSpPr txBox="1"/>
          <p:nvPr/>
        </p:nvSpPr>
        <p:spPr>
          <a:xfrm>
            <a:off x="7207250" y="1243310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作者自主分发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864350" y="1492151"/>
            <a:ext cx="16129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购买指令、二维码或商品页</a:t>
            </a:r>
            <a:endParaRPr/>
          </a:p>
        </p:txBody>
      </p:sp>
      <p:cxnSp>
        <p:nvCxnSpPr>
          <p:cNvPr id="18" name="Editable line 18"/>
          <p:cNvCxnSpPr/>
          <p:nvPr/>
        </p:nvCxnSpPr>
        <p:spPr>
          <a:xfrm>
            <a:off x="2936915" y="1473498"/>
            <a:ext cx="498354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528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cxnSp>
        <p:nvCxnSpPr>
          <p:cNvPr id="20" name="Editable line 20"/>
          <p:cNvCxnSpPr/>
          <p:nvPr/>
        </p:nvCxnSpPr>
        <p:spPr>
          <a:xfrm>
            <a:off x="5924630" y="1473498"/>
            <a:ext cx="495139" cy="0"/>
          </a:xfrm>
          <a:prstGeom prst="line">
            <a:avLst/>
          </a:prstGeom>
          <a:ln w="10870" cap="flat">
            <a:solidFill>
              <a:srgbClr val="566472"/>
            </a:solidFill>
            <a:prstDash val="solid"/>
          </a:ln>
        </p:spPr>
      </p:cxnSp>
      <p:sp>
        <p:nvSpPr>
          <p:cNvPr id="21" name="文字 21"/>
          <p:cNvSpPr/>
          <p:nvPr/>
        </p:nvSpPr>
        <p:spPr>
          <a:xfrm rot="5400000">
            <a:off x="6337300" y="1433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22" name="文字 22"/>
          <p:cNvSpPr txBox="1"/>
          <p:nvPr/>
        </p:nvSpPr>
        <p:spPr>
          <a:xfrm>
            <a:off x="9112250" y="1217910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作者负责创造与维护，平台承接付款之后的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9112250" y="140454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交付和持续经营。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1954510"/>
            <a:ext cx="25844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同一购买握手，取得不同商品权益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2341860"/>
            <a:ext cx="1460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26" name="文字 26"/>
          <p:cNvSpPr txBox="1"/>
          <p:nvPr/>
        </p:nvSpPr>
        <p:spPr>
          <a:xfrm>
            <a:off x="647700" y="2456160"/>
            <a:ext cx="10921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请求资源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87400" y="270500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没有有效权益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920946" y="2673118"/>
            <a:ext cx="574463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4130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30" name="形状 30"/>
          <p:cNvSpPr/>
          <p:nvPr/>
        </p:nvSpPr>
        <p:spPr>
          <a:xfrm>
            <a:off x="2501900" y="2341860"/>
            <a:ext cx="17653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31" name="文字 31"/>
          <p:cNvSpPr txBox="1"/>
          <p:nvPr/>
        </p:nvSpPr>
        <p:spPr>
          <a:xfrm>
            <a:off x="2865338" y="2456160"/>
            <a:ext cx="105102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402 + 付款要求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851150" y="2705001"/>
            <a:ext cx="1079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保留原请求上下文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4270447" y="2673118"/>
            <a:ext cx="565006" cy="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749800" y="26339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35" name="形状 35"/>
          <p:cNvSpPr/>
          <p:nvPr/>
        </p:nvSpPr>
        <p:spPr>
          <a:xfrm>
            <a:off x="4838700" y="2341860"/>
            <a:ext cx="26035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36" name="文字 36"/>
          <p:cNvSpPr txBox="1"/>
          <p:nvPr/>
        </p:nvSpPr>
        <p:spPr>
          <a:xfrm>
            <a:off x="5302250" y="24561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支付宝付款后恢复原请求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5414863" y="2705001"/>
            <a:ext cx="14637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验付并建立权益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6147858" y="2992793"/>
            <a:ext cx="0" cy="349135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cxnSp>
        <p:nvCxnSpPr>
          <p:cNvPr id="39" name="Editable line 39"/>
          <p:cNvCxnSpPr/>
          <p:nvPr/>
        </p:nvCxnSpPr>
        <p:spPr>
          <a:xfrm>
            <a:off x="2143218" y="3352568"/>
            <a:ext cx="399396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2145242" y="3351510"/>
            <a:ext cx="0" cy="231775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41" name="文字 41"/>
          <p:cNvSpPr/>
          <p:nvPr/>
        </p:nvSpPr>
        <p:spPr>
          <a:xfrm rot="10800000">
            <a:off x="21018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cxnSp>
        <p:nvCxnSpPr>
          <p:cNvPr id="42" name="Editable line 42"/>
          <p:cNvCxnSpPr/>
          <p:nvPr/>
        </p:nvCxnSpPr>
        <p:spPr>
          <a:xfrm>
            <a:off x="5765800" y="3351510"/>
            <a:ext cx="0" cy="23177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10800000">
            <a:off x="5721350" y="351026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4" name="形状 44"/>
          <p:cNvSpPr/>
          <p:nvPr/>
        </p:nvSpPr>
        <p:spPr>
          <a:xfrm>
            <a:off x="4572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45" name="文字 45"/>
          <p:cNvSpPr txBox="1"/>
          <p:nvPr/>
        </p:nvSpPr>
        <p:spPr>
          <a:xfrm>
            <a:off x="1377950" y="3700760"/>
            <a:ext cx="1536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买断：交付完整源文件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1382713" y="3949601"/>
            <a:ext cx="152717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完整 Skill 进入本地 Agent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1177230" y="4136231"/>
            <a:ext cx="19381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一次购买可下载该 Skill 全部版本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1273175" y="4322862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后续由本地读取、执行和保存</a:t>
            </a:r>
            <a:endParaRPr/>
          </a:p>
        </p:txBody>
      </p:sp>
      <p:sp>
        <p:nvSpPr>
          <p:cNvPr id="49" name="形状 49"/>
          <p:cNvSpPr/>
          <p:nvPr/>
        </p:nvSpPr>
        <p:spPr>
          <a:xfrm>
            <a:off x="4076700" y="3586460"/>
            <a:ext cx="3365500" cy="1365250"/>
          </a:xfrm>
          <a:prstGeom prst="roundRect">
            <a:avLst>
              <a:gd name="adj" fmla="val 651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50" name="文字 50"/>
          <p:cNvSpPr txBox="1"/>
          <p:nvPr/>
        </p:nvSpPr>
        <p:spPr>
          <a:xfrm>
            <a:off x="4921250" y="37007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订阅：交付期限内使用权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5026025" y="394960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本地保留入口与公开资源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759325" y="413623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完整原文留云端，按任务提供指导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692650" y="4322862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当前不自动续费，到期重新取得权益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457200" y="5104110"/>
            <a:ext cx="3479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支付后按商品模式分叉，订阅并不等于每次任务重新扣款。</a:t>
            </a:r>
            <a:endParaRPr/>
          </a:p>
        </p:txBody>
      </p:sp>
      <p:cxnSp>
        <p:nvCxnSpPr>
          <p:cNvPr id="55" name="Editable line 55"/>
          <p:cNvCxnSpPr/>
          <p:nvPr/>
        </p:nvCxnSpPr>
        <p:spPr>
          <a:xfrm>
            <a:off x="7678954" y="1856179"/>
            <a:ext cx="0" cy="3546381"/>
          </a:xfrm>
          <a:prstGeom prst="line">
            <a:avLst/>
          </a:prstGeom>
          <a:ln w="6331" cap="flat">
            <a:solidFill>
              <a:srgbClr val="D9DDE2"/>
            </a:solidFill>
            <a:prstDash val="solid"/>
          </a:ln>
        </p:spPr>
      </p:cxnSp>
      <p:sp>
        <p:nvSpPr>
          <p:cNvPr id="56" name="文字 56"/>
          <p:cNvSpPr txBox="1"/>
          <p:nvPr/>
        </p:nvSpPr>
        <p:spPr>
          <a:xfrm>
            <a:off x="7854950" y="1941810"/>
            <a:ext cx="279052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 ID 定位售卖对象，交易号追踪付款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854950" y="2213273"/>
            <a:ext cx="3760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merchantId / productId 说明“谁的哪个商品”；支付凭据用于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854950" y="2410619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恢复本轮请求，后续还要判断权益是否可用。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854950" y="2754015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平台管理交付，而非只弹出收银台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854950" y="3025477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商品模式、试用、版本和可用期决定后续交付。付费成功后仍可能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854950" y="3222824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处于权益发放中或发放失败。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854950" y="3566220"/>
            <a:ext cx="239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资金直达作者，费率不能据此推断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854950" y="3837682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官网称款项实时到作者支付宝账户。退款由作者处理，周期订单整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854950" y="4035028"/>
            <a:ext cx="21463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单全退；未查到统一公开抽佣费率。</a:t>
            </a:r>
            <a:endParaRPr/>
          </a:p>
        </p:txBody>
      </p:sp>
      <p:cxnSp>
        <p:nvCxnSpPr>
          <p:cNvPr id="65" name="Editable line 65"/>
          <p:cNvCxnSpPr/>
          <p:nvPr/>
        </p:nvCxnSpPr>
        <p:spPr>
          <a:xfrm>
            <a:off x="463734" y="5392953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66" name="文字 66"/>
          <p:cNvSpPr txBox="1"/>
          <p:nvPr/>
        </p:nvSpPr>
        <p:spPr>
          <a:xfrm>
            <a:off x="457200" y="551180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沿四个判断点恢复原任务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支付确认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607060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钱是否付给对应交易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33401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权益可用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3340100" y="6070600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当前买家是否仍可使用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230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资源交付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230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文件或执行指导是否取得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9105900" y="582295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任务完成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9105900" y="6070600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本地执行与产物是否合格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457200" y="6445250"/>
            <a:ext cx="626556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来源：SkillPay 官方博客、FAQ、上架页、2026-09-29 更新日志和官方消费侧支付规则。此处聚焦 Skill 商品平台。 详细来源、代码版本与证据边界见备注及伴生研究文档。</a:t>
            </a:r>
            <a:endParaRPr/>
          </a:p>
        </p:txBody>
      </p:sp>
      <p:pic>
        <p:nvPicPr>
          <p:cNvPr id="76" name="slide-001-imag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232717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63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 SkillPay 与 MachinePay 原理研究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826353" y="298450"/>
            <a:ext cx="9211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2/4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908900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订阅原文留云端，云端给任务指导，本地 Agent 继续执行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62392"/>
            <a:ext cx="11264532" cy="0"/>
          </a:xfrm>
          <a:prstGeom prst="line">
            <a:avLst/>
          </a:prstGeom>
          <a:ln w="11701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59160"/>
            <a:ext cx="4853087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云端保护控制知识披露；用户的 Agent 仍负责校验、脚本执行和最终输出。</a:t>
            </a:r>
            <a:endParaRPr/>
          </a:p>
        </p:txBody>
      </p:sp>
      <p:sp>
        <p:nvSpPr>
          <p:cNvPr id="10" name="形状 10"/>
          <p:cNvSpPr/>
          <p:nvPr/>
        </p:nvSpPr>
        <p:spPr>
          <a:xfrm>
            <a:off x="457200" y="1384201"/>
            <a:ext cx="7112000" cy="4216400"/>
          </a:xfrm>
          <a:prstGeom prst="roundRect">
            <a:avLst>
              <a:gd name="adj" fmla="val 2108"/>
            </a:avLst>
          </a:prstGeom>
          <a:noFill/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cxnSp>
        <p:nvCxnSpPr>
          <p:cNvPr id="11" name="Editable line 11"/>
          <p:cNvCxnSpPr/>
          <p:nvPr/>
        </p:nvCxnSpPr>
        <p:spPr>
          <a:xfrm>
            <a:off x="3988858" y="1679739"/>
            <a:ext cx="0" cy="376846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1735931" y="1498501"/>
            <a:ext cx="88413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 Agent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5090418" y="1498501"/>
            <a:ext cx="141426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云端保护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679450" y="18477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15" name="文字 15"/>
          <p:cNvSpPr txBox="1"/>
          <p:nvPr/>
        </p:nvSpPr>
        <p:spPr>
          <a:xfrm>
            <a:off x="1405235" y="1962051"/>
            <a:ext cx="14502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用户任务 + 影子 Skill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123950" y="22108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本地入口、公开资源与必要上下文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2126192" y="2587526"/>
            <a:ext cx="0" cy="29210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18" name="文字 18"/>
          <p:cNvSpPr/>
          <p:nvPr/>
        </p:nvSpPr>
        <p:spPr>
          <a:xfrm rot="10800000">
            <a:off x="2082800" y="28066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cxnSp>
        <p:nvCxnSpPr>
          <p:cNvPr id="19" name="Editable line 19"/>
          <p:cNvCxnSpPr/>
          <p:nvPr/>
        </p:nvCxnSpPr>
        <p:spPr>
          <a:xfrm>
            <a:off x="2124164" y="2890209"/>
            <a:ext cx="2549258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0" name="文字 20"/>
          <p:cNvSpPr/>
          <p:nvPr/>
        </p:nvSpPr>
        <p:spPr>
          <a:xfrm rot="5400000">
            <a:off x="4591050" y="28510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21" name="形状 21"/>
          <p:cNvSpPr/>
          <p:nvPr/>
        </p:nvSpPr>
        <p:spPr>
          <a:xfrm>
            <a:off x="2184400" y="2666901"/>
            <a:ext cx="24320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2" name="文字 22"/>
          <p:cNvSpPr txBox="1"/>
          <p:nvPr/>
        </p:nvSpPr>
        <p:spPr>
          <a:xfrm>
            <a:off x="2675235" y="2679601"/>
            <a:ext cx="146298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当前任务请求 + 有效上下文</a:t>
            </a:r>
            <a:endParaRPr/>
          </a:p>
        </p:txBody>
      </p:sp>
      <p:sp>
        <p:nvSpPr>
          <p:cNvPr id="23" name="形状 23"/>
          <p:cNvSpPr/>
          <p:nvPr/>
        </p:nvSpPr>
        <p:spPr>
          <a:xfrm>
            <a:off x="4679950" y="2565301"/>
            <a:ext cx="2667000" cy="647700"/>
          </a:xfrm>
          <a:prstGeom prst="roundRect">
            <a:avLst>
              <a:gd name="adj" fmla="val 1372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24" name="文字 24"/>
          <p:cNvSpPr txBox="1"/>
          <p:nvPr/>
        </p:nvSpPr>
        <p:spPr>
          <a:xfrm>
            <a:off x="5480050" y="267960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权益与请求判断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5280025" y="29284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有效期、试用及能力边界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6018742" y="3222526"/>
            <a:ext cx="0" cy="26035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10800000">
            <a:off x="5975350" y="34098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28" name="形状 28"/>
          <p:cNvSpPr/>
          <p:nvPr/>
        </p:nvSpPr>
        <p:spPr>
          <a:xfrm>
            <a:off x="4679950" y="3486051"/>
            <a:ext cx="2667000" cy="787400"/>
          </a:xfrm>
          <a:prstGeom prst="roundRect">
            <a:avLst>
              <a:gd name="adj" fmla="val 1129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29" name="文字 29"/>
          <p:cNvSpPr txBox="1"/>
          <p:nvPr/>
        </p:nvSpPr>
        <p:spPr>
          <a:xfrm>
            <a:off x="5403850" y="3600351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完整原文隔离保存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5080000" y="3849192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根据当前任务生成有限执行文本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280025" y="4035822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拒绝套取，裁剪无关知识</a:t>
            </a:r>
            <a:endParaRPr/>
          </a:p>
        </p:txBody>
      </p:sp>
      <p:cxnSp>
        <p:nvCxnSpPr>
          <p:cNvPr id="32" name="Editable line 32"/>
          <p:cNvCxnSpPr/>
          <p:nvPr/>
        </p:nvCxnSpPr>
        <p:spPr>
          <a:xfrm>
            <a:off x="3575199" y="3907268"/>
            <a:ext cx="1101502" cy="0"/>
          </a:xfrm>
          <a:prstGeom prst="line">
            <a:avLst/>
          </a:prstGeom>
          <a:ln w="7869" cap="flat">
            <a:solidFill>
              <a:srgbClr val="B5333B"/>
            </a:solidFill>
            <a:prstDash val="solid"/>
          </a:ln>
        </p:spPr>
      </p:cxnSp>
      <p:sp>
        <p:nvSpPr>
          <p:cNvPr id="33" name="文字 33"/>
          <p:cNvSpPr/>
          <p:nvPr/>
        </p:nvSpPr>
        <p:spPr>
          <a:xfrm rot="16200000">
            <a:off x="3568700" y="38670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34" name="形状 34"/>
          <p:cNvSpPr/>
          <p:nvPr/>
        </p:nvSpPr>
        <p:spPr>
          <a:xfrm>
            <a:off x="3632200" y="3682901"/>
            <a:ext cx="98425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5" name="文字 35"/>
          <p:cNvSpPr txBox="1"/>
          <p:nvPr/>
        </p:nvSpPr>
        <p:spPr>
          <a:xfrm>
            <a:off x="3762375" y="369560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任务专用指导</a:t>
            </a:r>
            <a:endParaRPr/>
          </a:p>
        </p:txBody>
      </p:sp>
      <p:sp>
        <p:nvSpPr>
          <p:cNvPr id="36" name="形状 36"/>
          <p:cNvSpPr/>
          <p:nvPr/>
        </p:nvSpPr>
        <p:spPr>
          <a:xfrm>
            <a:off x="679450" y="3536851"/>
            <a:ext cx="2889250" cy="730250"/>
          </a:xfrm>
          <a:prstGeom prst="roundRect">
            <a:avLst>
              <a:gd name="adj" fmla="val 12174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37" name="文字 37"/>
          <p:cNvSpPr txBox="1"/>
          <p:nvPr/>
        </p:nvSpPr>
        <p:spPr>
          <a:xfrm>
            <a:off x="1438275" y="36511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本地校验指导与输入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1123950" y="389999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信息不足先追问，信息充分再执行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2126192" y="4276626"/>
            <a:ext cx="0" cy="314325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40" name="文字 40"/>
          <p:cNvSpPr/>
          <p:nvPr/>
        </p:nvSpPr>
        <p:spPr>
          <a:xfrm rot="10800000">
            <a:off x="2082800" y="45147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1" name="形状 41"/>
          <p:cNvSpPr/>
          <p:nvPr/>
        </p:nvSpPr>
        <p:spPr>
          <a:xfrm>
            <a:off x="679450" y="4590951"/>
            <a:ext cx="2889250" cy="711200"/>
          </a:xfrm>
          <a:prstGeom prst="roundRect">
            <a:avLst>
              <a:gd name="adj" fmla="val 12500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42" name="文字 42"/>
          <p:cNvSpPr txBox="1"/>
          <p:nvPr/>
        </p:nvSpPr>
        <p:spPr>
          <a:xfrm>
            <a:off x="1285875" y="4705251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运行工具并形成最终结果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990600" y="4954092"/>
            <a:ext cx="22796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脚本、数据处理、文件产物由本地完成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5454650" y="4533801"/>
            <a:ext cx="1123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云端不运行脚本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375275" y="47560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也不计算最终答案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419600" y="5086251"/>
            <a:ext cx="2946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云端输出的是执行方法，本地仍承担工具权限和产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5619750" y="5272881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物检查。</a:t>
            </a:r>
            <a:endParaRPr/>
          </a:p>
        </p:txBody>
      </p:sp>
      <p:cxnSp>
        <p:nvCxnSpPr>
          <p:cNvPr id="48" name="Editable line 48"/>
          <p:cNvCxnSpPr/>
          <p:nvPr/>
        </p:nvCxnSpPr>
        <p:spPr>
          <a:xfrm>
            <a:off x="7802697" y="1390738"/>
            <a:ext cx="0" cy="4209863"/>
          </a:xfrm>
          <a:prstGeom prst="line">
            <a:avLst/>
          </a:prstGeom>
          <a:ln w="6324" cap="flat">
            <a:solidFill>
              <a:srgbClr val="DADEE3"/>
            </a:solidFill>
            <a:prstDash val="solid"/>
          </a:ln>
        </p:spPr>
      </p:cxnSp>
      <p:sp>
        <p:nvSpPr>
          <p:cNvPr id="49" name="文字 49"/>
          <p:cNvSpPr txBox="1"/>
          <p:nvPr/>
        </p:nvSpPr>
        <p:spPr>
          <a:xfrm>
            <a:off x="7981950" y="1396901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正常任务：返回必要指导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7981950" y="1668363"/>
            <a:ext cx="367168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围绕当前问题，只披露完成任务所需的方法，不把完整 Skill 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7981950" y="1865709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为回答。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7981950" y="2202755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套取全文：拒绝并回到任务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7981950" y="2474218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角色扮演、覆盖指令、编码或多轮拼接等请求，属于持续防护与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7981950" y="2671564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回归评测范围。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981950" y="300861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边界请求：帮助与最小披露并行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981950" y="3280073"/>
            <a:ext cx="37465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有限执行文本仍能被观察。保护目标是提高整份原文复制成本，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981950" y="3477419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不能据此声称不可破解。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981950" y="381446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原文保护与数据传输分别判断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981950" y="4085927"/>
            <a:ext cx="3613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云端会接收任务和有效上下文。具体资料传输依实现，不能从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981950" y="4283274"/>
            <a:ext cx="26797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“原文不落地”推出“用户资料绝不出云”。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2" name="文字 62"/>
          <p:cNvSpPr txBox="1"/>
          <p:nvPr/>
        </p:nvSpPr>
        <p:spPr>
          <a:xfrm>
            <a:off x="457200" y="5696546"/>
            <a:ext cx="17589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访问门槛：权益仍需有效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到期、退款、冻结或额度等状态可能影响可用性。订阅不代表不限次数，试用次数不等于完整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457200" y="6165354"/>
            <a:ext cx="5461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任务数。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6207125" y="5696546"/>
            <a:ext cx="255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执行门槛：拿到指导后还要完成任务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6207125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平台只返回必要指导。本地仍需检查输入、工具权限和产物，拿到指导不等于任务已经完成。</a:t>
            </a:r>
            <a:endParaRPr/>
          </a:p>
        </p:txBody>
      </p:sp>
      <p:sp>
        <p:nvSpPr>
          <p:cNvPr id="67" name="文字 67"/>
          <p:cNvSpPr txBox="1"/>
          <p:nvPr/>
        </p:nvSpPr>
        <p:spPr>
          <a:xfrm>
            <a:off x="457200" y="6445250"/>
            <a:ext cx="6667996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依据官方云端保护/防御架构图和消费者前端状态重绘；图中的任务与上下文为架构语义，不是已公开的生产 HTTP 字段规范。 详细来源、代码版本与证据边界见备注及伴生研究文档。</a:t>
            </a:r>
            <a:endParaRPr/>
          </a:p>
        </p:txBody>
      </p:sp>
      <p:pic>
        <p:nvPicPr>
          <p:cNvPr id="68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232717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63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 SkillPay 与 MachinePay 原理研究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826353" y="298450"/>
            <a:ext cx="9211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3/4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845995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 先签报价，付款后带票重试，商户在线验付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56017"/>
            <a:ext cx="11264532" cy="0"/>
          </a:xfrm>
          <a:prstGeom prst="line">
            <a:avLst/>
          </a:prstGeom>
          <a:ln w="11701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59160"/>
            <a:ext cx="63026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接入前注册商户应用与服务：service_id 关联服务 URL、单价及说明；一次调用再生成本地订单。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657027" y="1390551"/>
            <a:ext cx="81954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买家 Agent</a:t>
            </a:r>
            <a:endParaRPr/>
          </a:p>
        </p:txBody>
      </p:sp>
      <p:cxnSp>
        <p:nvCxnSpPr>
          <p:cNvPr id="11" name="Editable line 11"/>
          <p:cNvCxnSpPr/>
          <p:nvPr/>
        </p:nvCxnSpPr>
        <p:spPr>
          <a:xfrm>
            <a:off x="10657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2" name="文字 12"/>
          <p:cNvSpPr txBox="1"/>
          <p:nvPr/>
        </p:nvSpPr>
        <p:spPr>
          <a:xfrm>
            <a:off x="3103066" y="1390551"/>
            <a:ext cx="62636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 API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341524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4" name="文字 14"/>
          <p:cNvSpPr txBox="1"/>
          <p:nvPr/>
        </p:nvSpPr>
        <p:spPr>
          <a:xfrm>
            <a:off x="5105202" y="1390551"/>
            <a:ext cx="1257598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 / 支付工具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5735108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sp>
        <p:nvSpPr>
          <p:cNvPr id="16" name="文字 16"/>
          <p:cNvSpPr txBox="1"/>
          <p:nvPr/>
        </p:nvSpPr>
        <p:spPr>
          <a:xfrm>
            <a:off x="7410450" y="1390551"/>
            <a:ext cx="3302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</a:t>
            </a:r>
            <a:endParaRPr/>
          </a:p>
        </p:txBody>
      </p:sp>
      <p:cxnSp>
        <p:nvCxnSpPr>
          <p:cNvPr id="17" name="Editable line 17"/>
          <p:cNvCxnSpPr/>
          <p:nvPr/>
        </p:nvCxnSpPr>
        <p:spPr>
          <a:xfrm>
            <a:off x="7574492" y="1660519"/>
            <a:ext cx="0" cy="3774982"/>
          </a:xfrm>
          <a:prstGeom prst="line">
            <a:avLst/>
          </a:prstGeom>
          <a:ln w="4000" cap="flat">
            <a:solidFill>
              <a:srgbClr val="D9DDE2"/>
            </a:solidFill>
            <a:prstDash val="dash"/>
          </a:ln>
        </p:spPr>
      </p:cxnSp>
      <p:cxnSp>
        <p:nvCxnSpPr>
          <p:cNvPr id="18" name="Editable line 18"/>
          <p:cNvCxnSpPr/>
          <p:nvPr/>
        </p:nvCxnSpPr>
        <p:spPr>
          <a:xfrm>
            <a:off x="1063713" y="1916543"/>
            <a:ext cx="2339710" cy="0"/>
          </a:xfrm>
          <a:prstGeom prst="line">
            <a:avLst/>
          </a:prstGeom>
          <a:ln w="8209" cap="flat">
            <a:solidFill>
              <a:srgbClr val="566472"/>
            </a:solidFill>
            <a:prstDash val="solid"/>
          </a:ln>
        </p:spPr>
      </p:cxnSp>
      <p:sp>
        <p:nvSpPr>
          <p:cNvPr id="19" name="文字 19"/>
          <p:cNvSpPr/>
          <p:nvPr/>
        </p:nvSpPr>
        <p:spPr>
          <a:xfrm rot="5400000">
            <a:off x="3321050" y="18795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20" name="形状 20"/>
          <p:cNvSpPr/>
          <p:nvPr/>
        </p:nvSpPr>
        <p:spPr>
          <a:xfrm>
            <a:off x="1123950" y="16953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1" name="文字 21"/>
          <p:cNvSpPr txBox="1"/>
          <p:nvPr/>
        </p:nvSpPr>
        <p:spPr>
          <a:xfrm>
            <a:off x="1776313" y="1708051"/>
            <a:ext cx="930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① 请求付费资源</a:t>
            </a:r>
            <a:endParaRPr/>
          </a:p>
        </p:txBody>
      </p:sp>
      <p:cxnSp>
        <p:nvCxnSpPr>
          <p:cNvPr id="22" name="Editable line 22"/>
          <p:cNvCxnSpPr/>
          <p:nvPr/>
        </p:nvCxnSpPr>
        <p:spPr>
          <a:xfrm>
            <a:off x="1063713" y="2483809"/>
            <a:ext cx="2339710" cy="0"/>
          </a:xfrm>
          <a:prstGeom prst="line">
            <a:avLst/>
          </a:prstGeom>
          <a:ln w="7935" cap="flat">
            <a:solidFill>
              <a:srgbClr val="B5333B"/>
            </a:solidFill>
            <a:prstDash val="dash"/>
          </a:ln>
        </p:spPr>
      </p:cxnSp>
      <p:sp>
        <p:nvSpPr>
          <p:cNvPr id="23" name="文字 23"/>
          <p:cNvSpPr/>
          <p:nvPr/>
        </p:nvSpPr>
        <p:spPr>
          <a:xfrm rot="16200000">
            <a:off x="1060450" y="24446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24" name="形状 24"/>
          <p:cNvSpPr/>
          <p:nvPr/>
        </p:nvSpPr>
        <p:spPr>
          <a:xfrm>
            <a:off x="1123950" y="226050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5" name="文字 25"/>
          <p:cNvSpPr txBox="1"/>
          <p:nvPr/>
        </p:nvSpPr>
        <p:spPr>
          <a:xfrm>
            <a:off x="1459508" y="2273201"/>
            <a:ext cx="15639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② 402 + Payment-Needed</a:t>
            </a:r>
            <a:endParaRPr/>
          </a:p>
        </p:txBody>
      </p:sp>
      <p:cxnSp>
        <p:nvCxnSpPr>
          <p:cNvPr id="26" name="Editable line 26"/>
          <p:cNvCxnSpPr/>
          <p:nvPr/>
        </p:nvCxnSpPr>
        <p:spPr>
          <a:xfrm>
            <a:off x="1063718" y="2780143"/>
            <a:ext cx="4660713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7" name="文字 27"/>
          <p:cNvSpPr/>
          <p:nvPr/>
        </p:nvSpPr>
        <p:spPr>
          <a:xfrm rot="5400000">
            <a:off x="5638800" y="27431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28" name="形状 28"/>
          <p:cNvSpPr/>
          <p:nvPr/>
        </p:nvSpPr>
        <p:spPr>
          <a:xfrm>
            <a:off x="1123950" y="255895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9" name="文字 29"/>
          <p:cNvSpPr txBox="1"/>
          <p:nvPr/>
        </p:nvSpPr>
        <p:spPr>
          <a:xfrm>
            <a:off x="2490688" y="2571651"/>
            <a:ext cx="1819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③ 提交付款要求和原任务上下文</a:t>
            </a:r>
            <a:endParaRPr/>
          </a:p>
        </p:txBody>
      </p:sp>
      <p:cxnSp>
        <p:nvCxnSpPr>
          <p:cNvPr id="30" name="Editable line 30"/>
          <p:cNvCxnSpPr/>
          <p:nvPr/>
        </p:nvCxnSpPr>
        <p:spPr>
          <a:xfrm>
            <a:off x="5734207" y="3080709"/>
            <a:ext cx="1828486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1" name="文字 31"/>
          <p:cNvSpPr/>
          <p:nvPr/>
        </p:nvSpPr>
        <p:spPr>
          <a:xfrm rot="5400000">
            <a:off x="7480300" y="30415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32" name="形状 32"/>
          <p:cNvSpPr/>
          <p:nvPr/>
        </p:nvSpPr>
        <p:spPr>
          <a:xfrm>
            <a:off x="5791200" y="285740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3" name="文字 33"/>
          <p:cNvSpPr txBox="1"/>
          <p:nvPr/>
        </p:nvSpPr>
        <p:spPr>
          <a:xfrm>
            <a:off x="6203950" y="2870101"/>
            <a:ext cx="90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展示商户与金额</a:t>
            </a:r>
            <a:endParaRPr/>
          </a:p>
        </p:txBody>
      </p:sp>
      <p:cxnSp>
        <p:nvCxnSpPr>
          <p:cNvPr id="34" name="Editable line 34"/>
          <p:cNvCxnSpPr/>
          <p:nvPr/>
        </p:nvCxnSpPr>
        <p:spPr>
          <a:xfrm>
            <a:off x="5734207" y="3378101"/>
            <a:ext cx="1828486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35" name="文字 35"/>
          <p:cNvSpPr/>
          <p:nvPr/>
        </p:nvSpPr>
        <p:spPr>
          <a:xfrm rot="16200000">
            <a:off x="5727700" y="33400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36" name="形状 36"/>
          <p:cNvSpPr/>
          <p:nvPr/>
        </p:nvSpPr>
        <p:spPr>
          <a:xfrm>
            <a:off x="5791200" y="3155851"/>
            <a:ext cx="1714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7" name="文字 37"/>
          <p:cNvSpPr txBox="1"/>
          <p:nvPr/>
        </p:nvSpPr>
        <p:spPr>
          <a:xfrm>
            <a:off x="6316563" y="31685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④ 确认支付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1063718" y="3675493"/>
            <a:ext cx="4660713" cy="0"/>
          </a:xfrm>
          <a:prstGeom prst="line">
            <a:avLst/>
          </a:prstGeom>
          <a:ln w="4000" cap="flat">
            <a:solidFill>
              <a:srgbClr val="566472"/>
            </a:solidFill>
            <a:prstDash val="dash"/>
          </a:ln>
        </p:spPr>
      </p:cxnSp>
      <p:sp>
        <p:nvSpPr>
          <p:cNvPr id="39" name="文字 39"/>
          <p:cNvSpPr/>
          <p:nvPr/>
        </p:nvSpPr>
        <p:spPr>
          <a:xfrm rot="16200000">
            <a:off x="1060450" y="3638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0" name="形状 40"/>
          <p:cNvSpPr/>
          <p:nvPr/>
        </p:nvSpPr>
        <p:spPr>
          <a:xfrm>
            <a:off x="1123950" y="3454301"/>
            <a:ext cx="45402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1" name="文字 41"/>
          <p:cNvSpPr txBox="1"/>
          <p:nvPr/>
        </p:nvSpPr>
        <p:spPr>
          <a:xfrm>
            <a:off x="1806079" y="3467001"/>
            <a:ext cx="318869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取得 trade_no + payment_proof（及 client_session）</a:t>
            </a:r>
            <a:endParaRPr/>
          </a:p>
        </p:txBody>
      </p:sp>
      <p:cxnSp>
        <p:nvCxnSpPr>
          <p:cNvPr id="42" name="Editable line 42"/>
          <p:cNvCxnSpPr/>
          <p:nvPr/>
        </p:nvCxnSpPr>
        <p:spPr>
          <a:xfrm>
            <a:off x="1063713" y="3976059"/>
            <a:ext cx="2339710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3" name="文字 43"/>
          <p:cNvSpPr/>
          <p:nvPr/>
        </p:nvSpPr>
        <p:spPr>
          <a:xfrm rot="5400000">
            <a:off x="3321050" y="39369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44" name="形状 44"/>
          <p:cNvSpPr/>
          <p:nvPr/>
        </p:nvSpPr>
        <p:spPr>
          <a:xfrm>
            <a:off x="1123950" y="37527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5" name="文字 45"/>
          <p:cNvSpPr txBox="1"/>
          <p:nvPr/>
        </p:nvSpPr>
        <p:spPr>
          <a:xfrm>
            <a:off x="1446411" y="3765451"/>
            <a:ext cx="159017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⑤ 原请求 + Payment-Proof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3413214" y="4272393"/>
            <a:ext cx="2311221" cy="0"/>
          </a:xfrm>
          <a:prstGeom prst="line">
            <a:avLst/>
          </a:prstGeom>
          <a:ln w="8218" cap="flat">
            <a:solidFill>
              <a:srgbClr val="B5333B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5638800" y="423535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48" name="形状 48"/>
          <p:cNvSpPr/>
          <p:nvPr/>
        </p:nvSpPr>
        <p:spPr>
          <a:xfrm>
            <a:off x="3473450" y="40512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9" name="文字 49"/>
          <p:cNvSpPr txBox="1"/>
          <p:nvPr/>
        </p:nvSpPr>
        <p:spPr>
          <a:xfrm>
            <a:off x="4034433" y="4063901"/>
            <a:ext cx="108138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⑥ payment.verify</a:t>
            </a:r>
            <a:endParaRPr/>
          </a:p>
        </p:txBody>
      </p:sp>
      <p:cxnSp>
        <p:nvCxnSpPr>
          <p:cNvPr id="50" name="Editable line 50"/>
          <p:cNvCxnSpPr/>
          <p:nvPr/>
        </p:nvCxnSpPr>
        <p:spPr>
          <a:xfrm>
            <a:off x="3413214" y="4570313"/>
            <a:ext cx="2311221" cy="0"/>
          </a:xfrm>
          <a:prstGeom prst="line">
            <a:avLst/>
          </a:prstGeom>
          <a:ln w="11617" cap="flat">
            <a:solidFill>
              <a:srgbClr val="566472"/>
            </a:solidFill>
            <a:prstDash val="dash"/>
          </a:ln>
        </p:spPr>
      </p:cxnSp>
      <p:sp>
        <p:nvSpPr>
          <p:cNvPr id="51" name="文字 51"/>
          <p:cNvSpPr/>
          <p:nvPr/>
        </p:nvSpPr>
        <p:spPr>
          <a:xfrm rot="16200000">
            <a:off x="3409950" y="45338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52" name="形状 52"/>
          <p:cNvSpPr/>
          <p:nvPr/>
        </p:nvSpPr>
        <p:spPr>
          <a:xfrm>
            <a:off x="3473450" y="434965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3" name="文字 53"/>
          <p:cNvSpPr txBox="1"/>
          <p:nvPr/>
        </p:nvSpPr>
        <p:spPr>
          <a:xfrm>
            <a:off x="3811687" y="4362351"/>
            <a:ext cx="1526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active + 金额 + 订单 + 资源</a:t>
            </a:r>
            <a:endParaRPr/>
          </a:p>
        </p:txBody>
      </p:sp>
      <p:cxnSp>
        <p:nvCxnSpPr>
          <p:cNvPr id="54" name="Editable line 54"/>
          <p:cNvCxnSpPr/>
          <p:nvPr/>
        </p:nvCxnSpPr>
        <p:spPr>
          <a:xfrm>
            <a:off x="1063713" y="5167743"/>
            <a:ext cx="2339710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5" name="文字 55"/>
          <p:cNvSpPr/>
          <p:nvPr/>
        </p:nvSpPr>
        <p:spPr>
          <a:xfrm rot="16200000">
            <a:off x="1060450" y="513070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56" name="形状 56"/>
          <p:cNvSpPr/>
          <p:nvPr/>
        </p:nvSpPr>
        <p:spPr>
          <a:xfrm>
            <a:off x="1123950" y="4946551"/>
            <a:ext cx="222250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7" name="文字 57"/>
          <p:cNvSpPr txBox="1"/>
          <p:nvPr/>
        </p:nvSpPr>
        <p:spPr>
          <a:xfrm>
            <a:off x="1903313" y="4959251"/>
            <a:ext cx="67637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⑦ 交付结果</a:t>
            </a:r>
            <a:endParaRPr/>
          </a:p>
        </p:txBody>
      </p:sp>
      <p:cxnSp>
        <p:nvCxnSpPr>
          <p:cNvPr id="58" name="Editable line 58"/>
          <p:cNvCxnSpPr/>
          <p:nvPr/>
        </p:nvCxnSpPr>
        <p:spPr>
          <a:xfrm>
            <a:off x="3413214" y="5468309"/>
            <a:ext cx="2311221" cy="0"/>
          </a:xfrm>
          <a:prstGeom prst="line">
            <a:avLst/>
          </a:prstGeom>
          <a:ln w="7935" cap="flat">
            <a:solidFill>
              <a:srgbClr val="566472"/>
            </a:solidFill>
            <a:prstDash val="dash"/>
          </a:ln>
        </p:spPr>
      </p:cxnSp>
      <p:sp>
        <p:nvSpPr>
          <p:cNvPr id="59" name="文字 59"/>
          <p:cNvSpPr/>
          <p:nvPr/>
        </p:nvSpPr>
        <p:spPr>
          <a:xfrm rot="5400000">
            <a:off x="5638800" y="54291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60" name="形状 60"/>
          <p:cNvSpPr/>
          <p:nvPr/>
        </p:nvSpPr>
        <p:spPr>
          <a:xfrm>
            <a:off x="3473450" y="5245001"/>
            <a:ext cx="2190750" cy="1778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61" name="文字 61"/>
          <p:cNvSpPr txBox="1"/>
          <p:nvPr/>
        </p:nvSpPr>
        <p:spPr>
          <a:xfrm>
            <a:off x="3538041" y="5257701"/>
            <a:ext cx="207426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66472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⑧ fulfillment.confirm（履约回执）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2489200" y="2082701"/>
            <a:ext cx="19050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63" name="文字 63"/>
          <p:cNvSpPr txBox="1"/>
          <p:nvPr/>
        </p:nvSpPr>
        <p:spPr>
          <a:xfrm>
            <a:off x="2730798" y="2095401"/>
            <a:ext cx="143450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本地建单，RSA2 签报价</a:t>
            </a:r>
            <a:endParaRPr/>
          </a:p>
        </p:txBody>
      </p:sp>
      <p:sp>
        <p:nvSpPr>
          <p:cNvPr id="64" name="形状 64"/>
          <p:cNvSpPr/>
          <p:nvPr/>
        </p:nvSpPr>
        <p:spPr>
          <a:xfrm>
            <a:off x="2235200" y="4730651"/>
            <a:ext cx="2476500" cy="18663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65" name="文字 65"/>
          <p:cNvSpPr txBox="1"/>
          <p:nvPr/>
        </p:nvSpPr>
        <p:spPr>
          <a:xfrm>
            <a:off x="2606675" y="4743351"/>
            <a:ext cx="17462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商户对本地账并锁定唯一履约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8529847" y="1378027"/>
            <a:ext cx="0" cy="4594369"/>
          </a:xfrm>
          <a:prstGeom prst="line">
            <a:avLst/>
          </a:prstGeom>
          <a:ln w="6326" cap="flat">
            <a:solidFill>
              <a:srgbClr val="D8DCE2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8693151" y="1384201"/>
            <a:ext cx="279062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Payment-Needed：付款前的签名报价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8693151" y="1655663"/>
            <a:ext cx="264070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金额 / 币种、out_trade_no、resource_id、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8693151" y="1853010"/>
            <a:ext cx="23063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pay_before、卖家与 service_id，连同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8693151" y="2050355"/>
            <a:ext cx="1704677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seller_signature 一起封装。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8693151" y="2311202"/>
            <a:ext cx="292288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商户本地用应用私钥做 RSA2 签名，生成报价无需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8693151" y="2504480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先调用支付宝扣款。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8693151" y="2843808"/>
            <a:ext cx="261917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Payment-Proof：付款后的验付材料</a:t>
            </a:r>
            <a:endParaRPr/>
          </a:p>
        </p:txBody>
      </p:sp>
      <p:sp>
        <p:nvSpPr>
          <p:cNvPr id="74" name="文字 74"/>
          <p:cNvSpPr txBox="1"/>
          <p:nvPr/>
        </p:nvSpPr>
        <p:spPr>
          <a:xfrm>
            <a:off x="8693151" y="3115270"/>
            <a:ext cx="304085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包含 trade_no、payment_proof，以及通道需要时</a:t>
            </a:r>
            <a:endParaRPr/>
          </a:p>
        </p:txBody>
      </p:sp>
      <p:sp>
        <p:nvSpPr>
          <p:cNvPr id="75" name="文字 75"/>
          <p:cNvSpPr txBox="1"/>
          <p:nvPr/>
        </p:nvSpPr>
        <p:spPr>
          <a:xfrm>
            <a:off x="8693151" y="3312616"/>
            <a:ext cx="265856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的 client_session。商户将它们交支付宝在线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8693151" y="3509963"/>
            <a:ext cx="489744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verify。</a:t>
            </a:r>
            <a:endParaRPr/>
          </a:p>
        </p:txBody>
      </p:sp>
      <p:sp>
        <p:nvSpPr>
          <p:cNvPr id="77" name="文字 77"/>
          <p:cNvSpPr txBox="1"/>
          <p:nvPr/>
        </p:nvSpPr>
        <p:spPr>
          <a:xfrm>
            <a:off x="8693151" y="3853359"/>
            <a:ext cx="2832397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Base64URL 负责封装，真实性另行校验</a:t>
            </a:r>
            <a:endParaRPr/>
          </a:p>
        </p:txBody>
      </p:sp>
      <p:sp>
        <p:nvSpPr>
          <p:cNvPr id="78" name="文字 78"/>
          <p:cNvSpPr txBox="1"/>
          <p:nvPr/>
        </p:nvSpPr>
        <p:spPr>
          <a:xfrm>
            <a:off x="8693151" y="4124821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解码可读不代表可信。报价签名、支付宝验付和商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8693151" y="4322167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户业务核对各自承担不同验证。</a:t>
            </a:r>
            <a:endParaRPr/>
          </a:p>
        </p:txBody>
      </p:sp>
      <p:sp>
        <p:nvSpPr>
          <p:cNvPr id="80" name="文字 80"/>
          <p:cNvSpPr txBox="1"/>
          <p:nvPr/>
        </p:nvSpPr>
        <p:spPr>
          <a:xfrm>
            <a:off x="8693151" y="4665564"/>
            <a:ext cx="1917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图示采用用户确认支付路径</a:t>
            </a:r>
            <a:endParaRPr/>
          </a:p>
        </p:txBody>
      </p:sp>
      <p:sp>
        <p:nvSpPr>
          <p:cNvPr id="81" name="文字 81"/>
          <p:cNvSpPr txBox="1"/>
          <p:nvPr/>
        </p:nvSpPr>
        <p:spPr>
          <a:xfrm>
            <a:off x="8693151" y="4937026"/>
            <a:ext cx="294639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钱包已开通不等于任意消费均已授权。自动付款须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8693151" y="513437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符合另行授予的范围和风控条件。</a:t>
            </a:r>
            <a:endParaRPr/>
          </a:p>
        </p:txBody>
      </p:sp>
      <p:cxnSp>
        <p:nvCxnSpPr>
          <p:cNvPr id="83" name="Editable line 83"/>
          <p:cNvCxnSpPr/>
          <p:nvPr/>
        </p:nvCxnSpPr>
        <p:spPr>
          <a:xfrm>
            <a:off x="463734" y="6069548"/>
            <a:ext cx="11264532" cy="0"/>
          </a:xfrm>
          <a:prstGeom prst="line">
            <a:avLst/>
          </a:prstGeom>
          <a:ln w="11717" cap="flat">
            <a:solidFill>
              <a:srgbClr val="B5333B"/>
            </a:solidFill>
            <a:prstDash val="solid"/>
          </a:ln>
        </p:spPr>
      </p:cxnSp>
      <p:sp>
        <p:nvSpPr>
          <p:cNvPr id="84" name="文字 84"/>
          <p:cNvSpPr txBox="1"/>
          <p:nvPr/>
        </p:nvSpPr>
        <p:spPr>
          <a:xfrm>
            <a:off x="457200" y="6169422"/>
            <a:ext cx="8186143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人民币接入指南使用 payment.verify 与 fulfillment.confirm。产品页的通用 /verify、/settle、交易哈希图，不能直接当成这套人民币 API。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457200" y="6445250"/>
            <a:ext cx="671770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主图按在线指南的交付后回执路径；官方代码模板也有先确认后返回结果的顺序，具体差异见备注。确认接口不是第二次扣款。 详细来源、代码版本与证据边界见备注及伴生研究文档。</a:t>
            </a:r>
            <a:endParaRPr/>
          </a:p>
        </p:txBody>
      </p:sp>
      <p:pic>
        <p:nvPicPr>
          <p:cNvPr id="86" name="slide-003-image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8824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232717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63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 SkillPay 与 MachinePay 原理研究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826353" y="298450"/>
            <a:ext cx="9211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4/4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584256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支付宝验证支付事实，商户核对业务账并恢复唯一履约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62391"/>
            <a:ext cx="11264532" cy="0"/>
          </a:xfrm>
          <a:prstGeom prst="line">
            <a:avLst/>
          </a:prstGeom>
          <a:ln w="11700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65510"/>
            <a:ext cx="6292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验付接口返回成功后，还要匹配金额、订单、资源和交易号，保留并发控制与可恢复的结果状态。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90551"/>
            <a:ext cx="21590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同一交易，需要对齐两边记录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45720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12" name="文字 12"/>
          <p:cNvSpPr txBox="1"/>
          <p:nvPr/>
        </p:nvSpPr>
        <p:spPr>
          <a:xfrm>
            <a:off x="1336675" y="1860451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支付宝交易事实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1037431" y="2109292"/>
            <a:ext cx="1677888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trade_no + payment_proof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884634" y="2295922"/>
            <a:ext cx="19834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active、金额、订单与资源返回值</a:t>
            </a:r>
            <a:endParaRPr/>
          </a:p>
        </p:txBody>
      </p:sp>
      <p:cxnSp>
        <p:nvCxnSpPr>
          <p:cNvPr id="15" name="Editable line 15"/>
          <p:cNvCxnSpPr/>
          <p:nvPr/>
        </p:nvCxnSpPr>
        <p:spPr>
          <a:xfrm>
            <a:off x="3289430" y="2274789"/>
            <a:ext cx="1257041" cy="0"/>
          </a:xfrm>
          <a:prstGeom prst="line">
            <a:avLst/>
          </a:prstGeom>
          <a:ln w="8965" cap="flat">
            <a:solidFill>
              <a:srgbClr val="B5333B"/>
            </a:solidFill>
            <a:prstDash val="solid"/>
          </a:ln>
        </p:spPr>
      </p:cxnSp>
      <p:sp>
        <p:nvSpPr>
          <p:cNvPr id="16" name="文字 16"/>
          <p:cNvSpPr/>
          <p:nvPr/>
        </p:nvSpPr>
        <p:spPr>
          <a:xfrm rot="5400000">
            <a:off x="4464050" y="2235101"/>
            <a:ext cx="88900" cy="88900"/>
          </a:xfrm>
          <a:prstGeom prst="triangle">
            <a:avLst/>
          </a:prstGeom>
          <a:solidFill>
            <a:srgbClr val="B5333B"/>
          </a:solidFill>
          <a:ln>
            <a:noFill/>
          </a:ln>
        </p:spPr>
      </p:sp>
      <p:sp>
        <p:nvSpPr>
          <p:cNvPr id="17" name="形状 17"/>
          <p:cNvSpPr/>
          <p:nvPr/>
        </p:nvSpPr>
        <p:spPr>
          <a:xfrm>
            <a:off x="3346450" y="2050951"/>
            <a:ext cx="1143000" cy="16887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18" name="文字 18"/>
          <p:cNvSpPr txBox="1"/>
          <p:nvPr/>
        </p:nvSpPr>
        <p:spPr>
          <a:xfrm>
            <a:off x="3561259" y="2063651"/>
            <a:ext cx="72598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verify 后核对</a:t>
            </a:r>
            <a:endParaRPr/>
          </a:p>
        </p:txBody>
      </p:sp>
      <p:sp>
        <p:nvSpPr>
          <p:cNvPr id="19" name="形状 19"/>
          <p:cNvSpPr/>
          <p:nvPr/>
        </p:nvSpPr>
        <p:spPr>
          <a:xfrm>
            <a:off x="4552950" y="1746151"/>
            <a:ext cx="2825750" cy="1047750"/>
          </a:xfrm>
          <a:prstGeom prst="roundRect">
            <a:avLst>
              <a:gd name="adj" fmla="val 8485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20" name="文字 20"/>
          <p:cNvSpPr txBox="1"/>
          <p:nvPr/>
        </p:nvSpPr>
        <p:spPr>
          <a:xfrm>
            <a:off x="5508625" y="1860451"/>
            <a:ext cx="927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商户业务订单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5107682" y="2109292"/>
            <a:ext cx="1728986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out_trade_no + resource_id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965700" y="2295922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价格、请求摘要、结果与履约状态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2959001"/>
            <a:ext cx="527784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核对当前订单买的是什么，再决定是否执行。active=true 不能代替业务关联和并发控制。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57200" y="3181251"/>
            <a:ext cx="2324100" cy="2349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生成结果与履约回执分开持久化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4572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26" name="文字 26"/>
          <p:cNvSpPr txBox="1"/>
          <p:nvPr/>
        </p:nvSpPr>
        <p:spPr>
          <a:xfrm>
            <a:off x="9429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待支付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571500" y="393174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本地订单与签名报价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1889178" y="3932668"/>
            <a:ext cx="380894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29" name="文字 29"/>
          <p:cNvSpPr/>
          <p:nvPr/>
        </p:nvSpPr>
        <p:spPr>
          <a:xfrm rot="5400000">
            <a:off x="21844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30" name="形状 30"/>
          <p:cNvSpPr/>
          <p:nvPr/>
        </p:nvSpPr>
        <p:spPr>
          <a:xfrm>
            <a:off x="2273300" y="3568601"/>
            <a:ext cx="14287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31" name="文字 31"/>
          <p:cNvSpPr txBox="1"/>
          <p:nvPr/>
        </p:nvSpPr>
        <p:spPr>
          <a:xfrm>
            <a:off x="2759075" y="3682901"/>
            <a:ext cx="469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已验付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520950" y="3931741"/>
            <a:ext cx="9461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已匹配本次购买</a:t>
            </a:r>
            <a:endParaRPr/>
          </a:p>
        </p:txBody>
      </p:sp>
      <p:cxnSp>
        <p:nvCxnSpPr>
          <p:cNvPr id="33" name="Editable line 33"/>
          <p:cNvCxnSpPr/>
          <p:nvPr/>
        </p:nvCxnSpPr>
        <p:spPr>
          <a:xfrm>
            <a:off x="3708400" y="3932668"/>
            <a:ext cx="374650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4" name="文字 34"/>
          <p:cNvSpPr/>
          <p:nvPr/>
        </p:nvSpPr>
        <p:spPr>
          <a:xfrm rot="5400000">
            <a:off x="400050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35" name="形状 35"/>
          <p:cNvSpPr/>
          <p:nvPr/>
        </p:nvSpPr>
        <p:spPr>
          <a:xfrm>
            <a:off x="4089400" y="3568601"/>
            <a:ext cx="165100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B5333B">
                <a:alpha val="100000"/>
              </a:srgbClr>
            </a:solidFill>
            <a:prstDash val="solid"/>
          </a:ln>
        </p:spPr>
      </p:sp>
      <p:sp>
        <p:nvSpPr>
          <p:cNvPr id="36" name="文字 36"/>
          <p:cNvSpPr txBox="1"/>
          <p:nvPr/>
        </p:nvSpPr>
        <p:spPr>
          <a:xfrm>
            <a:off x="4238030" y="3682901"/>
            <a:ext cx="136644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PENDING_CONFIRM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4314825" y="3915271"/>
            <a:ext cx="1212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唯一结果已持久保存</a:t>
            </a:r>
            <a:endParaRPr/>
          </a:p>
        </p:txBody>
      </p:sp>
      <p:cxnSp>
        <p:nvCxnSpPr>
          <p:cNvPr id="38" name="Editable line 38"/>
          <p:cNvCxnSpPr/>
          <p:nvPr/>
        </p:nvCxnSpPr>
        <p:spPr>
          <a:xfrm>
            <a:off x="5746859" y="3932668"/>
            <a:ext cx="364961" cy="0"/>
          </a:xfrm>
          <a:prstGeom prst="line">
            <a:avLst/>
          </a:prstGeom>
          <a:ln w="8218" cap="flat">
            <a:solidFill>
              <a:srgbClr val="566472"/>
            </a:solidFill>
            <a:prstDash val="solid"/>
          </a:ln>
        </p:spPr>
      </p:cxnSp>
      <p:sp>
        <p:nvSpPr>
          <p:cNvPr id="39" name="文字 39"/>
          <p:cNvSpPr/>
          <p:nvPr/>
        </p:nvSpPr>
        <p:spPr>
          <a:xfrm rot="5400000">
            <a:off x="6026150" y="38924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0" name="形状 40"/>
          <p:cNvSpPr/>
          <p:nvPr/>
        </p:nvSpPr>
        <p:spPr>
          <a:xfrm>
            <a:off x="6115050" y="3568601"/>
            <a:ext cx="1263650" cy="704850"/>
          </a:xfrm>
          <a:prstGeom prst="roundRect">
            <a:avLst>
              <a:gd name="adj" fmla="val 1261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41" name="文字 41"/>
          <p:cNvSpPr txBox="1"/>
          <p:nvPr/>
        </p:nvSpPr>
        <p:spPr>
          <a:xfrm>
            <a:off x="6375797" y="3682901"/>
            <a:ext cx="754758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FULFILLED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346825" y="3915271"/>
            <a:ext cx="8128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回执确认完成</a:t>
            </a:r>
            <a:endParaRPr/>
          </a:p>
        </p:txBody>
      </p:sp>
      <p:cxnSp>
        <p:nvCxnSpPr>
          <p:cNvPr id="43" name="Editable line 43"/>
          <p:cNvCxnSpPr/>
          <p:nvPr/>
        </p:nvCxnSpPr>
        <p:spPr>
          <a:xfrm>
            <a:off x="4920192" y="4282976"/>
            <a:ext cx="0" cy="368300"/>
          </a:xfrm>
          <a:prstGeom prst="line">
            <a:avLst/>
          </a:prstGeom>
          <a:ln w="8226" cap="flat">
            <a:solidFill>
              <a:srgbClr val="566472"/>
            </a:solidFill>
            <a:prstDash val="solid"/>
          </a:ln>
        </p:spPr>
      </p:cxnSp>
      <p:sp>
        <p:nvSpPr>
          <p:cNvPr id="44" name="文字 44"/>
          <p:cNvSpPr/>
          <p:nvPr/>
        </p:nvSpPr>
        <p:spPr>
          <a:xfrm rot="10800000">
            <a:off x="4876800" y="4578251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5" name="形状 45"/>
          <p:cNvSpPr/>
          <p:nvPr/>
        </p:nvSpPr>
        <p:spPr>
          <a:xfrm>
            <a:off x="3556000" y="4654451"/>
            <a:ext cx="2717800" cy="66675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46" name="文字 46"/>
          <p:cNvSpPr txBox="1"/>
          <p:nvPr/>
        </p:nvSpPr>
        <p:spPr>
          <a:xfrm>
            <a:off x="4229100" y="4768751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回执失败或状态未知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3914775" y="5017591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恢复同一订单，按错误码核实状态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273800" y="4679851"/>
            <a:ext cx="9779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确认成功后转入最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273800" y="4848721"/>
            <a:ext cx="3746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终完成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457200" y="4800501"/>
            <a:ext cx="1387475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重试回执 / 读已有结果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457200" y="4996061"/>
            <a:ext cx="22479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不重新生成，也不直接要求再付一次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457200" y="5397401"/>
            <a:ext cx="3838079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这是 alipay/ai 当前模板的本地状态抽象，数据库事务和幂等端口仍需商户实现。</a:t>
            </a:r>
            <a:endParaRPr/>
          </a:p>
        </p:txBody>
      </p:sp>
      <p:cxnSp>
        <p:nvCxnSpPr>
          <p:cNvPr id="53" name="Editable line 53"/>
          <p:cNvCxnSpPr/>
          <p:nvPr/>
        </p:nvCxnSpPr>
        <p:spPr>
          <a:xfrm>
            <a:off x="7610565" y="1371688"/>
            <a:ext cx="0" cy="4209863"/>
          </a:xfrm>
          <a:prstGeom prst="line">
            <a:avLst/>
          </a:prstGeom>
          <a:ln w="6339" cap="flat">
            <a:solidFill>
              <a:srgbClr val="D8DCE1"/>
            </a:solidFill>
            <a:prstDash val="solid"/>
          </a:ln>
        </p:spPr>
      </p:cxnSp>
      <p:sp>
        <p:nvSpPr>
          <p:cNvPr id="54" name="文字 54"/>
          <p:cNvSpPr txBox="1"/>
          <p:nvPr/>
        </p:nvSpPr>
        <p:spPr>
          <a:xfrm>
            <a:off x="7791450" y="1377851"/>
            <a:ext cx="128270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业务请求也要固定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791450" y="1649313"/>
            <a:ext cx="386209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示例 resource_id 可以只是路径。同一路径接收不同 prompt 或文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7791450" y="1846659"/>
            <a:ext cx="25463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件时，商户还应绑定请求摘要和购买范围。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7791450" y="2183706"/>
            <a:ext cx="1441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网络失败先恢复原单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791450" y="2455168"/>
            <a:ext cx="38798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回执待确认已有业务结果，应重试确认或取存量结果。支付状态未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7791450" y="2652514"/>
            <a:ext cx="20129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知不应直接创建新订单要求再买。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791450" y="2989560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回执确认与资金结算分开理解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7791450" y="3261023"/>
            <a:ext cx="3874195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fulfillment.confirm 的含义是“商家履约回执”。公共接口没有公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7791450" y="3458369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开其与资金释放、退款的完整内部条件。</a:t>
            </a:r>
            <a:endParaRPr/>
          </a:p>
        </p:txBody>
      </p:sp>
      <p:sp>
        <p:nvSpPr>
          <p:cNvPr id="63" name="文字 63"/>
          <p:cNvSpPr txBox="1"/>
          <p:nvPr/>
        </p:nvSpPr>
        <p:spPr>
          <a:xfrm>
            <a:off x="7791450" y="3795415"/>
            <a:ext cx="2076450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过期与重试策略需按版本核对</a:t>
            </a:r>
            <a:endParaRPr/>
          </a:p>
        </p:txBody>
      </p:sp>
      <p:sp>
        <p:nvSpPr>
          <p:cNvPr id="64" name="文字 64"/>
          <p:cNvSpPr txBox="1"/>
          <p:nvPr/>
        </p:nvSpPr>
        <p:spPr>
          <a:xfrm>
            <a:off x="7791450" y="4066878"/>
            <a:ext cx="391388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当前模板和 ACT 映射例的截止检查、回执顺序不同；重复确认也可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7791450" y="4264224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能返回交易状态错误。</a:t>
            </a:r>
            <a:endParaRPr/>
          </a:p>
        </p:txBody>
      </p:sp>
      <p:cxnSp>
        <p:nvCxnSpPr>
          <p:cNvPr id="66" name="Editable line 66"/>
          <p:cNvCxnSpPr/>
          <p:nvPr/>
        </p:nvCxnSpPr>
        <p:spPr>
          <a:xfrm>
            <a:off x="463734" y="5603115"/>
            <a:ext cx="11264532" cy="0"/>
          </a:xfrm>
          <a:prstGeom prst="line">
            <a:avLst/>
          </a:prstGeom>
          <a:ln w="12527" cap="flat">
            <a:solidFill>
              <a:srgbClr val="B5333B"/>
            </a:solidFill>
            <a:prstDash val="solid"/>
          </a:ln>
        </p:spPr>
      </p:cxnSp>
      <p:sp>
        <p:nvSpPr>
          <p:cNvPr id="67" name="文字 67"/>
          <p:cNvSpPr txBox="1"/>
          <p:nvPr/>
        </p:nvSpPr>
        <p:spPr>
          <a:xfrm>
            <a:off x="457200" y="5696546"/>
            <a:ext cx="2544465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SkillPay：经营商品权益和知识交付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4572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决定买断文件、订阅期限、试用、版本和云端原文保护；有效权益下的使用不等于每次重新购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457200" y="6165354"/>
            <a:ext cx="2794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买。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6210300" y="5696546"/>
            <a:ext cx="3334246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MachinePay：让资源请求具备收款与验付协议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6210300" y="5968008"/>
            <a:ext cx="54800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商户签报价，支付宝付款与验付，商户承担业务绑定、幂等和交付。两者复用支付能力，不宜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6210300" y="6165354"/>
            <a:ext cx="18796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推定全部流量走同一内部链路。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457200" y="6445250"/>
            <a:ext cx="7278787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原理图依据公开 API、alipay/ai 固定 commit 模板及 ACT 对接例；非支付宝内部数据库状态。amount、client_session 等文档差异详见备注。 详细来源、代码版本与证据边界见备注及伴生研究文档。</a:t>
            </a:r>
            <a:endParaRPr/>
          </a:p>
        </p:txBody>
      </p:sp>
      <p:pic>
        <p:nvPicPr>
          <p:cNvPr id="74" name="slide-004-image-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73050"/>
            <a:ext cx="19418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ALIPAY AI PAY / 全景 · 2026.10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8263632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阿里把 Agent 支付拆成两层：SkillPay 卖商品，MachinePay 卖调用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81360"/>
            <a:ext cx="723532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同一套 AI 付钱包与 402 协议：SkillPay 解决“卖什么、怎么交付”，MachinePay 解决“每次调用怎么计价、怎么验单”。</a:t>
            </a:r>
            <a:endParaRPr/>
          </a:p>
        </p:txBody>
      </p:sp>
      <p:pic>
        <p:nvPicPr>
          <p:cNvPr id="8" name="slide-001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56891"/>
            <a:ext cx="11277600" cy="552450"/>
          </a:xfrm>
          <a:prstGeom prst="rect">
            <a:avLst/>
          </a:prstGeom>
        </p:spPr>
      </p:pic>
      <p:pic>
        <p:nvPicPr>
          <p:cNvPr id="9" name="slide-001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33091"/>
            <a:ext cx="3759200" cy="400050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1258491"/>
            <a:ext cx="625773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AI 付钱包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480741"/>
            <a:ext cx="1615678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绑定 · 逐笔授权 · 风控/结算</a:t>
            </a:r>
            <a:endParaRPr/>
          </a:p>
        </p:txBody>
      </p:sp>
      <p:pic>
        <p:nvPicPr>
          <p:cNvPr id="12" name="slide-001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233091"/>
            <a:ext cx="3759200" cy="400050"/>
          </a:xfrm>
          <a:prstGeom prst="rect">
            <a:avLst/>
          </a:prstGeom>
        </p:spPr>
      </p:pic>
      <p:sp>
        <p:nvSpPr>
          <p:cNvPr id="13" name="文字 13"/>
          <p:cNvSpPr txBox="1"/>
          <p:nvPr/>
        </p:nvSpPr>
        <p:spPr>
          <a:xfrm>
            <a:off x="4343400" y="1258491"/>
            <a:ext cx="58926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343400" y="1480741"/>
            <a:ext cx="150167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上架 · 定价 · 交付 · 退款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8102600" y="1258491"/>
            <a:ext cx="87768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8102600" y="1480741"/>
            <a:ext cx="1875234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402 · 按量 · verify · fulfillment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1849041"/>
            <a:ext cx="1453158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· 商品层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5314950" y="1906191"/>
            <a:ext cx="6985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卖“交付权”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57200" y="2103041"/>
            <a:ext cx="260846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把 Skill 做成可定价、可试用、可退款的商品。</a:t>
            </a:r>
            <a:endParaRPr/>
          </a:p>
        </p:txBody>
      </p:sp>
      <p:pic>
        <p:nvPicPr>
          <p:cNvPr id="20" name="slide-001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293541"/>
            <a:ext cx="5543550" cy="505420"/>
          </a:xfrm>
          <a:prstGeom prst="rect">
            <a:avLst/>
          </a:prstGeom>
        </p:spPr>
      </p:pic>
      <p:sp>
        <p:nvSpPr>
          <p:cNvPr id="21" name="文字 21"/>
          <p:cNvSpPr txBox="1"/>
          <p:nvPr/>
        </p:nvSpPr>
        <p:spPr>
          <a:xfrm>
            <a:off x="4572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749300" y="2369741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创作者上架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749300" y="2564011"/>
            <a:ext cx="371058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上传 Skill → 安全检测 → 商品页；签署 SkillPay + AI 按量付费协议</a:t>
            </a:r>
            <a:endParaRPr/>
          </a:p>
        </p:txBody>
      </p:sp>
      <p:pic>
        <p:nvPicPr>
          <p:cNvPr id="24" name="slide-001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2798961"/>
            <a:ext cx="5543550" cy="505420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4572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49300" y="287516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买家购买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069431"/>
            <a:ext cx="215830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任务中触发 → 支付宝确认 → 获得权益</a:t>
            </a:r>
            <a:endParaRPr/>
          </a:p>
        </p:txBody>
      </p:sp>
      <p:pic>
        <p:nvPicPr>
          <p:cNvPr id="28" name="slide-001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3304381"/>
            <a:ext cx="5543550" cy="505420"/>
          </a:xfrm>
          <a:prstGeom prst="rect">
            <a:avLst/>
          </a:prstGeom>
        </p:spPr>
      </p:pic>
      <p:sp>
        <p:nvSpPr>
          <p:cNvPr id="29" name="文字 29"/>
          <p:cNvSpPr txBox="1"/>
          <p:nvPr/>
        </p:nvSpPr>
        <p:spPr>
          <a:xfrm>
            <a:off x="4572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7493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两种交付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749300" y="3574852"/>
            <a:ext cx="306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一次性交付完整源码；周期订阅走云端保护，不交明文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4572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749300" y="388600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资金与退款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49300" y="4080272"/>
            <a:ext cx="255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成交即到账开发者支付宝；退款由开发者发起</a:t>
            </a:r>
            <a:endParaRPr/>
          </a:p>
        </p:txBody>
      </p:sp>
      <p:pic>
        <p:nvPicPr>
          <p:cNvPr id="35" name="slide-001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1250" y="1823641"/>
            <a:ext cx="5543551" cy="3304679"/>
          </a:xfrm>
          <a:prstGeom prst="rect">
            <a:avLst/>
          </a:prstGeom>
        </p:spPr>
      </p:pic>
      <p:sp>
        <p:nvSpPr>
          <p:cNvPr id="36" name="文字 36"/>
          <p:cNvSpPr txBox="1"/>
          <p:nvPr/>
        </p:nvSpPr>
        <p:spPr>
          <a:xfrm>
            <a:off x="6375400" y="1849041"/>
            <a:ext cx="1791792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 · 协议层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10934700" y="1906191"/>
            <a:ext cx="8128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卖“按量调用”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6375400" y="2103041"/>
            <a:ext cx="2804319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在 API 调用链路里完成报价、支付、验单与履约。</a:t>
            </a:r>
            <a:endParaRPr/>
          </a:p>
        </p:txBody>
      </p:sp>
      <p:pic>
        <p:nvPicPr>
          <p:cNvPr id="39" name="slide-001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75400" y="2293541"/>
            <a:ext cx="5359401" cy="505420"/>
          </a:xfrm>
          <a:prstGeom prst="rect">
            <a:avLst/>
          </a:prstGeom>
        </p:spPr>
      </p:pic>
      <p:sp>
        <p:nvSpPr>
          <p:cNvPr id="40" name="文字 40"/>
          <p:cNvSpPr txBox="1"/>
          <p:nvPr/>
        </p:nvSpPr>
        <p:spPr>
          <a:xfrm>
            <a:off x="6375400" y="235704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667500" y="236974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商家报价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6667500" y="2564011"/>
            <a:ext cx="2885976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无 Payment-Proof → 402 + Payment-Needed 账单</a:t>
            </a:r>
            <a:endParaRPr/>
          </a:p>
        </p:txBody>
      </p:sp>
      <p:pic>
        <p:nvPicPr>
          <p:cNvPr id="43" name="slide-001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5400" y="2798961"/>
            <a:ext cx="5359401" cy="505420"/>
          </a:xfrm>
          <a:prstGeom prst="rect">
            <a:avLst/>
          </a:prstGeom>
        </p:spPr>
      </p:pic>
      <p:sp>
        <p:nvSpPr>
          <p:cNvPr id="44" name="文字 44"/>
          <p:cNvSpPr txBox="1"/>
          <p:nvPr/>
        </p:nvSpPr>
        <p:spPr>
          <a:xfrm>
            <a:off x="6375400" y="28624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667500" y="2875161"/>
            <a:ext cx="722809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支付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6667500" y="3069431"/>
            <a:ext cx="214421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AI 付钱包付款 → 拿到 Payment-Proof</a:t>
            </a:r>
            <a:endParaRPr/>
          </a:p>
        </p:txBody>
      </p:sp>
      <p:pic>
        <p:nvPicPr>
          <p:cNvPr id="47" name="slide-001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3304381"/>
            <a:ext cx="5359401" cy="50542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6375400" y="33678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667500" y="3380581"/>
            <a:ext cx="5715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商家验单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6667500" y="3574852"/>
            <a:ext cx="216187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verify：active/金额/订单/资源/防重放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375400" y="38733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667500" y="3886002"/>
            <a:ext cx="711201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交付与结算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6667500" y="4080272"/>
            <a:ext cx="233501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返回资源 → 履约回执 → 支付宝收单/结算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91820"/>
            <a:ext cx="3683000" cy="373360"/>
          </a:xfrm>
          <a:prstGeom prst="rect">
            <a:avLst/>
          </a:prstGeom>
        </p:spPr>
      </p:pic>
      <p:sp>
        <p:nvSpPr>
          <p:cNvPr id="55" name="文字 55"/>
          <p:cNvSpPr txBox="1"/>
          <p:nvPr/>
        </p:nvSpPr>
        <p:spPr>
          <a:xfrm>
            <a:off x="4572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商品层：信任与交付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57200" y="5426770"/>
            <a:ext cx="2322016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定价、试用、安全检测、源码/云端交付、退款。</a:t>
            </a:r>
            <a:endParaRPr/>
          </a:p>
        </p:txBody>
      </p:sp>
      <p:pic>
        <p:nvPicPr>
          <p:cNvPr id="57" name="slide-001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54500" y="5191820"/>
            <a:ext cx="3683000" cy="373360"/>
          </a:xfrm>
          <a:prstGeom prst="rect">
            <a:avLst/>
          </a:prstGeom>
        </p:spPr>
      </p:pic>
      <p:sp>
        <p:nvSpPr>
          <p:cNvPr id="58" name="文字 58"/>
          <p:cNvSpPr txBox="1"/>
          <p:nvPr/>
        </p:nvSpPr>
        <p:spPr>
          <a:xfrm>
            <a:off x="4254500" y="5261670"/>
            <a:ext cx="12192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协议层：机器可读计价</a:t>
            </a:r>
            <a:endParaRPr/>
          </a:p>
        </p:txBody>
      </p:sp>
      <p:sp>
        <p:nvSpPr>
          <p:cNvPr id="59" name="文字 59"/>
          <p:cNvSpPr txBox="1"/>
          <p:nvPr/>
        </p:nvSpPr>
        <p:spPr>
          <a:xfrm>
            <a:off x="4254500" y="5426770"/>
            <a:ext cx="21717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每次调用报价、支付凭证、验单、履约回执。</a:t>
            </a:r>
            <a:endParaRPr/>
          </a:p>
        </p:txBody>
      </p:sp>
      <p:pic>
        <p:nvPicPr>
          <p:cNvPr id="60" name="slide-001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51800" y="5191820"/>
            <a:ext cx="3683000" cy="373360"/>
          </a:xfrm>
          <a:prstGeom prst="rect">
            <a:avLst/>
          </a:prstGeom>
        </p:spPr>
      </p:pic>
      <p:sp>
        <p:nvSpPr>
          <p:cNvPr id="61" name="文字 61"/>
          <p:cNvSpPr txBox="1"/>
          <p:nvPr/>
        </p:nvSpPr>
        <p:spPr>
          <a:xfrm>
            <a:off x="8051800" y="5261670"/>
            <a:ext cx="10985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共同底座：钱怎么付</a:t>
            </a:r>
            <a:endParaRPr/>
          </a:p>
        </p:txBody>
      </p:sp>
      <p:sp>
        <p:nvSpPr>
          <p:cNvPr id="62" name="文字 62"/>
          <p:cNvSpPr txBox="1"/>
          <p:nvPr/>
        </p:nvSpPr>
        <p:spPr>
          <a:xfrm>
            <a:off x="8051800" y="5426770"/>
            <a:ext cx="175339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AI 付钱包、逐笔授权、风控与结算。</a:t>
            </a:r>
            <a:endParaRPr/>
          </a:p>
        </p:txBody>
      </p:sp>
      <p:sp>
        <p:nvSpPr>
          <p:cNvPr id="63" name="形状 63"/>
          <p:cNvSpPr/>
          <p:nvPr/>
        </p:nvSpPr>
        <p:spPr>
          <a:xfrm>
            <a:off x="45720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CFCFD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64" name="文字 64"/>
          <p:cNvSpPr txBox="1"/>
          <p:nvPr/>
        </p:nvSpPr>
        <p:spPr>
          <a:xfrm>
            <a:off x="558800" y="5730280"/>
            <a:ext cx="145762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同一任务 · MachinePay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558800" y="5927130"/>
            <a:ext cx="5003502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查一次钢材价格：GET API → 示例报价 0.01 元 → 用户确认 → 返回行情；按次收费，不买断。</a:t>
            </a:r>
            <a:endParaRPr/>
          </a:p>
        </p:txBody>
      </p:sp>
      <p:sp>
        <p:nvSpPr>
          <p:cNvPr id="66" name="形状 66"/>
          <p:cNvSpPr/>
          <p:nvPr/>
        </p:nvSpPr>
        <p:spPr>
          <a:xfrm>
            <a:off x="6165850" y="5641380"/>
            <a:ext cx="5568950" cy="511770"/>
          </a:xfrm>
          <a:prstGeom prst="roundRect">
            <a:avLst>
              <a:gd name="adj" fmla="val 9926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67" name="文字 67"/>
          <p:cNvSpPr txBox="1"/>
          <p:nvPr/>
        </p:nvSpPr>
        <p:spPr>
          <a:xfrm>
            <a:off x="6267450" y="5730280"/>
            <a:ext cx="1206797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同一任务 · SkillPay</a:t>
            </a:r>
            <a:endParaRPr/>
          </a:p>
        </p:txBody>
      </p:sp>
      <p:sp>
        <p:nvSpPr>
          <p:cNvPr id="68" name="文字 68"/>
          <p:cNvSpPr txBox="1"/>
          <p:nvPr/>
        </p:nvSpPr>
        <p:spPr>
          <a:xfrm>
            <a:off x="6267450" y="5927130"/>
            <a:ext cx="495716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买一个行业研究 Skill：示例 99 元买断 / 19 元每月订阅 → 源码或云端 → 在 Agent 里反复用。</a:t>
            </a:r>
            <a:endParaRPr/>
          </a:p>
        </p:txBody>
      </p:sp>
      <p:sp>
        <p:nvSpPr>
          <p:cNvPr id="69" name="形状 69"/>
          <p:cNvSpPr/>
          <p:nvPr/>
        </p:nvSpPr>
        <p:spPr>
          <a:xfrm>
            <a:off x="457200" y="6242050"/>
            <a:ext cx="11277600" cy="336550"/>
          </a:xfrm>
          <a:prstGeom prst="roundRect">
            <a:avLst>
              <a:gd name="adj" fmla="val 15094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70" name="文字 70"/>
          <p:cNvSpPr txBox="1"/>
          <p:nvPr/>
        </p:nvSpPr>
        <p:spPr>
          <a:xfrm>
            <a:off x="577850" y="6337300"/>
            <a:ext cx="52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共同底座</a:t>
            </a:r>
            <a:endParaRPr/>
          </a:p>
        </p:txBody>
      </p:sp>
      <p:sp>
        <p:nvSpPr>
          <p:cNvPr id="71" name="文字 71"/>
          <p:cNvSpPr txBox="1"/>
          <p:nvPr/>
        </p:nvSpPr>
        <p:spPr>
          <a:xfrm>
            <a:off x="1174750" y="6337300"/>
            <a:ext cx="692606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用户/Agent → AI 付钱包（绑定、逐笔授权）→ 402 账单/凭证 → 商家或开发者账户；支付链接约 5 分钟，账单 RSA2 签名。</a:t>
            </a:r>
            <a:endParaRPr/>
          </a:p>
        </p:txBody>
      </p:sp>
      <p:sp>
        <p:nvSpPr>
          <p:cNvPr id="72" name="文字 72"/>
          <p:cNvSpPr txBox="1"/>
          <p:nvPr/>
        </p:nvSpPr>
        <p:spPr>
          <a:xfrm>
            <a:off x="457200" y="6635750"/>
            <a:ext cx="4154289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来源：支付宝 AI 付文档、SkillPay 官网/博客、官方 alipay/ai skills 仓库、A2M 对接文档；2026-10-19 只读核查。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73050"/>
            <a:ext cx="135642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/ 商品化机制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6352679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-42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SkillPay：把 Skill 变成可定价、可交付、可退款的产品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66081"/>
            <a:ext cx="65658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平台负责安全检测与商品化，开发者保留定价权；买家在 Agent 任务中完成支付，资金直接进入开发者支付宝。</a:t>
            </a:r>
            <a:endParaRPr/>
          </a:p>
        </p:txBody>
      </p:sp>
      <p:sp>
        <p:nvSpPr>
          <p:cNvPr id="8" name="文字 8"/>
          <p:cNvSpPr txBox="1"/>
          <p:nvPr/>
        </p:nvSpPr>
        <p:spPr>
          <a:xfrm>
            <a:off x="457200" y="1154311"/>
            <a:ext cx="1729879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从上传到退款：5 个环节</a:t>
            </a:r>
            <a:endParaRPr/>
          </a:p>
        </p:txBody>
      </p:sp>
      <p:sp>
        <p:nvSpPr>
          <p:cNvPr id="9" name="文字 9"/>
          <p:cNvSpPr txBox="1"/>
          <p:nvPr/>
        </p:nvSpPr>
        <p:spPr>
          <a:xfrm>
            <a:off x="457200" y="1389261"/>
            <a:ext cx="23050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平台做审核与交付，开发者做定价与售后。</a:t>
            </a:r>
            <a:endParaRPr/>
          </a:p>
        </p:txBody>
      </p:sp>
      <p:pic>
        <p:nvPicPr>
          <p:cNvPr id="10" name="slide-002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79761"/>
            <a:ext cx="5654377" cy="505420"/>
          </a:xfrm>
          <a:prstGeom prst="rect">
            <a:avLst/>
          </a:prstGeom>
        </p:spPr>
      </p:pic>
      <p:sp>
        <p:nvSpPr>
          <p:cNvPr id="11" name="文字 11"/>
          <p:cNvSpPr txBox="1"/>
          <p:nvPr/>
        </p:nvSpPr>
        <p:spPr>
          <a:xfrm>
            <a:off x="457200" y="164326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749300" y="165596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上架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749300" y="1850231"/>
            <a:ext cx="426839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上传 Skill → 安全检测/风险扫描 → 商品页；签署 SkillPay + AI 按量付费协议</a:t>
            </a:r>
            <a:endParaRPr/>
          </a:p>
        </p:txBody>
      </p:sp>
      <p:pic>
        <p:nvPicPr>
          <p:cNvPr id="14" name="slide-002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85181"/>
            <a:ext cx="5654377" cy="505420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457200" y="2148681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749300" y="2161381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定价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749300" y="2355652"/>
            <a:ext cx="314682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一次性买断 / 周期订阅 / 免费试用；周期付费不自动续费</a:t>
            </a:r>
            <a:endParaRPr/>
          </a:p>
        </p:txBody>
      </p:sp>
      <p:pic>
        <p:nvPicPr>
          <p:cNvPr id="18" name="slide-002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590602"/>
            <a:ext cx="5654377" cy="505420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265410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749300" y="266680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触发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749300" y="2861072"/>
            <a:ext cx="3054648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任务中无有效权益 → 402/支付要求 → 用户支付宝确认</a:t>
            </a:r>
            <a:endParaRPr/>
          </a:p>
        </p:txBody>
      </p:sp>
      <p:pic>
        <p:nvPicPr>
          <p:cNvPr id="22" name="slide-002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096022"/>
            <a:ext cx="5654377" cy="505420"/>
          </a:xfrm>
          <a:prstGeom prst="rect">
            <a:avLst/>
          </a:prstGeom>
        </p:spPr>
      </p:pic>
      <p:sp>
        <p:nvSpPr>
          <p:cNvPr id="23" name="文字 23"/>
          <p:cNvSpPr txBox="1"/>
          <p:nvPr/>
        </p:nvSpPr>
        <p:spPr>
          <a:xfrm>
            <a:off x="457200" y="315952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749300" y="3172222"/>
            <a:ext cx="2921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交付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749300" y="3366492"/>
            <a:ext cx="3441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一次性交付完整源码；订阅走云端保护，只返回任务执行文本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57200" y="3664942"/>
            <a:ext cx="142280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05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49300" y="3677642"/>
            <a:ext cx="71120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结算与退款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749300" y="3871913"/>
            <a:ext cx="3822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成交即到账开发者支付宝；退款由开发者发起，周期订单整单全额退</a:t>
            </a:r>
            <a:endParaRPr/>
          </a:p>
        </p:txBody>
      </p:sp>
      <p:pic>
        <p:nvPicPr>
          <p:cNvPr id="29" name="slide-002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5010150"/>
            <a:ext cx="5654377" cy="393700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457200" y="5092700"/>
            <a:ext cx="122108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安装链路：seller proxy 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665585" y="5092700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firsttimebuy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2488605" y="5092700"/>
            <a:ext cx="15375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→ 支付待确认 → 查询状态 → 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4013498" y="5092700"/>
            <a:ext cx="1178619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fulfillment_proof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5179417" y="5092700"/>
            <a:ext cx="79444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→ 安全下载/解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57200" y="5257800"/>
            <a:ext cx="5147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压/安装。</a:t>
            </a:r>
            <a:endParaRPr/>
          </a:p>
        </p:txBody>
      </p:sp>
      <p:pic>
        <p:nvPicPr>
          <p:cNvPr id="36" name="slide-002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077" y="1128911"/>
            <a:ext cx="5432723" cy="4274939"/>
          </a:xfrm>
          <a:prstGeom prst="rect">
            <a:avLst/>
          </a:prstGeom>
        </p:spPr>
      </p:pic>
      <p:sp>
        <p:nvSpPr>
          <p:cNvPr id="37" name="文字 37"/>
          <p:cNvSpPr txBox="1"/>
          <p:nvPr/>
        </p:nvSpPr>
        <p:spPr>
          <a:xfrm>
            <a:off x="6486228" y="1154311"/>
            <a:ext cx="2318543" cy="2286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两种交付：源码买断 vs 云端订阅</a:t>
            </a:r>
            <a:endParaRPr/>
          </a:p>
        </p:txBody>
      </p:sp>
      <p:sp>
        <p:nvSpPr>
          <p:cNvPr id="38" name="形状 38"/>
          <p:cNvSpPr/>
          <p:nvPr/>
        </p:nvSpPr>
        <p:spPr>
          <a:xfrm>
            <a:off x="6486228" y="1408311"/>
            <a:ext cx="5248573" cy="565150"/>
          </a:xfrm>
          <a:prstGeom prst="roundRect">
            <a:avLst>
              <a:gd name="adj" fmla="val 8989"/>
            </a:avLst>
          </a:prstGeom>
          <a:noFill/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39" name="文字 39"/>
          <p:cNvSpPr txBox="1"/>
          <p:nvPr/>
        </p:nvSpPr>
        <p:spPr>
          <a:xfrm>
            <a:off x="6594177" y="1516261"/>
            <a:ext cx="7429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一次性买断 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7324428" y="1541661"/>
            <a:ext cx="56138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ONE-TIME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594177" y="1725811"/>
            <a:ext cx="424061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 → 完整 Skill 源码 zip → 本地安装 → Agent 直接执行；适合永久使用。</a:t>
            </a:r>
            <a:endParaRPr/>
          </a:p>
        </p:txBody>
      </p:sp>
      <p:sp>
        <p:nvSpPr>
          <p:cNvPr id="42" name="形状 42"/>
          <p:cNvSpPr/>
          <p:nvPr/>
        </p:nvSpPr>
        <p:spPr>
          <a:xfrm>
            <a:off x="6486228" y="2036961"/>
            <a:ext cx="5248573" cy="565150"/>
          </a:xfrm>
          <a:prstGeom prst="roundRect">
            <a:avLst>
              <a:gd name="adj" fmla="val 8989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43" name="文字 43"/>
          <p:cNvSpPr txBox="1"/>
          <p:nvPr/>
        </p:nvSpPr>
        <p:spPr>
          <a:xfrm>
            <a:off x="6594177" y="2144911"/>
            <a:ext cx="603250" cy="2032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周期订阅 </a:t>
            </a:r>
            <a:endParaRPr/>
          </a:p>
        </p:txBody>
      </p:sp>
      <p:sp>
        <p:nvSpPr>
          <p:cNvPr id="44" name="文字 44"/>
          <p:cNvSpPr txBox="1"/>
          <p:nvPr/>
        </p:nvSpPr>
        <p:spPr>
          <a:xfrm>
            <a:off x="7184727" y="2170311"/>
            <a:ext cx="835720" cy="1460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SUBSCRIPTION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6594177" y="2354461"/>
            <a:ext cx="495230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支付周期 → 获得云端使用权 → 每次调用返回任务执行文本；不交付明文，不自动续费。</a:t>
            </a:r>
            <a:endParaRPr/>
          </a:p>
        </p:txBody>
      </p:sp>
      <p:pic>
        <p:nvPicPr>
          <p:cNvPr id="46" name="slide-002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6228" y="2678311"/>
            <a:ext cx="5248573" cy="577850"/>
          </a:xfrm>
          <a:prstGeom prst="rect">
            <a:avLst/>
          </a:prstGeom>
        </p:spPr>
      </p:pic>
      <p:sp>
        <p:nvSpPr>
          <p:cNvPr id="47" name="文字 47"/>
          <p:cNvSpPr txBox="1"/>
          <p:nvPr/>
        </p:nvSpPr>
        <p:spPr>
          <a:xfrm>
            <a:off x="6594177" y="2697361"/>
            <a:ext cx="24130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云端保护：保护的是“方法”，不是答案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6594177" y="2906911"/>
            <a:ext cx="5092701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原文隔离在云；按任务最小披露；防角色扮演、指令覆盖、编码转换与多轮套取。不是绝对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6594177" y="3091061"/>
            <a:ext cx="1790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安全，是提高批量复制的成本。</a:t>
            </a:r>
            <a:endParaRPr/>
          </a:p>
        </p:txBody>
      </p:sp>
      <p:pic>
        <p:nvPicPr>
          <p:cNvPr id="50" name="slide-002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6228" y="3319661"/>
            <a:ext cx="5248573" cy="4000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6486228" y="3389511"/>
            <a:ext cx="7366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商品页要写清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486228" y="3573661"/>
            <a:ext cx="337958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价格 · 免费试用 · 交付方式（源码/云端）· 退款规则 · 适用宿主</a:t>
            </a:r>
            <a:endParaRPr/>
          </a:p>
        </p:txBody>
      </p:sp>
      <p:sp>
        <p:nvSpPr>
          <p:cNvPr id="53" name="形状 53"/>
          <p:cNvSpPr/>
          <p:nvPr/>
        </p:nvSpPr>
        <p:spPr>
          <a:xfrm>
            <a:off x="6486228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54" name="文字 54"/>
          <p:cNvSpPr txBox="1"/>
          <p:nvPr/>
        </p:nvSpPr>
        <p:spPr>
          <a:xfrm>
            <a:off x="65370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原文隔离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70259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  <a:endParaRPr/>
          </a:p>
        </p:txBody>
      </p:sp>
      <p:sp>
        <p:nvSpPr>
          <p:cNvPr id="56" name="形状 56"/>
          <p:cNvSpPr/>
          <p:nvPr/>
        </p:nvSpPr>
        <p:spPr>
          <a:xfrm>
            <a:off x="7159327" y="3776861"/>
            <a:ext cx="508000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57" name="文字 57"/>
          <p:cNvSpPr txBox="1"/>
          <p:nvPr/>
        </p:nvSpPr>
        <p:spPr>
          <a:xfrm>
            <a:off x="72101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任务请求</a:t>
            </a:r>
            <a:endParaRPr/>
          </a:p>
        </p:txBody>
      </p:sp>
      <p:sp>
        <p:nvSpPr>
          <p:cNvPr id="58" name="文字 58"/>
          <p:cNvSpPr txBox="1"/>
          <p:nvPr/>
        </p:nvSpPr>
        <p:spPr>
          <a:xfrm>
            <a:off x="76990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  <a:endParaRPr/>
          </a:p>
        </p:txBody>
      </p:sp>
      <p:sp>
        <p:nvSpPr>
          <p:cNvPr id="59" name="形状 59"/>
          <p:cNvSpPr/>
          <p:nvPr/>
        </p:nvSpPr>
        <p:spPr>
          <a:xfrm>
            <a:off x="78324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60" name="文字 60"/>
          <p:cNvSpPr txBox="1"/>
          <p:nvPr/>
        </p:nvSpPr>
        <p:spPr>
          <a:xfrm>
            <a:off x="78832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最小披露</a:t>
            </a:r>
            <a:endParaRPr/>
          </a:p>
        </p:txBody>
      </p:sp>
      <p:sp>
        <p:nvSpPr>
          <p:cNvPr id="61" name="文字 61"/>
          <p:cNvSpPr txBox="1"/>
          <p:nvPr/>
        </p:nvSpPr>
        <p:spPr>
          <a:xfrm>
            <a:off x="8372178" y="3827661"/>
            <a:ext cx="114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  <a:endParaRPr/>
          </a:p>
        </p:txBody>
      </p:sp>
      <p:sp>
        <p:nvSpPr>
          <p:cNvPr id="62" name="形状 62"/>
          <p:cNvSpPr/>
          <p:nvPr/>
        </p:nvSpPr>
        <p:spPr>
          <a:xfrm>
            <a:off x="8505527" y="3776861"/>
            <a:ext cx="508001" cy="215900"/>
          </a:xfrm>
          <a:prstGeom prst="roundRect">
            <a:avLst>
              <a:gd name="adj" fmla="val 11765"/>
            </a:avLst>
          </a:prstGeom>
          <a:solidFill>
            <a:srgbClr val="FAFAFA">
              <a:alpha val="100000"/>
            </a:srgbClr>
          </a:solidFill>
          <a:ln w="6350">
            <a:solidFill>
              <a:srgbClr val="D5D9DE">
                <a:alpha val="100000"/>
              </a:srgbClr>
            </a:solidFill>
            <a:prstDash val="solid"/>
          </a:ln>
        </p:spPr>
      </p:sp>
      <p:sp>
        <p:nvSpPr>
          <p:cNvPr id="63" name="文字 63"/>
          <p:cNvSpPr txBox="1"/>
          <p:nvPr/>
        </p:nvSpPr>
        <p:spPr>
          <a:xfrm>
            <a:off x="8556328" y="3827661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本地执行</a:t>
            </a:r>
            <a:endParaRPr/>
          </a:p>
        </p:txBody>
      </p:sp>
      <p:pic>
        <p:nvPicPr>
          <p:cNvPr id="64" name="slide-002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6228" y="5175250"/>
            <a:ext cx="5248573" cy="228600"/>
          </a:xfrm>
          <a:prstGeom prst="rect">
            <a:avLst/>
          </a:prstGeom>
        </p:spPr>
      </p:pic>
      <p:sp>
        <p:nvSpPr>
          <p:cNvPr id="65" name="文字 65"/>
          <p:cNvSpPr txBox="1"/>
          <p:nvPr/>
        </p:nvSpPr>
        <p:spPr>
          <a:xfrm>
            <a:off x="6486228" y="5251450"/>
            <a:ext cx="439608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支持宿主：WorkBuddy、豆包工作、千问办公、Cursor、Codex、Claude Code。</a:t>
            </a:r>
            <a:endParaRPr/>
          </a:p>
        </p:txBody>
      </p:sp>
      <p:pic>
        <p:nvPicPr>
          <p:cNvPr id="66" name="slide-002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" y="5467350"/>
            <a:ext cx="11277600" cy="641350"/>
          </a:xfrm>
          <a:prstGeom prst="rect">
            <a:avLst/>
          </a:prstGeom>
        </p:spPr>
      </p:pic>
      <p:sp>
        <p:nvSpPr>
          <p:cNvPr id="67" name="文字 67"/>
          <p:cNvSpPr txBox="1"/>
          <p:nvPr/>
        </p:nvSpPr>
        <p:spPr>
          <a:xfrm>
            <a:off x="457200" y="5543550"/>
            <a:ext cx="2239665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购买/安装链路：卖家 proxy + alipay-bot</a:t>
            </a:r>
            <a:endParaRPr/>
          </a:p>
        </p:txBody>
      </p:sp>
      <p:pic>
        <p:nvPicPr>
          <p:cNvPr id="68" name="slide-002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727700"/>
            <a:ext cx="1578372" cy="381000"/>
          </a:xfrm>
          <a:prstGeom prst="rect">
            <a:avLst/>
          </a:prstGeom>
        </p:spPr>
      </p:pic>
      <p:sp>
        <p:nvSpPr>
          <p:cNvPr id="69" name="文字 69"/>
          <p:cNvSpPr txBox="1"/>
          <p:nvPr/>
        </p:nvSpPr>
        <p:spPr>
          <a:xfrm>
            <a:off x="501650" y="5791200"/>
            <a:ext cx="3175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商品页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501650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价格/试用</a:t>
            </a:r>
            <a:endParaRPr/>
          </a:p>
        </p:txBody>
      </p:sp>
      <p:pic>
        <p:nvPicPr>
          <p:cNvPr id="71" name="slide-002-image-12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73672" y="5727700"/>
            <a:ext cx="1578471" cy="381000"/>
          </a:xfrm>
          <a:prstGeom prst="rect">
            <a:avLst/>
          </a:prstGeom>
        </p:spPr>
      </p:pic>
      <p:sp>
        <p:nvSpPr>
          <p:cNvPr id="72" name="文字 72"/>
          <p:cNvSpPr txBox="1"/>
          <p:nvPr/>
        </p:nvSpPr>
        <p:spPr>
          <a:xfrm>
            <a:off x="2118122" y="5791200"/>
            <a:ext cx="630634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firsttimebuy</a:t>
            </a:r>
            <a:endParaRPr/>
          </a:p>
        </p:txBody>
      </p:sp>
      <p:sp>
        <p:nvSpPr>
          <p:cNvPr id="73" name="文字 73"/>
          <p:cNvSpPr txBox="1"/>
          <p:nvPr/>
        </p:nvSpPr>
        <p:spPr>
          <a:xfrm>
            <a:off x="2118122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幂等下单</a:t>
            </a:r>
            <a:endParaRPr/>
          </a:p>
        </p:txBody>
      </p:sp>
      <p:pic>
        <p:nvPicPr>
          <p:cNvPr id="74" name="slide-002-image-1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90243" y="5727700"/>
            <a:ext cx="1578372" cy="381000"/>
          </a:xfrm>
          <a:prstGeom prst="rect">
            <a:avLst/>
          </a:prstGeom>
        </p:spPr>
      </p:pic>
      <p:sp>
        <p:nvSpPr>
          <p:cNvPr id="75" name="文字 75"/>
          <p:cNvSpPr txBox="1"/>
          <p:nvPr/>
        </p:nvSpPr>
        <p:spPr>
          <a:xfrm>
            <a:off x="3734693" y="57912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支付待确认</a:t>
            </a:r>
            <a:endParaRPr/>
          </a:p>
        </p:txBody>
      </p:sp>
      <p:sp>
        <p:nvSpPr>
          <p:cNvPr id="76" name="文字 76"/>
          <p:cNvSpPr txBox="1"/>
          <p:nvPr/>
        </p:nvSpPr>
        <p:spPr>
          <a:xfrm>
            <a:off x="3734693" y="5943600"/>
            <a:ext cx="45898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订单/链接</a:t>
            </a:r>
            <a:endParaRPr/>
          </a:p>
        </p:txBody>
      </p:sp>
      <p:pic>
        <p:nvPicPr>
          <p:cNvPr id="77" name="slide-002-image-14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06715" y="5727700"/>
            <a:ext cx="1578471" cy="381000"/>
          </a:xfrm>
          <a:prstGeom prst="rect">
            <a:avLst/>
          </a:prstGeom>
        </p:spPr>
      </p:pic>
      <p:sp>
        <p:nvSpPr>
          <p:cNvPr id="78" name="文字 78"/>
          <p:cNvSpPr txBox="1"/>
          <p:nvPr/>
        </p:nvSpPr>
        <p:spPr>
          <a:xfrm>
            <a:off x="5351165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用户支付</a:t>
            </a:r>
            <a:endParaRPr/>
          </a:p>
        </p:txBody>
      </p:sp>
      <p:sp>
        <p:nvSpPr>
          <p:cNvPr id="79" name="文字 79"/>
          <p:cNvSpPr txBox="1"/>
          <p:nvPr/>
        </p:nvSpPr>
        <p:spPr>
          <a:xfrm>
            <a:off x="5351165" y="5943600"/>
            <a:ext cx="5207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支付宝确认</a:t>
            </a:r>
            <a:endParaRPr/>
          </a:p>
        </p:txBody>
      </p:sp>
      <p:pic>
        <p:nvPicPr>
          <p:cNvPr id="80" name="slide-002-image-15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23286" y="5727700"/>
            <a:ext cx="1578372" cy="381000"/>
          </a:xfrm>
          <a:prstGeom prst="rect">
            <a:avLst/>
          </a:prstGeom>
        </p:spPr>
      </p:pic>
      <p:sp>
        <p:nvSpPr>
          <p:cNvPr id="81" name="文字 81"/>
          <p:cNvSpPr txBox="1"/>
          <p:nvPr/>
        </p:nvSpPr>
        <p:spPr>
          <a:xfrm>
            <a:off x="6967736" y="57912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查询状态</a:t>
            </a:r>
            <a:endParaRPr/>
          </a:p>
        </p:txBody>
      </p:sp>
      <p:sp>
        <p:nvSpPr>
          <p:cNvPr id="82" name="文字 82"/>
          <p:cNvSpPr txBox="1"/>
          <p:nvPr/>
        </p:nvSpPr>
        <p:spPr>
          <a:xfrm>
            <a:off x="6967736" y="5943600"/>
            <a:ext cx="520701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原订单恢复</a:t>
            </a:r>
            <a:endParaRPr/>
          </a:p>
        </p:txBody>
      </p:sp>
      <p:pic>
        <p:nvPicPr>
          <p:cNvPr id="83" name="slide-002-image-16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539758" y="5727700"/>
            <a:ext cx="1578472" cy="381000"/>
          </a:xfrm>
          <a:prstGeom prst="rect">
            <a:avLst/>
          </a:prstGeom>
        </p:spPr>
      </p:pic>
      <p:sp>
        <p:nvSpPr>
          <p:cNvPr id="84" name="文字 84"/>
          <p:cNvSpPr txBox="1"/>
          <p:nvPr/>
        </p:nvSpPr>
        <p:spPr>
          <a:xfrm>
            <a:off x="8584208" y="5791200"/>
            <a:ext cx="874216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fulfillment_proof</a:t>
            </a:r>
            <a:endParaRPr/>
          </a:p>
        </p:txBody>
      </p:sp>
      <p:sp>
        <p:nvSpPr>
          <p:cNvPr id="85" name="文字 85"/>
          <p:cNvSpPr txBox="1"/>
          <p:nvPr/>
        </p:nvSpPr>
        <p:spPr>
          <a:xfrm>
            <a:off x="8584208" y="5943600"/>
            <a:ext cx="6223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唯一下载地址</a:t>
            </a:r>
            <a:endParaRPr/>
          </a:p>
        </p:txBody>
      </p:sp>
      <p:pic>
        <p:nvPicPr>
          <p:cNvPr id="86" name="slide-002-image-17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156329" y="5727700"/>
            <a:ext cx="1578372" cy="381000"/>
          </a:xfrm>
          <a:prstGeom prst="rect">
            <a:avLst/>
          </a:prstGeom>
        </p:spPr>
      </p:pic>
      <p:sp>
        <p:nvSpPr>
          <p:cNvPr id="87" name="文字 87"/>
          <p:cNvSpPr txBox="1"/>
          <p:nvPr/>
        </p:nvSpPr>
        <p:spPr>
          <a:xfrm>
            <a:off x="10200779" y="5791200"/>
            <a:ext cx="45849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下载/解压</a:t>
            </a:r>
            <a:endParaRPr/>
          </a:p>
        </p:txBody>
      </p:sp>
      <p:sp>
        <p:nvSpPr>
          <p:cNvPr id="88" name="文字 88"/>
          <p:cNvSpPr txBox="1"/>
          <p:nvPr/>
        </p:nvSpPr>
        <p:spPr>
          <a:xfrm>
            <a:off x="10200779" y="5943600"/>
            <a:ext cx="419100" cy="152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安装验证</a:t>
            </a:r>
            <a:endParaRPr/>
          </a:p>
        </p:txBody>
      </p:sp>
      <p:pic>
        <p:nvPicPr>
          <p:cNvPr id="89" name="slide-002-image-18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7200" y="6184900"/>
            <a:ext cx="11277600" cy="393700"/>
          </a:xfrm>
          <a:prstGeom prst="rect">
            <a:avLst/>
          </a:prstGeom>
        </p:spPr>
      </p:pic>
      <p:sp>
        <p:nvSpPr>
          <p:cNvPr id="90" name="文字 90"/>
          <p:cNvSpPr txBox="1"/>
          <p:nvPr/>
        </p:nvSpPr>
        <p:spPr>
          <a:xfrm>
            <a:off x="457200" y="6267450"/>
            <a:ext cx="49490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402 支付</a:t>
            </a:r>
            <a:endParaRPr/>
          </a:p>
        </p:txBody>
      </p:sp>
      <p:sp>
        <p:nvSpPr>
          <p:cNvPr id="91" name="文字 91"/>
          <p:cNvSpPr txBox="1"/>
          <p:nvPr/>
        </p:nvSpPr>
        <p:spPr>
          <a:xfrm>
            <a:off x="45720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识别付费、恢复任务</a:t>
            </a:r>
            <a:endParaRPr/>
          </a:p>
        </p:txBody>
      </p:sp>
      <p:sp>
        <p:nvSpPr>
          <p:cNvPr id="92" name="文字 92"/>
          <p:cNvSpPr txBox="1"/>
          <p:nvPr/>
        </p:nvSpPr>
        <p:spPr>
          <a:xfrm>
            <a:off x="329882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云端交付</a:t>
            </a:r>
            <a:endParaRPr/>
          </a:p>
        </p:txBody>
      </p:sp>
      <p:sp>
        <p:nvSpPr>
          <p:cNvPr id="93" name="文字 93"/>
          <p:cNvSpPr txBox="1"/>
          <p:nvPr/>
        </p:nvSpPr>
        <p:spPr>
          <a:xfrm>
            <a:off x="3298825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提供能力、不交原文</a:t>
            </a:r>
            <a:endParaRPr/>
          </a:p>
        </p:txBody>
      </p:sp>
      <p:sp>
        <p:nvSpPr>
          <p:cNvPr id="94" name="文字 94"/>
          <p:cNvSpPr txBox="1"/>
          <p:nvPr/>
        </p:nvSpPr>
        <p:spPr>
          <a:xfrm>
            <a:off x="6140450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安全保护</a:t>
            </a:r>
            <a:endParaRPr/>
          </a:p>
        </p:txBody>
      </p:sp>
      <p:sp>
        <p:nvSpPr>
          <p:cNvPr id="95" name="文字 95"/>
          <p:cNvSpPr txBox="1"/>
          <p:nvPr/>
        </p:nvSpPr>
        <p:spPr>
          <a:xfrm>
            <a:off x="6140450" y="6438900"/>
            <a:ext cx="9842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降低套取与复制风险</a:t>
            </a:r>
            <a:endParaRPr/>
          </a:p>
        </p:txBody>
      </p:sp>
      <p:sp>
        <p:nvSpPr>
          <p:cNvPr id="96" name="文字 96"/>
          <p:cNvSpPr txBox="1"/>
          <p:nvPr/>
        </p:nvSpPr>
        <p:spPr>
          <a:xfrm>
            <a:off x="8982075" y="6267450"/>
            <a:ext cx="49530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商业经营</a:t>
            </a:r>
            <a:endParaRPr/>
          </a:p>
        </p:txBody>
      </p:sp>
      <p:sp>
        <p:nvSpPr>
          <p:cNvPr id="97" name="文字 97"/>
          <p:cNvSpPr txBox="1"/>
          <p:nvPr/>
        </p:nvSpPr>
        <p:spPr>
          <a:xfrm>
            <a:off x="8982075" y="6438900"/>
            <a:ext cx="87630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试用、订阅与履约</a:t>
            </a:r>
            <a:endParaRPr/>
          </a:p>
        </p:txBody>
      </p:sp>
      <p:sp>
        <p:nvSpPr>
          <p:cNvPr id="98" name="文字 98"/>
          <p:cNvSpPr txBox="1"/>
          <p:nvPr/>
        </p:nvSpPr>
        <p:spPr>
          <a:xfrm>
            <a:off x="457200" y="6635750"/>
            <a:ext cx="4582914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来源：SkillPay 官网与博客（《好的世界，技有所得》）、SkillPay 购买/履约执行器、支付宝 AI 付文档；2026-10-19 只读核查。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47650"/>
            <a:ext cx="154503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 / A402 协议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50850"/>
            <a:ext cx="6704013" cy="3683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 u="none" spc="-4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MachinePay：用 402 把每次 API 调用变成一笔可验证的交易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00100"/>
            <a:ext cx="5336382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商家在响应里报价，Agent 用支付宝付款，商家验单后交付；支付与履约都进入机器调用链路。</a:t>
            </a:r>
            <a:endParaRPr/>
          </a:p>
        </p:txBody>
      </p:sp>
      <p:sp>
        <p:nvSpPr>
          <p:cNvPr id="8" name="形状 8"/>
          <p:cNvSpPr/>
          <p:nvPr/>
        </p:nvSpPr>
        <p:spPr>
          <a:xfrm>
            <a:off x="457200" y="1022350"/>
            <a:ext cx="1787327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9" name="文字 9"/>
          <p:cNvSpPr txBox="1"/>
          <p:nvPr/>
        </p:nvSpPr>
        <p:spPr>
          <a:xfrm>
            <a:off x="539750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① 报价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908645" y="1066800"/>
            <a:ext cx="126603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402 + Payment-Needed</a:t>
            </a:r>
            <a:endParaRPr/>
          </a:p>
        </p:txBody>
      </p:sp>
      <p:sp>
        <p:nvSpPr>
          <p:cNvPr id="11" name="形状 11"/>
          <p:cNvSpPr/>
          <p:nvPr/>
        </p:nvSpPr>
        <p:spPr>
          <a:xfrm>
            <a:off x="2308027" y="1022350"/>
            <a:ext cx="1602780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12" name="文字 12"/>
          <p:cNvSpPr txBox="1"/>
          <p:nvPr/>
        </p:nvSpPr>
        <p:spPr>
          <a:xfrm>
            <a:off x="2390577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② 付款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2759472" y="1066800"/>
            <a:ext cx="108148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AI 付钱包 + 用户确认</a:t>
            </a:r>
            <a:endParaRPr/>
          </a:p>
        </p:txBody>
      </p:sp>
      <p:sp>
        <p:nvSpPr>
          <p:cNvPr id="14" name="形状 14"/>
          <p:cNvSpPr/>
          <p:nvPr/>
        </p:nvSpPr>
        <p:spPr>
          <a:xfrm>
            <a:off x="3974306" y="1022350"/>
            <a:ext cx="1523405" cy="215900"/>
          </a:xfrm>
          <a:prstGeom prst="roundRect">
            <a:avLst>
              <a:gd name="adj" fmla="val 11765"/>
            </a:avLst>
          </a:prstGeom>
          <a:solidFill>
            <a:srgbClr val="FDF0F1">
              <a:alpha val="100000"/>
            </a:srgbClr>
          </a:solidFill>
          <a:ln w="6350">
            <a:solidFill>
              <a:srgbClr val="EFC9CC">
                <a:alpha val="100000"/>
              </a:srgbClr>
            </a:solidFill>
            <a:prstDash val="solid"/>
          </a:ln>
        </p:spPr>
      </p:sp>
      <p:sp>
        <p:nvSpPr>
          <p:cNvPr id="15" name="文字 15"/>
          <p:cNvSpPr txBox="1"/>
          <p:nvPr/>
        </p:nvSpPr>
        <p:spPr>
          <a:xfrm>
            <a:off x="4056856" y="1066800"/>
            <a:ext cx="381595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③ 验单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425752" y="1066800"/>
            <a:ext cx="100211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 verify + fulfillment</a:t>
            </a:r>
            <a:endParaRPr/>
          </a:p>
        </p:txBody>
      </p:sp>
      <p:pic>
        <p:nvPicPr>
          <p:cNvPr id="17" name="slide-003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94669"/>
            <a:ext cx="11277600" cy="3449539"/>
          </a:xfrm>
          <a:prstGeom prst="rect">
            <a:avLst/>
          </a:prstGeom>
        </p:spPr>
      </p:pic>
      <p:pic>
        <p:nvPicPr>
          <p:cNvPr id="18" name="slide-003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788025"/>
            <a:ext cx="11277600" cy="803275"/>
          </a:xfrm>
          <a:prstGeom prst="rect">
            <a:avLst/>
          </a:prstGeom>
        </p:spPr>
      </p:pic>
      <p:sp>
        <p:nvSpPr>
          <p:cNvPr id="19" name="文字 19"/>
          <p:cNvSpPr txBox="1"/>
          <p:nvPr/>
        </p:nvSpPr>
        <p:spPr>
          <a:xfrm>
            <a:off x="457200" y="5864225"/>
            <a:ext cx="1761927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Payment-Needed（商家报价）</a:t>
            </a:r>
            <a:endParaRPr/>
          </a:p>
        </p:txBody>
      </p:sp>
      <p:sp>
        <p:nvSpPr>
          <p:cNvPr id="20" name="形状 20"/>
          <p:cNvSpPr/>
          <p:nvPr/>
        </p:nvSpPr>
        <p:spPr>
          <a:xfrm>
            <a:off x="457200" y="6035675"/>
            <a:ext cx="5791696" cy="361950"/>
          </a:xfrm>
          <a:prstGeom prst="roundRect">
            <a:avLst>
              <a:gd name="adj" fmla="val 7018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</p:sp>
      <p:sp>
        <p:nvSpPr>
          <p:cNvPr id="21" name="文字 21"/>
          <p:cNvSpPr txBox="1"/>
          <p:nvPr/>
        </p:nvSpPr>
        <p:spPr>
          <a:xfrm>
            <a:off x="514350" y="6080125"/>
            <a:ext cx="50419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protocol: out_trade_no / amount / currency / resource_id / pay_before / seller_signature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514350" y="6223000"/>
            <a:ext cx="41846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method: seller_name / seller_id / seller_app_id / goods_name / service_id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57200" y="6435725"/>
            <a:ext cx="27495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商家本地 RSA2 签名；响应体只调试，Agent 读 Header。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6388596" y="5864225"/>
            <a:ext cx="2098973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Payment-Proof + verify（买家凭证）</a:t>
            </a:r>
            <a:endParaRPr/>
          </a:p>
        </p:txBody>
      </p:sp>
      <p:sp>
        <p:nvSpPr>
          <p:cNvPr id="25" name="形状 25"/>
          <p:cNvSpPr/>
          <p:nvPr/>
        </p:nvSpPr>
        <p:spPr>
          <a:xfrm>
            <a:off x="6388596" y="6035675"/>
            <a:ext cx="5346105" cy="219075"/>
          </a:xfrm>
          <a:prstGeom prst="roundRect">
            <a:avLst>
              <a:gd name="adj" fmla="val 11594"/>
            </a:avLst>
          </a:prstGeom>
          <a:solidFill>
            <a:srgbClr val="F4F5F7">
              <a:alpha val="100000"/>
            </a:srgbClr>
          </a:solidFill>
          <a:ln>
            <a:noFill/>
          </a:ln>
        </p:spPr>
      </p:sp>
      <p:sp>
        <p:nvSpPr>
          <p:cNvPr id="26" name="文字 26"/>
          <p:cNvSpPr txBox="1"/>
          <p:nvPr/>
        </p:nvSpPr>
        <p:spPr>
          <a:xfrm>
            <a:off x="6445746" y="6080125"/>
            <a:ext cx="235585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payment_proof / trade_no / client_session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6388596" y="6292850"/>
            <a:ext cx="5350471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active=true · amount · out_trade_no · resource_id · trade_no 未重放 · pay_before；失败→402，成功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6388596" y="6451600"/>
            <a:ext cx="1459508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→200 + fulfillment.confirm。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457200" y="6648450"/>
            <a:ext cx="6600032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来源：支付宝 AI 付《Machine Pay 产品接入指南》、`alipay.aipay.agent.payment.verify` / `fulfillment.confirm` API 文档、官方 alipay/ai 仓库 A2M 示例；2026-10-19 只读核查。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73050"/>
            <a:ext cx="160922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9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COMPARISON / 分工与边界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457200" y="488950"/>
            <a:ext cx="5756474" cy="3873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spc="-42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vs MachinePay：商品化与计费化的分工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866081"/>
            <a:ext cx="4444901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两者共用 AI 付钱包与 402，但卖的东西、触发点、交付物与风险控制不同。</a:t>
            </a:r>
            <a:endParaRPr/>
          </a:p>
        </p:txBody>
      </p:sp>
      <p:graphicFrame>
        <p:nvGraphicFramePr>
          <p:cNvPr id="8" name="表格 8"/>
          <p:cNvGraphicFramePr/>
          <p:nvPr/>
        </p:nvGraphicFramePr>
        <p:xfrm>
          <a:off x="457200" y="1116211"/>
          <a:ext cx="11277600" cy="1890613"/>
        </p:xfrm>
        <a:graphic>
          <a:graphicData uri="http://schemas.openxmlformats.org/drawingml/2006/table">
            <a:tbl>
              <a:tblPr firstRow="0" bandRow="0"/>
              <a:tblGrid>
                <a:gridCol w="1689695"/>
                <a:gridCol w="4843860"/>
                <a:gridCol w="4731346"/>
              </a:tblGrid>
              <a:tr h="25717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50" b="1" i="0" u="none" spc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维度</a:t>
                      </a:r>
                      <a:endParaRPr/>
                    </a:p>
                  </a:txBody>
                  <a:tcPr marL="57150" marR="57150" marT="38100" marB="38100" anchor="ctr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50" b="1" i="0" u="none" spc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SkillPay</a:t>
                      </a:r>
                      <a:endParaRPr/>
                    </a:p>
                  </a:txBody>
                  <a:tcPr marL="57150" marR="57150" marT="38100" marB="3810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50" b="1" i="0" u="none" spc="0">
                          <a:solidFill>
                            <a:srgbClr val="FFFFFF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MachinePay</a:t>
                      </a:r>
                      <a:endParaRPr/>
                    </a:p>
                  </a:txBody>
                  <a:tcPr marL="57150" marR="57150" marT="38100" marB="38100" anchor="ctr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B5333B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卖什么</a:t>
                      </a:r>
                      <a:endParaRPr/>
                    </a:p>
                  </a:txBody>
                  <a:tcPr marL="57150" marR="57150" marT="38100" marB="38100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Skill 商品 / 权益（源码或云端使用权）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API、MCP、算力等按次调用的资源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计费单位</a:t>
                      </a:r>
                      <a:endParaRPr/>
                    </a:p>
                  </a:txBody>
                  <a:tcPr marL="57150" marR="57150" marT="38100" marB="38100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一次性买断 / 周期订阅 / 免费试用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每次调用独立定价，商家在 402 账单里报价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触发方式</a:t>
                      </a:r>
                      <a:endParaRPr/>
                    </a:p>
                  </a:txBody>
                  <a:tcPr marL="57150" marR="57150" marT="38100" marB="38100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任务中无有效权益 → 402 / 支付要求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无 Payment-Proof → 402 + Payment-Needed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交付物</a:t>
                      </a:r>
                      <a:endParaRPr/>
                    </a:p>
                  </a:txBody>
                  <a:tcPr marL="57150" marR="57150" marT="38100" marB="38100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完整源码 zip（买断）或云端执行文本（订阅）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API 结果；支付后返回资源并回传履约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1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资金路径</a:t>
                      </a:r>
                      <a:endParaRPr/>
                    </a:p>
                  </a:txBody>
                  <a:tcPr marL="57150" marR="57150" marT="38100" marB="38100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成交即到账开发者支付宝；退款开发者发起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支付宝收单/结算到商家账户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1080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信任机制</a:t>
                      </a:r>
                      <a:endParaRPr/>
                    </a:p>
                  </a:txBody>
                  <a:tcPr marL="57150" marR="57150" marT="38100" marB="38100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安全检测 + 云端保护 + 支付宝支付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RSA2 签名 + verify + 防重放 + 履约回执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234255"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1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关键风险</a:t>
                      </a:r>
                      <a:endParaRPr/>
                    </a:p>
                  </a:txBody>
                  <a:tcPr marL="57150" marR="57150" marT="38100" marB="38100" anchor="t">
                    <a:lnL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云端保护非绝对；退款靠协商；订阅不自动续费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wrap="none">
                      <a:noAutofit/>
                    </a:bodyPr>
                    <a:lstStyle/>
                    <a:p>
                      <a:pPr algn="l"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 i="0" u="none" spc="0">
                          <a:solidFill>
                            <a:srgbClr val="1A1A1C">
                              <a:alpha val="100000"/>
                            </a:srgbClr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 xml:space="preserve">金额/资源校验；结算/退款规则未公开；逐笔授权</a:t>
                      </a:r>
                      <a:endParaRPr/>
                    </a:p>
                  </a:txBody>
                  <a:tcPr marL="57150" marR="57150" marT="38100" marB="38100" anchor="t">
                    <a:lnL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L>
                    <a:lnR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R>
                    <a:lnT w="635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T>
                    <a:lnB w="12700">
                      <a:solidFill>
                        <a:srgbClr val="1A1A1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9" name="slide-004-imag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89374"/>
            <a:ext cx="2733675" cy="713581"/>
          </a:xfrm>
          <a:prstGeom prst="rect">
            <a:avLst/>
          </a:prstGeom>
        </p:spPr>
      </p:pic>
      <p:sp>
        <p:nvSpPr>
          <p:cNvPr id="10" name="文字 10"/>
          <p:cNvSpPr txBox="1"/>
          <p:nvPr/>
        </p:nvSpPr>
        <p:spPr>
          <a:xfrm>
            <a:off x="45720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01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3305274"/>
            <a:ext cx="179020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402 是收费握手，不是支付本身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3495774"/>
            <a:ext cx="26813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它让机器读懂价格；真正的支付仍由 AI 付钱包与用户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3655715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确认完成。</a:t>
            </a:r>
            <a:endParaRPr/>
          </a:p>
        </p:txBody>
      </p:sp>
      <p:pic>
        <p:nvPicPr>
          <p:cNvPr id="14" name="slide-004-imag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5175" y="3089374"/>
            <a:ext cx="2733675" cy="713581"/>
          </a:xfrm>
          <a:prstGeom prst="rect">
            <a:avLst/>
          </a:prstGeom>
        </p:spPr>
      </p:pic>
      <p:sp>
        <p:nvSpPr>
          <p:cNvPr id="15" name="文字 15"/>
          <p:cNvSpPr txBox="1"/>
          <p:nvPr/>
        </p:nvSpPr>
        <p:spPr>
          <a:xfrm>
            <a:off x="3305175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02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3305175" y="3305274"/>
            <a:ext cx="1304925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卖“交付权”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3305175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一次性源码或周期云端；核心是商品、试用、交付与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3305175" y="3655715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退款。</a:t>
            </a:r>
            <a:endParaRPr/>
          </a:p>
        </p:txBody>
      </p:sp>
      <p:pic>
        <p:nvPicPr>
          <p:cNvPr id="19" name="slide-004-image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150" y="3089374"/>
            <a:ext cx="2733675" cy="713581"/>
          </a:xfrm>
          <a:prstGeom prst="rect">
            <a:avLst/>
          </a:prstGeom>
        </p:spPr>
      </p:pic>
      <p:sp>
        <p:nvSpPr>
          <p:cNvPr id="20" name="文字 20"/>
          <p:cNvSpPr txBox="1"/>
          <p:nvPr/>
        </p:nvSpPr>
        <p:spPr>
          <a:xfrm>
            <a:off x="6153150" y="3146524"/>
            <a:ext cx="127000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03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6153150" y="3305274"/>
            <a:ext cx="168275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 卖“按量调用”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6153150" y="3495774"/>
            <a:ext cx="2641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商家自签账单、按次计价；验单后交付，履约回执闭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6153150" y="3655715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环。</a:t>
            </a:r>
            <a:endParaRPr/>
          </a:p>
        </p:txBody>
      </p:sp>
      <p:pic>
        <p:nvPicPr>
          <p:cNvPr id="24" name="slide-004-image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25" y="3089374"/>
            <a:ext cx="2733676" cy="713581"/>
          </a:xfrm>
          <a:prstGeom prst="rect">
            <a:avLst/>
          </a:prstGeom>
        </p:spPr>
      </p:pic>
      <p:sp>
        <p:nvSpPr>
          <p:cNvPr id="25" name="文字 25"/>
          <p:cNvSpPr txBox="1"/>
          <p:nvPr/>
        </p:nvSpPr>
        <p:spPr>
          <a:xfrm>
            <a:off x="9001125" y="3146524"/>
            <a:ext cx="127001" cy="127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04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9001125" y="3305274"/>
            <a:ext cx="102870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壁垒在信任与结算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9001125" y="3495774"/>
            <a:ext cx="2729409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钱包绑定、RSA2、防重放、退款/争议；自主支付仍靠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9001125" y="3655715"/>
            <a:ext cx="984251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委托支付（邀测）。</a:t>
            </a:r>
            <a:endParaRPr/>
          </a:p>
        </p:txBody>
      </p:sp>
      <p:pic>
        <p:nvPicPr>
          <p:cNvPr id="29" name="slide-004-image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3879156"/>
            <a:ext cx="3683000" cy="516731"/>
          </a:xfrm>
          <a:prstGeom prst="rect">
            <a:avLst/>
          </a:prstGeom>
        </p:spPr>
      </p:pic>
      <p:sp>
        <p:nvSpPr>
          <p:cNvPr id="30" name="文字 30"/>
          <p:cNvSpPr txBox="1"/>
          <p:nvPr/>
        </p:nvSpPr>
        <p:spPr>
          <a:xfrm>
            <a:off x="558800" y="3898206"/>
            <a:ext cx="852984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对 Skill 创作者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558800" y="4088706"/>
            <a:ext cx="3328293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定价 + 试用 + 交付 + 退款；用云端保护守住核心方法，而不是只卖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558800" y="4248646"/>
            <a:ext cx="52863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Prompt。</a:t>
            </a:r>
            <a:endParaRPr/>
          </a:p>
        </p:txBody>
      </p:sp>
      <p:pic>
        <p:nvPicPr>
          <p:cNvPr id="33" name="slide-004-image-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54500" y="3879156"/>
            <a:ext cx="3683000" cy="516731"/>
          </a:xfrm>
          <a:prstGeom prst="rect">
            <a:avLst/>
          </a:prstGeom>
        </p:spPr>
      </p:pic>
      <p:sp>
        <p:nvSpPr>
          <p:cNvPr id="34" name="文字 34"/>
          <p:cNvSpPr txBox="1"/>
          <p:nvPr/>
        </p:nvSpPr>
        <p:spPr>
          <a:xfrm>
            <a:off x="4356100" y="3898206"/>
            <a:ext cx="737493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对 API / 商家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4356100" y="4088706"/>
            <a:ext cx="356899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把 402 当收费网关：先报价后交付；验单、防重放、履约回执一个不能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4356100" y="4248646"/>
            <a:ext cx="2413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少。</a:t>
            </a:r>
            <a:endParaRPr/>
          </a:p>
        </p:txBody>
      </p:sp>
      <p:pic>
        <p:nvPicPr>
          <p:cNvPr id="37" name="slide-004-image-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1800" y="3879156"/>
            <a:ext cx="3683000" cy="516731"/>
          </a:xfrm>
          <a:prstGeom prst="rect">
            <a:avLst/>
          </a:prstGeom>
        </p:spPr>
      </p:pic>
      <p:sp>
        <p:nvSpPr>
          <p:cNvPr id="38" name="文字 38"/>
          <p:cNvSpPr txBox="1"/>
          <p:nvPr/>
        </p:nvSpPr>
        <p:spPr>
          <a:xfrm>
            <a:off x="8153400" y="3898206"/>
            <a:ext cx="814090" cy="1841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对 Agent 平台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8153400" y="4088706"/>
            <a:ext cx="3532088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钱包绑定 + 逐笔授权 + 限额/委托 + 退款/争议；自主支付不是“静默扣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8153400" y="4248646"/>
            <a:ext cx="3556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款”。</a:t>
            </a:r>
            <a:endParaRPr/>
          </a:p>
        </p:txBody>
      </p:sp>
      <p:pic>
        <p:nvPicPr>
          <p:cNvPr id="41" name="slide-004-image-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4472087"/>
            <a:ext cx="3683000" cy="436860"/>
          </a:xfrm>
          <a:prstGeom prst="rect">
            <a:avLst/>
          </a:prstGeom>
        </p:spPr>
      </p:pic>
      <p:sp>
        <p:nvSpPr>
          <p:cNvPr id="42" name="文字 42"/>
          <p:cNvSpPr txBox="1"/>
          <p:nvPr/>
        </p:nvSpPr>
        <p:spPr>
          <a:xfrm>
            <a:off x="5588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账单即协议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558800" y="4719737"/>
            <a:ext cx="2723654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价格、资源、过期时间与签名写进 402 响应，机器可读。</a:t>
            </a:r>
            <a:endParaRPr/>
          </a:p>
        </p:txBody>
      </p:sp>
      <p:pic>
        <p:nvPicPr>
          <p:cNvPr id="44" name="slide-004-image-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54500" y="4472087"/>
            <a:ext cx="3683000" cy="436860"/>
          </a:xfrm>
          <a:prstGeom prst="rect">
            <a:avLst/>
          </a:prstGeom>
        </p:spPr>
      </p:pic>
      <p:sp>
        <p:nvSpPr>
          <p:cNvPr id="45" name="文字 45"/>
          <p:cNvSpPr txBox="1"/>
          <p:nvPr/>
        </p:nvSpPr>
        <p:spPr>
          <a:xfrm>
            <a:off x="43561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凭证即收据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356100" y="4719737"/>
            <a:ext cx="2711450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一次一证、验单后交付、履约回执；防重放与重复履约。</a:t>
            </a:r>
            <a:endParaRPr/>
          </a:p>
        </p:txBody>
      </p:sp>
      <p:pic>
        <p:nvPicPr>
          <p:cNvPr id="47" name="slide-004-image-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1800" y="4472087"/>
            <a:ext cx="3683000" cy="436860"/>
          </a:xfrm>
          <a:prstGeom prst="rect">
            <a:avLst/>
          </a:prstGeom>
        </p:spPr>
      </p:pic>
      <p:sp>
        <p:nvSpPr>
          <p:cNvPr id="48" name="文字 48"/>
          <p:cNvSpPr txBox="1"/>
          <p:nvPr/>
        </p:nvSpPr>
        <p:spPr>
          <a:xfrm>
            <a:off x="8153400" y="4541937"/>
            <a:ext cx="615950" cy="1714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权益即商品</a:t>
            </a:r>
            <a:endParaRPr/>
          </a:p>
        </p:txBody>
      </p:sp>
      <p:sp>
        <p:nvSpPr>
          <p:cNvPr id="49" name="文字 49"/>
          <p:cNvSpPr txBox="1"/>
          <p:nvPr/>
        </p:nvSpPr>
        <p:spPr>
          <a:xfrm>
            <a:off x="8153400" y="4719737"/>
            <a:ext cx="2364283" cy="158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买断/订阅/试用都必须有明确交付物与退款出口。</a:t>
            </a:r>
            <a:endParaRPr/>
          </a:p>
        </p:txBody>
      </p:sp>
      <p:pic>
        <p:nvPicPr>
          <p:cNvPr id="50" name="slide-004-image-11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6356350"/>
            <a:ext cx="11277600" cy="222250"/>
          </a:xfrm>
          <a:prstGeom prst="rect">
            <a:avLst/>
          </a:prstGeom>
        </p:spPr>
      </p:pic>
      <p:sp>
        <p:nvSpPr>
          <p:cNvPr id="51" name="文字 51"/>
          <p:cNvSpPr txBox="1"/>
          <p:nvPr/>
        </p:nvSpPr>
        <p:spPr>
          <a:xfrm>
            <a:off x="457200" y="6432550"/>
            <a:ext cx="4699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待回答：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1028700" y="6432550"/>
            <a:ext cx="7433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平台佣金/费率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18736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退款与争议</a:t>
            </a:r>
            <a:endParaRPr/>
          </a:p>
        </p:txBody>
      </p:sp>
      <p:sp>
        <p:nvSpPr>
          <p:cNvPr id="54" name="文字 54"/>
          <p:cNvSpPr txBox="1"/>
          <p:nvPr/>
        </p:nvSpPr>
        <p:spPr>
          <a:xfrm>
            <a:off x="2559447" y="6432550"/>
            <a:ext cx="584200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跨境与合规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3245247" y="6432550"/>
            <a:ext cx="917774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 限额与责任</a:t>
            </a:r>
            <a:endParaRPr/>
          </a:p>
        </p:txBody>
      </p:sp>
      <p:sp>
        <p:nvSpPr>
          <p:cNvPr id="56" name="文字 56"/>
          <p:cNvSpPr txBox="1"/>
          <p:nvPr/>
        </p:nvSpPr>
        <p:spPr>
          <a:xfrm>
            <a:off x="4264620" y="6432550"/>
            <a:ext cx="723106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 质量评测</a:t>
            </a:r>
            <a:endParaRPr/>
          </a:p>
        </p:txBody>
      </p:sp>
      <p:sp>
        <p:nvSpPr>
          <p:cNvPr id="57" name="文字 57"/>
          <p:cNvSpPr txBox="1"/>
          <p:nvPr/>
        </p:nvSpPr>
        <p:spPr>
          <a:xfrm>
            <a:off x="457200" y="6635750"/>
            <a:ext cx="3560068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8B8E94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来源：支付宝 AI 付文档、SkillPay 官网/博客、官方 alipay/ai skills 仓库；2026-10-19 只读核查。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5510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54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智果园 Skill 资产商业化演进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826353" y="298450"/>
            <a:ext cx="9211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1/2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714431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阿里经营 Skill 商品权益，腾讯连接付费服务与生态分发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56287"/>
            <a:ext cx="11264532" cy="0"/>
          </a:xfrm>
          <a:prstGeom prst="line">
            <a:avLst/>
          </a:prstGeom>
          <a:ln w="12662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71860"/>
            <a:ext cx="2751633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阿里：SkillPay + MachinePay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389360"/>
            <a:ext cx="2146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把知识交付与支付协议分别做深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6273800" y="1071860"/>
            <a:ext cx="2251770" cy="2857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5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腾讯：SkillHub SkillPay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6273800" y="1389360"/>
            <a:ext cx="237738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让免费 Skill 连接可收费的远程服务</a:t>
            </a:r>
            <a:endParaRPr/>
          </a:p>
        </p:txBody>
      </p:sp>
      <p:cxnSp>
        <p:nvCxnSpPr>
          <p:cNvPr id="13" name="Editable line 13"/>
          <p:cNvCxnSpPr/>
          <p:nvPr/>
        </p:nvCxnSpPr>
        <p:spPr>
          <a:xfrm>
            <a:off x="6099175" y="1062590"/>
            <a:ext cx="0" cy="3393650"/>
          </a:xfrm>
          <a:prstGeom prst="line">
            <a:avLst/>
          </a:prstGeom>
          <a:ln w="6163" cap="flat">
            <a:solidFill>
              <a:srgbClr val="D9DDE2"/>
            </a:solidFill>
            <a:prstDash val="solid"/>
          </a:ln>
        </p:spPr>
      </p:cxnSp>
      <p:sp>
        <p:nvSpPr>
          <p:cNvPr id="14" name="文字 14"/>
          <p:cNvSpPr txBox="1"/>
          <p:nvPr/>
        </p:nvSpPr>
        <p:spPr>
          <a:xfrm>
            <a:off x="457200" y="1770360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卖什么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1524000" y="1770360"/>
            <a:ext cx="426184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SkillPay 买断交付完整源文件；周期订阅把原文留云端，按任务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1524000" y="1991320"/>
            <a:ext cx="186313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给指导，本地 Agent 执行。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6273800" y="1770360"/>
            <a:ext cx="450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卖什么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7340600" y="1770360"/>
            <a:ext cx="4041974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公开 Skill 包负责发现和调用；远程业务后端提供付费能力。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7340600" y="1991320"/>
            <a:ext cx="2711946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WorkRally 图像生成展示价 0.36 元/次。</a:t>
            </a:r>
            <a:endParaRPr/>
          </a:p>
        </p:txBody>
      </p:sp>
      <p:cxnSp>
        <p:nvCxnSpPr>
          <p:cNvPr id="20" name="Editable line 20"/>
          <p:cNvCxnSpPr/>
          <p:nvPr/>
        </p:nvCxnSpPr>
        <p:spPr>
          <a:xfrm>
            <a:off x="463727" y="2476268"/>
            <a:ext cx="5384447" cy="0"/>
          </a:xfrm>
          <a:prstGeom prst="line">
            <a:avLst/>
          </a:prstGeom>
          <a:ln w="8209" cap="flat">
            <a:solidFill>
              <a:srgbClr val="D9DDE2"/>
            </a:solidFill>
            <a:prstDash val="solid"/>
          </a:ln>
        </p:spPr>
      </p:cxnSp>
      <p:cxnSp>
        <p:nvCxnSpPr>
          <p:cNvPr id="21" name="Editable line 21"/>
          <p:cNvCxnSpPr/>
          <p:nvPr/>
        </p:nvCxnSpPr>
        <p:spPr>
          <a:xfrm>
            <a:off x="6277067" y="2476268"/>
            <a:ext cx="5387698" cy="0"/>
          </a:xfrm>
          <a:prstGeom prst="line">
            <a:avLst/>
          </a:prstGeom>
          <a:ln w="8209" cap="flat">
            <a:solidFill>
              <a:srgbClr val="D9DDE2"/>
            </a:solidFill>
            <a:prstDash val="solid"/>
          </a:ln>
        </p:spPr>
      </p:cxnSp>
      <p:sp>
        <p:nvSpPr>
          <p:cNvPr id="22" name="文字 22"/>
          <p:cNvSpPr txBox="1"/>
          <p:nvPr/>
        </p:nvSpPr>
        <p:spPr>
          <a:xfrm>
            <a:off x="457200" y="26212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平台做得好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1524000" y="2621260"/>
            <a:ext cx="426313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商品模式、试用、价格、版本和权益统一经营。402 付款后恢复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1524000" y="2842220"/>
            <a:ext cx="2146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原任务，按权益完成对应交付。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6273800" y="26212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平台做得好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7340600" y="2621260"/>
            <a:ext cx="41275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企业认证、商户绑定、开发者身份、定价审核与分发相连接；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7340600" y="2842220"/>
            <a:ext cx="2908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平台官方样例与第三方服务共同示范收费。</a:t>
            </a:r>
            <a:endParaRPr/>
          </a:p>
        </p:txBody>
      </p:sp>
      <p:cxnSp>
        <p:nvCxnSpPr>
          <p:cNvPr id="28" name="Editable line 28"/>
          <p:cNvCxnSpPr/>
          <p:nvPr/>
        </p:nvCxnSpPr>
        <p:spPr>
          <a:xfrm>
            <a:off x="463727" y="3327168"/>
            <a:ext cx="5384447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cxnSp>
        <p:nvCxnSpPr>
          <p:cNvPr id="29" name="Editable line 29"/>
          <p:cNvCxnSpPr/>
          <p:nvPr/>
        </p:nvCxnSpPr>
        <p:spPr>
          <a:xfrm>
            <a:off x="6277067" y="3327168"/>
            <a:ext cx="5387698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sp>
        <p:nvSpPr>
          <p:cNvPr id="30" name="文字 30"/>
          <p:cNvSpPr txBox="1"/>
          <p:nvPr/>
        </p:nvSpPr>
        <p:spPr>
          <a:xfrm>
            <a:off x="457200" y="34721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交易与履约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1524000" y="3472160"/>
            <a:ext cx="425261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MachinePay 以签名报价、付款凭证、在线验付和履约回执服务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1524000" y="3693120"/>
            <a:ext cx="271889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API 收款；商户仍须做业务核对与幂等。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6273800" y="3472160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交易与履约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7340600" y="3472160"/>
            <a:ext cx="418058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微信订单登记为 AI 支付码，用户逐笔确认。商户验付后交付；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7340600" y="3693120"/>
            <a:ext cx="2745085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WorkRally 用同一任务标识恢复取结果。</a:t>
            </a:r>
            <a:endParaRPr/>
          </a:p>
        </p:txBody>
      </p:sp>
      <p:cxnSp>
        <p:nvCxnSpPr>
          <p:cNvPr id="36" name="Editable line 36"/>
          <p:cNvCxnSpPr/>
          <p:nvPr/>
        </p:nvCxnSpPr>
        <p:spPr>
          <a:xfrm>
            <a:off x="463727" y="4178068"/>
            <a:ext cx="5384447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cxnSp>
        <p:nvCxnSpPr>
          <p:cNvPr id="37" name="Editable line 37"/>
          <p:cNvCxnSpPr/>
          <p:nvPr/>
        </p:nvCxnSpPr>
        <p:spPr>
          <a:xfrm>
            <a:off x="6277067" y="4178068"/>
            <a:ext cx="5387698" cy="0"/>
          </a:xfrm>
          <a:prstGeom prst="line">
            <a:avLst/>
          </a:prstGeom>
          <a:ln w="8218" cap="flat">
            <a:solidFill>
              <a:srgbClr val="D9DDE2"/>
            </a:solidFill>
            <a:prstDash val="solid"/>
          </a:ln>
        </p:spPr>
      </p:cxnSp>
      <p:sp>
        <p:nvSpPr>
          <p:cNvPr id="38" name="文字 38"/>
          <p:cNvSpPr txBox="1"/>
          <p:nvPr/>
        </p:nvSpPr>
        <p:spPr>
          <a:xfrm>
            <a:off x="457200" y="438656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值得借鉴</a:t>
            </a:r>
            <a:endParaRPr/>
          </a:p>
        </p:txBody>
      </p:sp>
      <p:sp>
        <p:nvSpPr>
          <p:cNvPr id="39" name="文字 39"/>
          <p:cNvSpPr txBox="1"/>
          <p:nvPr/>
        </p:nvSpPr>
        <p:spPr>
          <a:xfrm>
            <a:off x="1524000" y="4386560"/>
            <a:ext cx="4127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先定义购买权益与交付形态，再把试用、续购和持续更新连成</a:t>
            </a:r>
            <a:endParaRPr/>
          </a:p>
        </p:txBody>
      </p:sp>
      <p:sp>
        <p:nvSpPr>
          <p:cNvPr id="40" name="文字 40"/>
          <p:cNvSpPr txBox="1"/>
          <p:nvPr/>
        </p:nvSpPr>
        <p:spPr>
          <a:xfrm>
            <a:off x="1524000" y="4607521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商品经营。</a:t>
            </a:r>
            <a:endParaRPr/>
          </a:p>
        </p:txBody>
      </p:sp>
      <p:sp>
        <p:nvSpPr>
          <p:cNvPr id="41" name="文字 41"/>
          <p:cNvSpPr txBox="1"/>
          <p:nvPr/>
        </p:nvSpPr>
        <p:spPr>
          <a:xfrm>
            <a:off x="6273800" y="4386560"/>
            <a:ext cx="596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值得借鉴</a:t>
            </a:r>
            <a:endParaRPr/>
          </a:p>
        </p:txBody>
      </p:sp>
      <p:sp>
        <p:nvSpPr>
          <p:cNvPr id="42" name="文字 42"/>
          <p:cNvSpPr txBox="1"/>
          <p:nvPr/>
        </p:nvSpPr>
        <p:spPr>
          <a:xfrm>
            <a:off x="7340600" y="4386560"/>
            <a:ext cx="3975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保留低门槛安装入口，把收费控制放在持续提供价值的服务</a:t>
            </a:r>
            <a:endParaRPr/>
          </a:p>
        </p:txBody>
      </p:sp>
      <p:sp>
        <p:nvSpPr>
          <p:cNvPr id="43" name="文字 43"/>
          <p:cNvSpPr txBox="1"/>
          <p:nvPr/>
        </p:nvSpPr>
        <p:spPr>
          <a:xfrm>
            <a:off x="7340600" y="4607521"/>
            <a:ext cx="317501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端。</a:t>
            </a:r>
            <a:endParaRPr/>
          </a:p>
        </p:txBody>
      </p:sp>
      <p:cxnSp>
        <p:nvCxnSpPr>
          <p:cNvPr id="44" name="Editable line 44"/>
          <p:cNvCxnSpPr/>
          <p:nvPr/>
        </p:nvCxnSpPr>
        <p:spPr>
          <a:xfrm>
            <a:off x="463734" y="5017062"/>
            <a:ext cx="11264532" cy="0"/>
          </a:xfrm>
          <a:prstGeom prst="line">
            <a:avLst/>
          </a:prstGeom>
          <a:ln w="8168" cap="flat">
            <a:solidFill>
              <a:srgbClr val="B5333B"/>
            </a:solidFill>
            <a:prstDash val="solid"/>
          </a:ln>
        </p:spPr>
      </p:cxnSp>
      <p:sp>
        <p:nvSpPr>
          <p:cNvPr id="45" name="文字 45"/>
          <p:cNvSpPr txBox="1"/>
          <p:nvPr/>
        </p:nvSpPr>
        <p:spPr>
          <a:xfrm>
            <a:off x="457200" y="5146179"/>
            <a:ext cx="1968500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智果园已有可沿用的起点</a:t>
            </a:r>
            <a:endParaRPr/>
          </a:p>
        </p:txBody>
      </p:sp>
      <p:sp>
        <p:nvSpPr>
          <p:cNvPr id="46" name="文字 46"/>
          <p:cNvSpPr txBox="1"/>
          <p:nvPr/>
        </p:nvSpPr>
        <p:spPr>
          <a:xfrm>
            <a:off x="457200" y="5450979"/>
            <a:ext cx="1841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资产共享与访问授权已具备</a:t>
            </a:r>
            <a:endParaRPr/>
          </a:p>
        </p:txBody>
      </p:sp>
      <p:sp>
        <p:nvSpPr>
          <p:cNvPr id="47" name="文字 47"/>
          <p:cNvSpPr txBox="1"/>
          <p:nvPr/>
        </p:nvSpPr>
        <p:spPr>
          <a:xfrm>
            <a:off x="457200" y="5717679"/>
            <a:ext cx="522228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独立仓库、SKILL.md 与元数据、许可证、发布审核；指定用户可见、申请审批与</a:t>
            </a:r>
            <a:endParaRPr/>
          </a:p>
        </p:txBody>
      </p:sp>
      <p:sp>
        <p:nvSpPr>
          <p:cNvPr id="48" name="文字 48"/>
          <p:cNvSpPr txBox="1"/>
          <p:nvPr/>
        </p:nvSpPr>
        <p:spPr>
          <a:xfrm>
            <a:off x="457200" y="5929412"/>
            <a:ext cx="14732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撤销、公开安装入口。</a:t>
            </a:r>
            <a:endParaRPr/>
          </a:p>
        </p:txBody>
      </p:sp>
      <p:cxnSp>
        <p:nvCxnSpPr>
          <p:cNvPr id="49" name="Editable line 49"/>
          <p:cNvCxnSpPr/>
          <p:nvPr/>
        </p:nvCxnSpPr>
        <p:spPr>
          <a:xfrm>
            <a:off x="6099175" y="5431929"/>
            <a:ext cx="0" cy="831702"/>
          </a:xfrm>
          <a:prstGeom prst="line">
            <a:avLst/>
          </a:prstGeom>
          <a:ln w="6163" cap="flat">
            <a:solidFill>
              <a:srgbClr val="D9DDE2"/>
            </a:solidFill>
            <a:prstDash val="solid"/>
          </a:ln>
        </p:spPr>
      </p:cxnSp>
      <p:sp>
        <p:nvSpPr>
          <p:cNvPr id="50" name="文字 50"/>
          <p:cNvSpPr txBox="1"/>
          <p:nvPr/>
        </p:nvSpPr>
        <p:spPr>
          <a:xfrm>
            <a:off x="6273800" y="5450979"/>
            <a:ext cx="2053233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 交易闭环仍需核实与打通</a:t>
            </a:r>
            <a:endParaRPr/>
          </a:p>
        </p:txBody>
      </p:sp>
      <p:sp>
        <p:nvSpPr>
          <p:cNvPr id="51" name="文字 51"/>
          <p:cNvSpPr txBox="1"/>
          <p:nvPr/>
        </p:nvSpPr>
        <p:spPr>
          <a:xfrm>
            <a:off x="6273800" y="5717679"/>
            <a:ext cx="5334596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公开 Skill 文档尚未充分披露价格、订单、付费权益、计量和结算；“允许使用”仍</a:t>
            </a:r>
            <a:endParaRPr/>
          </a:p>
        </p:txBody>
      </p:sp>
      <p:sp>
        <p:nvSpPr>
          <p:cNvPr id="52" name="文字 52"/>
          <p:cNvSpPr txBox="1"/>
          <p:nvPr/>
        </p:nvSpPr>
        <p:spPr>
          <a:xfrm>
            <a:off x="6273800" y="5929412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需连接可核验的购买权益。</a:t>
            </a:r>
            <a:endParaRPr/>
          </a:p>
        </p:txBody>
      </p:sp>
      <p:sp>
        <p:nvSpPr>
          <p:cNvPr id="53" name="文字 53"/>
          <p:cNvSpPr txBox="1"/>
          <p:nvPr/>
        </p:nvSpPr>
        <p:spPr>
          <a:xfrm>
            <a:off x="457200" y="6445250"/>
            <a:ext cx="6490792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来源：支付宝 SkillPay 博客/上架与 MachinePay 指南；SkillHub 官网/教程、WorkRally 契约；华为新版 Skill 托管/发布/管理文档。 逐项依据与产品边界见备注及伴生研究文档。</a:t>
            </a:r>
            <a:endParaRPr/>
          </a:p>
        </p:txBody>
      </p:sp>
      <p:pic>
        <p:nvPicPr>
          <p:cNvPr id="54" name="slide-001-imag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590135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形状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3" name="形状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4" name="形状 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5" name="文字 5"/>
          <p:cNvSpPr txBox="1"/>
          <p:nvPr/>
        </p:nvSpPr>
        <p:spPr>
          <a:xfrm>
            <a:off x="457200" y="298450"/>
            <a:ext cx="155108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54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智果园 Skill 资产商业化演进</a:t>
            </a:r>
            <a:endParaRPr/>
          </a:p>
        </p:txBody>
      </p:sp>
      <p:sp>
        <p:nvSpPr>
          <p:cNvPr id="6" name="文字 6"/>
          <p:cNvSpPr txBox="1"/>
          <p:nvPr/>
        </p:nvSpPr>
        <p:spPr>
          <a:xfrm>
            <a:off x="10826353" y="298450"/>
            <a:ext cx="921147" cy="1651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2026.10.20 · 2/2</a:t>
            </a:r>
            <a:endParaRPr/>
          </a:p>
        </p:txBody>
      </p:sp>
      <p:sp>
        <p:nvSpPr>
          <p:cNvPr id="7" name="文字 7"/>
          <p:cNvSpPr txBox="1"/>
          <p:nvPr/>
        </p:nvSpPr>
        <p:spPr>
          <a:xfrm>
            <a:off x="457200" y="501650"/>
            <a:ext cx="6714431" cy="4064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u="none" spc="-44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智果园复用资产与云商店底座，重点补齐 Skill 商业编排</a:t>
            </a:r>
            <a:endParaRPr/>
          </a:p>
        </p:txBody>
      </p:sp>
      <p:cxnSp>
        <p:nvCxnSpPr>
          <p:cNvPr id="8" name="Editable line 8"/>
          <p:cNvCxnSpPr/>
          <p:nvPr/>
        </p:nvCxnSpPr>
        <p:spPr>
          <a:xfrm>
            <a:off x="463734" y="962776"/>
            <a:ext cx="11264532" cy="0"/>
          </a:xfrm>
          <a:prstGeom prst="line">
            <a:avLst/>
          </a:prstGeom>
          <a:ln w="12634" cap="flat">
            <a:solidFill>
              <a:srgbClr val="B5333B"/>
            </a:solidFill>
            <a:prstDash val="solid"/>
          </a:ln>
        </p:spPr>
      </p:cxnSp>
      <p:sp>
        <p:nvSpPr>
          <p:cNvPr id="9" name="文字 9"/>
          <p:cNvSpPr txBox="1"/>
          <p:nvPr/>
        </p:nvSpPr>
        <p:spPr>
          <a:xfrm>
            <a:off x="457200" y="1097260"/>
            <a:ext cx="189865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直接沿用：新版资产广场</a:t>
            </a:r>
            <a:endParaRPr/>
          </a:p>
        </p:txBody>
      </p:sp>
      <p:sp>
        <p:nvSpPr>
          <p:cNvPr id="10" name="文字 10"/>
          <p:cNvSpPr txBox="1"/>
          <p:nvPr/>
        </p:nvSpPr>
        <p:spPr>
          <a:xfrm>
            <a:off x="457200" y="1465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资产供给与分发</a:t>
            </a:r>
            <a:endParaRPr/>
          </a:p>
        </p:txBody>
      </p:sp>
      <p:sp>
        <p:nvSpPr>
          <p:cNvPr id="11" name="文字 11"/>
          <p:cNvSpPr txBox="1"/>
          <p:nvPr/>
        </p:nvSpPr>
        <p:spPr>
          <a:xfrm>
            <a:off x="457200" y="17195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仓库、标准包、元数据、许可证、审核、安装入口。继</a:t>
            </a:r>
            <a:endParaRPr/>
          </a:p>
        </p:txBody>
      </p:sp>
      <p:sp>
        <p:nvSpPr>
          <p:cNvPr id="12" name="文字 12"/>
          <p:cNvSpPr txBox="1"/>
          <p:nvPr/>
        </p:nvSpPr>
        <p:spPr>
          <a:xfrm>
            <a:off x="457200" y="1931293"/>
            <a:ext cx="150465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续兼容免费开源 Skill。</a:t>
            </a:r>
            <a:endParaRPr/>
          </a:p>
        </p:txBody>
      </p:sp>
      <p:sp>
        <p:nvSpPr>
          <p:cNvPr id="13" name="文字 13"/>
          <p:cNvSpPr txBox="1"/>
          <p:nvPr/>
        </p:nvSpPr>
        <p:spPr>
          <a:xfrm>
            <a:off x="457200" y="22910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访问范围与审批</a:t>
            </a:r>
            <a:endParaRPr/>
          </a:p>
        </p:txBody>
      </p:sp>
      <p:sp>
        <p:nvSpPr>
          <p:cNvPr id="14" name="文字 14"/>
          <p:cNvSpPr txBox="1"/>
          <p:nvPr/>
        </p:nvSpPr>
        <p:spPr>
          <a:xfrm>
            <a:off x="457200" y="2545060"/>
            <a:ext cx="342909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沿用可见/可用分离及申请撤销；保留企业共享和指定</a:t>
            </a:r>
            <a:endParaRPr/>
          </a:p>
        </p:txBody>
      </p:sp>
      <p:sp>
        <p:nvSpPr>
          <p:cNvPr id="15" name="文字 15"/>
          <p:cNvSpPr txBox="1"/>
          <p:nvPr/>
        </p:nvSpPr>
        <p:spPr>
          <a:xfrm>
            <a:off x="457200" y="2756793"/>
            <a:ext cx="7429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用户授权。</a:t>
            </a:r>
            <a:endParaRPr/>
          </a:p>
        </p:txBody>
      </p:sp>
      <p:sp>
        <p:nvSpPr>
          <p:cNvPr id="16" name="文字 16"/>
          <p:cNvSpPr txBox="1"/>
          <p:nvPr/>
        </p:nvSpPr>
        <p:spPr>
          <a:xfrm>
            <a:off x="457200" y="311656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复用边界</a:t>
            </a:r>
            <a:endParaRPr/>
          </a:p>
        </p:txBody>
      </p:sp>
      <p:sp>
        <p:nvSpPr>
          <p:cNvPr id="17" name="文字 17"/>
          <p:cNvSpPr txBox="1"/>
          <p:nvPr/>
        </p:nvSpPr>
        <p:spPr>
          <a:xfrm>
            <a:off x="457200" y="33705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既有审批控制访问；付费权益还须绑定买家、商品、版</a:t>
            </a:r>
            <a:endParaRPr/>
          </a:p>
        </p:txBody>
      </p:sp>
      <p:sp>
        <p:nvSpPr>
          <p:cNvPr id="18" name="文字 18"/>
          <p:cNvSpPr txBox="1"/>
          <p:nvPr/>
        </p:nvSpPr>
        <p:spPr>
          <a:xfrm>
            <a:off x="457200" y="3582293"/>
            <a:ext cx="10350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本及可用额度。</a:t>
            </a:r>
            <a:endParaRPr/>
          </a:p>
        </p:txBody>
      </p:sp>
      <p:sp>
        <p:nvSpPr>
          <p:cNvPr id="19" name="文字 19"/>
          <p:cNvSpPr txBox="1"/>
          <p:nvPr/>
        </p:nvSpPr>
        <p:spPr>
          <a:xfrm>
            <a:off x="4292600" y="1097260"/>
            <a:ext cx="2070100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对接复用：华为云商业底座</a:t>
            </a:r>
            <a:endParaRPr/>
          </a:p>
        </p:txBody>
      </p:sp>
      <p:sp>
        <p:nvSpPr>
          <p:cNvPr id="20" name="文字 20"/>
          <p:cNvSpPr txBox="1"/>
          <p:nvPr/>
        </p:nvSpPr>
        <p:spPr>
          <a:xfrm>
            <a:off x="4292600" y="1465560"/>
            <a:ext cx="12319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云商店订购与结算</a:t>
            </a:r>
            <a:endParaRPr/>
          </a:p>
        </p:txBody>
      </p:sp>
      <p:sp>
        <p:nvSpPr>
          <p:cNvPr id="21" name="文字 21"/>
          <p:cNvSpPr txBox="1"/>
          <p:nvPr/>
        </p:nvSpPr>
        <p:spPr>
          <a:xfrm>
            <a:off x="4292600" y="1719560"/>
            <a:ext cx="3371851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按商品类型和合作模式复用订购、退订及结算；补齐</a:t>
            </a:r>
            <a:endParaRPr/>
          </a:p>
        </p:txBody>
      </p:sp>
      <p:sp>
        <p:nvSpPr>
          <p:cNvPr id="22" name="文字 22"/>
          <p:cNvSpPr txBox="1"/>
          <p:nvPr/>
        </p:nvSpPr>
        <p:spPr>
          <a:xfrm>
            <a:off x="4292600" y="1931293"/>
            <a:ext cx="1561802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Skill 与商品/订单映射。</a:t>
            </a:r>
            <a:endParaRPr/>
          </a:p>
        </p:txBody>
      </p:sp>
      <p:sp>
        <p:nvSpPr>
          <p:cNvPr id="23" name="文字 23"/>
          <p:cNvSpPr txBox="1"/>
          <p:nvPr/>
        </p:nvSpPr>
        <p:spPr>
          <a:xfrm>
            <a:off x="4292600" y="2291060"/>
            <a:ext cx="1613992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Agents 网关鉴权与计量</a:t>
            </a:r>
            <a:endParaRPr/>
          </a:p>
        </p:txBody>
      </p:sp>
      <p:sp>
        <p:nvSpPr>
          <p:cNvPr id="24" name="文字 24"/>
          <p:cNvSpPr txBox="1"/>
          <p:nvPr/>
        </p:nvSpPr>
        <p:spPr>
          <a:xfrm>
            <a:off x="4292600" y="2545060"/>
            <a:ext cx="35179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已有路由、鉴权、用量解析；适配后端与计费口径。当</a:t>
            </a:r>
            <a:endParaRPr/>
          </a:p>
        </p:txBody>
      </p:sp>
      <p:sp>
        <p:nvSpPr>
          <p:cNvPr id="25" name="文字 25"/>
          <p:cNvSpPr txBox="1"/>
          <p:nvPr/>
        </p:nvSpPr>
        <p:spPr>
          <a:xfrm>
            <a:off x="4292600" y="2756793"/>
            <a:ext cx="10350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前默认北京四。</a:t>
            </a:r>
            <a:endParaRPr/>
          </a:p>
        </p:txBody>
      </p:sp>
      <p:sp>
        <p:nvSpPr>
          <p:cNvPr id="26" name="文字 26"/>
          <p:cNvSpPr txBox="1"/>
          <p:nvPr/>
        </p:nvSpPr>
        <p:spPr>
          <a:xfrm>
            <a:off x="4292600" y="3116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宿主与外部支付</a:t>
            </a:r>
            <a:endParaRPr/>
          </a:p>
        </p:txBody>
      </p:sp>
      <p:sp>
        <p:nvSpPr>
          <p:cNvPr id="27" name="文字 27"/>
          <p:cNvSpPr txBox="1"/>
          <p:nvPr/>
        </p:nvSpPr>
        <p:spPr>
          <a:xfrm>
            <a:off x="4292600" y="3370560"/>
            <a:ext cx="3499048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打通 CodeArts / OfficeAce 等消费端；外部支付另核签</a:t>
            </a:r>
            <a:endParaRPr/>
          </a:p>
        </p:txBody>
      </p:sp>
      <p:sp>
        <p:nvSpPr>
          <p:cNvPr id="28" name="文字 28"/>
          <p:cNvSpPr txBox="1"/>
          <p:nvPr/>
        </p:nvSpPr>
        <p:spPr>
          <a:xfrm>
            <a:off x="4292600" y="3582293"/>
            <a:ext cx="176530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约、宿主工具及身份接入。</a:t>
            </a:r>
            <a:endParaRPr/>
          </a:p>
        </p:txBody>
      </p:sp>
      <p:sp>
        <p:nvSpPr>
          <p:cNvPr id="29" name="文字 29"/>
          <p:cNvSpPr txBox="1"/>
          <p:nvPr/>
        </p:nvSpPr>
        <p:spPr>
          <a:xfrm>
            <a:off x="8128001" y="1097260"/>
            <a:ext cx="2136874" cy="247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35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智果园补齐：Skill 商业编排</a:t>
            </a:r>
            <a:endParaRPr/>
          </a:p>
        </p:txBody>
      </p:sp>
      <p:sp>
        <p:nvSpPr>
          <p:cNvPr id="30" name="文字 30"/>
          <p:cNvSpPr txBox="1"/>
          <p:nvPr/>
        </p:nvSpPr>
        <p:spPr>
          <a:xfrm>
            <a:off x="8128001" y="1465560"/>
            <a:ext cx="16891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商品、试用与服务端权益</a:t>
            </a:r>
            <a:endParaRPr/>
          </a:p>
        </p:txBody>
      </p:sp>
      <p:sp>
        <p:nvSpPr>
          <p:cNvPr id="31" name="文字 31"/>
          <p:cNvSpPr txBox="1"/>
          <p:nvPr/>
        </p:nvSpPr>
        <p:spPr>
          <a:xfrm>
            <a:off x="8128001" y="1719560"/>
            <a:ext cx="3365004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区分买断文件/订阅/远程按量；定义 SKU、价格和许</a:t>
            </a:r>
            <a:endParaRPr/>
          </a:p>
        </p:txBody>
      </p:sp>
      <p:sp>
        <p:nvSpPr>
          <p:cNvPr id="32" name="文字 32"/>
          <p:cNvSpPr txBox="1"/>
          <p:nvPr/>
        </p:nvSpPr>
        <p:spPr>
          <a:xfrm>
            <a:off x="8128001" y="1931293"/>
            <a:ext cx="132714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可，订单驱动授权。</a:t>
            </a:r>
            <a:endParaRPr/>
          </a:p>
        </p:txBody>
      </p:sp>
      <p:sp>
        <p:nvSpPr>
          <p:cNvPr id="33" name="文字 33"/>
          <p:cNvSpPr txBox="1"/>
          <p:nvPr/>
        </p:nvSpPr>
        <p:spPr>
          <a:xfrm>
            <a:off x="8128001" y="2291060"/>
            <a:ext cx="1384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任务履约与异常恢复</a:t>
            </a:r>
            <a:endParaRPr/>
          </a:p>
        </p:txBody>
      </p:sp>
      <p:sp>
        <p:nvSpPr>
          <p:cNvPr id="34" name="文字 34"/>
          <p:cNvSpPr txBox="1"/>
          <p:nvPr/>
        </p:nvSpPr>
        <p:spPr>
          <a:xfrm>
            <a:off x="8128001" y="2545060"/>
            <a:ext cx="33718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固定请求和订单，验付、验权后执行；重试不重复扣</a:t>
            </a:r>
            <a:endParaRPr/>
          </a:p>
        </p:txBody>
      </p:sp>
      <p:sp>
        <p:nvSpPr>
          <p:cNvPr id="35" name="文字 35"/>
          <p:cNvSpPr txBox="1"/>
          <p:nvPr/>
        </p:nvSpPr>
        <p:spPr>
          <a:xfrm>
            <a:off x="8128001" y="2756793"/>
            <a:ext cx="1619250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次，失败可恢复或补偿。</a:t>
            </a:r>
            <a:endParaRPr/>
          </a:p>
        </p:txBody>
      </p:sp>
      <p:sp>
        <p:nvSpPr>
          <p:cNvPr id="36" name="文字 36"/>
          <p:cNvSpPr txBox="1"/>
          <p:nvPr/>
        </p:nvSpPr>
        <p:spPr>
          <a:xfrm>
            <a:off x="8128001" y="3116560"/>
            <a:ext cx="10795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质量与作者经营</a:t>
            </a:r>
            <a:endParaRPr/>
          </a:p>
        </p:txBody>
      </p:sp>
      <p:sp>
        <p:nvSpPr>
          <p:cNvPr id="37" name="文字 37"/>
          <p:cNvSpPr txBox="1"/>
          <p:nvPr/>
        </p:nvSpPr>
        <p:spPr>
          <a:xfrm>
            <a:off x="8128001" y="3370560"/>
            <a:ext cx="3486348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上架需补任务效果/安全/收费测试；提供订单收益、退</a:t>
            </a:r>
            <a:endParaRPr/>
          </a:p>
        </p:txBody>
      </p:sp>
      <p:sp>
        <p:nvSpPr>
          <p:cNvPr id="38" name="文字 38"/>
          <p:cNvSpPr txBox="1"/>
          <p:nvPr/>
        </p:nvSpPr>
        <p:spPr>
          <a:xfrm>
            <a:off x="8128001" y="3582293"/>
            <a:ext cx="1327149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款对账及申诉入口。</a:t>
            </a:r>
            <a:endParaRPr/>
          </a:p>
        </p:txBody>
      </p:sp>
      <p:cxnSp>
        <p:nvCxnSpPr>
          <p:cNvPr id="39" name="Editable line 39"/>
          <p:cNvCxnSpPr/>
          <p:nvPr/>
        </p:nvCxnSpPr>
        <p:spPr>
          <a:xfrm>
            <a:off x="4163219" y="1084730"/>
            <a:ext cx="0" cy="2669920"/>
          </a:xfrm>
          <a:prstGeom prst="line">
            <a:avLst/>
          </a:prstGeom>
          <a:ln w="4000" cap="flat">
            <a:solidFill>
              <a:srgbClr val="D9DDE2"/>
            </a:solidFill>
            <a:prstDash val="solid"/>
          </a:ln>
        </p:spPr>
      </p:cxnSp>
      <p:cxnSp>
        <p:nvCxnSpPr>
          <p:cNvPr id="40" name="Editable line 40"/>
          <p:cNvCxnSpPr/>
          <p:nvPr/>
        </p:nvCxnSpPr>
        <p:spPr>
          <a:xfrm>
            <a:off x="7997031" y="1084730"/>
            <a:ext cx="0" cy="2669920"/>
          </a:xfrm>
          <a:prstGeom prst="line">
            <a:avLst/>
          </a:prstGeom>
          <a:ln w="4000" cap="flat">
            <a:solidFill>
              <a:srgbClr val="D9DDE2"/>
            </a:solidFill>
            <a:prstDash val="solid"/>
          </a:ln>
        </p:spPr>
      </p:cxnSp>
      <p:cxnSp>
        <p:nvCxnSpPr>
          <p:cNvPr id="41" name="Editable line 41"/>
          <p:cNvCxnSpPr/>
          <p:nvPr/>
        </p:nvCxnSpPr>
        <p:spPr>
          <a:xfrm>
            <a:off x="463734" y="3962168"/>
            <a:ext cx="11264532" cy="0"/>
          </a:xfrm>
          <a:prstGeom prst="line">
            <a:avLst/>
          </a:prstGeom>
          <a:ln w="8226" cap="flat">
            <a:solidFill>
              <a:srgbClr val="B5333B"/>
            </a:solidFill>
            <a:prstDash val="solid"/>
          </a:ln>
        </p:spPr>
      </p:cxnSp>
      <p:sp>
        <p:nvSpPr>
          <p:cNvPr id="42" name="文字 42"/>
          <p:cNvSpPr txBox="1"/>
          <p:nvPr/>
        </p:nvSpPr>
        <p:spPr>
          <a:xfrm>
            <a:off x="457200" y="4094460"/>
            <a:ext cx="5819577" cy="2540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首期建议：免费 Skill 入口 + 付费远程能力，先完成一条可对账的交易闭环</a:t>
            </a:r>
            <a:endParaRPr/>
          </a:p>
        </p:txBody>
      </p:sp>
      <p:sp>
        <p:nvSpPr>
          <p:cNvPr id="43" name="形状 43"/>
          <p:cNvSpPr/>
          <p:nvPr/>
        </p:nvSpPr>
        <p:spPr>
          <a:xfrm>
            <a:off x="4572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44" name="文字 44"/>
          <p:cNvSpPr txBox="1"/>
          <p:nvPr/>
        </p:nvSpPr>
        <p:spPr>
          <a:xfrm>
            <a:off x="5524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发现与安装</a:t>
            </a:r>
            <a:endParaRPr/>
          </a:p>
        </p:txBody>
      </p:sp>
      <p:sp>
        <p:nvSpPr>
          <p:cNvPr id="45" name="文字 45"/>
          <p:cNvSpPr txBox="1"/>
          <p:nvPr/>
        </p:nvSpPr>
        <p:spPr>
          <a:xfrm>
            <a:off x="552450" y="4770041"/>
            <a:ext cx="1203722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绑定 asset_id / 版本</a:t>
            </a:r>
            <a:endParaRPr/>
          </a:p>
        </p:txBody>
      </p:sp>
      <p:cxnSp>
        <p:nvCxnSpPr>
          <p:cNvPr id="46" name="Editable line 46"/>
          <p:cNvCxnSpPr/>
          <p:nvPr/>
        </p:nvCxnSpPr>
        <p:spPr>
          <a:xfrm>
            <a:off x="2346380" y="4770735"/>
            <a:ext cx="36496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47" name="文字 47"/>
          <p:cNvSpPr/>
          <p:nvPr/>
        </p:nvSpPr>
        <p:spPr>
          <a:xfrm rot="5400000">
            <a:off x="26289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48" name="形状 48"/>
          <p:cNvSpPr/>
          <p:nvPr/>
        </p:nvSpPr>
        <p:spPr>
          <a:xfrm>
            <a:off x="27178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49" name="文字 49"/>
          <p:cNvSpPr txBox="1"/>
          <p:nvPr/>
        </p:nvSpPr>
        <p:spPr>
          <a:xfrm>
            <a:off x="28130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试用或购买</a:t>
            </a:r>
            <a:endParaRPr/>
          </a:p>
        </p:txBody>
      </p:sp>
      <p:sp>
        <p:nvSpPr>
          <p:cNvPr id="50" name="文字 50"/>
          <p:cNvSpPr txBox="1"/>
          <p:nvPr/>
        </p:nvSpPr>
        <p:spPr>
          <a:xfrm>
            <a:off x="2813050" y="477004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关联商品、订单与买家</a:t>
            </a:r>
            <a:endParaRPr/>
          </a:p>
        </p:txBody>
      </p:sp>
      <p:cxnSp>
        <p:nvCxnSpPr>
          <p:cNvPr id="51" name="Editable line 51"/>
          <p:cNvCxnSpPr/>
          <p:nvPr/>
        </p:nvCxnSpPr>
        <p:spPr>
          <a:xfrm>
            <a:off x="4610100" y="4770735"/>
            <a:ext cx="361950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52" name="文字 52"/>
          <p:cNvSpPr/>
          <p:nvPr/>
        </p:nvSpPr>
        <p:spPr>
          <a:xfrm rot="5400000">
            <a:off x="48895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53" name="形状 53"/>
          <p:cNvSpPr/>
          <p:nvPr/>
        </p:nvSpPr>
        <p:spPr>
          <a:xfrm>
            <a:off x="49784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54" name="文字 54"/>
          <p:cNvSpPr txBox="1"/>
          <p:nvPr/>
        </p:nvSpPr>
        <p:spPr>
          <a:xfrm>
            <a:off x="50736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服务端验权</a:t>
            </a:r>
            <a:endParaRPr/>
          </a:p>
        </p:txBody>
      </p:sp>
      <p:sp>
        <p:nvSpPr>
          <p:cNvPr id="55" name="文字 55"/>
          <p:cNvSpPr txBox="1"/>
          <p:nvPr/>
        </p:nvSpPr>
        <p:spPr>
          <a:xfrm>
            <a:off x="5073650" y="4770041"/>
            <a:ext cx="147955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限额、有效期与请求绑定</a:t>
            </a:r>
            <a:endParaRPr/>
          </a:p>
        </p:txBody>
      </p:sp>
      <p:cxnSp>
        <p:nvCxnSpPr>
          <p:cNvPr id="56" name="Editable line 56"/>
          <p:cNvCxnSpPr/>
          <p:nvPr/>
        </p:nvCxnSpPr>
        <p:spPr>
          <a:xfrm>
            <a:off x="6867580" y="4770735"/>
            <a:ext cx="36819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57" name="文字 57"/>
          <p:cNvSpPr/>
          <p:nvPr/>
        </p:nvSpPr>
        <p:spPr>
          <a:xfrm rot="5400000">
            <a:off x="7150100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58" name="形状 58"/>
          <p:cNvSpPr/>
          <p:nvPr/>
        </p:nvSpPr>
        <p:spPr>
          <a:xfrm>
            <a:off x="7239000" y="4431010"/>
            <a:ext cx="188595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59" name="文字 59"/>
          <p:cNvSpPr txBox="1"/>
          <p:nvPr/>
        </p:nvSpPr>
        <p:spPr>
          <a:xfrm>
            <a:off x="73342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执行与计量</a:t>
            </a:r>
            <a:endParaRPr/>
          </a:p>
        </p:txBody>
      </p:sp>
      <p:sp>
        <p:nvSpPr>
          <p:cNvPr id="60" name="文字 60"/>
          <p:cNvSpPr txBox="1"/>
          <p:nvPr/>
        </p:nvSpPr>
        <p:spPr>
          <a:xfrm>
            <a:off x="7334250" y="4770041"/>
            <a:ext cx="1346200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同一任务只记一次消费</a:t>
            </a:r>
            <a:endParaRPr/>
          </a:p>
        </p:txBody>
      </p:sp>
      <p:cxnSp>
        <p:nvCxnSpPr>
          <p:cNvPr id="61" name="Editable line 61"/>
          <p:cNvCxnSpPr/>
          <p:nvPr/>
        </p:nvCxnSpPr>
        <p:spPr>
          <a:xfrm>
            <a:off x="9124950" y="4770735"/>
            <a:ext cx="368191" cy="0"/>
          </a:xfrm>
          <a:prstGeom prst="line">
            <a:avLst/>
          </a:prstGeom>
          <a:ln w="7745" cap="flat">
            <a:solidFill>
              <a:srgbClr val="566472"/>
            </a:solidFill>
            <a:prstDash val="solid"/>
          </a:ln>
        </p:spPr>
      </p:cxnSp>
      <p:sp>
        <p:nvSpPr>
          <p:cNvPr id="62" name="文字 62"/>
          <p:cNvSpPr/>
          <p:nvPr/>
        </p:nvSpPr>
        <p:spPr>
          <a:xfrm rot="5400000">
            <a:off x="9410701" y="4735810"/>
            <a:ext cx="88900" cy="88900"/>
          </a:xfrm>
          <a:prstGeom prst="triangle">
            <a:avLst/>
          </a:prstGeom>
          <a:solidFill>
            <a:srgbClr val="566472"/>
          </a:solidFill>
          <a:ln>
            <a:noFill/>
          </a:ln>
        </p:spPr>
      </p:sp>
      <p:sp>
        <p:nvSpPr>
          <p:cNvPr id="63" name="形状 63"/>
          <p:cNvSpPr/>
          <p:nvPr/>
        </p:nvSpPr>
        <p:spPr>
          <a:xfrm>
            <a:off x="9499600" y="4431010"/>
            <a:ext cx="2235200" cy="660400"/>
          </a:xfrm>
          <a:prstGeom prst="roundRect">
            <a:avLst>
              <a:gd name="adj" fmla="val 13462"/>
            </a:avLst>
          </a:prstGeom>
          <a:solidFill>
            <a:srgbClr val="FFFFFF">
              <a:alpha val="100000"/>
            </a:srgbClr>
          </a:solidFill>
          <a:ln w="6350">
            <a:solidFill>
              <a:srgbClr val="D9DDE2">
                <a:alpha val="100000"/>
              </a:srgbClr>
            </a:solidFill>
            <a:prstDash val="solid"/>
          </a:ln>
        </p:spPr>
      </p:sp>
      <p:sp>
        <p:nvSpPr>
          <p:cNvPr id="64" name="文字 64"/>
          <p:cNvSpPr txBox="1"/>
          <p:nvPr/>
        </p:nvSpPr>
        <p:spPr>
          <a:xfrm>
            <a:off x="9594850" y="4526260"/>
            <a:ext cx="7747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交付与对账</a:t>
            </a:r>
            <a:endParaRPr/>
          </a:p>
        </p:txBody>
      </p:sp>
      <p:sp>
        <p:nvSpPr>
          <p:cNvPr id="65" name="文字 65"/>
          <p:cNvSpPr txBox="1"/>
          <p:nvPr/>
        </p:nvSpPr>
        <p:spPr>
          <a:xfrm>
            <a:off x="9594850" y="4770041"/>
            <a:ext cx="1303239" cy="1905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失败恢复 / 补偿 / 售后</a:t>
            </a:r>
            <a:endParaRPr/>
          </a:p>
        </p:txBody>
      </p:sp>
      <p:sp>
        <p:nvSpPr>
          <p:cNvPr id="66" name="文字 66"/>
          <p:cNvSpPr txBox="1"/>
          <p:nvPr/>
        </p:nvSpPr>
        <p:spPr>
          <a:xfrm>
            <a:off x="457200" y="5237460"/>
            <a:ext cx="6146801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u="none" spc="0">
                <a:solidFill>
                  <a:srgbClr val="B5333B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验收以付费任务履约为准：重复请求不重复扣费，已付未交付可恢复，退款与权益及账单一致。</a:t>
            </a:r>
            <a:endParaRPr/>
          </a:p>
        </p:txBody>
      </p:sp>
      <p:cxnSp>
        <p:nvCxnSpPr>
          <p:cNvPr id="67" name="Editable line 67"/>
          <p:cNvCxnSpPr/>
          <p:nvPr/>
        </p:nvCxnSpPr>
        <p:spPr>
          <a:xfrm>
            <a:off x="463734" y="5658677"/>
            <a:ext cx="11264532" cy="0"/>
          </a:xfrm>
          <a:prstGeom prst="line">
            <a:avLst/>
          </a:prstGeom>
          <a:ln w="8060" cap="flat">
            <a:solidFill>
              <a:srgbClr val="D9DDE2"/>
            </a:solidFill>
            <a:prstDash val="solid"/>
          </a:ln>
        </p:spPr>
      </p:cxnSp>
      <p:sp>
        <p:nvSpPr>
          <p:cNvPr id="68" name="文字 68"/>
          <p:cNvSpPr txBox="1"/>
          <p:nvPr/>
        </p:nvSpPr>
        <p:spPr>
          <a:xfrm>
            <a:off x="457200" y="5777210"/>
            <a:ext cx="622300" cy="2222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u="none" spc="0">
                <a:solidFill>
                  <a:srgbClr val="1A1A1C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后续演进</a:t>
            </a:r>
            <a:endParaRPr/>
          </a:p>
        </p:txBody>
      </p:sp>
      <p:sp>
        <p:nvSpPr>
          <p:cNvPr id="69" name="文字 69"/>
          <p:cNvSpPr txBox="1"/>
          <p:nvPr/>
        </p:nvSpPr>
        <p:spPr>
          <a:xfrm>
            <a:off x="1695450" y="5777210"/>
            <a:ext cx="7233246" cy="21590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u="none" spc="0">
                <a:solidFill>
                  <a:srgbClr val="585860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知识型高价值 Skill 再评估云端原文保护与组织订阅。源文件买断需讲清许可，保护范围不应承诺超出交付方式。</a:t>
            </a:r>
            <a:endParaRPr/>
          </a:p>
        </p:txBody>
      </p:sp>
      <p:sp>
        <p:nvSpPr>
          <p:cNvPr id="70" name="文字 70"/>
          <p:cNvSpPr txBox="1"/>
          <p:nvPr/>
        </p:nvSpPr>
        <p:spPr>
          <a:xfrm>
            <a:off x="457200" y="6405860"/>
            <a:ext cx="6621165" cy="120650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>
            <a:noAutofit/>
          </a:bodyPr>
          <a:lstStyle/>
          <a:p>
            <a:pPr algn="l"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sz="650" b="0" i="0" u="none" spc="0">
                <a:solidFill>
                  <a:srgbClr val="6C7078">
                    <a:alpha val="100000"/>
                  </a:srgbClr>
                </a:solidFill>
                <a:latin typeface="Microsoft YaHei"/>
                <a:ea typeface="Microsoft YaHei"/>
                <a:cs typeface="Microsoft YaHei"/>
              </a:rPr>
              <a:t xml:space="preserve">对接复用均为建议，未据此认定 Skill 广场已集成。云商店商品能力依类型/合作模式而异；阿里云端保护不等于可直接嵌入的开放服务。 逐项依据与产品边界见备注及伴生研究文档。</a:t>
            </a:r>
            <a:endParaRPr/>
          </a:p>
        </p:txBody>
      </p:sp>
      <p:pic>
        <p:nvPicPr>
          <p:cNvPr id="71" name="slide-002-imag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8678" y="6691517"/>
            <a:ext cx="680240" cy="1534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!-- 空白母版、版式与主题取自 python-pptx 1.0.2 的默认有效文稿；母版只保留空白版式。 --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Skill 资产与商业化研究合集 v1</dc:title>
  <cp:lastModifiedBy>python-pptx</cp:lastModifiedBy>
  <cp:revision>1</cp:revision>
  <dcterms:modified xsi:type="dcterms:W3CDTF">2026-10-20T01:37:13Z</dcterms:modified>
  <dc:subject>魔搭 / SkillHub / SkillPay / 支付宝 / 智果园</dc:subject>
</cp:coreProperties>
</file>