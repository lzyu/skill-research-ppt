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56" r:id="rId2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4290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6586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把方法写成可复用的包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写成可复用的方法包：步骤、异常处理与验收标准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用真实任务跑通，留下可运行样例与“不该用”的边界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明确依赖、权限与运行环境，避免装完跑不起来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3024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产物：方法包 + 脚本 + 参考资料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2566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254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0246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6566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254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上架资产平台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254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打包发布包：单目录、清单在根、≤10MB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填分类、许可证、版本与来源，审核后上架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保留版本历史，让使用者能追溯与回滚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8870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406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产物：资产卡片 + 版本 + 可安装包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8412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9100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6092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412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9100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9100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从资产平台获取，检查依赖、权限与宿主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中启用，跑一个最小任务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确认运行环境与版本，避免装完不可用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4716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2252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产物：安装实例 + 就绪检查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4259" y="1440180"/>
            <a:ext cx="2682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4947" y="150876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1939" y="150876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8259" y="152247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4947" y="1741932"/>
            <a:ext cx="2316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4947" y="1975104"/>
            <a:ext cx="2316480" cy="12687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任务中按需加载、调用，记录版本与结果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验收不通过，先分清方法、输入与环境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30563" y="3332988"/>
            <a:ext cx="2389632" cy="260604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8099" y="3380994"/>
            <a:ext cx="2194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产物：任务结果 + 使用记录</a:t>
            </a:r>
          </a:p>
        </p:txBody>
      </p:sp>
      <p:sp>
        <p:nvSpPr>
          <p:cNvPr id="36" name="Oval 35"/>
          <p:cNvSpPr/>
          <p:nvPr/>
        </p:nvSpPr>
        <p:spPr>
          <a:xfrm>
            <a:off x="1671828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083308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57674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969154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443520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855000" y="111785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29367" y="106984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853440" y="3840480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Left Arrow 43"/>
          <p:cNvSpPr/>
          <p:nvPr/>
        </p:nvSpPr>
        <p:spPr>
          <a:xfrm>
            <a:off x="609600" y="3792474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3730752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720" y="411480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4256" y="423824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0560" y="418338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60" y="432054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60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0560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609088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28544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45536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28544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4767072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86528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6528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925056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44512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61504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44512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9083040" y="470458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02496" y="455371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19488" y="45537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02496" y="470458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0560" y="519836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87680" y="5657850"/>
            <a:ext cx="11216640" cy="0"/>
          </a:xfrm>
          <a:prstGeom prst="line">
            <a:avLst/>
          </a:prstGeom>
          <a:ln w="9525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8768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标准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768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/ 元数据 / 版本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资产平台审核 / 上架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46720" y="5760720"/>
            <a:ext cx="3413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运行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0" y="5911596"/>
            <a:ext cx="34137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 Agent 安装 / 调用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7680" y="617220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2896" y="617220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508000" y="308610"/>
            <a:ext cx="111963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中心：8.35 万技能撑起四层框架，验证闭环仍缺一环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508000" y="1207691"/>
            <a:ext cx="11176001" cy="531416"/>
          </a:xfrm>
          <a:prstGeom prst="roundRect">
            <a:avLst>
              <a:gd name="adj" fmla="val 1433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214041"/>
            <a:ext cx="2790825" cy="518716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64135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41350" y="1542256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技能总数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1214041"/>
            <a:ext cx="2790825" cy="518716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343217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30.9%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432175" y="1542256"/>
            <a:ext cx="5842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聚合镜像占比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4041"/>
            <a:ext cx="2790825" cy="518716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622300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0.4%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6223000" y="1542256"/>
            <a:ext cx="1007864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平台官方占比 · 阿里系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901382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65.9%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9013825" y="1542256"/>
            <a:ext cx="91271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Top1% 技能下载占比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08000" y="1872456"/>
            <a:ext cx="2152352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资产定位与结构 / 4 LAYERS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508000" y="2062956"/>
            <a:ext cx="3660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不是模型，也不是 Agent 运行时；它是可加载的方法层。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08000" y="2253258"/>
            <a:ext cx="157787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 层为分析框架，非 ModelScope 官方定义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508000" y="2424013"/>
            <a:ext cx="3743524" cy="720626"/>
          </a:xfrm>
          <a:prstGeom prst="roundRect">
            <a:avLst>
              <a:gd name="adj" fmla="val 105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670520" y="273982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20750" y="25958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应用交付层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733550" y="2646660"/>
            <a:ext cx="59382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创空间 17.3k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20750" y="2811760"/>
            <a:ext cx="27273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调用 Skill 完成任务；实验场可直接对话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201789"/>
            <a:ext cx="3743524" cy="720725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689570" y="351770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9800" y="337373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方法资产层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1752600" y="3424535"/>
            <a:ext cx="67056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Skills 83.5k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2499360" y="3430885"/>
            <a:ext cx="4889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核心资产层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39800" y="3589635"/>
            <a:ext cx="24426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 + scripts + references + assets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508000" y="3979664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670520" y="429557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920750" y="415161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工具连接层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733550" y="4202410"/>
            <a:ext cx="50055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 12.7k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20750" y="4367510"/>
            <a:ext cx="24319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把外部工具与模型服务接进 Agent 运行时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508000" y="4757539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70520" y="507345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920750" y="492948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基础资源层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733550" y="4980285"/>
            <a:ext cx="119201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 273k · 数据集 44.7k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920750" y="5145385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模型与数据，提供能力原料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391224" y="1872456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391224" y="2062956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来源、发布、消费已通；试运行有入口、无沙箱。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391224" y="2310408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438154" y="2351683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683324" y="2310408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5026224" y="2367558"/>
            <a:ext cx="3861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83324" y="2517378"/>
            <a:ext cx="23135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GitHub 占 74% · 6 月批量入库占 47%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683324" y="2707680"/>
            <a:ext cx="26742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source_url 关联原作；官方仓库提供 ms-hub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4391224" y="3105547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4438154" y="3146822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683324" y="3105547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5026224" y="3162697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PUBLISH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683324" y="3312517"/>
            <a:ext cx="12467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zip → 创建 Skill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683324" y="3502819"/>
            <a:ext cx="21057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根目录仅 1 个 SKILL.md、≤5MB；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683324" y="3686770"/>
            <a:ext cx="123715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owner/name 不可改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4391224" y="3900686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4438154" y="3941961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683324" y="3900686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026224" y="3957836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CONSUME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683324" y="4107656"/>
            <a:ext cx="183147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/ curl / CLI / SDK 四种方式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683324" y="4297958"/>
            <a:ext cx="2361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装到 ~/.agents/skills；Cursor、Claude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683324" y="4481910"/>
            <a:ext cx="12855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Code、Codex 可发现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391224" y="4695825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4438154" y="473710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683324" y="4695825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5172274" y="4752975"/>
            <a:ext cx="19943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683324" y="4902795"/>
            <a:ext cx="25653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详情页「前往实验场试用」→ Agent 实验场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4683324" y="5093097"/>
            <a:ext cx="248245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需登录；MCP 有实验场，Skill 侧没有沙箱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606110" y="1872456"/>
            <a:ext cx="2361704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生态画像 / 规模 · 供给 · 消费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606110" y="2062956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开发者工具供给最厚，官方与垂直供给最薄。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606110" y="230405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一级分类供给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656491" y="2342158"/>
            <a:ext cx="104021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 10 类 · Top3 占 66%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606110" y="25390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开发工具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330010" y="25644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330010" y="2564408"/>
            <a:ext cx="2896790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290300" y="25326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27,928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606110" y="27549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代码质检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330010" y="27803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330010" y="2780308"/>
            <a:ext cx="1748135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290300" y="27485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16,854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606110" y="29708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媒体处理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330010" y="29962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8330010" y="2996208"/>
            <a:ext cx="109606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290300" y="29644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10,569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7606110" y="31867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前端开发</a:t>
            </a:r>
            <a:endParaRPr/>
          </a:p>
        </p:txBody>
      </p:sp>
      <p:sp>
        <p:nvSpPr>
          <p:cNvPr id="92" name="形状 92"/>
          <p:cNvSpPr/>
          <p:nvPr/>
        </p:nvSpPr>
        <p:spPr>
          <a:xfrm>
            <a:off x="8330010" y="32121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3" name="形状 93"/>
          <p:cNvSpPr/>
          <p:nvPr/>
        </p:nvSpPr>
        <p:spPr>
          <a:xfrm>
            <a:off x="8330010" y="3212108"/>
            <a:ext cx="69343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文字 94"/>
          <p:cNvSpPr txBox="1"/>
          <p:nvPr/>
        </p:nvSpPr>
        <p:spPr>
          <a:xfrm>
            <a:off x="11341100" y="31803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6,686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606110" y="34026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云效工具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8330010" y="34280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7" name="形状 97"/>
          <p:cNvSpPr/>
          <p:nvPr/>
        </p:nvSpPr>
        <p:spPr>
          <a:xfrm>
            <a:off x="8330010" y="3428008"/>
            <a:ext cx="57497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8" name="文字 98"/>
          <p:cNvSpPr txBox="1"/>
          <p:nvPr/>
        </p:nvSpPr>
        <p:spPr>
          <a:xfrm>
            <a:off x="11341100" y="33962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5,544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7606110" y="36185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市场推广</a:t>
            </a:r>
            <a:endParaRPr/>
          </a:p>
        </p:txBody>
      </p:sp>
      <p:sp>
        <p:nvSpPr>
          <p:cNvPr id="100" name="形状 100"/>
          <p:cNvSpPr/>
          <p:nvPr/>
        </p:nvSpPr>
        <p:spPr>
          <a:xfrm>
            <a:off x="8330010" y="36439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1" name="形状 101"/>
          <p:cNvSpPr/>
          <p:nvPr/>
        </p:nvSpPr>
        <p:spPr>
          <a:xfrm>
            <a:off x="8330010" y="3643908"/>
            <a:ext cx="56108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2" name="文字 102"/>
          <p:cNvSpPr txBox="1"/>
          <p:nvPr/>
        </p:nvSpPr>
        <p:spPr>
          <a:xfrm>
            <a:off x="11341100" y="36121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5,409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606110" y="3834408"/>
            <a:ext cx="49559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 5 类</a:t>
            </a:r>
            <a:endParaRPr/>
          </a:p>
        </p:txBody>
      </p:sp>
      <p:sp>
        <p:nvSpPr>
          <p:cNvPr id="104" name="形状 104"/>
          <p:cNvSpPr/>
          <p:nvPr/>
        </p:nvSpPr>
        <p:spPr>
          <a:xfrm>
            <a:off x="8330010" y="38598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5" name="形状 105"/>
          <p:cNvSpPr/>
          <p:nvPr/>
        </p:nvSpPr>
        <p:spPr>
          <a:xfrm>
            <a:off x="8330010" y="3859808"/>
            <a:ext cx="1090910" cy="82550"/>
          </a:xfrm>
          <a:prstGeom prst="rect">
            <a:avLst/>
          </a:prstGeom>
          <a:solidFill>
            <a:srgbClr val="B9BEC5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6" name="文字 106"/>
          <p:cNvSpPr txBox="1"/>
          <p:nvPr/>
        </p:nvSpPr>
        <p:spPr>
          <a:xfrm>
            <a:off x="11290300" y="38280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10,519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7606110" y="408840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三类供给角色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1303000" y="4126508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账号口径</a:t>
            </a:r>
            <a:endParaRPr/>
          </a:p>
        </p:txBody>
      </p:sp>
      <p:graphicFrame>
        <p:nvGraphicFramePr>
          <p:cNvPr id="109" name="表格 109"/>
          <p:cNvGraphicFramePr/>
          <p:nvPr/>
        </p:nvGraphicFramePr>
        <p:xfrm>
          <a:off x="7606110" y="4297958"/>
          <a:ext cx="4077891" cy="892175"/>
        </p:xfrm>
        <a:graphic>
          <a:graphicData uri="http://schemas.openxmlformats.org/drawingml/2006/table">
            <a:tbl>
              <a:tblPr firstRow="0" bandRow="0"/>
              <a:tblGrid>
                <a:gridCol w="650379"/>
                <a:gridCol w="894259"/>
                <a:gridCol w="1382117"/>
                <a:gridCol w="1138436"/>
              </a:tblGrid>
              <a:tr h="238125"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角色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规模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代表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中位下载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平台官方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337 · 0.4%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ModelScope / 阿里云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374（2.5×）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品牌垂直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~550 · &lt;1%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Anthropic / 小包公 / 网盘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516（3.5×）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590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社区泛用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8.26 万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个人 / 开源 / 聚合镜像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148（镜像 145）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2" name="文字 112"/>
          <p:cNvSpPr txBox="1"/>
          <p:nvPr/>
        </p:nvSpPr>
        <p:spPr>
          <a:xfrm>
            <a:off x="508000" y="5598914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结论 / 3 个判断</a:t>
            </a:r>
            <a:endParaRPr/>
          </a:p>
        </p:txBody>
      </p:sp>
      <p:sp>
        <p:nvSpPr>
          <p:cNvPr id="113" name="形状 113"/>
          <p:cNvSpPr/>
          <p:nvPr/>
        </p:nvSpPr>
        <p:spPr>
          <a:xfrm>
            <a:off x="5080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文字 114"/>
          <p:cNvSpPr txBox="1"/>
          <p:nvPr/>
        </p:nvSpPr>
        <p:spPr>
          <a:xfrm>
            <a:off x="6159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814090" y="588466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框架已成立，供给靠聚合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814090" y="6077347"/>
            <a:ext cx="31337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官方仅 0.4%，聚合镜像占 30.9%；Top3 分类 66%，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814090" y="6261299"/>
            <a:ext cx="12574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24 个二级类目为空。</a:t>
            </a:r>
            <a:endParaRPr/>
          </a:p>
        </p:txBody>
      </p:sp>
      <p:sp>
        <p:nvSpPr>
          <p:cNvPr id="118" name="形状 118"/>
          <p:cNvSpPr/>
          <p:nvPr/>
        </p:nvSpPr>
        <p:spPr>
          <a:xfrm>
            <a:off x="42672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9" name="文字 119"/>
          <p:cNvSpPr txBox="1"/>
          <p:nvPr/>
        </p:nvSpPr>
        <p:spPr>
          <a:xfrm>
            <a:off x="43751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3290" y="588466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消费头部化，垂直更易破圈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3290" y="6077347"/>
            <a:ext cx="3228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品牌/垂直中位 516 下载（长尾 3.5×）；聚合镜像中位</a:t>
            </a:r>
            <a:endParaRPr/>
          </a:p>
        </p:txBody>
      </p:sp>
      <p:sp>
        <p:nvSpPr>
          <p:cNvPr id="122" name="文字 122"/>
          <p:cNvSpPr txBox="1"/>
          <p:nvPr/>
        </p:nvSpPr>
        <p:spPr>
          <a:xfrm>
            <a:off x="4573290" y="6261299"/>
            <a:ext cx="531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仅 145。</a:t>
            </a:r>
            <a:endParaRPr/>
          </a:p>
        </p:txBody>
      </p:sp>
      <p:sp>
        <p:nvSpPr>
          <p:cNvPr id="123" name="形状 123"/>
          <p:cNvSpPr/>
          <p:nvPr/>
        </p:nvSpPr>
        <p:spPr>
          <a:xfrm>
            <a:off x="8026401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4" name="文字 124"/>
          <p:cNvSpPr txBox="1"/>
          <p:nvPr/>
        </p:nvSpPr>
        <p:spPr>
          <a:xfrm>
            <a:off x="8134350" y="5871964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8332490" y="58846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验证与治理是下一环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8332490" y="6077347"/>
            <a:ext cx="316607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发布/安装已通；但无技能级沙箱、无版本号，34% 未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8332490" y="6261299"/>
            <a:ext cx="77420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 License。</a:t>
            </a:r>
            <a:endParaRPr/>
          </a:p>
        </p:txBody>
      </p:sp>
      <p:pic>
        <p:nvPicPr>
          <p:cNvPr id="1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pic>
        <p:nvPicPr>
          <p:cNvPr id="9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4191"/>
            <a:ext cx="11277600" cy="565150"/>
          </a:xfrm>
          <a:prstGeom prst="rect">
            <a:avLst/>
          </a:prstGeom>
        </p:spPr>
      </p:pic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758428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82625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1595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401241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6891"/>
            <a:ext cx="11277600" cy="552450"/>
          </a:xfrm>
          <a:prstGeom prst="rect">
            <a:avLst/>
          </a:prstGeom>
        </p:spPr>
      </p:pic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阿里经营 Skill 商品权益，腾讯连接付费服务与生态分发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751633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阿里：SkillPay + MachinePay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8936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把知识交付与支付协议分别做深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6273800" y="1071860"/>
            <a:ext cx="225177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腾讯：SkillHub SkillPay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273800" y="1389360"/>
            <a:ext cx="23773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让免费 Skill 连接可收费的远程服务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6099175" y="1062590"/>
            <a:ext cx="0" cy="3393650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14" name="文字 14"/>
          <p:cNvSpPr txBox="1"/>
          <p:nvPr/>
        </p:nvSpPr>
        <p:spPr>
          <a:xfrm>
            <a:off x="4572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卖什么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524000" y="1770360"/>
            <a:ext cx="4261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买断交付完整源文件；周期订阅把原文留云端，按任务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524000" y="1991320"/>
            <a:ext cx="186313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给指导，本地 Agent 执行。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2738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卖什么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7340600" y="1770360"/>
            <a:ext cx="404197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包负责发现和调用；远程业务后端提供付费能力。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7340600" y="1991320"/>
            <a:ext cx="271194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图像生成展示价 0.36 元/次。</a:t>
            </a:r>
            <a:endParaRPr/>
          </a:p>
        </p:txBody>
      </p:sp>
      <p:cxnSp>
        <p:nvCxnSpPr>
          <p:cNvPr id="20" name="Editable line 20"/>
          <p:cNvCxnSpPr/>
          <p:nvPr/>
        </p:nvCxnSpPr>
        <p:spPr>
          <a:xfrm>
            <a:off x="463727" y="2476268"/>
            <a:ext cx="5384447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cxnSp>
        <p:nvCxnSpPr>
          <p:cNvPr id="21" name="Editable line 21"/>
          <p:cNvCxnSpPr/>
          <p:nvPr/>
        </p:nvCxnSpPr>
        <p:spPr>
          <a:xfrm>
            <a:off x="6277067" y="2476268"/>
            <a:ext cx="5387698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sp>
        <p:nvSpPr>
          <p:cNvPr id="22" name="文字 22"/>
          <p:cNvSpPr txBox="1"/>
          <p:nvPr/>
        </p:nvSpPr>
        <p:spPr>
          <a:xfrm>
            <a:off x="4572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平台做得好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1524000" y="2621260"/>
            <a:ext cx="426313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商品模式、试用、价格、版本和权益统一经营。402 付款后恢复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524000" y="284222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原任务，按权益完成对应交付。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62738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平台做得好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340600" y="2621260"/>
            <a:ext cx="412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企业认证、商户绑定、开发者身份、定价审核与分发相连接；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340600" y="2842220"/>
            <a:ext cx="2908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平台官方样例与第三方服务共同示范收费。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463727" y="33271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29" name="Editable line 29"/>
          <p:cNvCxnSpPr/>
          <p:nvPr/>
        </p:nvCxnSpPr>
        <p:spPr>
          <a:xfrm>
            <a:off x="6277067" y="33271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0" name="文字 30"/>
          <p:cNvSpPr txBox="1"/>
          <p:nvPr/>
        </p:nvSpPr>
        <p:spPr>
          <a:xfrm>
            <a:off x="4572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交易与履约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24000" y="3472160"/>
            <a:ext cx="425261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以签名报价、付款凭证、在线验付和履约回执服务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1524000" y="3693120"/>
            <a:ext cx="27188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收款；商户仍须做业务核对与幂等。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62738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交易与履约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340600" y="3472160"/>
            <a:ext cx="418058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微信订单登记为 AI 支付码，用户逐笔确认。商户验付后交付；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7340600" y="3693120"/>
            <a:ext cx="274508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用同一任务标识恢复取结果。</a:t>
            </a:r>
            <a:endParaRPr/>
          </a:p>
        </p:txBody>
      </p:sp>
      <p:cxnSp>
        <p:nvCxnSpPr>
          <p:cNvPr id="36" name="Editable line 36"/>
          <p:cNvCxnSpPr/>
          <p:nvPr/>
        </p:nvCxnSpPr>
        <p:spPr>
          <a:xfrm>
            <a:off x="463727" y="41780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37" name="Editable line 37"/>
          <p:cNvCxnSpPr/>
          <p:nvPr/>
        </p:nvCxnSpPr>
        <p:spPr>
          <a:xfrm>
            <a:off x="6277067" y="41780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8" name="文字 38"/>
          <p:cNvSpPr txBox="1"/>
          <p:nvPr/>
        </p:nvSpPr>
        <p:spPr>
          <a:xfrm>
            <a:off x="4572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值得借鉴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1524000" y="4386560"/>
            <a:ext cx="412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先定义购买权益与交付形态，再把试用、续购和持续更新连成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524000" y="4607521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商品经营。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2738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值得借鉴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7340600" y="4386560"/>
            <a:ext cx="3975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保留低门槛安装入口，把收费控制放在持续提供价值的服务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7340600" y="4607521"/>
            <a:ext cx="31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端。</a:t>
            </a:r>
            <a:endParaRPr/>
          </a:p>
        </p:txBody>
      </p:sp>
      <p:cxnSp>
        <p:nvCxnSpPr>
          <p:cNvPr id="44" name="Editable line 44"/>
          <p:cNvCxnSpPr/>
          <p:nvPr/>
        </p:nvCxnSpPr>
        <p:spPr>
          <a:xfrm>
            <a:off x="463734" y="5017062"/>
            <a:ext cx="11264532" cy="0"/>
          </a:xfrm>
          <a:prstGeom prst="line">
            <a:avLst/>
          </a:prstGeom>
          <a:ln w="8168" cap="flat">
            <a:solidFill>
              <a:srgbClr val="B5333B"/>
            </a:solidFill>
            <a:prstDash val="solid"/>
          </a:ln>
        </p:spPr>
      </p:cxnSp>
      <p:sp>
        <p:nvSpPr>
          <p:cNvPr id="45" name="文字 45"/>
          <p:cNvSpPr txBox="1"/>
          <p:nvPr/>
        </p:nvSpPr>
        <p:spPr>
          <a:xfrm>
            <a:off x="457200" y="5146179"/>
            <a:ext cx="19685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智果园已有可沿用的起点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57200" y="5450979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资产共享与访问授权已具备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57200" y="5717679"/>
            <a:ext cx="522228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独立仓库、SKILL.md 与元数据、许可证、发布审核；指定用户可见、申请审批与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57200" y="5929412"/>
            <a:ext cx="14732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撤销、公开安装入口。</a:t>
            </a:r>
            <a:endParaRPr/>
          </a:p>
        </p:txBody>
      </p:sp>
      <p:cxnSp>
        <p:nvCxnSpPr>
          <p:cNvPr id="49" name="Editable line 49"/>
          <p:cNvCxnSpPr/>
          <p:nvPr/>
        </p:nvCxnSpPr>
        <p:spPr>
          <a:xfrm>
            <a:off x="6099175" y="5431929"/>
            <a:ext cx="0" cy="831702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50" name="文字 50"/>
          <p:cNvSpPr txBox="1"/>
          <p:nvPr/>
        </p:nvSpPr>
        <p:spPr>
          <a:xfrm>
            <a:off x="6273800" y="5450979"/>
            <a:ext cx="20532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交易闭环仍需核实与打通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273800" y="5717679"/>
            <a:ext cx="533459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文档尚未充分披露价格、订单、付费权益、计量和结算；“允许使用”仍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273800" y="5929412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需连接可核验的购买权益。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智果园复用资产与云商店底座，重点补齐 Skill 商业编排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972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直接沿用：新版资产广场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465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资产供给与分发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719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仓库、标准包、元数据、许可证、审核、安装入口。继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931293"/>
            <a:ext cx="150465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续兼容免费开源 Skill。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22910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访问范围与审批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57200" y="2545060"/>
            <a:ext cx="34290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沿用可见/可用分离及申请撤销；保留企业共享和指定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457200" y="2756793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用户授权。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311656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复用边界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3370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既有审批控制访问；付费权益还须绑定买家、商品、版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35822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本及可用额度。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292600" y="1097260"/>
            <a:ext cx="20701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对接复用：华为云商业底座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292600" y="146556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云商店订购与结算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292600" y="1719560"/>
            <a:ext cx="337185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按商品类型和合作模式复用订购、退订及结算；补齐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292600" y="1931293"/>
            <a:ext cx="15618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与商品/订单映射。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292600" y="2291060"/>
            <a:ext cx="16139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Agents 网关鉴权与计量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292600" y="25450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已有路由、鉴权、用量解析；适配后端与计费口径。当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4292600" y="27567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前默认北京四。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292600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宿主与外部支付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292600" y="3370560"/>
            <a:ext cx="34990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打通 CodeArts / OfficeAce 等消费端；外部支付另核签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292600" y="3582293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约、宿主工具及身份接入。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28001" y="1097260"/>
            <a:ext cx="213687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智果园补齐：Skill 商业编排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128001" y="14655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商品、试用与服务端权益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8128001" y="1719560"/>
            <a:ext cx="3365004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区分买断文件/订阅/远程按量；定义 SKU、价格和许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8128001" y="1931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可，订单驱动授权。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8128001" y="2291060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任务履约与异常恢复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8128001" y="2545060"/>
            <a:ext cx="3371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固定请求和订单，验付、验权后执行；重试不重复扣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128001" y="2756793"/>
            <a:ext cx="16192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次，失败可恢复或补偿。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128001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质量与作者经营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128001" y="3370560"/>
            <a:ext cx="34863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上架需补任务效果/安全/收费测试；提供订单收益、退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8128001" y="3582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款对账及申诉入口。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4163219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7997031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1" name="Editable line 41"/>
          <p:cNvCxnSpPr/>
          <p:nvPr/>
        </p:nvCxnSpPr>
        <p:spPr>
          <a:xfrm>
            <a:off x="463734" y="3962168"/>
            <a:ext cx="11264532" cy="0"/>
          </a:xfrm>
          <a:prstGeom prst="line">
            <a:avLst/>
          </a:prstGeom>
          <a:ln w="8226" cap="flat">
            <a:solidFill>
              <a:srgbClr val="B5333B"/>
            </a:solidFill>
            <a:prstDash val="solid"/>
          </a:ln>
        </p:spPr>
      </p:cxnSp>
      <p:sp>
        <p:nvSpPr>
          <p:cNvPr id="42" name="文字 42"/>
          <p:cNvSpPr txBox="1"/>
          <p:nvPr/>
        </p:nvSpPr>
        <p:spPr>
          <a:xfrm>
            <a:off x="457200" y="4094460"/>
            <a:ext cx="5819577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首期建议：免费 Skill 入口 + 付费远程能力，先完成一条可对账的交易闭环</a:t>
            </a:r>
            <a:endParaRPr/>
          </a:p>
        </p:txBody>
      </p:sp>
      <p:sp>
        <p:nvSpPr>
          <p:cNvPr id="43" name="形状 43"/>
          <p:cNvSpPr/>
          <p:nvPr/>
        </p:nvSpPr>
        <p:spPr>
          <a:xfrm>
            <a:off x="4572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文字 44"/>
          <p:cNvSpPr txBox="1"/>
          <p:nvPr/>
        </p:nvSpPr>
        <p:spPr>
          <a:xfrm>
            <a:off x="5524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52450" y="4770041"/>
            <a:ext cx="120372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asset_id / 版本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2346380" y="4770735"/>
            <a:ext cx="36496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26289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27178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28130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试用或购买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28130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关联商品、订单与买家</a:t>
            </a:r>
            <a:endParaRPr/>
          </a:p>
        </p:txBody>
      </p:sp>
      <p:cxnSp>
        <p:nvCxnSpPr>
          <p:cNvPr id="51" name="Editable line 51"/>
          <p:cNvCxnSpPr/>
          <p:nvPr/>
        </p:nvCxnSpPr>
        <p:spPr>
          <a:xfrm>
            <a:off x="4610100" y="4770735"/>
            <a:ext cx="361950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2" name="文字 52"/>
          <p:cNvSpPr/>
          <p:nvPr/>
        </p:nvSpPr>
        <p:spPr>
          <a:xfrm rot="5400000">
            <a:off x="48895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49784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50736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服务端验权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073650" y="47700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限额、有效期与请求绑定</a:t>
            </a:r>
            <a:endParaRPr/>
          </a:p>
        </p:txBody>
      </p:sp>
      <p:cxnSp>
        <p:nvCxnSpPr>
          <p:cNvPr id="56" name="Editable line 56"/>
          <p:cNvCxnSpPr/>
          <p:nvPr/>
        </p:nvCxnSpPr>
        <p:spPr>
          <a:xfrm>
            <a:off x="686758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7" name="文字 57"/>
          <p:cNvSpPr/>
          <p:nvPr/>
        </p:nvSpPr>
        <p:spPr>
          <a:xfrm rot="5400000">
            <a:off x="71501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形状 58"/>
          <p:cNvSpPr/>
          <p:nvPr/>
        </p:nvSpPr>
        <p:spPr>
          <a:xfrm>
            <a:off x="72390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文字 59"/>
          <p:cNvSpPr txBox="1"/>
          <p:nvPr/>
        </p:nvSpPr>
        <p:spPr>
          <a:xfrm>
            <a:off x="73342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执行与计量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3342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同一任务只记一次消费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912495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62" name="文字 62"/>
          <p:cNvSpPr/>
          <p:nvPr/>
        </p:nvSpPr>
        <p:spPr>
          <a:xfrm rot="5400000">
            <a:off x="9410701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3" name="形状 63"/>
          <p:cNvSpPr/>
          <p:nvPr/>
        </p:nvSpPr>
        <p:spPr>
          <a:xfrm>
            <a:off x="9499600" y="4431010"/>
            <a:ext cx="223520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95948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交付与对账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9594850" y="4770041"/>
            <a:ext cx="13032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失败恢复 / 补偿 / 售后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57200" y="5237460"/>
            <a:ext cx="614680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验收以付费任务履约为准：重复请求不重复扣费，已付未交付可恢复，退款与权益及账单一致。</a:t>
            </a:r>
            <a:endParaRPr/>
          </a:p>
        </p:txBody>
      </p:sp>
      <p:cxnSp>
        <p:nvCxnSpPr>
          <p:cNvPr id="67" name="Editable line 67"/>
          <p:cNvCxnSpPr/>
          <p:nvPr/>
        </p:nvCxnSpPr>
        <p:spPr>
          <a:xfrm>
            <a:off x="463734" y="5658677"/>
            <a:ext cx="11264532" cy="0"/>
          </a:xfrm>
          <a:prstGeom prst="line">
            <a:avLst/>
          </a:prstGeom>
          <a:ln w="8060" cap="flat">
            <a:solidFill>
              <a:srgbClr val="D9DDE2"/>
            </a:solidFill>
            <a:prstDash val="solid"/>
          </a:ln>
        </p:spPr>
      </p:cxnSp>
      <p:sp>
        <p:nvSpPr>
          <p:cNvPr id="68" name="文字 68"/>
          <p:cNvSpPr txBox="1"/>
          <p:nvPr/>
        </p:nvSpPr>
        <p:spPr>
          <a:xfrm>
            <a:off x="457200" y="577721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后续演进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695450" y="5777210"/>
            <a:ext cx="723324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知识型高价值 Skill 再评估云端原文保护与组织订阅。源文件买断需讲清许可，保护范围不应承诺超出交付方式。</a:t>
            </a:r>
            <a:endParaRPr/>
          </a:p>
        </p:txBody>
      </p:sp>
      <p:pic>
        <p:nvPicPr>
          <p:cNvPr id="71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