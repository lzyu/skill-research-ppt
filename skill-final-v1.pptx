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1.xml"/><Relationship Id="rId2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1748790"/>
            <a:ext cx="73152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057400"/>
            <a:ext cx="536448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供给：97.5% 标源 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228850"/>
            <a:ext cx="536448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83,552；已分类 81,973（98.1%）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32486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72640" y="234543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072640" y="2345436"/>
            <a:ext cx="2020824" cy="51435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67200" y="232486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79,945 / 97.5%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46202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其他 Skill 市场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72640" y="248259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072640" y="2482596"/>
            <a:ext cx="36576" cy="51435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7200" y="246202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248 / 0.3%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259918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外部网站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2640" y="261975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072640" y="2619756"/>
            <a:ext cx="36576" cy="51435"/>
          </a:xfrm>
          <a:prstGeom prst="roundRect">
            <a:avLst>
              <a:gd name="adj" fmla="val 40000"/>
            </a:avLst>
          </a:prstGeom>
          <a:solidFill>
            <a:srgbClr val="6B7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67200" y="259918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329 / 0.4%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2736342"/>
            <a:ext cx="152400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个人上传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2640" y="2756916"/>
            <a:ext cx="2072640" cy="51435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72640" y="2756916"/>
            <a:ext cx="37307" cy="51435"/>
          </a:xfrm>
          <a:prstGeom prst="roundRect">
            <a:avLst>
              <a:gd name="adj" fmla="val 40000"/>
            </a:avLst>
          </a:prstGeom>
          <a:solidFill>
            <a:srgbClr val="8B8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7200" y="2736342"/>
            <a:ext cx="14630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1,451 / 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2880360"/>
            <a:ext cx="53644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个人上传=无/无效标源近似；其余三类合计 2.5%。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057400"/>
            <a:ext cx="54254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月度上架：3 月占 89.2%，平台批量导入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228850"/>
            <a:ext cx="542544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8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 GmtCreate 归月 · 2026-03 至 2026-10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297430"/>
            <a:ext cx="158496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89.2%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9840" y="2606040"/>
            <a:ext cx="1584960" cy="10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2026-03 单月占比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39840" y="2688336"/>
            <a:ext cx="15849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9840" y="2839212"/>
            <a:ext cx="15849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 月上架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93024" y="2571750"/>
            <a:ext cx="268224" cy="363474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864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1104" y="2475738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73,098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83168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5878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7331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4892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63456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39072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53600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29216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43744" y="2917924"/>
            <a:ext cx="268224" cy="17299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19360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21824" y="2821912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3,479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533888" y="2919222"/>
            <a:ext cx="268224" cy="16001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9504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11968" y="2823210"/>
            <a:ext cx="58521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3,218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924032" y="2921508"/>
            <a:ext cx="268224" cy="13716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99648" y="2955798"/>
            <a:ext cx="39014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39840" y="3038094"/>
            <a:ext cx="5425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3 月 73,098 条；前两账号占 45.7%；前 3 月 97.3%。批量导入，不是自然上架。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3168396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66.2%，Top5 占 80.9%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" y="3353562"/>
            <a:ext cx="3666968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093688" y="3353562"/>
            <a:ext cx="2213024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06712" y="3353562"/>
            <a:ext cx="1388147" cy="10972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694860" y="3353562"/>
            <a:ext cx="878328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573188" y="3353562"/>
            <a:ext cx="728481" cy="109728"/>
          </a:xfrm>
          <a:prstGeom prst="roundRect">
            <a:avLst>
              <a:gd name="adj" fmla="val 40000"/>
            </a:avLst>
          </a:prstGeom>
          <a:solidFill>
            <a:srgbClr val="D98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301670" y="3353562"/>
            <a:ext cx="2097849" cy="10972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672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 27,922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8224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 16,851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 10,570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9328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 6,688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48800" y="3477006"/>
            <a:ext cx="207264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 5,547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26720" y="3579876"/>
            <a:ext cx="10972800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个二级里 24 个空；Top3=55,343；Top5=67,578。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6720" y="3669030"/>
            <a:ext cx="1133856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谁被下载：四类 Top6（共 24 个）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" y="3826764"/>
            <a:ext cx="11338560" cy="891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原始英文名（中文名） · 所有者 · 下载量；按 DownloadCount 降序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26720" y="3909059"/>
            <a:ext cx="5547360" cy="10149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73024" y="3957065"/>
            <a:ext cx="365760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GitHub Top6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73024" y="4059935"/>
            <a:ext cx="5254752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3024" y="4087367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3712" y="4087367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dev-expert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76800" y="4087367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1,156,332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3712" y="4155947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ebandao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3024" y="422452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43712" y="422452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skill-creator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76800" y="422452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20,876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3712" y="429310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73024" y="436168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3712" y="436168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mattress-sleep-support-advisor（床垫选购顾问）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76800" y="436168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19,487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3712" y="443026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3024" y="449884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3712" y="449884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frontend-design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876800" y="449884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16,285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43712" y="456742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3024" y="463600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43712" y="463600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oneskills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76800" y="463600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12,861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3712" y="470458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OneScience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024" y="47731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3712" y="47731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docx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876800" y="47731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10,754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43712" y="48417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@anthropics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217920" y="3909059"/>
            <a:ext cx="5547360" cy="10149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64224" y="3957065"/>
            <a:ext cx="365760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D98A8F"/>
                </a:solidFill>
                <a:latin typeface="微软雅黑"/>
                <a:ea typeface="微软雅黑"/>
                <a:cs typeface="微软雅黑"/>
              </a:rPr>
              <a:t>其他市场 Top6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364224" y="4059935"/>
            <a:ext cx="5254752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364224" y="4087367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34912" y="4087367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mysteel-pricesearch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668000" y="4087367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31,477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34912" y="4155947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@wyb92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64224" y="422452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34912" y="422452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weather（天气查询）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668000" y="422452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5,818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34912" y="429310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64224" y="436168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34912" y="436168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summarize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668000" y="436168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3,844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34912" y="443026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64224" y="449884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34912" y="449884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skill-vetter（Skill Vetter 安全扫描）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668000" y="449884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3,781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34912" y="456742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@spclaudehome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364224" y="463600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534912" y="463600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668000" y="463600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2,666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534912" y="470458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@steipete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364224" y="47731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534912" y="47731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amap-jsapi-skill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68000" y="47731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2,344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34912" y="48417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@lbs-amap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26720" y="4937760"/>
            <a:ext cx="5547360" cy="10149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024" y="4985766"/>
            <a:ext cx="365760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6B7785"/>
                </a:solidFill>
                <a:latin typeface="微软雅黑"/>
                <a:ea typeface="微软雅黑"/>
                <a:cs typeface="微软雅黑"/>
              </a:rPr>
              <a:t>外部网站 Top6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73024" y="5088636"/>
            <a:ext cx="5254752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73024" y="51160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3712" y="51160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xiaobaogongai-law（小包公智能法律专家）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876800" y="51160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27,742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3712" y="51846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73024" y="525322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3712" y="525322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xiaobaogongai-contract-drafting（小包公智能合同起草）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876800" y="525322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26,770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3712" y="532180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73024" y="539038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43712" y="539038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xiaobaogongai-contract-review（小包公智能合同审查）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876800" y="539038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10,637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3712" y="545896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73024" y="552754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43712" y="552754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xiaobaogongai-contract-error（小包公合同自动纠错工具）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876800" y="552754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10,566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43712" y="559612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73024" y="566470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43712" y="566470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xiaobaogongai-contract-typesetting（小包公合同自动排版工具）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876800" y="566470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10,555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43712" y="573328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73024" y="58018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3712" y="58018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xiaobaogongai-contract-risk（小包公合同风险评估工具）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876800" y="58018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10,481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43712" y="58704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xbgai123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217920" y="4937760"/>
            <a:ext cx="5547360" cy="10149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364224" y="4985766"/>
            <a:ext cx="3657600" cy="960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1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个人上传 Top6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364224" y="5088636"/>
            <a:ext cx="5254752" cy="5486"/>
          </a:xfrm>
          <a:prstGeom prst="rect">
            <a:avLst/>
          </a:prstGeom>
          <a:solidFill>
            <a:srgbClr val="E2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364224" y="51160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534912" y="51160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mattress-trial-rights-advisor（床垫试睡权益顾问）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668000" y="51160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13,082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4912" y="51846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64224" y="525322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34912" y="525322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mattress-new-home-low-odor-advisor（新房低异味床垫顾问）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668000" y="525322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12,583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534912" y="532180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364224" y="539038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534912" y="539038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baobiao-API（招标中标数据查询API，标讯日更新30万+）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0668000" y="539038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11,312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6534912" y="545896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364224" y="552754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534912" y="552754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mattress-3000-budget-advisor（3000档床垫预算顾问）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668000" y="552754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11,273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34912" y="559612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alv123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364224" y="566470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34912" y="566470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baobiao-analyze-company-network（企业画像与上下游关系分析）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668000" y="566470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34912" y="573328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6364224" y="5801868"/>
            <a:ext cx="170688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534912" y="5801868"/>
            <a:ext cx="408432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baobiao-find-planned-projects（拟在建项目与招投标前置商机挖掘）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0668000" y="5801868"/>
            <a:ext cx="914400" cy="68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10,200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34912" y="5870448"/>
            <a:ext cx="4876800" cy="61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3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tingting0980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26720" y="6021324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读法：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GitHub 撑数量，3 月集中导入；四类头部差异大，个人上传集中在少数账号。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生态画像：全站个人 34.0%、企业 34.4%、镜像 31.6%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40664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全站个人/企业/镜像约三分；Top10000 镜像 72.4%、拿走 40.3% 下载，企业单条最强，付费不足 1%。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谁在供给：个人 34.0%、企业 34.4%、镜像 31.6%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200,419 条 · 条数占比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3716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9344" y="139903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9344" y="1399032"/>
            <a:ext cx="1747283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5" y="137160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68,158 / 34.0%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57734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09344" y="160477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5" y="157734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68,859 / 34.4%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78308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09344" y="1810512"/>
            <a:ext cx="1767839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609344" y="1810512"/>
            <a:ext cx="1623946" cy="68580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1295" y="178308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63,402 / 31.6%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023110"/>
            <a:ext cx="5364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按来源标签折算：个人 = 社区 137,017 − 企业 68,859；
企业 = 1,999 家 publishedSkillCount 合计；镜像 = ClawHub 63,402。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94409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分类：全站商业 / 专业 / AI / 开发居前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15214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 · 条数占比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35788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商业运营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0" y="138531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135788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15.2%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50876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专业服务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1536192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0" y="1536192"/>
            <a:ext cx="102348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0" y="150876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659636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1687068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0" y="1687068"/>
            <a:ext cx="98819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165963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181051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1837944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315200" y="1837944"/>
            <a:ext cx="935254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0" y="18105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1961388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内容创作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1988820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15200" y="1988820"/>
            <a:ext cx="829376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196138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9.4%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211226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设计多媒体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2139696"/>
            <a:ext cx="1341120" cy="61721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0" y="2139696"/>
            <a:ext cx="652913" cy="61721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0" y="211226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7.4%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2276856"/>
            <a:ext cx="536448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其余 6 类 34.7%；12 个内容分类覆盖全站；Pay Skill 10.0% 为多标签，另计。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消费集中度：Top10 21.6%，Top100 43.7%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总下载 1.51 亿 · 中位 4,251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72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 占比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301752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21.6%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08960" y="32232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 占比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43.7%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672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 占比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08960" y="3429000"/>
            <a:ext cx="146304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363474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Top1000 占比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3874769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中 2,301 条 installs=0；下载含 CLI / 镜像，不等于使用。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264033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谁被下载：企业 &gt; 个人 &gt; 镜像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2798064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· 单条中位下载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05181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498080" y="307924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83040" y="305181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8,570 / 789 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34290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个人 / 社区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80" y="345643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498080" y="3456432"/>
            <a:ext cx="960962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83040" y="342900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5,629 / 1971 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380619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镜像 ClawHub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498080" y="3833622"/>
            <a:ext cx="146304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498080" y="3833622"/>
            <a:ext cx="653844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83040" y="3806190"/>
            <a:ext cx="2255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3,830 / 7240 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046220"/>
            <a:ext cx="536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Top10000 整体中位 4,251；企业单条最高，个人高于镜像。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6720" y="4354830"/>
            <a:ext cx="10972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付费与 API Key：全站 10.0% / 19.3%，Top10000 付费仅 0.7%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6720" y="4512564"/>
            <a:ext cx="109728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全站 200,403 条；Pay Skill 20,125、API Key 38,646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672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10.0%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Pay Skill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677156"/>
            <a:ext cx="109728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19.3%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94560" y="4910328"/>
            <a:ext cx="15849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API Key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67200" y="467715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付费标签 17,123（8.5%）、支付宝 2,901（1.4%）；Pay Skill 且 API Key 331 条。
Top10000：付费 0.7%（68 条）、API Key 30.3%；Pay Skill 分类 0 条。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6720" y="579501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读法：镜像撑数量也撑总下载，企业撑单条；付费沉在长尾，API 在头部。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