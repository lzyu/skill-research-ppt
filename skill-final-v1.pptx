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56" r:id="rId2"/>
    <p:sldId id="257" r:id="rId3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image" Target="../media/image39.png"/><Relationship Id="rId13" Type="http://schemas.openxmlformats.org/officeDocument/2006/relationships/image" Target="../media/image40.png"/><Relationship Id="rId14" Type="http://schemas.openxmlformats.org/officeDocument/2006/relationships/image" Target="../media/image41.png"/><Relationship Id="rId15" Type="http://schemas.openxmlformats.org/officeDocument/2006/relationships/image" Target="../media/image42.png"/><Relationship Id="rId16" Type="http://schemas.openxmlformats.org/officeDocument/2006/relationships/image" Target="../media/image43.png"/><Relationship Id="rId17" Type="http://schemas.openxmlformats.org/officeDocument/2006/relationships/image" Target="../media/image44.png"/><Relationship Id="rId18" Type="http://schemas.openxmlformats.org/officeDocument/2006/relationships/image" Target="../media/image45.png"/><Relationship Id="rId19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4290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6586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440180"/>
            <a:ext cx="2682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50876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52247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741932"/>
            <a:ext cx="231648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把方法写成可复用的包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75104"/>
            <a:ext cx="2316480" cy="12687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写成可复用的方法包：步骤、异常处理与验收标准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用真实任务跑通，留下可运行样例与“不该用”的边界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明确依赖、权限与运行环境，避免装完跑不起来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3024" y="3332988"/>
            <a:ext cx="2389632" cy="260604"/>
          </a:xfrm>
          <a:prstGeom prst="roundRect">
            <a:avLst>
              <a:gd name="adj" fmla="val 12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560" y="3380994"/>
            <a:ext cx="2194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产物：方法包 + 脚本 + 参考资料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2566" y="1440180"/>
            <a:ext cx="2682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254" y="150876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0246" y="1508760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36566" y="152247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254" y="1741932"/>
            <a:ext cx="231648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上架资产平台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254" y="1975104"/>
            <a:ext cx="2316480" cy="12687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打包发布包：单目录、清单在根、≤10MB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填分类、许可证、版本与来源，审核后上架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保留版本历史，让使用者能追溯与回滚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58870" y="3332988"/>
            <a:ext cx="2389632" cy="260604"/>
          </a:xfrm>
          <a:prstGeom prst="roundRect">
            <a:avLst>
              <a:gd name="adj" fmla="val 12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56406" y="3380994"/>
            <a:ext cx="2194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产物：资产卡片 + 版本 + 可安装包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8412" y="1440180"/>
            <a:ext cx="2682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9100" y="150876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6092" y="1508760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412" y="152247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9100" y="1741932"/>
            <a:ext cx="231648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9100" y="1975104"/>
            <a:ext cx="2316480" cy="12687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从资产平台获取，检查依赖、权限与宿主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中启用，跑一个最小任务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确认运行环境与版本，避免装完不可用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44716" y="3332988"/>
            <a:ext cx="2389632" cy="260604"/>
          </a:xfrm>
          <a:prstGeom prst="roundRect">
            <a:avLst>
              <a:gd name="adj" fmla="val 12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2252" y="3380994"/>
            <a:ext cx="2194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产物：安装实例 + 就绪检查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4259" y="1440180"/>
            <a:ext cx="2682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54947" y="150876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71939" y="1508760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8259" y="152247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4947" y="1741932"/>
            <a:ext cx="231648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4947" y="1975104"/>
            <a:ext cx="2316480" cy="12687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任务中按需加载、调用，记录版本与结果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验收不通过，先分清方法、输入与环境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30563" y="3332988"/>
            <a:ext cx="2389632" cy="260604"/>
          </a:xfrm>
          <a:prstGeom prst="roundRect">
            <a:avLst>
              <a:gd name="adj" fmla="val 12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8099" y="3380994"/>
            <a:ext cx="2194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产物：任务结果 + 使用记录</a:t>
            </a:r>
          </a:p>
        </p:txBody>
      </p:sp>
      <p:sp>
        <p:nvSpPr>
          <p:cNvPr id="36" name="Oval 35"/>
          <p:cNvSpPr/>
          <p:nvPr/>
        </p:nvSpPr>
        <p:spPr>
          <a:xfrm>
            <a:off x="1671828" y="106984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2083308" y="111785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57674" y="106984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4969154" y="111785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443520" y="106984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7855000" y="111785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329367" y="106984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853440" y="3840480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Left Arrow 43"/>
          <p:cNvSpPr/>
          <p:nvPr/>
        </p:nvSpPr>
        <p:spPr>
          <a:xfrm>
            <a:off x="609600" y="3792474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3730752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6720" y="411480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24256" y="423824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0560" y="418338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0560" y="432054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0560" y="455371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7552" y="455371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0560" y="470458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609088" y="470458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828544" y="455371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45536" y="455371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28544" y="470458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4767072" y="470458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86528" y="455371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55371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86528" y="470458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925056" y="470458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44512" y="455371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61504" y="455371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44512" y="470458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65" name="Right Arrow 64"/>
          <p:cNvSpPr/>
          <p:nvPr/>
        </p:nvSpPr>
        <p:spPr>
          <a:xfrm>
            <a:off x="9083040" y="470458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302496" y="455371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19488" y="455371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02496" y="470458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0560" y="519836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487680" y="5657850"/>
            <a:ext cx="11216640" cy="0"/>
          </a:xfrm>
          <a:prstGeom prst="line">
            <a:avLst/>
          </a:prstGeom>
          <a:ln w="9525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487680" y="5760720"/>
            <a:ext cx="3413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标准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7680" y="5911596"/>
            <a:ext cx="34137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/ 元数据 / 版本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67200" y="5760720"/>
            <a:ext cx="3413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67200" y="5911596"/>
            <a:ext cx="34137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资产平台审核 / 上架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46720" y="5760720"/>
            <a:ext cx="3413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运行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46720" y="5911596"/>
            <a:ext cx="34137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 Agent 安装 / 调用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7680" y="617220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2896" y="617220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508000" y="308610"/>
            <a:ext cx="111963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中心：8.35 万技能撑起四层框架，验证闭环仍缺一环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508000" y="1207691"/>
            <a:ext cx="11176001" cy="531416"/>
          </a:xfrm>
          <a:prstGeom prst="roundRect">
            <a:avLst>
              <a:gd name="adj" fmla="val 1433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2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214041"/>
            <a:ext cx="2790825" cy="518716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641350" y="1258491"/>
            <a:ext cx="914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41350" y="1542256"/>
            <a:ext cx="3937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技能总数</a:t>
            </a:r>
            <a:endParaRPr/>
          </a:p>
        </p:txBody>
      </p:sp>
      <p:pic>
        <p:nvPicPr>
          <p:cNvPr id="15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1214041"/>
            <a:ext cx="2790825" cy="518716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3432175" y="1258491"/>
            <a:ext cx="914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30.9%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432175" y="1542256"/>
            <a:ext cx="5842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聚合镜像占比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14041"/>
            <a:ext cx="2790825" cy="518716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6223000" y="1258491"/>
            <a:ext cx="914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0.4%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6223000" y="1542256"/>
            <a:ext cx="1007864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平台官方占比 · 阿里系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9013825" y="1258491"/>
            <a:ext cx="914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65.9%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9013825" y="1542256"/>
            <a:ext cx="912713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Top1% 技能下载占比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08000" y="1872456"/>
            <a:ext cx="2152352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 · 资产定位与结构 / 4 LAYERS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508000" y="2062956"/>
            <a:ext cx="3660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不是模型，也不是 Agent 运行时；它是可加载的方法层。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08000" y="2253258"/>
            <a:ext cx="1577876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 层为分析框架，非 ModelScope 官方定义</a:t>
            </a:r>
            <a:endParaRPr/>
          </a:p>
        </p:txBody>
      </p:sp>
      <p:sp>
        <p:nvSpPr>
          <p:cNvPr id="26" name="形状 26"/>
          <p:cNvSpPr/>
          <p:nvPr/>
        </p:nvSpPr>
        <p:spPr>
          <a:xfrm>
            <a:off x="508000" y="2424013"/>
            <a:ext cx="3743524" cy="720626"/>
          </a:xfrm>
          <a:prstGeom prst="roundRect">
            <a:avLst>
              <a:gd name="adj" fmla="val 105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670520" y="2739827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L4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20750" y="25958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应用交付层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733550" y="2646660"/>
            <a:ext cx="59382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创空间 17.3k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920750" y="2811760"/>
            <a:ext cx="272732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调用 Skill 完成任务；实验场可直接对话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201789"/>
            <a:ext cx="3743524" cy="720725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689570" y="3517702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L3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939800" y="3373735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方法资产层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1752600" y="3424535"/>
            <a:ext cx="67056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Skills 83.5k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2499360" y="3430885"/>
            <a:ext cx="4889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核心资产层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939800" y="3589635"/>
            <a:ext cx="24426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SKILL.md + scripts + references + assets</a:t>
            </a:r>
            <a:endParaRPr/>
          </a:p>
        </p:txBody>
      </p:sp>
      <p:sp>
        <p:nvSpPr>
          <p:cNvPr id="37" name="形状 37"/>
          <p:cNvSpPr/>
          <p:nvPr/>
        </p:nvSpPr>
        <p:spPr>
          <a:xfrm>
            <a:off x="508000" y="3979664"/>
            <a:ext cx="3743524" cy="720725"/>
          </a:xfrm>
          <a:prstGeom prst="roundRect">
            <a:avLst>
              <a:gd name="adj" fmla="val 1057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670520" y="4295577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L2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920750" y="415161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工具连接层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1733550" y="4202410"/>
            <a:ext cx="500559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 12.7k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920750" y="4367510"/>
            <a:ext cx="24319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把外部工具与模型服务接进 Agent 运行时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508000" y="4757539"/>
            <a:ext cx="3743524" cy="720725"/>
          </a:xfrm>
          <a:prstGeom prst="roundRect">
            <a:avLst>
              <a:gd name="adj" fmla="val 1057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70520" y="5073452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L1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920750" y="4929485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基础资源层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1733550" y="4980285"/>
            <a:ext cx="119201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模型 273k · 数据集 44.7k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920750" y="5145385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模型与数据，提供能力原料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4391224" y="1872456"/>
            <a:ext cx="1426865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 · 资产消费 / 4 环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4391224" y="2062956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来源、发布、消费已通；试运行有入口、无沙箱。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391224" y="2310408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438154" y="2351683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683324" y="2310408"/>
            <a:ext cx="3048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5026224" y="2367558"/>
            <a:ext cx="3861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SOURCE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83324" y="2517378"/>
            <a:ext cx="23135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GitHub 占 74% · 6 月批量入库占 47%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683324" y="2707680"/>
            <a:ext cx="26742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source_url 关联原作；官方仓库提供 ms-hub</a:t>
            </a:r>
            <a:endParaRPr/>
          </a:p>
        </p:txBody>
      </p:sp>
      <p:sp>
        <p:nvSpPr>
          <p:cNvPr id="55" name="形状 55"/>
          <p:cNvSpPr/>
          <p:nvPr/>
        </p:nvSpPr>
        <p:spPr>
          <a:xfrm>
            <a:off x="4391224" y="3105547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文字 56"/>
          <p:cNvSpPr txBox="1"/>
          <p:nvPr/>
        </p:nvSpPr>
        <p:spPr>
          <a:xfrm>
            <a:off x="4438154" y="3146822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683324" y="3105547"/>
            <a:ext cx="3048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5026224" y="3162697"/>
            <a:ext cx="448370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PUBLISH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683324" y="3312517"/>
            <a:ext cx="124678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zip → 创建 Skill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683324" y="3502819"/>
            <a:ext cx="21057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根目录仅 1 个 SKILL.md、≤5MB；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683324" y="3686770"/>
            <a:ext cx="123715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owner/name 不可改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4391224" y="3900686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4438154" y="3941961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683324" y="3900686"/>
            <a:ext cx="3048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026224" y="3957836"/>
            <a:ext cx="448370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CONSUME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4683324" y="4107656"/>
            <a:ext cx="183147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npx / curl / CLI / SDK 四种方式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683324" y="4297958"/>
            <a:ext cx="2361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装到 ~/.agents/skills；Cursor、Claude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683324" y="4481910"/>
            <a:ext cx="12855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Code、Codex 可发现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391224" y="4695825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4438154" y="473710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683324" y="4695825"/>
            <a:ext cx="4508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试运行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5172274" y="4752975"/>
            <a:ext cx="199430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683324" y="4902795"/>
            <a:ext cx="25653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详情页「前往实验场试用」→ Agent 实验场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4683324" y="5093097"/>
            <a:ext cx="248245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需登录；MCP 有实验场，Skill 侧没有沙箱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606110" y="1872456"/>
            <a:ext cx="2361704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 · 生态画像 / 规模 · 供给 · 消费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606110" y="2062956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开发者工具供给最厚，官方与垂直供给最薄。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606110" y="2304058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一级分类供给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656491" y="2342158"/>
            <a:ext cx="104021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 10 类 · Top3 占 66%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606110" y="25390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开发工具</a:t>
            </a:r>
            <a:endParaRPr/>
          </a:p>
        </p:txBody>
      </p:sp>
      <p:sp>
        <p:nvSpPr>
          <p:cNvPr id="80" name="形状 80"/>
          <p:cNvSpPr/>
          <p:nvPr/>
        </p:nvSpPr>
        <p:spPr>
          <a:xfrm>
            <a:off x="8330010" y="25644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1" name="形状 81"/>
          <p:cNvSpPr/>
          <p:nvPr/>
        </p:nvSpPr>
        <p:spPr>
          <a:xfrm>
            <a:off x="8330010" y="2564408"/>
            <a:ext cx="2896790" cy="825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文字 82"/>
          <p:cNvSpPr txBox="1"/>
          <p:nvPr/>
        </p:nvSpPr>
        <p:spPr>
          <a:xfrm>
            <a:off x="11290300" y="25326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27,928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606110" y="27549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代码质检</a:t>
            </a:r>
            <a:endParaRPr/>
          </a:p>
        </p:txBody>
      </p:sp>
      <p:sp>
        <p:nvSpPr>
          <p:cNvPr id="84" name="形状 84"/>
          <p:cNvSpPr/>
          <p:nvPr/>
        </p:nvSpPr>
        <p:spPr>
          <a:xfrm>
            <a:off x="8330010" y="27803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5" name="形状 85"/>
          <p:cNvSpPr/>
          <p:nvPr/>
        </p:nvSpPr>
        <p:spPr>
          <a:xfrm>
            <a:off x="8330010" y="2780308"/>
            <a:ext cx="1748135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6" name="文字 86"/>
          <p:cNvSpPr txBox="1"/>
          <p:nvPr/>
        </p:nvSpPr>
        <p:spPr>
          <a:xfrm>
            <a:off x="11290300" y="27485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16,854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606110" y="29708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媒体处理</a:t>
            </a:r>
            <a:endParaRPr/>
          </a:p>
        </p:txBody>
      </p:sp>
      <p:sp>
        <p:nvSpPr>
          <p:cNvPr id="88" name="形状 88"/>
          <p:cNvSpPr/>
          <p:nvPr/>
        </p:nvSpPr>
        <p:spPr>
          <a:xfrm>
            <a:off x="8330010" y="29962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9" name="形状 89"/>
          <p:cNvSpPr/>
          <p:nvPr/>
        </p:nvSpPr>
        <p:spPr>
          <a:xfrm>
            <a:off x="8330010" y="2996208"/>
            <a:ext cx="1096069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0" name="文字 90"/>
          <p:cNvSpPr txBox="1"/>
          <p:nvPr/>
        </p:nvSpPr>
        <p:spPr>
          <a:xfrm>
            <a:off x="11290300" y="29644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10,569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7606110" y="31867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前端开发</a:t>
            </a:r>
            <a:endParaRPr/>
          </a:p>
        </p:txBody>
      </p:sp>
      <p:sp>
        <p:nvSpPr>
          <p:cNvPr id="92" name="形状 92"/>
          <p:cNvSpPr/>
          <p:nvPr/>
        </p:nvSpPr>
        <p:spPr>
          <a:xfrm>
            <a:off x="8330010" y="32121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3" name="形状 93"/>
          <p:cNvSpPr/>
          <p:nvPr/>
        </p:nvSpPr>
        <p:spPr>
          <a:xfrm>
            <a:off x="8330010" y="3212108"/>
            <a:ext cx="693439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4" name="文字 94"/>
          <p:cNvSpPr txBox="1"/>
          <p:nvPr/>
        </p:nvSpPr>
        <p:spPr>
          <a:xfrm>
            <a:off x="11341100" y="3180358"/>
            <a:ext cx="3556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6,686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7606110" y="34026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云效工具</a:t>
            </a:r>
            <a:endParaRPr/>
          </a:p>
        </p:txBody>
      </p:sp>
      <p:sp>
        <p:nvSpPr>
          <p:cNvPr id="96" name="形状 96"/>
          <p:cNvSpPr/>
          <p:nvPr/>
        </p:nvSpPr>
        <p:spPr>
          <a:xfrm>
            <a:off x="8330010" y="34280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7" name="形状 97"/>
          <p:cNvSpPr/>
          <p:nvPr/>
        </p:nvSpPr>
        <p:spPr>
          <a:xfrm>
            <a:off x="8330010" y="3428008"/>
            <a:ext cx="574972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8" name="文字 98"/>
          <p:cNvSpPr txBox="1"/>
          <p:nvPr/>
        </p:nvSpPr>
        <p:spPr>
          <a:xfrm>
            <a:off x="11341100" y="3396258"/>
            <a:ext cx="3556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5,544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7606110" y="36185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市场推广</a:t>
            </a:r>
            <a:endParaRPr/>
          </a:p>
        </p:txBody>
      </p:sp>
      <p:sp>
        <p:nvSpPr>
          <p:cNvPr id="100" name="形状 100"/>
          <p:cNvSpPr/>
          <p:nvPr/>
        </p:nvSpPr>
        <p:spPr>
          <a:xfrm>
            <a:off x="8330010" y="36439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1" name="形状 101"/>
          <p:cNvSpPr/>
          <p:nvPr/>
        </p:nvSpPr>
        <p:spPr>
          <a:xfrm>
            <a:off x="8330010" y="3643908"/>
            <a:ext cx="561082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2" name="文字 102"/>
          <p:cNvSpPr txBox="1"/>
          <p:nvPr/>
        </p:nvSpPr>
        <p:spPr>
          <a:xfrm>
            <a:off x="11341100" y="3612158"/>
            <a:ext cx="3556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5,409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7606110" y="3834408"/>
            <a:ext cx="49559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 5 类</a:t>
            </a:r>
            <a:endParaRPr/>
          </a:p>
        </p:txBody>
      </p:sp>
      <p:sp>
        <p:nvSpPr>
          <p:cNvPr id="104" name="形状 104"/>
          <p:cNvSpPr/>
          <p:nvPr/>
        </p:nvSpPr>
        <p:spPr>
          <a:xfrm>
            <a:off x="8330010" y="38598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5" name="形状 105"/>
          <p:cNvSpPr/>
          <p:nvPr/>
        </p:nvSpPr>
        <p:spPr>
          <a:xfrm>
            <a:off x="8330010" y="3859808"/>
            <a:ext cx="1090910" cy="82550"/>
          </a:xfrm>
          <a:prstGeom prst="rect">
            <a:avLst/>
          </a:prstGeom>
          <a:solidFill>
            <a:srgbClr val="B9BEC5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6" name="文字 106"/>
          <p:cNvSpPr txBox="1"/>
          <p:nvPr/>
        </p:nvSpPr>
        <p:spPr>
          <a:xfrm>
            <a:off x="11290300" y="38280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10,519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7606110" y="4088408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三类供给角色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11303000" y="4126508"/>
            <a:ext cx="3937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账号口径</a:t>
            </a:r>
            <a:endParaRPr/>
          </a:p>
        </p:txBody>
      </p:sp>
      <p:graphicFrame>
        <p:nvGraphicFramePr>
          <p:cNvPr id="109" name="表格 109"/>
          <p:cNvGraphicFramePr/>
          <p:nvPr/>
        </p:nvGraphicFramePr>
        <p:xfrm>
          <a:off x="7606110" y="4297958"/>
          <a:ext cx="4077891" cy="892175"/>
        </p:xfrm>
        <a:graphic>
          <a:graphicData uri="http://schemas.openxmlformats.org/drawingml/2006/table">
            <a:tbl>
              <a:tblPr firstRow="0" bandRow="0"/>
              <a:tblGrid>
                <a:gridCol w="650379"/>
                <a:gridCol w="894259"/>
                <a:gridCol w="1382117"/>
                <a:gridCol w="1138436"/>
              </a:tblGrid>
              <a:tr h="238125"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角色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规模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代表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中位下载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1272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平台官方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337 · 0.4%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ModelScope / 阿里云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374（2.5×）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</a:tr>
              <a:tr h="21272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品牌垂直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~550 · &lt;1%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Anthropic / 小包公 / 网盘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516（3.5×）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</a:tr>
              <a:tr h="21590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社区泛用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8.26 万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个人 / 开源 / 聚合镜像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148（镜像 145）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2" name="文字 112"/>
          <p:cNvSpPr txBox="1"/>
          <p:nvPr/>
        </p:nvSpPr>
        <p:spPr>
          <a:xfrm>
            <a:off x="508000" y="5598914"/>
            <a:ext cx="1426865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 · 结论 / 3 个判断</a:t>
            </a:r>
            <a:endParaRPr/>
          </a:p>
        </p:txBody>
      </p:sp>
      <p:sp>
        <p:nvSpPr>
          <p:cNvPr id="113" name="形状 113"/>
          <p:cNvSpPr/>
          <p:nvPr/>
        </p:nvSpPr>
        <p:spPr>
          <a:xfrm>
            <a:off x="508000" y="5789414"/>
            <a:ext cx="3657600" cy="725686"/>
          </a:xfrm>
          <a:prstGeom prst="roundRect">
            <a:avLst>
              <a:gd name="adj" fmla="val 10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4" name="文字 114"/>
          <p:cNvSpPr txBox="1"/>
          <p:nvPr/>
        </p:nvSpPr>
        <p:spPr>
          <a:xfrm>
            <a:off x="615950" y="5871964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814090" y="588466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框架已成立，供给靠聚合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814090" y="6077347"/>
            <a:ext cx="313372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官方仅 0.4%，聚合镜像占 30.9%；Top3 分类 66%，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814090" y="6261299"/>
            <a:ext cx="12574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24 个二级类目为空。</a:t>
            </a:r>
            <a:endParaRPr/>
          </a:p>
        </p:txBody>
      </p:sp>
      <p:sp>
        <p:nvSpPr>
          <p:cNvPr id="118" name="形状 118"/>
          <p:cNvSpPr/>
          <p:nvPr/>
        </p:nvSpPr>
        <p:spPr>
          <a:xfrm>
            <a:off x="4267200" y="5789414"/>
            <a:ext cx="3657600" cy="725686"/>
          </a:xfrm>
          <a:prstGeom prst="roundRect">
            <a:avLst>
              <a:gd name="adj" fmla="val 10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9" name="文字 119"/>
          <p:cNvSpPr txBox="1"/>
          <p:nvPr/>
        </p:nvSpPr>
        <p:spPr>
          <a:xfrm>
            <a:off x="4375150" y="5871964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4573290" y="588466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消费头部化，垂直更易破圈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3290" y="6077347"/>
            <a:ext cx="3228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品牌/垂直中位 516 下载（长尾 3.5×）；聚合镜像中位</a:t>
            </a:r>
            <a:endParaRPr/>
          </a:p>
        </p:txBody>
      </p:sp>
      <p:sp>
        <p:nvSpPr>
          <p:cNvPr id="122" name="文字 122"/>
          <p:cNvSpPr txBox="1"/>
          <p:nvPr/>
        </p:nvSpPr>
        <p:spPr>
          <a:xfrm>
            <a:off x="4573290" y="6261299"/>
            <a:ext cx="53141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仅 145。</a:t>
            </a:r>
            <a:endParaRPr/>
          </a:p>
        </p:txBody>
      </p:sp>
      <p:sp>
        <p:nvSpPr>
          <p:cNvPr id="123" name="形状 123"/>
          <p:cNvSpPr/>
          <p:nvPr/>
        </p:nvSpPr>
        <p:spPr>
          <a:xfrm>
            <a:off x="8026401" y="5789414"/>
            <a:ext cx="3657600" cy="725686"/>
          </a:xfrm>
          <a:prstGeom prst="roundRect">
            <a:avLst>
              <a:gd name="adj" fmla="val 10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4" name="文字 124"/>
          <p:cNvSpPr txBox="1"/>
          <p:nvPr/>
        </p:nvSpPr>
        <p:spPr>
          <a:xfrm>
            <a:off x="8134350" y="5871964"/>
            <a:ext cx="13463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125" name="文字 125"/>
          <p:cNvSpPr txBox="1"/>
          <p:nvPr/>
        </p:nvSpPr>
        <p:spPr>
          <a:xfrm>
            <a:off x="8332490" y="58846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验证与治理是下一环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8332490" y="6077347"/>
            <a:ext cx="316607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发布/安装已通；但无技能级沙箱、无版本号，34% 未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8332490" y="6261299"/>
            <a:ext cx="77420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 License。</a:t>
            </a:r>
            <a:endParaRPr/>
          </a:p>
        </p:txBody>
      </p:sp>
      <p:pic>
        <p:nvPicPr>
          <p:cNvPr id="128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将技能分发扩展到场景组合与云端验证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32160"/>
            <a:ext cx="11277600" cy="660400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982960"/>
            <a:ext cx="81280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25730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万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344910"/>
            <a:ext cx="13174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条目数 199,511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2489200" y="982960"/>
            <a:ext cx="33278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80928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类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2489200" y="1344910"/>
            <a:ext cx="14605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一级分类，覆盖通用与行业</a:t>
            </a:r>
            <a:endParaRPr/>
          </a:p>
        </p:txBody>
      </p:sp>
      <p:pic>
        <p:nvPicPr>
          <p:cNvPr id="15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0200" y="1047651"/>
            <a:ext cx="7594600" cy="423069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305300" y="1060351"/>
            <a:ext cx="249832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面向中国用户的 Agent 能力供给网络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05300" y="1296491"/>
            <a:ext cx="3213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全球同步扩大覆盖，本土共建与企业服务补充专业能力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资产结构：四层分析视图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043410"/>
            <a:ext cx="18224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职责可组合，非官方强制依赖层级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2297410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463550" y="2303760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632420" y="2425006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L4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71500" y="2594471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1041400" y="2400895"/>
            <a:ext cx="4272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SOUL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1041400" y="2630686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人格、表达与协作方式</a:t>
            </a:r>
            <a:endParaRPr/>
          </a:p>
        </p:txBody>
      </p:sp>
      <p:sp>
        <p:nvSpPr>
          <p:cNvPr id="26" name="形状 26"/>
          <p:cNvSpPr/>
          <p:nvPr/>
        </p:nvSpPr>
        <p:spPr>
          <a:xfrm>
            <a:off x="457200" y="2971701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形状 27"/>
          <p:cNvSpPr/>
          <p:nvPr/>
        </p:nvSpPr>
        <p:spPr>
          <a:xfrm>
            <a:off x="463550" y="2978051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8" name="文字 28"/>
          <p:cNvSpPr txBox="1"/>
          <p:nvPr/>
        </p:nvSpPr>
        <p:spPr>
          <a:xfrm>
            <a:off x="632420" y="3099296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L3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571500" y="3268762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组合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041400" y="3075186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专家包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041400" y="3304977"/>
            <a:ext cx="13039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按场景组织多个 Skills</a:t>
            </a:r>
            <a:endParaRPr/>
          </a:p>
        </p:txBody>
      </p:sp>
      <p:sp>
        <p:nvSpPr>
          <p:cNvPr id="32" name="形状 32"/>
          <p:cNvSpPr/>
          <p:nvPr/>
        </p:nvSpPr>
        <p:spPr>
          <a:xfrm>
            <a:off x="457200" y="3645992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463550" y="3652342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632420" y="3773587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L2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71500" y="3943052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方法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1041400" y="3749477"/>
            <a:ext cx="34220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41400" y="3979267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指令、脚本、参考与模板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457200" y="4320282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形状 39"/>
          <p:cNvSpPr/>
          <p:nvPr/>
        </p:nvSpPr>
        <p:spPr>
          <a:xfrm>
            <a:off x="463550" y="4326632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32420" y="4447877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571500" y="4617343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工具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041400" y="4423767"/>
            <a:ext cx="34458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041400" y="4653558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连接外部数据与受控动作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5013623"/>
            <a:ext cx="27058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Plugin 可跨层交付，运行仍依赖宿主与授权。</a:t>
            </a:r>
            <a:endParaRPr/>
          </a:p>
        </p:txBody>
      </p:sp>
      <p:pic>
        <p:nvPicPr>
          <p:cNvPr id="4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950" y="1744960"/>
            <a:ext cx="3492500" cy="3442593"/>
          </a:xfrm>
          <a:prstGeom prst="rect">
            <a:avLst/>
          </a:prstGeom>
        </p:spPr>
      </p:pic>
      <p:sp>
        <p:nvSpPr>
          <p:cNvPr id="46" name="文字 46"/>
          <p:cNvSpPr txBox="1"/>
          <p:nvPr/>
        </p:nvSpPr>
        <p:spPr>
          <a:xfrm>
            <a:off x="357505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资产消费：从获取到验证</a:t>
            </a:r>
            <a:endParaRPr/>
          </a:p>
        </p:txBody>
      </p:sp>
      <p:sp>
        <p:nvSpPr>
          <p:cNvPr id="47" name="形状 47"/>
          <p:cNvSpPr/>
          <p:nvPr/>
        </p:nvSpPr>
        <p:spPr>
          <a:xfrm>
            <a:off x="3575050" y="2119610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文字 48"/>
          <p:cNvSpPr txBox="1"/>
          <p:nvPr/>
        </p:nvSpPr>
        <p:spPr>
          <a:xfrm>
            <a:off x="3621981" y="2160885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3937000" y="2132310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来源：全球同步与本土共建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3937000" y="2362101"/>
            <a:ext cx="194161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同步，个人与企业发布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3575050" y="2843014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3621981" y="2884289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3937000" y="2855714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发布：导入、版本与可见性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3937000" y="3085505"/>
            <a:ext cx="20723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 / GitHub / CLI，组织内技能库</a:t>
            </a:r>
            <a:endParaRPr/>
          </a:p>
        </p:txBody>
      </p:sp>
      <p:sp>
        <p:nvSpPr>
          <p:cNvPr id="55" name="形状 55"/>
          <p:cNvSpPr/>
          <p:nvPr/>
        </p:nvSpPr>
        <p:spPr>
          <a:xfrm>
            <a:off x="3575050" y="3566517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文字 56"/>
          <p:cNvSpPr txBox="1"/>
          <p:nvPr/>
        </p:nvSpPr>
        <p:spPr>
          <a:xfrm>
            <a:off x="3621981" y="3607792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3937000" y="3579217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消费：发现后进入目标宿主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937000" y="3809008"/>
            <a:ext cx="228818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中文搜索与榜单，ZIP / CLI / API / DSH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575050" y="4289921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621981" y="433119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937000" y="4302621"/>
            <a:ext cx="1993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试运行：云端会话与运行案例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3937000" y="4532412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流式结果与案例留存；代码已核，未实跑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3575050" y="4826992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体验重点：发现入口与宿主内消费衔接，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3575050" y="5013623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运行案例补充选用依据。</a:t>
            </a:r>
            <a:endParaRPr/>
          </a:p>
        </p:txBody>
      </p:sp>
      <p:pic>
        <p:nvPicPr>
          <p:cNvPr id="65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1200" y="1744960"/>
            <a:ext cx="4673601" cy="3442593"/>
          </a:xfrm>
          <a:prstGeom prst="rect">
            <a:avLst/>
          </a:prstGeom>
        </p:spPr>
      </p:pic>
      <p:sp>
        <p:nvSpPr>
          <p:cNvPr id="66" name="文字 66"/>
          <p:cNvSpPr txBox="1"/>
          <p:nvPr/>
        </p:nvSpPr>
        <p:spPr>
          <a:xfrm>
            <a:off x="72263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生态画像：三类供需并存</a:t>
            </a:r>
            <a:endParaRPr/>
          </a:p>
        </p:txBody>
      </p:sp>
      <p:pic>
        <p:nvPicPr>
          <p:cNvPr id="67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6300" y="2024360"/>
            <a:ext cx="4508501" cy="507901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7226300" y="210691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官方与产品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7988300" y="2106910"/>
            <a:ext cx="184824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腾讯文档、ima、平台查找技能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7988300" y="2305943"/>
            <a:ext cx="18224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需求：产品连接、办公与知识协作</a:t>
            </a:r>
            <a:endParaRPr/>
          </a:p>
        </p:txBody>
      </p:sp>
      <p:pic>
        <p:nvPicPr>
          <p:cNvPr id="71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6300" y="2532261"/>
            <a:ext cx="4508501" cy="507901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7226300" y="261481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垂直专业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988300" y="261481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钢联智能问数、电子印章平台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988300" y="2813844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需求：行业数据与专业业务流程</a:t>
            </a:r>
            <a:endParaRPr/>
          </a:p>
        </p:txBody>
      </p:sp>
      <p:pic>
        <p:nvPicPr>
          <p:cNvPr id="7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6300" y="3040162"/>
            <a:ext cx="4508501" cy="507901"/>
          </a:xfrm>
          <a:prstGeom prst="rect">
            <a:avLst/>
          </a:prstGeom>
        </p:spPr>
      </p:pic>
      <p:sp>
        <p:nvSpPr>
          <p:cNvPr id="76" name="文字 76"/>
          <p:cNvSpPr txBox="1"/>
          <p:nvPr/>
        </p:nvSpPr>
        <p:spPr>
          <a:xfrm>
            <a:off x="7226300" y="3122712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社区泛用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988300" y="3122712"/>
            <a:ext cx="20794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Find Skills、Agent Browser、摘要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988300" y="3321745"/>
            <a:ext cx="193327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需求：Agent 研发、检索与通用效率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226300" y="3675063"/>
            <a:ext cx="204132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下载榜 Top50：样本下载记录占比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7226300" y="3941763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81" name="形状 81"/>
          <p:cNvSpPr/>
          <p:nvPr/>
        </p:nvSpPr>
        <p:spPr>
          <a:xfrm>
            <a:off x="7886700" y="39608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形状 82"/>
          <p:cNvSpPr/>
          <p:nvPr/>
        </p:nvSpPr>
        <p:spPr>
          <a:xfrm>
            <a:off x="7886700" y="3960813"/>
            <a:ext cx="1237159" cy="95250"/>
          </a:xfrm>
          <a:prstGeom prst="roundRect">
            <a:avLst>
              <a:gd name="adj" fmla="val 20000"/>
            </a:avLst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3" name="文字 83"/>
          <p:cNvSpPr txBox="1"/>
          <p:nvPr/>
        </p:nvSpPr>
        <p:spPr>
          <a:xfrm>
            <a:off x="11372850" y="392906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226300" y="4170363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85" name="形状 85"/>
          <p:cNvSpPr/>
          <p:nvPr/>
        </p:nvSpPr>
        <p:spPr>
          <a:xfrm>
            <a:off x="7886700" y="41894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6" name="形状 86"/>
          <p:cNvSpPr/>
          <p:nvPr/>
        </p:nvSpPr>
        <p:spPr>
          <a:xfrm>
            <a:off x="7886700" y="4189413"/>
            <a:ext cx="442515" cy="95250"/>
          </a:xfrm>
          <a:prstGeom prst="roundRect">
            <a:avLst>
              <a:gd name="adj" fmla="val 2000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7" name="文字 87"/>
          <p:cNvSpPr txBox="1"/>
          <p:nvPr/>
        </p:nvSpPr>
        <p:spPr>
          <a:xfrm>
            <a:off x="11372850" y="41576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7226300" y="4398963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89" name="形状 89"/>
          <p:cNvSpPr/>
          <p:nvPr/>
        </p:nvSpPr>
        <p:spPr>
          <a:xfrm>
            <a:off x="7886700" y="44180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0" name="形状 90"/>
          <p:cNvSpPr/>
          <p:nvPr/>
        </p:nvSpPr>
        <p:spPr>
          <a:xfrm>
            <a:off x="7886700" y="4418013"/>
            <a:ext cx="338534" cy="95250"/>
          </a:xfrm>
          <a:prstGeom prst="roundRect">
            <a:avLst>
              <a:gd name="adj" fmla="val 2000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1" name="文字 91"/>
          <p:cNvSpPr txBox="1"/>
          <p:nvPr/>
        </p:nvSpPr>
        <p:spPr>
          <a:xfrm>
            <a:off x="11372850" y="43862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10.1%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7226300" y="4627563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93" name="形状 93"/>
          <p:cNvSpPr/>
          <p:nvPr/>
        </p:nvSpPr>
        <p:spPr>
          <a:xfrm>
            <a:off x="7886700" y="4646612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4" name="形状 94"/>
          <p:cNvSpPr/>
          <p:nvPr/>
        </p:nvSpPr>
        <p:spPr>
          <a:xfrm>
            <a:off x="7886700" y="4646612"/>
            <a:ext cx="1331019" cy="95250"/>
          </a:xfrm>
          <a:prstGeom prst="roundRect">
            <a:avLst>
              <a:gd name="adj" fmla="val 20000"/>
            </a:avLst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5" name="文字 95"/>
          <p:cNvSpPr txBox="1"/>
          <p:nvPr/>
        </p:nvSpPr>
        <p:spPr>
          <a:xfrm>
            <a:off x="11372850" y="46148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7226300" y="4862513"/>
            <a:ext cx="255736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编程类 5 条贡献 36.9%；消费画像按任务推断，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7226300" y="5031383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下载记录不代表活跃用户或任务成功。</a:t>
            </a:r>
            <a:endParaRPr/>
          </a:p>
        </p:txBody>
      </p:sp>
      <p:pic>
        <p:nvPicPr>
          <p:cNvPr id="98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5333603"/>
            <a:ext cx="11277600" cy="1181497"/>
          </a:xfrm>
          <a:prstGeom prst="rect">
            <a:avLst/>
          </a:prstGeom>
        </p:spPr>
      </p:pic>
      <p:sp>
        <p:nvSpPr>
          <p:cNvPr id="99" name="文字 99"/>
          <p:cNvSpPr txBox="1"/>
          <p:nvPr/>
        </p:nvSpPr>
        <p:spPr>
          <a:xfrm>
            <a:off x="457200" y="5479653"/>
            <a:ext cx="148222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五维质量评测 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1926729" y="5511403"/>
            <a:ext cx="13398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维度内均分后，五维等权</a:t>
            </a:r>
            <a:endParaRPr/>
          </a:p>
        </p:txBody>
      </p:sp>
      <p:pic>
        <p:nvPicPr>
          <p:cNvPr id="101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5759053"/>
            <a:ext cx="1337568" cy="435571"/>
          </a:xfrm>
          <a:prstGeom prst="rect">
            <a:avLst/>
          </a:prstGeom>
        </p:spPr>
      </p:pic>
      <p:sp>
        <p:nvSpPr>
          <p:cNvPr id="102" name="文字 102"/>
          <p:cNvSpPr txBox="1"/>
          <p:nvPr/>
        </p:nvSpPr>
        <p:spPr>
          <a:xfrm>
            <a:off x="457200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548680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可信度</a:t>
            </a:r>
            <a:endParaRPr/>
          </a:p>
        </p:txBody>
      </p:sp>
      <p:sp>
        <p:nvSpPr>
          <p:cNvPr id="104" name="文字 104"/>
          <p:cNvSpPr txBox="1"/>
          <p:nvPr/>
        </p:nvSpPr>
        <p:spPr>
          <a:xfrm>
            <a:off x="457200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安全与本土可用</a:t>
            </a:r>
            <a:endParaRPr/>
          </a:p>
        </p:txBody>
      </p:sp>
      <p:pic>
        <p:nvPicPr>
          <p:cNvPr id="105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70968" y="5759053"/>
            <a:ext cx="1337568" cy="435571"/>
          </a:xfrm>
          <a:prstGeom prst="rect">
            <a:avLst/>
          </a:prstGeom>
        </p:spPr>
      </p:pic>
      <p:sp>
        <p:nvSpPr>
          <p:cNvPr id="106" name="文字 106"/>
          <p:cNvSpPr txBox="1"/>
          <p:nvPr/>
        </p:nvSpPr>
        <p:spPr>
          <a:xfrm>
            <a:off x="1870968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1962448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1870968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功能与异常处理</a:t>
            </a:r>
            <a:endParaRPr/>
          </a:p>
        </p:txBody>
      </p:sp>
      <p:pic>
        <p:nvPicPr>
          <p:cNvPr id="109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84736" y="5759053"/>
            <a:ext cx="1337568" cy="435571"/>
          </a:xfrm>
          <a:prstGeom prst="rect">
            <a:avLst/>
          </a:prstGeom>
        </p:spPr>
      </p:pic>
      <p:sp>
        <p:nvSpPr>
          <p:cNvPr id="110" name="文字 110"/>
          <p:cNvSpPr txBox="1"/>
          <p:nvPr/>
        </p:nvSpPr>
        <p:spPr>
          <a:xfrm>
            <a:off x="3284736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111" name="文字 111"/>
          <p:cNvSpPr txBox="1"/>
          <p:nvPr/>
        </p:nvSpPr>
        <p:spPr>
          <a:xfrm>
            <a:off x="3376216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3284736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触发条件与边界</a:t>
            </a:r>
            <a:endParaRPr/>
          </a:p>
        </p:txBody>
      </p:sp>
      <p:pic>
        <p:nvPicPr>
          <p:cNvPr id="113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98504" y="5759053"/>
            <a:ext cx="1337568" cy="435571"/>
          </a:xfrm>
          <a:prstGeom prst="rect">
            <a:avLst/>
          </a:prstGeom>
        </p:spPr>
      </p:pic>
      <p:sp>
        <p:nvSpPr>
          <p:cNvPr id="114" name="文字 114"/>
          <p:cNvSpPr txBox="1"/>
          <p:nvPr/>
        </p:nvSpPr>
        <p:spPr>
          <a:xfrm>
            <a:off x="4698504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4789984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4698504" y="6038453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结构与文档</a:t>
            </a:r>
            <a:endParaRPr/>
          </a:p>
        </p:txBody>
      </p:sp>
      <p:pic>
        <p:nvPicPr>
          <p:cNvPr id="117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12272" y="5759053"/>
            <a:ext cx="1337667" cy="435571"/>
          </a:xfrm>
          <a:prstGeom prst="rect">
            <a:avLst/>
          </a:prstGeom>
        </p:spPr>
      </p:pic>
      <p:sp>
        <p:nvSpPr>
          <p:cNvPr id="118" name="文字 118"/>
          <p:cNvSpPr txBox="1"/>
          <p:nvPr/>
        </p:nvSpPr>
        <p:spPr>
          <a:xfrm>
            <a:off x="6112272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119" name="文字 119"/>
          <p:cNvSpPr txBox="1"/>
          <p:nvPr/>
        </p:nvSpPr>
        <p:spPr>
          <a:xfrm>
            <a:off x="6203752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6112272" y="6038453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准确、完整、可用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200" y="6296223"/>
            <a:ext cx="338832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热度 score、TRACE 质量分与双路安全报告分别表达不同信号。</a:t>
            </a:r>
            <a:endParaRPr/>
          </a:p>
        </p:txBody>
      </p:sp>
      <p:pic>
        <p:nvPicPr>
          <p:cNvPr id="122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1389" y="5454253"/>
            <a:ext cx="4113411" cy="1060846"/>
          </a:xfrm>
          <a:prstGeom prst="rect">
            <a:avLst/>
          </a:prstGeom>
        </p:spPr>
      </p:pic>
      <p:sp>
        <p:nvSpPr>
          <p:cNvPr id="123" name="文字 123"/>
          <p:cNvSpPr txBox="1"/>
          <p:nvPr/>
        </p:nvSpPr>
        <p:spPr>
          <a:xfrm>
            <a:off x="7773790" y="5479653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平台建设启示</a:t>
            </a:r>
            <a:endParaRPr/>
          </a:p>
        </p:txBody>
      </p:sp>
      <p:sp>
        <p:nvSpPr>
          <p:cNvPr id="124" name="文字 124"/>
          <p:cNvSpPr txBox="1"/>
          <p:nvPr/>
        </p:nvSpPr>
        <p:spPr>
          <a:xfrm>
            <a:off x="7773790" y="5746353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多类资产与宿主消费共同建设，</a:t>
            </a:r>
            <a:endParaRPr/>
          </a:p>
        </p:txBody>
      </p:sp>
      <p:sp>
        <p:nvSpPr>
          <p:cNvPr id="125" name="文字 125"/>
          <p:cNvSpPr txBox="1"/>
          <p:nvPr/>
        </p:nvSpPr>
        <p:spPr>
          <a:xfrm>
            <a:off x="7773790" y="593963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把版本、质量证据和实际任务结果关联。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7773790" y="6190060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待核查：统计口径与评测版本一致性；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7773790" y="6358930"/>
            <a:ext cx="204598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开源 evaluator 不等于全量动态实测。</a:t>
            </a:r>
            <a:endParaRPr/>
          </a:p>
        </p:txBody>
      </p:sp>
      <p:pic>
        <p:nvPicPr>
          <p:cNvPr id="129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围绕 Skill 打通生态供给、可信分发与宿主安装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32160"/>
            <a:ext cx="11277600" cy="660400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982960"/>
            <a:ext cx="81280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25730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万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344910"/>
            <a:ext cx="13174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条目数 199,514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2489200" y="982960"/>
            <a:ext cx="33278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80928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类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2489200" y="1344910"/>
            <a:ext cx="14605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一级分类，覆盖通用与行业</a:t>
            </a:r>
            <a:endParaRPr/>
          </a:p>
        </p:txBody>
      </p:sp>
      <p:pic>
        <p:nvPicPr>
          <p:cNvPr id="15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0200" y="1047651"/>
            <a:ext cx="7594600" cy="423069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305300" y="1060351"/>
            <a:ext cx="254506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面向中国用户的 Skill 发现与分发平台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05300" y="1296491"/>
            <a:ext cx="3213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全球同步补齐长尾，本土原创与企业供给扩展任务覆盖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1770360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生态供给：同步、原创与企业</a:t>
            </a:r>
            <a:endParaRPr/>
          </a:p>
        </p:txBody>
      </p:sp>
      <p:pic>
        <p:nvPicPr>
          <p:cNvPr id="19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11660"/>
            <a:ext cx="3016250" cy="56247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457200" y="2100560"/>
            <a:ext cx="145484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全球同步：ClawHub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57200" y="2317651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中文描述与国内下载，补齐长尾覆盖</a:t>
            </a:r>
            <a:endParaRPr/>
          </a:p>
        </p:txBody>
      </p:sp>
      <p:pic>
        <p:nvPicPr>
          <p:cNvPr id="22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574131"/>
            <a:ext cx="3016250" cy="575171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266303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个人与社区发布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2892822"/>
            <a:ext cx="26088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本土工具、Prompt 与 SOP，网页 / CLI 接入</a:t>
            </a:r>
            <a:endParaRPr/>
          </a:p>
        </p:txBody>
      </p:sp>
      <p:pic>
        <p:nvPicPr>
          <p:cNvPr id="25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149303"/>
            <a:ext cx="3016250" cy="780851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238202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企业与产品团队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457200" y="3467993"/>
            <a:ext cx="158154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官方产品：腾讯文档、ima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67367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垂直领域：钢联问数、电子印章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4019054"/>
            <a:ext cx="218241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平台自供给：技能查找、TRACE 评测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4476750"/>
            <a:ext cx="151358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下载榜 Top50 来源条目占比</a:t>
            </a:r>
            <a:endParaRPr/>
          </a:p>
        </p:txBody>
      </p:sp>
      <p:sp>
        <p:nvSpPr>
          <p:cNvPr id="31" name="形状 31"/>
          <p:cNvSpPr/>
          <p:nvPr/>
        </p:nvSpPr>
        <p:spPr>
          <a:xfrm>
            <a:off x="457200" y="4679950"/>
            <a:ext cx="1387475" cy="1016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1844675" y="4679950"/>
            <a:ext cx="844550" cy="1016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2689225" y="4679950"/>
            <a:ext cx="784225" cy="10160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457200" y="4845050"/>
            <a:ext cx="52615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 46%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1573411" y="4845050"/>
            <a:ext cx="79652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28%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2959993" y="4845050"/>
            <a:ext cx="52615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 26%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57200" y="5048250"/>
            <a:ext cx="15240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供给渠道样本，不代表全量结构</a:t>
            </a:r>
            <a:endParaRPr/>
          </a:p>
        </p:txBody>
      </p:sp>
      <p:pic>
        <p:nvPicPr>
          <p:cNvPr id="3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200" y="1744960"/>
            <a:ext cx="3873500" cy="3442593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37973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分发安装：从平台到宿主</a:t>
            </a:r>
            <a:endParaRPr/>
          </a:p>
        </p:txBody>
      </p:sp>
      <p:sp>
        <p:nvSpPr>
          <p:cNvPr id="40" name="形状 40"/>
          <p:cNvSpPr/>
          <p:nvPr/>
        </p:nvSpPr>
        <p:spPr>
          <a:xfrm>
            <a:off x="3797300" y="2119610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3837881" y="2154535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4140200" y="2132310"/>
            <a:ext cx="154652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发布：目录或 ZIP 入库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140200" y="2362101"/>
            <a:ext cx="24223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网页 / CLI / Agent 发布，版本审核后可见</a:t>
            </a:r>
            <a:endParaRPr/>
          </a:p>
        </p:txBody>
      </p:sp>
      <p:sp>
        <p:nvSpPr>
          <p:cNvPr id="44" name="形状 44"/>
          <p:cNvSpPr/>
          <p:nvPr/>
        </p:nvSpPr>
        <p:spPr>
          <a:xfrm>
            <a:off x="3797300" y="2807891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3837881" y="284281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40200" y="282059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分发：检索后获取版本包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4140200" y="3050381"/>
            <a:ext cx="22440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榜单、搜索与 API；指定版本 ZIP 下载</a:t>
            </a:r>
            <a:endParaRPr/>
          </a:p>
        </p:txBody>
      </p:sp>
      <p:sp>
        <p:nvSpPr>
          <p:cNvPr id="48" name="形状 48"/>
          <p:cNvSpPr/>
          <p:nvPr/>
        </p:nvSpPr>
        <p:spPr>
          <a:xfrm>
            <a:off x="3797300" y="3496171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3837881" y="353109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40200" y="350887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安装：文件落到宿主目录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40200" y="3738662"/>
            <a:ext cx="24160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CLI 默认 ./skills；DSH 默认 ~/.dsh/skills</a:t>
            </a:r>
            <a:endParaRPr/>
          </a:p>
        </p:txBody>
      </p:sp>
      <p:sp>
        <p:nvSpPr>
          <p:cNvPr id="52" name="形状 52"/>
          <p:cNvSpPr/>
          <p:nvPr/>
        </p:nvSpPr>
        <p:spPr>
          <a:xfrm>
            <a:off x="3797300" y="4184452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37881" y="4219377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140200" y="419715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使用：宿主加载并执行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4140200" y="442694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依赖与账号需就绪；云端案例未实跑</a:t>
            </a:r>
            <a:endParaRPr/>
          </a:p>
        </p:txBody>
      </p:sp>
      <p:pic>
        <p:nvPicPr>
          <p:cNvPr id="56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7300" y="4708823"/>
            <a:ext cx="3708400" cy="478730"/>
          </a:xfrm>
          <a:prstGeom prst="rect">
            <a:avLst/>
          </a:prstGeom>
        </p:spPr>
      </p:pic>
      <p:sp>
        <p:nvSpPr>
          <p:cNvPr id="57" name="文字 57"/>
          <p:cNvSpPr txBox="1"/>
          <p:nvPr/>
        </p:nvSpPr>
        <p:spPr>
          <a:xfrm>
            <a:off x="3797300" y="4791373"/>
            <a:ext cx="276354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797300" y="5013623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不自动装依赖，安装目录须被宿主发现。</a:t>
            </a:r>
            <a:endParaRPr/>
          </a:p>
        </p:txBody>
      </p:sp>
      <p:pic>
        <p:nvPicPr>
          <p:cNvPr id="5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4450" y="1744960"/>
            <a:ext cx="4070350" cy="3442593"/>
          </a:xfrm>
          <a:prstGeom prst="rect">
            <a:avLst/>
          </a:prstGeom>
        </p:spPr>
      </p:pic>
      <p:sp>
        <p:nvSpPr>
          <p:cNvPr id="60" name="文字 60"/>
          <p:cNvSpPr txBox="1"/>
          <p:nvPr/>
        </p:nvSpPr>
        <p:spPr>
          <a:xfrm>
            <a:off x="7829550" y="1770360"/>
            <a:ext cx="2413001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消费画像：通用任务与专业服务</a:t>
            </a:r>
            <a:endParaRPr/>
          </a:p>
        </p:txBody>
      </p:sp>
      <p:pic>
        <p:nvPicPr>
          <p:cNvPr id="61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9550" y="2043410"/>
            <a:ext cx="3905251" cy="345380"/>
          </a:xfrm>
          <a:prstGeom prst="rect">
            <a:avLst/>
          </a:prstGeom>
        </p:spPr>
      </p:pic>
      <p:sp>
        <p:nvSpPr>
          <p:cNvPr id="62" name="文字 62"/>
          <p:cNvSpPr txBox="1"/>
          <p:nvPr/>
        </p:nvSpPr>
        <p:spPr>
          <a:xfrm>
            <a:off x="7829550" y="213231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研发任务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8528050" y="2132310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编程、浏览器操作、技能发现与自改进</a:t>
            </a:r>
            <a:endParaRPr/>
          </a:p>
        </p:txBody>
      </p:sp>
      <p:pic>
        <p:nvPicPr>
          <p:cNvPr id="64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29550" y="2388791"/>
            <a:ext cx="3905251" cy="345381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7829550" y="247769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知识办公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528050" y="24776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摘要、文档协作、数据与内容处理</a:t>
            </a:r>
            <a:endParaRPr/>
          </a:p>
        </p:txBody>
      </p:sp>
      <p:pic>
        <p:nvPicPr>
          <p:cNvPr id="67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29550" y="2734171"/>
            <a:ext cx="3905251" cy="345380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7829550" y="282307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行业业务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528050" y="2823071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专业数据查询、业务接口与服务对接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7829550" y="3225601"/>
            <a:ext cx="217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Top50 样本内，下载记录的类别占比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7829550" y="3517702"/>
            <a:ext cx="4953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72" name="形状 72"/>
          <p:cNvSpPr/>
          <p:nvPr/>
        </p:nvSpPr>
        <p:spPr>
          <a:xfrm>
            <a:off x="8489950" y="353357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3" name="形状 73"/>
          <p:cNvSpPr/>
          <p:nvPr/>
        </p:nvSpPr>
        <p:spPr>
          <a:xfrm>
            <a:off x="8489950" y="3533577"/>
            <a:ext cx="1015108" cy="101600"/>
          </a:xfrm>
          <a:prstGeom prst="roundRect">
            <a:avLst>
              <a:gd name="adj" fmla="val 18750"/>
            </a:avLst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4" name="文字 74"/>
          <p:cNvSpPr txBox="1"/>
          <p:nvPr/>
        </p:nvSpPr>
        <p:spPr>
          <a:xfrm>
            <a:off x="11372850" y="350500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829550" y="3765352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76" name="形状 76"/>
          <p:cNvSpPr/>
          <p:nvPr/>
        </p:nvSpPr>
        <p:spPr>
          <a:xfrm>
            <a:off x="8489950" y="378122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7" name="形状 77"/>
          <p:cNvSpPr/>
          <p:nvPr/>
        </p:nvSpPr>
        <p:spPr>
          <a:xfrm>
            <a:off x="8489950" y="3781227"/>
            <a:ext cx="363736" cy="101600"/>
          </a:xfrm>
          <a:prstGeom prst="roundRect">
            <a:avLst>
              <a:gd name="adj" fmla="val 1875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8" name="文字 78"/>
          <p:cNvSpPr txBox="1"/>
          <p:nvPr/>
        </p:nvSpPr>
        <p:spPr>
          <a:xfrm>
            <a:off x="11372850" y="375265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829550" y="4013002"/>
            <a:ext cx="4953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80" name="形状 80"/>
          <p:cNvSpPr/>
          <p:nvPr/>
        </p:nvSpPr>
        <p:spPr>
          <a:xfrm>
            <a:off x="8489950" y="402887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1" name="形状 81"/>
          <p:cNvSpPr/>
          <p:nvPr/>
        </p:nvSpPr>
        <p:spPr>
          <a:xfrm>
            <a:off x="8489950" y="4028877"/>
            <a:ext cx="279599" cy="101600"/>
          </a:xfrm>
          <a:prstGeom prst="roundRect">
            <a:avLst>
              <a:gd name="adj" fmla="val 1875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文字 82"/>
          <p:cNvSpPr txBox="1"/>
          <p:nvPr/>
        </p:nvSpPr>
        <p:spPr>
          <a:xfrm>
            <a:off x="11372850" y="400030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10.2%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829550" y="426065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84" name="形状 84"/>
          <p:cNvSpPr/>
          <p:nvPr/>
        </p:nvSpPr>
        <p:spPr>
          <a:xfrm>
            <a:off x="8489950" y="427652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5" name="形状 85"/>
          <p:cNvSpPr/>
          <p:nvPr/>
        </p:nvSpPr>
        <p:spPr>
          <a:xfrm>
            <a:off x="8489950" y="4276527"/>
            <a:ext cx="1091010" cy="101600"/>
          </a:xfrm>
          <a:prstGeom prst="roundRect">
            <a:avLst>
              <a:gd name="adj" fmla="val 18750"/>
            </a:avLst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6" name="文字 86"/>
          <p:cNvSpPr txBox="1"/>
          <p:nvPr/>
        </p:nvSpPr>
        <p:spPr>
          <a:xfrm>
            <a:off x="11372850" y="424795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829550" y="4521002"/>
            <a:ext cx="238849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编程类 5 条贡献 36.9%，AI Agent 有 11 条。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7829550" y="4689872"/>
            <a:ext cx="18224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下载不代表活跃用户或任务成功。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7829550" y="5048250"/>
            <a:ext cx="20637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消费需求按技能能力推断，非真实用户分群</a:t>
            </a:r>
            <a:endParaRPr/>
          </a:p>
        </p:txBody>
      </p:sp>
      <p:pic>
        <p:nvPicPr>
          <p:cNvPr id="90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5333603"/>
            <a:ext cx="11277600" cy="1181497"/>
          </a:xfrm>
          <a:prstGeom prst="rect">
            <a:avLst/>
          </a:prstGeom>
        </p:spPr>
      </p:pic>
      <p:sp>
        <p:nvSpPr>
          <p:cNvPr id="91" name="文字 91"/>
          <p:cNvSpPr txBox="1"/>
          <p:nvPr/>
        </p:nvSpPr>
        <p:spPr>
          <a:xfrm>
            <a:off x="457200" y="5479653"/>
            <a:ext cx="148222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五维质量评测 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1926729" y="5511403"/>
            <a:ext cx="13398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维度内均分后，五维等权</a:t>
            </a:r>
            <a:endParaRPr/>
          </a:p>
        </p:txBody>
      </p:sp>
      <p:pic>
        <p:nvPicPr>
          <p:cNvPr id="93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5759053"/>
            <a:ext cx="1337568" cy="435571"/>
          </a:xfrm>
          <a:prstGeom prst="rect">
            <a:avLst/>
          </a:prstGeom>
        </p:spPr>
      </p:pic>
      <p:sp>
        <p:nvSpPr>
          <p:cNvPr id="94" name="文字 94"/>
          <p:cNvSpPr txBox="1"/>
          <p:nvPr/>
        </p:nvSpPr>
        <p:spPr>
          <a:xfrm>
            <a:off x="457200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548680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可信度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457200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安全与本土可用</a:t>
            </a:r>
            <a:endParaRPr/>
          </a:p>
        </p:txBody>
      </p:sp>
      <p:pic>
        <p:nvPicPr>
          <p:cNvPr id="97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70968" y="5759053"/>
            <a:ext cx="1337568" cy="435571"/>
          </a:xfrm>
          <a:prstGeom prst="rect">
            <a:avLst/>
          </a:prstGeom>
        </p:spPr>
      </p:pic>
      <p:sp>
        <p:nvSpPr>
          <p:cNvPr id="98" name="文字 98"/>
          <p:cNvSpPr txBox="1"/>
          <p:nvPr/>
        </p:nvSpPr>
        <p:spPr>
          <a:xfrm>
            <a:off x="1870968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1962448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1870968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功能与异常处理</a:t>
            </a:r>
            <a:endParaRPr/>
          </a:p>
        </p:txBody>
      </p:sp>
      <p:pic>
        <p:nvPicPr>
          <p:cNvPr id="101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84736" y="5759053"/>
            <a:ext cx="1337568" cy="435571"/>
          </a:xfrm>
          <a:prstGeom prst="rect">
            <a:avLst/>
          </a:prstGeom>
        </p:spPr>
      </p:pic>
      <p:sp>
        <p:nvSpPr>
          <p:cNvPr id="102" name="文字 102"/>
          <p:cNvSpPr txBox="1"/>
          <p:nvPr/>
        </p:nvSpPr>
        <p:spPr>
          <a:xfrm>
            <a:off x="3284736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3376216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104" name="文字 104"/>
          <p:cNvSpPr txBox="1"/>
          <p:nvPr/>
        </p:nvSpPr>
        <p:spPr>
          <a:xfrm>
            <a:off x="3284736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触发条件与边界</a:t>
            </a:r>
            <a:endParaRPr/>
          </a:p>
        </p:txBody>
      </p:sp>
      <p:pic>
        <p:nvPicPr>
          <p:cNvPr id="105" name="slide-001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98504" y="5759053"/>
            <a:ext cx="1337568" cy="435571"/>
          </a:xfrm>
          <a:prstGeom prst="rect">
            <a:avLst/>
          </a:prstGeom>
        </p:spPr>
      </p:pic>
      <p:sp>
        <p:nvSpPr>
          <p:cNvPr id="106" name="文字 106"/>
          <p:cNvSpPr txBox="1"/>
          <p:nvPr/>
        </p:nvSpPr>
        <p:spPr>
          <a:xfrm>
            <a:off x="4698504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4789984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4698504" y="6038453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结构与文档</a:t>
            </a:r>
            <a:endParaRPr/>
          </a:p>
        </p:txBody>
      </p:sp>
      <p:pic>
        <p:nvPicPr>
          <p:cNvPr id="109" name="slide-001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12272" y="5759053"/>
            <a:ext cx="1337667" cy="435571"/>
          </a:xfrm>
          <a:prstGeom prst="rect">
            <a:avLst/>
          </a:prstGeom>
        </p:spPr>
      </p:pic>
      <p:sp>
        <p:nvSpPr>
          <p:cNvPr id="110" name="文字 110"/>
          <p:cNvSpPr txBox="1"/>
          <p:nvPr/>
        </p:nvSpPr>
        <p:spPr>
          <a:xfrm>
            <a:off x="6112272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111" name="文字 111"/>
          <p:cNvSpPr txBox="1"/>
          <p:nvPr/>
        </p:nvSpPr>
        <p:spPr>
          <a:xfrm>
            <a:off x="6203752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6112272" y="6038453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准确、完整、可用</a:t>
            </a:r>
            <a:endParaRPr/>
          </a:p>
        </p:txBody>
      </p:sp>
      <p:sp>
        <p:nvSpPr>
          <p:cNvPr id="113" name="文字 113"/>
          <p:cNvSpPr txBox="1"/>
          <p:nvPr/>
        </p:nvSpPr>
        <p:spPr>
          <a:xfrm>
            <a:off x="457200" y="6296223"/>
            <a:ext cx="338832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热度 score、TRACE 质量分与双路安全报告分别表达不同信号。</a:t>
            </a:r>
            <a:endParaRPr/>
          </a:p>
        </p:txBody>
      </p:sp>
      <p:pic>
        <p:nvPicPr>
          <p:cNvPr id="114" name="slide-001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621389" y="5454253"/>
            <a:ext cx="4113411" cy="1060846"/>
          </a:xfrm>
          <a:prstGeom prst="rect">
            <a:avLst/>
          </a:prstGeom>
        </p:spPr>
      </p:pic>
      <p:sp>
        <p:nvSpPr>
          <p:cNvPr id="115" name="文字 115"/>
          <p:cNvSpPr txBox="1"/>
          <p:nvPr/>
        </p:nvSpPr>
        <p:spPr>
          <a:xfrm>
            <a:off x="7773790" y="5479653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平台建设启示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7773790" y="5746353"/>
            <a:ext cx="220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 Skill 为管理单元，贯通来源版本、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7773790" y="5939631"/>
            <a:ext cx="22796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安装条件、质量证据和实际任务结果。</a:t>
            </a:r>
            <a:endParaRPr/>
          </a:p>
        </p:txBody>
      </p:sp>
      <p:sp>
        <p:nvSpPr>
          <p:cNvPr id="118" name="文字 118"/>
          <p:cNvSpPr txBox="1"/>
          <p:nvPr/>
        </p:nvSpPr>
        <p:spPr>
          <a:xfrm>
            <a:off x="7773790" y="6190060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待核查：统计口径与评测版本一致性；</a:t>
            </a:r>
            <a:endParaRPr/>
          </a:p>
        </p:txBody>
      </p:sp>
      <p:sp>
        <p:nvSpPr>
          <p:cNvPr id="119" name="文字 119"/>
          <p:cNvSpPr txBox="1"/>
          <p:nvPr/>
        </p:nvSpPr>
        <p:spPr>
          <a:xfrm>
            <a:off x="7773790" y="6358930"/>
            <a:ext cx="204598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开源 evaluator 不等于全量动态实测。</a:t>
            </a:r>
            <a:endParaRPr/>
          </a:p>
        </p:txBody>
      </p:sp>
      <p:pic>
        <p:nvPicPr>
          <p:cNvPr id="121" name="slide-001-image-19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SkillHub：用 TRACE 把 Skill 分发从「能装」推向「可评」</a:t>
            </a:r>
            <a:endParaRPr/>
          </a:p>
        </p:txBody>
      </p:sp>
      <p:pic>
        <p:nvPicPr>
          <p:cNvPr id="9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4191"/>
            <a:ext cx="11277600" cy="565150"/>
          </a:xfrm>
          <a:prstGeom prst="rect">
            <a:avLst/>
          </a:prstGeom>
        </p:spPr>
      </p:pic>
      <p:pic>
        <p:nvPicPr>
          <p:cNvPr id="10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14041"/>
            <a:ext cx="2819400" cy="42545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182291"/>
            <a:ext cx="97284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1487091"/>
            <a:ext cx="85496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技能数</a:t>
            </a:r>
            <a:endParaRPr/>
          </a:p>
        </p:txBody>
      </p:sp>
      <p:pic>
        <p:nvPicPr>
          <p:cNvPr id="13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600" y="1214041"/>
            <a:ext cx="2819400" cy="425450"/>
          </a:xfrm>
          <a:prstGeom prst="rect">
            <a:avLst/>
          </a:prstGeom>
        </p:spPr>
      </p:pic>
      <p:sp>
        <p:nvSpPr>
          <p:cNvPr id="14" name="文字 14"/>
          <p:cNvSpPr txBox="1"/>
          <p:nvPr/>
        </p:nvSpPr>
        <p:spPr>
          <a:xfrm>
            <a:off x="3390900" y="1182291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1,993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3390900" y="148709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入驻企业</a:t>
            </a:r>
            <a:endParaRPr/>
          </a:p>
        </p:txBody>
      </p:sp>
      <p:pic>
        <p:nvPicPr>
          <p:cNvPr id="1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214041"/>
            <a:ext cx="2819400" cy="4254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6210300" y="1182291"/>
            <a:ext cx="42426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155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6210300" y="1487091"/>
            <a:ext cx="8190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腾讯官方 Skills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9029700" y="1182291"/>
            <a:ext cx="56138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4.54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9029700" y="1487091"/>
            <a:ext cx="1346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均分 · 40 条有效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57200" y="1823641"/>
            <a:ext cx="1546721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 · 资产结构 / 4 层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57200" y="2058591"/>
            <a:ext cx="17917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 → 场景 → 方法 → 工具。</a:t>
            </a:r>
            <a:endParaRPr/>
          </a:p>
        </p:txBody>
      </p:sp>
      <p:pic>
        <p:nvPicPr>
          <p:cNvPr id="23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270621"/>
            <a:ext cx="2762250" cy="549771"/>
          </a:xfrm>
          <a:prstGeom prst="rect">
            <a:avLst/>
          </a:prstGeom>
        </p:spPr>
      </p:pic>
      <p:sp>
        <p:nvSpPr>
          <p:cNvPr id="24" name="文字 24"/>
          <p:cNvSpPr txBox="1"/>
          <p:nvPr/>
        </p:nvSpPr>
        <p:spPr>
          <a:xfrm>
            <a:off x="457200" y="2340471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L4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952500" y="2353171"/>
            <a:ext cx="4272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SOUL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52500" y="257026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人格、表达与协作方式</a:t>
            </a:r>
            <a:endParaRPr/>
          </a:p>
        </p:txBody>
      </p:sp>
      <p:pic>
        <p:nvPicPr>
          <p:cNvPr id="27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2820392"/>
            <a:ext cx="2762250" cy="549771"/>
          </a:xfrm>
          <a:prstGeom prst="rect">
            <a:avLst/>
          </a:prstGeom>
        </p:spPr>
      </p:pic>
      <p:sp>
        <p:nvSpPr>
          <p:cNvPr id="28" name="文字 28"/>
          <p:cNvSpPr txBox="1"/>
          <p:nvPr/>
        </p:nvSpPr>
        <p:spPr>
          <a:xfrm>
            <a:off x="457200" y="2890242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L3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952500" y="2902942"/>
            <a:ext cx="1055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专家包 / 技能包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952500" y="3120033"/>
            <a:ext cx="13039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按场景组合多个 Skills</a:t>
            </a:r>
            <a:endParaRPr/>
          </a:p>
        </p:txBody>
      </p:sp>
      <p:pic>
        <p:nvPicPr>
          <p:cNvPr id="31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370163"/>
            <a:ext cx="2762250" cy="549771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3440013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L2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952500" y="3452713"/>
            <a:ext cx="34220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952500" y="3669804"/>
            <a:ext cx="14805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指令 + 脚本 + 参考 + 模板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3989785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L1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952500" y="4002484"/>
            <a:ext cx="34458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952500" y="4219575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连接外部数据与受控动作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57200" y="4526855"/>
            <a:ext cx="16319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分析视图；评测与安全横跨四层。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57200" y="4851400"/>
            <a:ext cx="17828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 万 Skill / 13 类 / 1,993 企业</a:t>
            </a:r>
            <a:endParaRPr/>
          </a:p>
        </p:txBody>
      </p:sp>
      <p:pic>
        <p:nvPicPr>
          <p:cNvPr id="40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71850" y="1798241"/>
            <a:ext cx="3270250" cy="3205559"/>
          </a:xfrm>
          <a:prstGeom prst="rect">
            <a:avLst/>
          </a:prstGeom>
        </p:spPr>
      </p:pic>
      <p:sp>
        <p:nvSpPr>
          <p:cNvPr id="41" name="文字 41"/>
          <p:cNvSpPr txBox="1"/>
          <p:nvPr/>
        </p:nvSpPr>
        <p:spPr>
          <a:xfrm>
            <a:off x="3517900" y="1823641"/>
            <a:ext cx="1546721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 · 资产消费 / 4 环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3517900" y="2058591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从全球同步到云端试跑，入口已铺到宿主内。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17900" y="2257921"/>
            <a:ext cx="3124200" cy="702767"/>
          </a:xfrm>
          <a:prstGeom prst="rect">
            <a:avLst/>
          </a:prstGeom>
        </p:spPr>
      </p:pic>
      <p:sp>
        <p:nvSpPr>
          <p:cNvPr id="44" name="形状 44"/>
          <p:cNvSpPr/>
          <p:nvPr/>
        </p:nvSpPr>
        <p:spPr>
          <a:xfrm>
            <a:off x="3517900" y="2315071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3559770" y="2349996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3854450" y="2321421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来源：全球同步与本土共建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854450" y="2536627"/>
            <a:ext cx="27436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同步 / 社区 / 企业；Top50 样本 46%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3854450" y="2723257"/>
            <a:ext cx="74860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/ 28% / 26%</a:t>
            </a:r>
            <a:endParaRPr/>
          </a:p>
        </p:txBody>
      </p:sp>
      <p:pic>
        <p:nvPicPr>
          <p:cNvPr id="49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17900" y="2960688"/>
            <a:ext cx="3124200" cy="516136"/>
          </a:xfrm>
          <a:prstGeom prst="rect">
            <a:avLst/>
          </a:prstGeom>
        </p:spPr>
      </p:pic>
      <p:sp>
        <p:nvSpPr>
          <p:cNvPr id="50" name="形状 50"/>
          <p:cNvSpPr/>
          <p:nvPr/>
        </p:nvSpPr>
        <p:spPr>
          <a:xfrm>
            <a:off x="3517900" y="3017838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文字 51"/>
          <p:cNvSpPr txBox="1"/>
          <p:nvPr/>
        </p:nvSpPr>
        <p:spPr>
          <a:xfrm>
            <a:off x="3559770" y="3052763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3854450" y="3024188"/>
            <a:ext cx="1741587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发布：目录、ZIP 与团队库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3854450" y="3239393"/>
            <a:ext cx="27391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网页 / CLI / GitHub；版本、可见性、团队审核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17900" y="3476823"/>
            <a:ext cx="3124200" cy="516136"/>
          </a:xfrm>
          <a:prstGeom prst="rect">
            <a:avLst/>
          </a:prstGeom>
        </p:spPr>
      </p:pic>
      <p:sp>
        <p:nvSpPr>
          <p:cNvPr id="55" name="形状 55"/>
          <p:cNvSpPr/>
          <p:nvPr/>
        </p:nvSpPr>
        <p:spPr>
          <a:xfrm>
            <a:off x="3517900" y="3533974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文字 56"/>
          <p:cNvSpPr txBox="1"/>
          <p:nvPr/>
        </p:nvSpPr>
        <p:spPr>
          <a:xfrm>
            <a:off x="3559770" y="3568898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3854450" y="3540323"/>
            <a:ext cx="182840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消费：CLI / DSH / API / ZIP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854450" y="3755529"/>
            <a:ext cx="206771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pic>
        <p:nvPicPr>
          <p:cNvPr id="59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17900" y="3992960"/>
            <a:ext cx="3124200" cy="516136"/>
          </a:xfrm>
          <a:prstGeom prst="rect">
            <a:avLst/>
          </a:prstGeom>
        </p:spPr>
      </p:pic>
      <p:sp>
        <p:nvSpPr>
          <p:cNvPr id="60" name="形状 60"/>
          <p:cNvSpPr/>
          <p:nvPr/>
        </p:nvSpPr>
        <p:spPr>
          <a:xfrm>
            <a:off x="3517900" y="4050110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59770" y="4085035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3854450" y="4056460"/>
            <a:ext cx="191779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试运行：云端会话 + 运行案例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3854450" y="4271665"/>
            <a:ext cx="238412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前端已实现创建/恢复/加载；本次未实测</a:t>
            </a:r>
            <a:endParaRPr/>
          </a:p>
        </p:txBody>
      </p:sp>
      <p:pic>
        <p:nvPicPr>
          <p:cNvPr id="64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17900" y="4593630"/>
            <a:ext cx="3124200" cy="41017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3517900" y="4663480"/>
            <a:ext cx="26187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3517900" y="4847630"/>
            <a:ext cx="267741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默认 ./skills；DSH ~/.dsh/skills；不自动装依赖。</a:t>
            </a:r>
            <a:endParaRPr/>
          </a:p>
        </p:txBody>
      </p:sp>
      <p:pic>
        <p:nvPicPr>
          <p:cNvPr id="67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94501" y="1798241"/>
            <a:ext cx="4940300" cy="3205559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6940550" y="1823641"/>
            <a:ext cx="1773238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 · 评测机制 / TRACE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10501908" y="1874441"/>
            <a:ext cx="1245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5 维 · 15 子项 · 满分 5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940550" y="2058591"/>
            <a:ext cx="25909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维度内均分，再五维等权；40 条有效样本。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940550" y="229602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012980" y="2283321"/>
            <a:ext cx="57596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可信任度</a:t>
            </a:r>
            <a:endParaRPr/>
          </a:p>
        </p:txBody>
      </p:sp>
      <p:sp>
        <p:nvSpPr>
          <p:cNvPr id="73" name="形状 73"/>
          <p:cNvSpPr/>
          <p:nvPr/>
        </p:nvSpPr>
        <p:spPr>
          <a:xfrm>
            <a:off x="7969250" y="232390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4" name="形状 74"/>
          <p:cNvSpPr/>
          <p:nvPr/>
        </p:nvSpPr>
        <p:spPr>
          <a:xfrm>
            <a:off x="7969250" y="2323902"/>
            <a:ext cx="3271738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5" name="文字 75"/>
          <p:cNvSpPr txBox="1"/>
          <p:nvPr/>
        </p:nvSpPr>
        <p:spPr>
          <a:xfrm>
            <a:off x="11445181" y="228897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4.87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940550" y="252968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012980" y="2516981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78" name="形状 78"/>
          <p:cNvSpPr/>
          <p:nvPr/>
        </p:nvSpPr>
        <p:spPr>
          <a:xfrm>
            <a:off x="7969250" y="255756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9" name="形状 79"/>
          <p:cNvSpPr/>
          <p:nvPr/>
        </p:nvSpPr>
        <p:spPr>
          <a:xfrm>
            <a:off x="7969250" y="2557562"/>
            <a:ext cx="2922389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0" name="文字 80"/>
          <p:cNvSpPr txBox="1"/>
          <p:nvPr/>
        </p:nvSpPr>
        <p:spPr>
          <a:xfrm>
            <a:off x="11445181" y="252263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4.35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6940550" y="276334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012980" y="275064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83" name="形状 83"/>
          <p:cNvSpPr/>
          <p:nvPr/>
        </p:nvSpPr>
        <p:spPr>
          <a:xfrm>
            <a:off x="7969250" y="279122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4" name="形状 84"/>
          <p:cNvSpPr/>
          <p:nvPr/>
        </p:nvSpPr>
        <p:spPr>
          <a:xfrm>
            <a:off x="7969250" y="2791222"/>
            <a:ext cx="3009702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5" name="文字 85"/>
          <p:cNvSpPr txBox="1"/>
          <p:nvPr/>
        </p:nvSpPr>
        <p:spPr>
          <a:xfrm>
            <a:off x="11445181" y="275629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4.48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6940550" y="2997002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012980" y="298430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88" name="形状 88"/>
          <p:cNvSpPr/>
          <p:nvPr/>
        </p:nvSpPr>
        <p:spPr>
          <a:xfrm>
            <a:off x="7969250" y="302488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9" name="形状 89"/>
          <p:cNvSpPr/>
          <p:nvPr/>
        </p:nvSpPr>
        <p:spPr>
          <a:xfrm>
            <a:off x="7969250" y="3024882"/>
            <a:ext cx="2942531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0" name="文字 90"/>
          <p:cNvSpPr txBox="1"/>
          <p:nvPr/>
        </p:nvSpPr>
        <p:spPr>
          <a:xfrm>
            <a:off x="11445181" y="298995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4.38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940550" y="3230662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7012980" y="321796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93" name="形状 93"/>
          <p:cNvSpPr/>
          <p:nvPr/>
        </p:nvSpPr>
        <p:spPr>
          <a:xfrm>
            <a:off x="7969250" y="325854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4" name="形状 94"/>
          <p:cNvSpPr/>
          <p:nvPr/>
        </p:nvSpPr>
        <p:spPr>
          <a:xfrm>
            <a:off x="7969250" y="3258542"/>
            <a:ext cx="3097113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5" name="文字 95"/>
          <p:cNvSpPr txBox="1"/>
          <p:nvPr/>
        </p:nvSpPr>
        <p:spPr>
          <a:xfrm>
            <a:off x="11445181" y="322361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4.61</a:t>
            </a:r>
            <a:endParaRPr/>
          </a:p>
        </p:txBody>
      </p:sp>
      <p:sp>
        <p:nvSpPr>
          <p:cNvPr id="96" name="形状 96"/>
          <p:cNvSpPr/>
          <p:nvPr/>
        </p:nvSpPr>
        <p:spPr>
          <a:xfrm>
            <a:off x="6940550" y="3464322"/>
            <a:ext cx="1312863" cy="260350"/>
          </a:xfrm>
          <a:prstGeom prst="roundRect">
            <a:avLst>
              <a:gd name="adj" fmla="val 975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7" name="文字 97"/>
          <p:cNvSpPr txBox="1"/>
          <p:nvPr/>
        </p:nvSpPr>
        <p:spPr>
          <a:xfrm>
            <a:off x="7023100" y="3496072"/>
            <a:ext cx="378519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4.54</a:t>
            </a:r>
            <a:endParaRPr/>
          </a:p>
        </p:txBody>
      </p:sp>
      <p:sp>
        <p:nvSpPr>
          <p:cNvPr id="98" name="文字 98"/>
          <p:cNvSpPr txBox="1"/>
          <p:nvPr/>
        </p:nvSpPr>
        <p:spPr>
          <a:xfrm>
            <a:off x="7388920" y="3534172"/>
            <a:ext cx="79464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/ 5 · 五维等权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8342313" y="3530997"/>
            <a:ext cx="253861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中位 4.56 · 72.5% ≥4.5 · 最低 4.12 · 0 条 &lt;4.0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6940550" y="3807222"/>
            <a:ext cx="202634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评测覆盖：企业最高，ClawHub 空白</a:t>
            </a:r>
            <a:endParaRPr/>
          </a:p>
        </p:txBody>
      </p:sp>
      <p:sp>
        <p:nvSpPr>
          <p:cNvPr id="101" name="文字 101"/>
          <p:cNvSpPr txBox="1"/>
          <p:nvPr/>
        </p:nvSpPr>
        <p:spPr>
          <a:xfrm>
            <a:off x="6940550" y="400407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</a:t>
            </a:r>
            <a:endParaRPr/>
          </a:p>
        </p:txBody>
      </p:sp>
      <p:sp>
        <p:nvSpPr>
          <p:cNvPr id="102" name="形状 102"/>
          <p:cNvSpPr/>
          <p:nvPr/>
        </p:nvSpPr>
        <p:spPr>
          <a:xfrm>
            <a:off x="7499350" y="403582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3" name="形状 103"/>
          <p:cNvSpPr/>
          <p:nvPr/>
        </p:nvSpPr>
        <p:spPr>
          <a:xfrm>
            <a:off x="7499350" y="4035822"/>
            <a:ext cx="3854450" cy="698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4" name="文字 104"/>
          <p:cNvSpPr txBox="1"/>
          <p:nvPr/>
        </p:nvSpPr>
        <p:spPr>
          <a:xfrm>
            <a:off x="11475641" y="4000897"/>
            <a:ext cx="2718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100%</a:t>
            </a:r>
            <a:endParaRPr/>
          </a:p>
        </p:txBody>
      </p:sp>
      <p:sp>
        <p:nvSpPr>
          <p:cNvPr id="105" name="文字 105"/>
          <p:cNvSpPr txBox="1"/>
          <p:nvPr/>
        </p:nvSpPr>
        <p:spPr>
          <a:xfrm>
            <a:off x="6940550" y="421362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</a:t>
            </a:r>
            <a:endParaRPr/>
          </a:p>
        </p:txBody>
      </p:sp>
      <p:sp>
        <p:nvSpPr>
          <p:cNvPr id="106" name="形状 106"/>
          <p:cNvSpPr/>
          <p:nvPr/>
        </p:nvSpPr>
        <p:spPr>
          <a:xfrm>
            <a:off x="7499350" y="424537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7" name="形状 107"/>
          <p:cNvSpPr/>
          <p:nvPr/>
        </p:nvSpPr>
        <p:spPr>
          <a:xfrm>
            <a:off x="7499350" y="4245372"/>
            <a:ext cx="2852242" cy="698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8" name="文字 108"/>
          <p:cNvSpPr txBox="1"/>
          <p:nvPr/>
        </p:nvSpPr>
        <p:spPr>
          <a:xfrm>
            <a:off x="11540431" y="4210447"/>
            <a:ext cx="20707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74%</a:t>
            </a:r>
            <a:endParaRPr/>
          </a:p>
        </p:txBody>
      </p:sp>
      <p:sp>
        <p:nvSpPr>
          <p:cNvPr id="109" name="文字 109"/>
          <p:cNvSpPr txBox="1"/>
          <p:nvPr/>
        </p:nvSpPr>
        <p:spPr>
          <a:xfrm>
            <a:off x="6940550" y="4423172"/>
            <a:ext cx="52437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</a:t>
            </a:r>
            <a:endParaRPr/>
          </a:p>
        </p:txBody>
      </p:sp>
      <p:sp>
        <p:nvSpPr>
          <p:cNvPr id="110" name="形状 110"/>
          <p:cNvSpPr/>
          <p:nvPr/>
        </p:nvSpPr>
        <p:spPr>
          <a:xfrm>
            <a:off x="7499350" y="445492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11" name="文字 111"/>
          <p:cNvSpPr txBox="1"/>
          <p:nvPr/>
        </p:nvSpPr>
        <p:spPr>
          <a:xfrm>
            <a:off x="11605220" y="4419997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0%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6940550" y="4620022"/>
            <a:ext cx="32275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 60：企业 20/20、社区 20/27、ClawHub 0/6；去重 53，有效 40。</a:t>
            </a:r>
            <a:endParaRPr/>
          </a:p>
        </p:txBody>
      </p:sp>
      <p:pic>
        <p:nvPicPr>
          <p:cNvPr id="113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40550" y="4750792"/>
            <a:ext cx="4794251" cy="406995"/>
          </a:xfrm>
          <a:prstGeom prst="rect">
            <a:avLst/>
          </a:prstGeom>
        </p:spPr>
      </p:pic>
      <p:sp>
        <p:nvSpPr>
          <p:cNvPr id="114" name="文字 114"/>
          <p:cNvSpPr txBox="1"/>
          <p:nvPr/>
        </p:nvSpPr>
        <p:spPr>
          <a:xfrm>
            <a:off x="6940550" y="4826992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证据：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7302500" y="4826992"/>
            <a:ext cx="332501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科恩/云鼎双报告 · 内容指纹 · 数字签名（逐文件 SHA-256）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6940550" y="5001915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示例：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7302500" y="5001915"/>
            <a:ext cx="279469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编程专家Pro 4.4/5；274.5K tokens/次（沙箱预估）</a:t>
            </a:r>
            <a:endParaRPr/>
          </a:p>
        </p:txBody>
      </p:sp>
      <p:pic>
        <p:nvPicPr>
          <p:cNvPr id="118" name="slide-001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7200" y="5105400"/>
            <a:ext cx="11277600" cy="1447800"/>
          </a:xfrm>
          <a:prstGeom prst="rect">
            <a:avLst/>
          </a:prstGeom>
        </p:spPr>
      </p:pic>
      <p:sp>
        <p:nvSpPr>
          <p:cNvPr id="119" name="文字 119"/>
          <p:cNvSpPr txBox="1"/>
          <p:nvPr/>
        </p:nvSpPr>
        <p:spPr>
          <a:xfrm>
            <a:off x="457200" y="5213350"/>
            <a:ext cx="106580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 · 生态画像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5049242" y="5270500"/>
            <a:ext cx="11387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Top50 样本，不代表全量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200" y="548640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来源结构</a:t>
            </a:r>
            <a:endParaRPr/>
          </a:p>
        </p:txBody>
      </p:sp>
      <p:sp>
        <p:nvSpPr>
          <p:cNvPr id="122" name="形状 122"/>
          <p:cNvSpPr/>
          <p:nvPr/>
        </p:nvSpPr>
        <p:spPr>
          <a:xfrm>
            <a:off x="457200" y="5664200"/>
            <a:ext cx="1282998" cy="889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3" name="形状 123"/>
          <p:cNvSpPr/>
          <p:nvPr/>
        </p:nvSpPr>
        <p:spPr>
          <a:xfrm>
            <a:off x="1740198" y="5664200"/>
            <a:ext cx="780951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4" name="形状 124"/>
          <p:cNvSpPr/>
          <p:nvPr/>
        </p:nvSpPr>
        <p:spPr>
          <a:xfrm>
            <a:off x="2521148" y="5664200"/>
            <a:ext cx="725091" cy="8890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5" name="文字 125"/>
          <p:cNvSpPr txBox="1"/>
          <p:nvPr/>
        </p:nvSpPr>
        <p:spPr>
          <a:xfrm>
            <a:off x="457200" y="5797550"/>
            <a:ext cx="445095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 46%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1521718" y="5797550"/>
            <a:ext cx="672802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28%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2813943" y="5797550"/>
            <a:ext cx="445095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 26%</a:t>
            </a:r>
            <a:endParaRPr/>
          </a:p>
        </p:txBody>
      </p:sp>
      <p:sp>
        <p:nvSpPr>
          <p:cNvPr id="128" name="文字 128"/>
          <p:cNvSpPr txBox="1"/>
          <p:nvPr/>
        </p:nvSpPr>
        <p:spPr>
          <a:xfrm>
            <a:off x="3386038" y="548640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下载类别</a:t>
            </a:r>
            <a:endParaRPr/>
          </a:p>
        </p:txBody>
      </p:sp>
      <p:sp>
        <p:nvSpPr>
          <p:cNvPr id="129" name="文字 129"/>
          <p:cNvSpPr txBox="1"/>
          <p:nvPr/>
        </p:nvSpPr>
        <p:spPr>
          <a:xfrm>
            <a:off x="3386038" y="56832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130" name="形状 130"/>
          <p:cNvSpPr/>
          <p:nvPr/>
        </p:nvSpPr>
        <p:spPr>
          <a:xfrm>
            <a:off x="3989288" y="570865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1" name="形状 131"/>
          <p:cNvSpPr/>
          <p:nvPr/>
        </p:nvSpPr>
        <p:spPr>
          <a:xfrm>
            <a:off x="3989288" y="5708650"/>
            <a:ext cx="659011" cy="825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2" name="文字 132"/>
          <p:cNvSpPr txBox="1"/>
          <p:nvPr/>
        </p:nvSpPr>
        <p:spPr>
          <a:xfrm>
            <a:off x="5851426" y="568007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133" name="文字 133"/>
          <p:cNvSpPr txBox="1"/>
          <p:nvPr/>
        </p:nvSpPr>
        <p:spPr>
          <a:xfrm>
            <a:off x="3386038" y="5905500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134" name="形状 134"/>
          <p:cNvSpPr/>
          <p:nvPr/>
        </p:nvSpPr>
        <p:spPr>
          <a:xfrm>
            <a:off x="3989288" y="593090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5" name="形状 135"/>
          <p:cNvSpPr/>
          <p:nvPr/>
        </p:nvSpPr>
        <p:spPr>
          <a:xfrm>
            <a:off x="3989288" y="5930900"/>
            <a:ext cx="235744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6" name="文字 136"/>
          <p:cNvSpPr txBox="1"/>
          <p:nvPr/>
        </p:nvSpPr>
        <p:spPr>
          <a:xfrm>
            <a:off x="5851426" y="590232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137" name="文字 137"/>
          <p:cNvSpPr txBox="1"/>
          <p:nvPr/>
        </p:nvSpPr>
        <p:spPr>
          <a:xfrm>
            <a:off x="3386038" y="61277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138" name="形状 138"/>
          <p:cNvSpPr/>
          <p:nvPr/>
        </p:nvSpPr>
        <p:spPr>
          <a:xfrm>
            <a:off x="3989288" y="615315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9" name="形状 139"/>
          <p:cNvSpPr/>
          <p:nvPr/>
        </p:nvSpPr>
        <p:spPr>
          <a:xfrm>
            <a:off x="3989288" y="6153150"/>
            <a:ext cx="182166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0" name="文字 140"/>
          <p:cNvSpPr txBox="1"/>
          <p:nvPr/>
        </p:nvSpPr>
        <p:spPr>
          <a:xfrm>
            <a:off x="5851426" y="612457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10.2%</a:t>
            </a:r>
            <a:endParaRPr/>
          </a:p>
        </p:txBody>
      </p:sp>
      <p:sp>
        <p:nvSpPr>
          <p:cNvPr id="141" name="文字 141"/>
          <p:cNvSpPr txBox="1"/>
          <p:nvPr/>
        </p:nvSpPr>
        <p:spPr>
          <a:xfrm>
            <a:off x="3386038" y="6350000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142" name="形状 142"/>
          <p:cNvSpPr/>
          <p:nvPr/>
        </p:nvSpPr>
        <p:spPr>
          <a:xfrm>
            <a:off x="3989288" y="637540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3" name="形状 143"/>
          <p:cNvSpPr/>
          <p:nvPr/>
        </p:nvSpPr>
        <p:spPr>
          <a:xfrm>
            <a:off x="3989288" y="6375400"/>
            <a:ext cx="709017" cy="8255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4" name="文字 144"/>
          <p:cNvSpPr txBox="1"/>
          <p:nvPr/>
        </p:nvSpPr>
        <p:spPr>
          <a:xfrm>
            <a:off x="5851426" y="634682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pic>
        <p:nvPicPr>
          <p:cNvPr id="145" name="slide-001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40376" y="5187950"/>
            <a:ext cx="5394425" cy="1365250"/>
          </a:xfrm>
          <a:prstGeom prst="rect">
            <a:avLst/>
          </a:prstGeom>
        </p:spPr>
      </p:pic>
      <p:sp>
        <p:nvSpPr>
          <p:cNvPr id="146" name="文字 146"/>
          <p:cNvSpPr txBox="1"/>
          <p:nvPr/>
        </p:nvSpPr>
        <p:spPr>
          <a:xfrm>
            <a:off x="6486426" y="5213350"/>
            <a:ext cx="148778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 · 结论 / 3 个判断</a:t>
            </a:r>
            <a:endParaRPr/>
          </a:p>
        </p:txBody>
      </p:sp>
      <p:sp>
        <p:nvSpPr>
          <p:cNvPr id="147" name="文字 147"/>
          <p:cNvSpPr txBox="1"/>
          <p:nvPr/>
        </p:nvSpPr>
        <p:spPr>
          <a:xfrm>
            <a:off x="6486426" y="544195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48" name="文字 148"/>
          <p:cNvSpPr txBox="1"/>
          <p:nvPr/>
        </p:nvSpPr>
        <p:spPr>
          <a:xfrm>
            <a:off x="6486426" y="559435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评测成为分发的一部分</a:t>
            </a:r>
            <a:endParaRPr/>
          </a:p>
        </p:txBody>
      </p:sp>
      <p:sp>
        <p:nvSpPr>
          <p:cNvPr id="149" name="文字 149"/>
          <p:cNvSpPr txBox="1"/>
          <p:nvPr/>
        </p:nvSpPr>
        <p:spPr>
          <a:xfrm>
            <a:off x="6486426" y="5793085"/>
            <a:ext cx="15810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五维/15 子项 + 双路安</a:t>
            </a:r>
            <a:endParaRPr/>
          </a:p>
        </p:txBody>
      </p:sp>
      <p:sp>
        <p:nvSpPr>
          <p:cNvPr id="150" name="文字 150"/>
          <p:cNvSpPr txBox="1"/>
          <p:nvPr/>
        </p:nvSpPr>
        <p:spPr>
          <a:xfrm>
            <a:off x="6486426" y="5961955"/>
            <a:ext cx="16287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 + 内容指纹/签名，把「选」</a:t>
            </a:r>
            <a:endParaRPr/>
          </a:p>
        </p:txBody>
      </p:sp>
      <p:sp>
        <p:nvSpPr>
          <p:cNvPr id="151" name="文字 151"/>
          <p:cNvSpPr txBox="1"/>
          <p:nvPr/>
        </p:nvSpPr>
        <p:spPr>
          <a:xfrm>
            <a:off x="6486426" y="6130826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从下载量变成证据链。</a:t>
            </a:r>
            <a:endParaRPr/>
          </a:p>
        </p:txBody>
      </p:sp>
      <p:sp>
        <p:nvSpPr>
          <p:cNvPr id="152" name="文字 152"/>
          <p:cNvSpPr txBox="1"/>
          <p:nvPr/>
        </p:nvSpPr>
        <p:spPr>
          <a:xfrm>
            <a:off x="8269684" y="544195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53" name="文字 153"/>
          <p:cNvSpPr txBox="1"/>
          <p:nvPr/>
        </p:nvSpPr>
        <p:spPr>
          <a:xfrm>
            <a:off x="8269684" y="559435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评测与企业供给强绑定</a:t>
            </a:r>
            <a:endParaRPr/>
          </a:p>
        </p:txBody>
      </p:sp>
      <p:sp>
        <p:nvSpPr>
          <p:cNvPr id="154" name="文字 154"/>
          <p:cNvSpPr txBox="1"/>
          <p:nvPr/>
        </p:nvSpPr>
        <p:spPr>
          <a:xfrm>
            <a:off x="8269684" y="5793085"/>
            <a:ext cx="131703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抽样中企业 100%、社区</a:t>
            </a:r>
            <a:endParaRPr/>
          </a:p>
        </p:txBody>
      </p:sp>
      <p:sp>
        <p:nvSpPr>
          <p:cNvPr id="155" name="文字 155"/>
          <p:cNvSpPr txBox="1"/>
          <p:nvPr/>
        </p:nvSpPr>
        <p:spPr>
          <a:xfrm>
            <a:off x="8269684" y="5961955"/>
            <a:ext cx="15779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74%、ClawHub 0%；高分集</a:t>
            </a:r>
            <a:endParaRPr/>
          </a:p>
        </p:txBody>
      </p:sp>
      <p:sp>
        <p:nvSpPr>
          <p:cNvPr id="156" name="文字 156"/>
          <p:cNvSpPr txBox="1"/>
          <p:nvPr/>
        </p:nvSpPr>
        <p:spPr>
          <a:xfrm>
            <a:off x="8269684" y="6130826"/>
            <a:ext cx="103554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中，72.5% ≥4.5。</a:t>
            </a:r>
            <a:endParaRPr/>
          </a:p>
        </p:txBody>
      </p:sp>
      <p:sp>
        <p:nvSpPr>
          <p:cNvPr id="157" name="文字 157"/>
          <p:cNvSpPr txBox="1"/>
          <p:nvPr/>
        </p:nvSpPr>
        <p:spPr>
          <a:xfrm>
            <a:off x="10053043" y="5441950"/>
            <a:ext cx="13463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158" name="文字 158"/>
          <p:cNvSpPr txBox="1"/>
          <p:nvPr/>
        </p:nvSpPr>
        <p:spPr>
          <a:xfrm>
            <a:off x="10053043" y="559435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下一关是可信规模化</a:t>
            </a:r>
            <a:endParaRPr/>
          </a:p>
        </p:txBody>
      </p:sp>
      <p:sp>
        <p:nvSpPr>
          <p:cNvPr id="159" name="文字 159"/>
          <p:cNvSpPr txBox="1"/>
          <p:nvPr/>
        </p:nvSpPr>
        <p:spPr>
          <a:xfrm>
            <a:off x="10053043" y="5793085"/>
            <a:ext cx="15811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全量覆盖、版本一致、评测与</a:t>
            </a:r>
            <a:endParaRPr/>
          </a:p>
        </p:txBody>
      </p:sp>
      <p:sp>
        <p:nvSpPr>
          <p:cNvPr id="160" name="文字 160"/>
          <p:cNvSpPr txBox="1"/>
          <p:nvPr/>
        </p:nvSpPr>
        <p:spPr>
          <a:xfrm>
            <a:off x="10053043" y="5961955"/>
            <a:ext cx="15811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包内容对齐；否则评测只是精</a:t>
            </a:r>
            <a:endParaRPr/>
          </a:p>
        </p:txBody>
      </p:sp>
      <p:sp>
        <p:nvSpPr>
          <p:cNvPr id="161" name="文字 161"/>
          <p:cNvSpPr txBox="1"/>
          <p:nvPr/>
        </p:nvSpPr>
        <p:spPr>
          <a:xfrm>
            <a:off x="10053043" y="6130826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品标签。</a:t>
            </a:r>
            <a:endParaRPr/>
          </a:p>
        </p:txBody>
      </p:sp>
      <p:pic>
        <p:nvPicPr>
          <p:cNvPr id="163" name="slide-001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44860"/>
            <a:ext cx="11277600" cy="758428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pic>
        <p:nvPicPr>
          <p:cNvPr id="8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44860"/>
            <a:ext cx="11277600" cy="682625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44860"/>
            <a:ext cx="11277600" cy="615950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pic>
        <p:nvPicPr>
          <p:cNvPr id="8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44860"/>
            <a:ext cx="11277600" cy="401241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6891"/>
            <a:ext cx="11277600" cy="552450"/>
          </a:xfrm>
          <a:prstGeom prst="rect">
            <a:avLst/>
          </a:prstGeom>
        </p:spPr>
      </p:pic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两个平台的商业化：阿里卖商品权益，腾讯连付费服务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87680" y="925830"/>
          <a:ext cx="12192000" cy="29832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6880"/>
                <a:gridCol w="5242560"/>
                <a:gridCol w="524256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阿里：SkillPay + MachinePay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腾讯：SkillHub SkillPay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卖什么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商品/权益：买断源码、订阅云端；MachinePay 按次 API / MCP 资源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包负责发现与调用；远程服务按次收费，如 WorkRally 0.36 元/次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平台角色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商品化、试用/版本/权益、402 支付、云端保护、退款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企业认证、商户绑定、开发者签名、定价审核、分发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交易与履约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402 报价 → 付款凭证 → 验付 → 履约回执；商户做幂等与业务核对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微信订单 → AI 支付码 → payment_code → payment_id；商户验付后交付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开发者定价、资金直达；平台费率未公开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平台技术服务费暂免；服务商从远程服务变现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值得借鉴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先定义购买权益与交付形态，再做试用、续购与持续更新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保留低门槛安装入口，把收费放在持续服务端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8768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398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阿里：商品经营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8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 / 订阅 / 试用 / 退款 + 402 验付；强在权益与交付；平台费率未公开。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350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腾讯：服务入口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50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免费包 + 远程按次 + 微信支付；强在分发与商户连接；平台技术服务费暂免。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共同待解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费率、结算、退款、质量；公开信息不足，需按协议核实；不要把示例当全量。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" y="5589270"/>
            <a:ext cx="112166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一句话：阿里把 Skill 变成商品，腾讯把 Skill 变成付费服务的入口。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593217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96" y="593217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阿里证明 Skill 可以商品化，腾讯证明 Skill 可以服务化；智果园要选一条能对账的路径。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对智果园的启示：补商业编排，而不是再堆资产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先定义卖什么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买断、订阅、按次三种形态并存；商品是权益，不是文件；先定 SKU、价格、许可与版本；试用、续购、更新要连成经营。先做一个可售 SKU 试点，再扩品类。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88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56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532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把交易接进任务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56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402/支付凭证/验付/履约，或微信支付码/回调；支付成功 ≠ 交付成功；重试不重复扣费；已付未交付可恢复。把支付、权益、履约写成状态机。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740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6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平台做可信中介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企业认证、开发者签名、版本/许可、退款/争议；上架补质量与收费测试；订单、收益、退款要能对账。把作者收益、退款、申诉产品化。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8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956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532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智果园的差异化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56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复用 AI 资产广场供给 + CodeArts Agent 宿主；先做行业标杆，不追规模；首期免费入口 + 付费远程能力。先用 3–5 个行业标杆验证。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" y="4354830"/>
            <a:ext cx="11338560" cy="92583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4437126"/>
            <a:ext cx="1950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首期路径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发现 / 安装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 Skill 入口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79904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 / 版本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084320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8432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试用 / 购买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8432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商品 / 订单 / 买家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888736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2847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服务端验权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2847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限额 / 有效期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93151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执行 / 计量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同一任务一次消费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97568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3168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交付 / 对账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168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恢复 / 补偿 / 售后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520690"/>
            <a:ext cx="112166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首期建议：免费 Skill 入口 + 付费远程能力，先跑通一条可对账的交易闭环。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897880"/>
            <a:ext cx="1121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验收以付费任务履约为准：重复请求不重复扣费，已付未交付可恢复，退款与权益、账单一致。</a:t>
            </a:r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