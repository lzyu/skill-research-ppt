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61.png"/><Relationship Id="rId18" Type="http://schemas.openxmlformats.org/officeDocument/2006/relationships/image" Target="../media/image62.png"/><Relationship Id="rId19" Type="http://schemas.openxmlformats.org/officeDocument/2006/relationships/image" Target="../media/image63.png"/><Relationship Id="rId20" Type="http://schemas.openxmlformats.org/officeDocument/2006/relationships/image" Target="../media/image64.png"/><Relationship Id="rId21" Type="http://schemas.openxmlformats.org/officeDocument/2006/relationships/image" Target="../media/image65.png"/><Relationship Id="rId22" Type="http://schemas.openxmlformats.org/officeDocument/2006/relationships/image" Target="../media/image66.png"/><Relationship Id="rId23" Type="http://schemas.openxmlformats.org/officeDocument/2006/relationships/image" Target="../media/image67.png"/><Relationship Id="rId24" Type="http://schemas.openxmlformats.org/officeDocument/2006/relationships/image" Target="../media/image68.png"/><Relationship Id="rId25" Type="http://schemas.openxmlformats.org/officeDocument/2006/relationships/image" Target="../media/image69.png"/><Relationship Id="rId26" Type="http://schemas.openxmlformats.org/officeDocument/2006/relationships/image" Target="../media/image70.png"/><Relationship Id="rId27" Type="http://schemas.openxmlformats.org/officeDocument/2006/relationships/image" Target="../media/image71.png"/><Relationship Id="rId28" Type="http://schemas.openxmlformats.org/officeDocument/2006/relationships/image" Target="../media/image72.png"/><Relationship Id="rId29" Type="http://schemas.openxmlformats.org/officeDocument/2006/relationships/image" Target="../media/image73.png"/><Relationship Id="rId30" Type="http://schemas.openxmlformats.org/officeDocument/2006/relationships/image" Target="../media/image74.png"/><Relationship Id="rId31" Type="http://schemas.openxmlformats.org/officeDocument/2006/relationships/image" Target="../media/image75.png"/><Relationship Id="rId32" Type="http://schemas.openxmlformats.org/officeDocument/2006/relationships/image" Target="../media/image76.png"/><Relationship Id="rId33" Type="http://schemas.openxmlformats.org/officeDocument/2006/relationships/image" Target="../media/image77.png"/><Relationship Id="rId34" Type="http://schemas.openxmlformats.org/officeDocument/2006/relationships/image" Target="../media/image78.png"/><Relationship Id="rId35" Type="http://schemas.openxmlformats.org/officeDocument/2006/relationships/image" Target="../media/image79.png"/><Relationship Id="rId36" Type="http://schemas.openxmlformats.org/officeDocument/2006/relationships/image" Target="../media/image8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508000" y="311150"/>
            <a:ext cx="670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MODELSCOPE SKILLS CENTER / 生态洞察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508000" y="527050"/>
            <a:ext cx="111963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中心：8.35 万技能撑起四层框架，验证闭环仍缺一环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08000" y="932160"/>
            <a:ext cx="73945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是模型与 Agent 之间的方法资产层。魔搭已跑通来源、发布、安装与多宿主消费，但技能级试运行与质量信号仍未成形。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508000" y="1207691"/>
            <a:ext cx="11176001" cy="531416"/>
          </a:xfrm>
          <a:prstGeom prst="roundRect">
            <a:avLst>
              <a:gd name="adj" fmla="val 1433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214041"/>
            <a:ext cx="2790825" cy="518716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64135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41350" y="1542256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技能总数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1214041"/>
            <a:ext cx="2790825" cy="518716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343217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30.9%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432175" y="1542256"/>
            <a:ext cx="5842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聚合镜像占比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4041"/>
            <a:ext cx="2790825" cy="518716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622300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0.4%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6223000" y="1542256"/>
            <a:ext cx="1007864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平台官方占比 · 阿里系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901382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65.9%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9013825" y="1542256"/>
            <a:ext cx="91271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Top1% 技能下载占比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08000" y="1872456"/>
            <a:ext cx="2152352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资产定位与结构 / 4 LAYERS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508000" y="2062956"/>
            <a:ext cx="3660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不是模型，也不是 Agent 运行时；它是可加载的方法层。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08000" y="2253258"/>
            <a:ext cx="157787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 层为分析框架，非 ModelScope 官方定义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508000" y="2424013"/>
            <a:ext cx="3743524" cy="720626"/>
          </a:xfrm>
          <a:prstGeom prst="roundRect">
            <a:avLst>
              <a:gd name="adj" fmla="val 105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670520" y="273982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20750" y="25958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应用交付层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733550" y="2646660"/>
            <a:ext cx="59382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创空间 17.3k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20750" y="2811760"/>
            <a:ext cx="27273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调用 Skill 完成任务；实验场可直接对话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201789"/>
            <a:ext cx="3743524" cy="720725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689570" y="351770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9800" y="337373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方法资产层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1752600" y="3424535"/>
            <a:ext cx="67056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Skills 83.5k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2499360" y="3430885"/>
            <a:ext cx="4889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核心资产层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39800" y="3589635"/>
            <a:ext cx="24426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 + scripts + references + assets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508000" y="3979664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670520" y="429557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920750" y="415161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工具连接层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733550" y="4202410"/>
            <a:ext cx="50055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 12.7k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20750" y="4367510"/>
            <a:ext cx="24319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把外部工具与模型服务接进 Agent 运行时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508000" y="4757539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70520" y="507345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920750" y="492948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基础资源层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733550" y="4980285"/>
            <a:ext cx="119201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 273k · 数据集 44.7k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920750" y="5145385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模型与数据，提供能力原料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391224" y="1872456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391224" y="2062956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来源、发布、消费已通；试运行有入口、无沙箱。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391224" y="2310408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438154" y="2351683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683324" y="2310408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5026224" y="2367558"/>
            <a:ext cx="3861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83324" y="2517378"/>
            <a:ext cx="23135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GitHub 占 74% · 6 月批量入库占 47%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683324" y="2707680"/>
            <a:ext cx="26742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source_url 关联原作；官方仓库提供 ms-hub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4391224" y="3105547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4438154" y="3146822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683324" y="3105547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5026224" y="3162697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PUBLISH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683324" y="3312517"/>
            <a:ext cx="12467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zip → 创建 Skill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683324" y="3502819"/>
            <a:ext cx="21057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根目录仅 1 个 SKILL.md、≤5MB；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683324" y="3686770"/>
            <a:ext cx="123715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owner/name 不可改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4391224" y="3900686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4438154" y="3941961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683324" y="3900686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026224" y="3957836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CONSUME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683324" y="4107656"/>
            <a:ext cx="183147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/ curl / CLI / SDK 四种方式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683324" y="4297958"/>
            <a:ext cx="2361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装到 ~/.agents/skills；Cursor、Claude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683324" y="4481910"/>
            <a:ext cx="12855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Code、Codex 可发现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391224" y="4695825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4438154" y="473710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683324" y="4695825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5172274" y="4752975"/>
            <a:ext cx="19943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683324" y="4902795"/>
            <a:ext cx="25653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详情页「前往实验场试用」→ Agent 实验场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4683324" y="5093097"/>
            <a:ext cx="248245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需登录；MCP 有实验场，Skill 侧没有沙箱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606110" y="1872456"/>
            <a:ext cx="2361704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生态画像 / 规模 · 供给 · 消费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606110" y="2062956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开发者工具供给最厚，官方与垂直供给最薄。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606110" y="230405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一级分类供给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656491" y="2342158"/>
            <a:ext cx="104021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 10 类 · Top3 占 66%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606110" y="25390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开发工具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330010" y="25644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330010" y="2564408"/>
            <a:ext cx="2896790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290300" y="25326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27,928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606110" y="27549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代码质检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330010" y="27803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330010" y="2780308"/>
            <a:ext cx="1748135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290300" y="27485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16,854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606110" y="29708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媒体处理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330010" y="29962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8330010" y="2996208"/>
            <a:ext cx="109606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290300" y="29644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10,569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7606110" y="31867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前端开发</a:t>
            </a:r>
            <a:endParaRPr/>
          </a:p>
        </p:txBody>
      </p:sp>
      <p:sp>
        <p:nvSpPr>
          <p:cNvPr id="92" name="形状 92"/>
          <p:cNvSpPr/>
          <p:nvPr/>
        </p:nvSpPr>
        <p:spPr>
          <a:xfrm>
            <a:off x="8330010" y="32121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3" name="形状 93"/>
          <p:cNvSpPr/>
          <p:nvPr/>
        </p:nvSpPr>
        <p:spPr>
          <a:xfrm>
            <a:off x="8330010" y="3212108"/>
            <a:ext cx="69343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文字 94"/>
          <p:cNvSpPr txBox="1"/>
          <p:nvPr/>
        </p:nvSpPr>
        <p:spPr>
          <a:xfrm>
            <a:off x="11341100" y="31803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6,686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606110" y="34026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云效工具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8330010" y="34280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7" name="形状 97"/>
          <p:cNvSpPr/>
          <p:nvPr/>
        </p:nvSpPr>
        <p:spPr>
          <a:xfrm>
            <a:off x="8330010" y="3428008"/>
            <a:ext cx="57497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8" name="文字 98"/>
          <p:cNvSpPr txBox="1"/>
          <p:nvPr/>
        </p:nvSpPr>
        <p:spPr>
          <a:xfrm>
            <a:off x="11341100" y="33962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5,544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7606110" y="36185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市场推广</a:t>
            </a:r>
            <a:endParaRPr/>
          </a:p>
        </p:txBody>
      </p:sp>
      <p:sp>
        <p:nvSpPr>
          <p:cNvPr id="100" name="形状 100"/>
          <p:cNvSpPr/>
          <p:nvPr/>
        </p:nvSpPr>
        <p:spPr>
          <a:xfrm>
            <a:off x="8330010" y="36439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1" name="形状 101"/>
          <p:cNvSpPr/>
          <p:nvPr/>
        </p:nvSpPr>
        <p:spPr>
          <a:xfrm>
            <a:off x="8330010" y="3643908"/>
            <a:ext cx="56108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2" name="文字 102"/>
          <p:cNvSpPr txBox="1"/>
          <p:nvPr/>
        </p:nvSpPr>
        <p:spPr>
          <a:xfrm>
            <a:off x="11341100" y="36121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5,409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606110" y="3834408"/>
            <a:ext cx="49559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 5 类</a:t>
            </a:r>
            <a:endParaRPr/>
          </a:p>
        </p:txBody>
      </p:sp>
      <p:sp>
        <p:nvSpPr>
          <p:cNvPr id="104" name="形状 104"/>
          <p:cNvSpPr/>
          <p:nvPr/>
        </p:nvSpPr>
        <p:spPr>
          <a:xfrm>
            <a:off x="8330010" y="38598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5" name="形状 105"/>
          <p:cNvSpPr/>
          <p:nvPr/>
        </p:nvSpPr>
        <p:spPr>
          <a:xfrm>
            <a:off x="8330010" y="3859808"/>
            <a:ext cx="1090910" cy="82550"/>
          </a:xfrm>
          <a:prstGeom prst="rect">
            <a:avLst/>
          </a:prstGeom>
          <a:solidFill>
            <a:srgbClr val="B9BEC5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6" name="文字 106"/>
          <p:cNvSpPr txBox="1"/>
          <p:nvPr/>
        </p:nvSpPr>
        <p:spPr>
          <a:xfrm>
            <a:off x="11290300" y="38280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10,519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7606110" y="408840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三类供给角色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1303000" y="4126508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账号口径</a:t>
            </a:r>
            <a:endParaRPr/>
          </a:p>
        </p:txBody>
      </p:sp>
      <p:graphicFrame>
        <p:nvGraphicFramePr>
          <p:cNvPr id="109" name="表格 109"/>
          <p:cNvGraphicFramePr/>
          <p:nvPr/>
        </p:nvGraphicFramePr>
        <p:xfrm>
          <a:off x="7606110" y="4297958"/>
          <a:ext cx="4077891" cy="892175"/>
        </p:xfrm>
        <a:graphic>
          <a:graphicData uri="http://schemas.openxmlformats.org/drawingml/2006/table">
            <a:tbl>
              <a:tblPr firstRow="0" bandRow="0"/>
              <a:tblGrid>
                <a:gridCol w="650379"/>
                <a:gridCol w="894259"/>
                <a:gridCol w="1382117"/>
                <a:gridCol w="1138436"/>
              </a:tblGrid>
              <a:tr h="238125"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角色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规模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代表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中位下载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平台官方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337 · 0.4%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ModelScope / 阿里云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374（2.5×）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品牌垂直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~550 · &lt;1%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Anthropic / 小包公 / 网盘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516（3.5×）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590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社区泛用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8.26 万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个人 / 开源 / 聚合镜像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148（镜像 145）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2" name="文字 112"/>
          <p:cNvSpPr txBox="1"/>
          <p:nvPr/>
        </p:nvSpPr>
        <p:spPr>
          <a:xfrm>
            <a:off x="508000" y="5598914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结论 / 3 个判断</a:t>
            </a:r>
            <a:endParaRPr/>
          </a:p>
        </p:txBody>
      </p:sp>
      <p:sp>
        <p:nvSpPr>
          <p:cNvPr id="113" name="形状 113"/>
          <p:cNvSpPr/>
          <p:nvPr/>
        </p:nvSpPr>
        <p:spPr>
          <a:xfrm>
            <a:off x="5080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文字 114"/>
          <p:cNvSpPr txBox="1"/>
          <p:nvPr/>
        </p:nvSpPr>
        <p:spPr>
          <a:xfrm>
            <a:off x="6159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814090" y="588466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框架已成立，供给靠聚合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814090" y="6077347"/>
            <a:ext cx="31337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官方仅 0.4%，聚合镜像占 30.9%；Top3 分类 66%，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814090" y="6261299"/>
            <a:ext cx="12574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24 个二级类目为空。</a:t>
            </a:r>
            <a:endParaRPr/>
          </a:p>
        </p:txBody>
      </p:sp>
      <p:sp>
        <p:nvSpPr>
          <p:cNvPr id="118" name="形状 118"/>
          <p:cNvSpPr/>
          <p:nvPr/>
        </p:nvSpPr>
        <p:spPr>
          <a:xfrm>
            <a:off x="42672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9" name="文字 119"/>
          <p:cNvSpPr txBox="1"/>
          <p:nvPr/>
        </p:nvSpPr>
        <p:spPr>
          <a:xfrm>
            <a:off x="43751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3290" y="588466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消费头部化，垂直更易破圈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3290" y="6077347"/>
            <a:ext cx="3228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品牌/垂直中位 516 下载（长尾 3.5×）；聚合镜像中位</a:t>
            </a:r>
            <a:endParaRPr/>
          </a:p>
        </p:txBody>
      </p:sp>
      <p:sp>
        <p:nvSpPr>
          <p:cNvPr id="122" name="文字 122"/>
          <p:cNvSpPr txBox="1"/>
          <p:nvPr/>
        </p:nvSpPr>
        <p:spPr>
          <a:xfrm>
            <a:off x="4573290" y="6261299"/>
            <a:ext cx="531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仅 145。</a:t>
            </a:r>
            <a:endParaRPr/>
          </a:p>
        </p:txBody>
      </p:sp>
      <p:sp>
        <p:nvSpPr>
          <p:cNvPr id="123" name="形状 123"/>
          <p:cNvSpPr/>
          <p:nvPr/>
        </p:nvSpPr>
        <p:spPr>
          <a:xfrm>
            <a:off x="8026401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4" name="文字 124"/>
          <p:cNvSpPr txBox="1"/>
          <p:nvPr/>
        </p:nvSpPr>
        <p:spPr>
          <a:xfrm>
            <a:off x="8134350" y="5871964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8332490" y="58846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验证与治理是下一环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8332490" y="6077347"/>
            <a:ext cx="316607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发布/安装已通；但无技能级沙箱、无版本号，34% 未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8332490" y="6261299"/>
            <a:ext cx="77420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 License。</a:t>
            </a:r>
            <a:endParaRPr/>
          </a:p>
        </p:txBody>
      </p:sp>
      <p:pic>
        <p:nvPicPr>
          <p:cNvPr id="1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平台洞察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平台洞察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730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/ TRACE 评测洞察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48006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881360"/>
            <a:ext cx="91559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用 ClawHub 同步补齐供给、用企业认证补齐专业场景，再用 TRACE 五维评分、双路安全报告与内容签名，把「选哪个 Skill」变成可解释的决策。</a:t>
            </a:r>
            <a:endParaRPr/>
          </a:p>
        </p:txBody>
      </p:sp>
      <p:pic>
        <p:nvPicPr>
          <p:cNvPr id="9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4191"/>
            <a:ext cx="11277600" cy="565150"/>
          </a:xfrm>
          <a:prstGeom prst="rect">
            <a:avLst/>
          </a:prstGeom>
        </p:spPr>
      </p:pic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4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文字 5"/>
          <p:cNvSpPr txBox="1"/>
          <p:nvPr/>
        </p:nvSpPr>
        <p:spPr>
          <a:xfrm>
            <a:off x="533400" y="387350"/>
            <a:ext cx="67056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LIFECYCLE · 四段实际做法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533400" y="628650"/>
            <a:ext cx="11170920" cy="412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一个 Skill 的四段路：写出来 → 发出去 → 装进去 → 用起来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33400" y="1099245"/>
            <a:ext cx="48656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以 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1007269" y="1117914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1550491" y="1099245"/>
            <a:ext cx="503535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为入口，按需配脚本 / 资料 / 模板；四段路各有具体做法，用完的反馈再回到生产。</a:t>
            </a:r>
            <a:endParaRPr/>
          </a:p>
        </p:txBody>
      </p:sp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51670"/>
            <a:ext cx="2571750" cy="3798788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692150" y="1686024"/>
            <a:ext cx="279202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104755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47552" y="1858069"/>
            <a:ext cx="464642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PRODUCE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2150" y="2073970"/>
            <a:ext cx="16891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把一次做对的过程写下来</a:t>
            </a:r>
            <a:endParaRPr/>
          </a:p>
        </p:txBody>
      </p:sp>
      <p:pic>
        <p:nvPicPr>
          <p:cNvPr id="1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" y="2391470"/>
            <a:ext cx="2254250" cy="37861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793750" y="2416489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1336973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：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470323" y="2416489"/>
            <a:ext cx="28436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name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741984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、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1875334" y="2416489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description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2622252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，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93750" y="2587129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正文写步骤、异常与验收</a:t>
            </a:r>
            <a:endParaRPr/>
          </a:p>
        </p:txBody>
      </p:sp>
      <p:pic>
        <p:nvPicPr>
          <p:cNvPr id="23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50" y="2846288"/>
            <a:ext cx="2254250" cy="378619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793750" y="2852638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跑 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71550" y="2871307"/>
            <a:ext cx="96331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$skill-creator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1922165" y="2852638"/>
            <a:ext cx="7239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生成草稿，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93750" y="3041948"/>
            <a:ext cx="9461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再拿真实任务改</a:t>
            </a:r>
            <a:endParaRPr/>
          </a:p>
        </p:txBody>
      </p:sp>
      <p:pic>
        <p:nvPicPr>
          <p:cNvPr id="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3301107"/>
            <a:ext cx="2254250" cy="378619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793750" y="3307457"/>
            <a:ext cx="141208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现成 MCP / API / SOP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93750" y="349676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封装成方法，并声明依赖</a:t>
            </a:r>
            <a:endParaRPr/>
          </a:p>
        </p:txBody>
      </p:sp>
      <p:pic>
        <p:nvPicPr>
          <p:cNvPr id="3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150" y="3755926"/>
            <a:ext cx="2254250" cy="378619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793750" y="3762276"/>
            <a:ext cx="165725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用「该用 / 不该用 / 边界」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93750" y="3951585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三类任务验证触发与结果</a:t>
            </a:r>
            <a:endParaRPr/>
          </a:p>
        </p:txBody>
      </p:sp>
      <p:pic>
        <p:nvPicPr>
          <p:cNvPr id="34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150" y="4210745"/>
            <a:ext cx="2254250" cy="378619"/>
          </a:xfrm>
          <a:prstGeom prst="rect">
            <a:avLst/>
          </a:prstGeom>
        </p:spPr>
      </p:pic>
      <p:sp>
        <p:nvSpPr>
          <p:cNvPr id="35" name="文字 35"/>
          <p:cNvSpPr txBox="1"/>
          <p:nvPr/>
        </p:nvSpPr>
        <p:spPr>
          <a:xfrm>
            <a:off x="793750" y="4217095"/>
            <a:ext cx="1346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留一个能跑通的样例，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793750" y="4406404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再写清不适用的情况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69215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78105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产物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1013222" y="4866719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498997" y="4861322"/>
            <a:ext cx="1499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+ 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636216" y="4866719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scripts/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13222" y="5023187"/>
            <a:ext cx="680641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references/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681163" y="5017790"/>
            <a:ext cx="5817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+ 评测记录</a:t>
            </a:r>
            <a:endParaRPr/>
          </a:p>
        </p:txBody>
      </p:sp>
      <p:pic>
        <p:nvPicPr>
          <p:cNvPr id="44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49600" y="3274814"/>
            <a:ext cx="190500" cy="152400"/>
          </a:xfrm>
          <a:prstGeom prst="rect">
            <a:avLst/>
          </a:prstGeom>
        </p:spPr>
      </p:pic>
      <p:pic>
        <p:nvPicPr>
          <p:cNvPr id="45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84550" y="1451670"/>
            <a:ext cx="2571750" cy="3798788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43300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9870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98702" y="1858069"/>
            <a:ext cx="658316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DISTRIBUTE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543300" y="2073970"/>
            <a:ext cx="15367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把确定的版本交到手上</a:t>
            </a:r>
            <a:endParaRPr/>
          </a:p>
        </p:txBody>
      </p:sp>
      <p:pic>
        <p:nvPicPr>
          <p:cNvPr id="50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43300" y="2391470"/>
            <a:ext cx="2254250" cy="378619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3644900" y="2397820"/>
            <a:ext cx="174138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Git 仓库：目录 + 提交历史，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644900" y="2587129"/>
            <a:ext cx="126801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 指向实际 commit</a:t>
            </a:r>
            <a:endParaRPr/>
          </a:p>
        </p:txBody>
      </p:sp>
      <p:pic>
        <p:nvPicPr>
          <p:cNvPr id="53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43300" y="2846288"/>
            <a:ext cx="2254250" cy="378619"/>
          </a:xfrm>
          <a:prstGeom prst="rect">
            <a:avLst/>
          </a:prstGeom>
        </p:spPr>
      </p:pic>
      <p:sp>
        <p:nvSpPr>
          <p:cNvPr id="54" name="文字 54"/>
          <p:cNvSpPr txBox="1"/>
          <p:nvPr/>
        </p:nvSpPr>
        <p:spPr>
          <a:xfrm>
            <a:off x="3644900" y="2852638"/>
            <a:ext cx="156884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ZIP / 目录包：离线交付，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644900" y="3041948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附依赖与完整性说明</a:t>
            </a:r>
            <a:endParaRPr/>
          </a:p>
        </p:txBody>
      </p:sp>
      <p:pic>
        <p:nvPicPr>
          <p:cNvPr id="56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43300" y="3301107"/>
            <a:ext cx="2254250" cy="378619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644900" y="3307457"/>
            <a:ext cx="20196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市场目录（如 Skills.sh）做发现，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644900" y="3496766"/>
            <a:ext cx="66426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负责取</a:t>
            </a:r>
            <a:endParaRPr/>
          </a:p>
        </p:txBody>
      </p:sp>
      <p:pic>
        <p:nvPicPr>
          <p:cNvPr id="59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43300" y="3755926"/>
            <a:ext cx="2254250" cy="378619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3644900" y="3762276"/>
            <a:ext cx="5251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Plugin：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157365" y="3780945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plugin.json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904284" y="3762276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+ 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5073848" y="3780945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skills/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644900" y="3951585"/>
            <a:ext cx="13781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+ 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3770015" y="3970254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mcp.json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313237" y="3951585"/>
            <a:ext cx="590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组合交付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3300" y="4210745"/>
            <a:ext cx="2254250" cy="37861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3644900" y="4217095"/>
            <a:ext cx="157360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托管 API：上传 ZIP，返回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644900" y="4425073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skill_id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188123" y="4406404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+ 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357688" y="4425073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version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354330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文字 73"/>
          <p:cNvSpPr txBox="1"/>
          <p:nvPr/>
        </p:nvSpPr>
        <p:spPr>
          <a:xfrm>
            <a:off x="363220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产物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3864372" y="4861322"/>
            <a:ext cx="1373287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发布包 + 来源 / 版本 / 许可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3864372" y="5017790"/>
            <a:ext cx="618927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另含 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4470599" y="5023187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mcp.json</a:t>
            </a:r>
            <a:endParaRPr/>
          </a:p>
        </p:txBody>
      </p:sp>
      <p:pic>
        <p:nvPicPr>
          <p:cNvPr id="77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00750" y="3274814"/>
            <a:ext cx="190500" cy="152400"/>
          </a:xfrm>
          <a:prstGeom prst="rect">
            <a:avLst/>
          </a:prstGeom>
        </p:spPr>
      </p:pic>
      <p:pic>
        <p:nvPicPr>
          <p:cNvPr id="7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35700" y="1451670"/>
            <a:ext cx="2571750" cy="3798788"/>
          </a:xfrm>
          <a:prstGeom prst="rect">
            <a:avLst/>
          </a:prstGeom>
        </p:spPr>
      </p:pic>
      <p:sp>
        <p:nvSpPr>
          <p:cNvPr id="79" name="文字 79"/>
          <p:cNvSpPr txBox="1"/>
          <p:nvPr/>
        </p:nvSpPr>
        <p:spPr>
          <a:xfrm>
            <a:off x="6394450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674985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749852" y="1858069"/>
            <a:ext cx="464641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INSTALL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394450" y="2073970"/>
            <a:ext cx="15367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让宿主发现并跑得起来</a:t>
            </a:r>
            <a:endParaRPr/>
          </a:p>
        </p:txBody>
      </p:sp>
      <p:pic>
        <p:nvPicPr>
          <p:cNvPr id="83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94450" y="2391470"/>
            <a:ext cx="2254250" cy="378619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6496050" y="2397820"/>
            <a:ext cx="457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复制到 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6940550" y="2416489"/>
            <a:ext cx="116701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~/.claude/skills/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8094861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、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6496050" y="2605798"/>
            <a:ext cx="116701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~/.agents/skills/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650361" y="2587129"/>
            <a:ext cx="94614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（也可项目级）</a:t>
            </a:r>
            <a:endParaRPr/>
          </a:p>
        </p:txBody>
      </p:sp>
      <p:pic>
        <p:nvPicPr>
          <p:cNvPr id="89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94450" y="2846288"/>
            <a:ext cx="2254250" cy="378619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6496050" y="2852638"/>
            <a:ext cx="3532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CLI：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836569" y="2871307"/>
            <a:ext cx="143857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skills add &lt;repo&gt;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496050" y="3060617"/>
            <a:ext cx="17781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--skill &lt;name&gt; -g -a codex</a:t>
            </a:r>
            <a:endParaRPr/>
          </a:p>
        </p:txBody>
      </p:sp>
      <p:pic>
        <p:nvPicPr>
          <p:cNvPr id="93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94450" y="3301107"/>
            <a:ext cx="2254250" cy="378619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6496050" y="3307457"/>
            <a:ext cx="6861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内：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169547" y="3326126"/>
            <a:ext cx="1099146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$skill-installer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6496050" y="349676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从指定仓库装，并报位置</a:t>
            </a:r>
            <a:endParaRPr/>
          </a:p>
        </p:txBody>
      </p:sp>
      <p:pic>
        <p:nvPicPr>
          <p:cNvPr id="97" name="slide-001-image-2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94450" y="3755926"/>
            <a:ext cx="2254250" cy="378619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6496050" y="3762276"/>
            <a:ext cx="41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云端：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6896100" y="3780945"/>
            <a:ext cx="103118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skill_reference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496050" y="3951585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挂 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673850" y="3970254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skill_id</a:t>
            </a:r>
            <a:endParaRPr/>
          </a:p>
        </p:txBody>
      </p:sp>
      <p:sp>
        <p:nvSpPr>
          <p:cNvPr id="102" name="文字 102"/>
          <p:cNvSpPr txBox="1"/>
          <p:nvPr/>
        </p:nvSpPr>
        <p:spPr>
          <a:xfrm>
            <a:off x="7217073" y="3951585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+ 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386638" y="3970254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version</a:t>
            </a:r>
            <a:endParaRPr/>
          </a:p>
        </p:txBody>
      </p:sp>
      <p:pic>
        <p:nvPicPr>
          <p:cNvPr id="104" name="slide-001-image-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94450" y="4210745"/>
            <a:ext cx="2254250" cy="378619"/>
          </a:xfrm>
          <a:prstGeom prst="rect">
            <a:avLst/>
          </a:prstGeom>
        </p:spPr>
      </p:pic>
      <p:sp>
        <p:nvSpPr>
          <p:cNvPr id="105" name="文字 105"/>
          <p:cNvSpPr txBox="1"/>
          <p:nvPr/>
        </p:nvSpPr>
        <p:spPr>
          <a:xfrm>
            <a:off x="6496050" y="4217095"/>
            <a:ext cx="9461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查依赖与权限，</a:t>
            </a:r>
            <a:endParaRPr/>
          </a:p>
        </p:txBody>
      </p:sp>
      <p:sp>
        <p:nvSpPr>
          <p:cNvPr id="106" name="文字 106"/>
          <p:cNvSpPr txBox="1"/>
          <p:nvPr/>
        </p:nvSpPr>
        <p:spPr>
          <a:xfrm>
            <a:off x="6496050" y="4406404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跑一个最小任务验证</a:t>
            </a:r>
            <a:endParaRPr/>
          </a:p>
        </p:txBody>
      </p:sp>
      <p:sp>
        <p:nvSpPr>
          <p:cNvPr id="107" name="形状 107"/>
          <p:cNvSpPr/>
          <p:nvPr/>
        </p:nvSpPr>
        <p:spPr>
          <a:xfrm>
            <a:off x="639445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648335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产物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715523" y="4861322"/>
            <a:ext cx="101351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安装实例 + 就绪检查</a:t>
            </a:r>
            <a:endParaRPr/>
          </a:p>
        </p:txBody>
      </p:sp>
      <p:sp>
        <p:nvSpPr>
          <p:cNvPr id="110" name="文字 110"/>
          <p:cNvSpPr txBox="1"/>
          <p:nvPr/>
        </p:nvSpPr>
        <p:spPr>
          <a:xfrm>
            <a:off x="6715523" y="5017790"/>
            <a:ext cx="120015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记下宿主、作用域、版本</a:t>
            </a:r>
            <a:endParaRPr/>
          </a:p>
        </p:txBody>
      </p:sp>
      <p:pic>
        <p:nvPicPr>
          <p:cNvPr id="111" name="slide-001-image-22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51900" y="3274814"/>
            <a:ext cx="190500" cy="152400"/>
          </a:xfrm>
          <a:prstGeom prst="rect">
            <a:avLst/>
          </a:prstGeom>
        </p:spPr>
      </p:pic>
      <p:pic>
        <p:nvPicPr>
          <p:cNvPr id="112" name="slide-001-image-23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1451670"/>
            <a:ext cx="2571750" cy="3798788"/>
          </a:xfrm>
          <a:prstGeom prst="rect">
            <a:avLst/>
          </a:prstGeom>
        </p:spPr>
      </p:pic>
      <p:sp>
        <p:nvSpPr>
          <p:cNvPr id="113" name="文字 113"/>
          <p:cNvSpPr txBox="1"/>
          <p:nvPr/>
        </p:nvSpPr>
        <p:spPr>
          <a:xfrm>
            <a:off x="9245601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114" name="文字 114"/>
          <p:cNvSpPr txBox="1"/>
          <p:nvPr/>
        </p:nvSpPr>
        <p:spPr>
          <a:xfrm>
            <a:off x="960100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9601002" y="1858069"/>
            <a:ext cx="206375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USE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9245601" y="2073970"/>
            <a:ext cx="1536699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选中、加载，交付结果</a:t>
            </a:r>
            <a:endParaRPr/>
          </a:p>
        </p:txBody>
      </p:sp>
      <p:pic>
        <p:nvPicPr>
          <p:cNvPr id="117" name="slide-001-image-24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45601" y="2391470"/>
            <a:ext cx="2254250" cy="378619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9347200" y="2397820"/>
            <a:ext cx="17462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提目标、输入、约束和验收；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9347200" y="2587129"/>
            <a:ext cx="59719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按 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9931698" y="2605798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description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10678617" y="2587129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选</a:t>
            </a:r>
            <a:endParaRPr/>
          </a:p>
        </p:txBody>
      </p:sp>
      <p:pic>
        <p:nvPicPr>
          <p:cNvPr id="122" name="slide-001-image-25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45601" y="2846288"/>
            <a:ext cx="2254250" cy="378619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9347200" y="2852638"/>
            <a:ext cx="10647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点名：Claude 用 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10399217" y="2871307"/>
            <a:ext cx="103118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/pdf-processing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9347200" y="3041948"/>
            <a:ext cx="63013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Codex 用 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9964638" y="3060617"/>
            <a:ext cx="103118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$pdf-processing</a:t>
            </a:r>
            <a:endParaRPr/>
          </a:p>
        </p:txBody>
      </p:sp>
      <p:pic>
        <p:nvPicPr>
          <p:cNvPr id="127" name="slide-001-image-2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45601" y="3301107"/>
            <a:ext cx="2254250" cy="378619"/>
          </a:xfrm>
          <a:prstGeom prst="rect">
            <a:avLst/>
          </a:prstGeom>
        </p:spPr>
      </p:pic>
      <p:sp>
        <p:nvSpPr>
          <p:cNvPr id="128" name="文字 128"/>
          <p:cNvSpPr txBox="1"/>
          <p:nvPr/>
        </p:nvSpPr>
        <p:spPr>
          <a:xfrm>
            <a:off x="9347200" y="3307457"/>
            <a:ext cx="11684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渐进加载：目录 → 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10502900" y="3326126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</a:t>
            </a:r>
            <a:endParaRPr/>
          </a:p>
        </p:txBody>
      </p:sp>
      <p:sp>
        <p:nvSpPr>
          <p:cNvPr id="130" name="文字 130"/>
          <p:cNvSpPr txBox="1"/>
          <p:nvPr/>
        </p:nvSpPr>
        <p:spPr>
          <a:xfrm>
            <a:off x="11046123" y="3307457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</a:t>
            </a:r>
            <a:endParaRPr/>
          </a:p>
        </p:txBody>
      </p:sp>
      <p:sp>
        <p:nvSpPr>
          <p:cNvPr id="131" name="文字 131"/>
          <p:cNvSpPr txBox="1"/>
          <p:nvPr/>
        </p:nvSpPr>
        <p:spPr>
          <a:xfrm>
            <a:off x="9347200" y="3496766"/>
            <a:ext cx="457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按需读 </a:t>
            </a:r>
            <a:endParaRPr/>
          </a:p>
        </p:txBody>
      </p:sp>
      <p:sp>
        <p:nvSpPr>
          <p:cNvPr id="132" name="文字 132"/>
          <p:cNvSpPr txBox="1"/>
          <p:nvPr/>
        </p:nvSpPr>
        <p:spPr>
          <a:xfrm>
            <a:off x="9791700" y="3515435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references/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10538619" y="3496766"/>
            <a:ext cx="323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、跑 </a:t>
            </a:r>
            <a:endParaRPr/>
          </a:p>
        </p:txBody>
      </p:sp>
      <p:sp>
        <p:nvSpPr>
          <p:cNvPr id="134" name="文字 134"/>
          <p:cNvSpPr txBox="1"/>
          <p:nvPr/>
        </p:nvSpPr>
        <p:spPr>
          <a:xfrm>
            <a:off x="10849769" y="3515435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2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scripts/</a:t>
            </a:r>
            <a:endParaRPr/>
          </a:p>
        </p:txBody>
      </p:sp>
      <p:pic>
        <p:nvPicPr>
          <p:cNvPr id="135" name="slide-001-image-27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5601" y="3755926"/>
            <a:ext cx="2254250" cy="378619"/>
          </a:xfrm>
          <a:prstGeom prst="rect">
            <a:avLst/>
          </a:prstGeom>
        </p:spPr>
      </p:pic>
      <p:sp>
        <p:nvSpPr>
          <p:cNvPr id="136" name="文字 136"/>
          <p:cNvSpPr txBox="1"/>
          <p:nvPr/>
        </p:nvSpPr>
        <p:spPr>
          <a:xfrm>
            <a:off x="9347200" y="376227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执行后验收，记录版本、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9347200" y="3951585"/>
            <a:ext cx="6794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环境与修正</a:t>
            </a:r>
            <a:endParaRPr/>
          </a:p>
        </p:txBody>
      </p:sp>
      <p:pic>
        <p:nvPicPr>
          <p:cNvPr id="138" name="slide-001-image-28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45601" y="4210745"/>
            <a:ext cx="2254250" cy="378619"/>
          </a:xfrm>
          <a:prstGeom prst="rect">
            <a:avLst/>
          </a:prstGeom>
        </p:spPr>
      </p:pic>
      <p:sp>
        <p:nvSpPr>
          <p:cNvPr id="139" name="文字 139"/>
          <p:cNvSpPr txBox="1"/>
          <p:nvPr/>
        </p:nvSpPr>
        <p:spPr>
          <a:xfrm>
            <a:off x="9347200" y="4217095"/>
            <a:ext cx="18796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结果不合格时，先分清是方法、</a:t>
            </a:r>
            <a:endParaRPr/>
          </a:p>
        </p:txBody>
      </p:sp>
      <p:sp>
        <p:nvSpPr>
          <p:cNvPr id="140" name="文字 140"/>
          <p:cNvSpPr txBox="1"/>
          <p:nvPr/>
        </p:nvSpPr>
        <p:spPr>
          <a:xfrm>
            <a:off x="9347200" y="4406404"/>
            <a:ext cx="1079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输入还是环境问题</a:t>
            </a:r>
            <a:endParaRPr/>
          </a:p>
        </p:txBody>
      </p:sp>
      <p:sp>
        <p:nvSpPr>
          <p:cNvPr id="141" name="形状 141"/>
          <p:cNvSpPr/>
          <p:nvPr/>
        </p:nvSpPr>
        <p:spPr>
          <a:xfrm>
            <a:off x="9245601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2" name="文字 142"/>
          <p:cNvSpPr txBox="1"/>
          <p:nvPr/>
        </p:nvSpPr>
        <p:spPr>
          <a:xfrm>
            <a:off x="933450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产物</a:t>
            </a:r>
            <a:endParaRPr/>
          </a:p>
        </p:txBody>
      </p:sp>
      <p:sp>
        <p:nvSpPr>
          <p:cNvPr id="143" name="文字 143"/>
          <p:cNvSpPr txBox="1"/>
          <p:nvPr/>
        </p:nvSpPr>
        <p:spPr>
          <a:xfrm>
            <a:off x="9566672" y="4861322"/>
            <a:ext cx="10135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任务结果 + 使用记录</a:t>
            </a:r>
            <a:endParaRPr/>
          </a:p>
        </p:txBody>
      </p:sp>
      <p:sp>
        <p:nvSpPr>
          <p:cNvPr id="144" name="文字 144"/>
          <p:cNvSpPr txBox="1"/>
          <p:nvPr/>
        </p:nvSpPr>
        <p:spPr>
          <a:xfrm>
            <a:off x="9566672" y="5017790"/>
            <a:ext cx="876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版本、环境、修正</a:t>
            </a:r>
            <a:endParaRPr/>
          </a:p>
        </p:txBody>
      </p:sp>
      <p:sp>
        <p:nvSpPr>
          <p:cNvPr id="145" name="形状 145"/>
          <p:cNvSpPr/>
          <p:nvPr/>
        </p:nvSpPr>
        <p:spPr>
          <a:xfrm>
            <a:off x="533400" y="5364758"/>
            <a:ext cx="11125200" cy="978892"/>
          </a:xfrm>
          <a:prstGeom prst="roundRect">
            <a:avLst>
              <a:gd name="adj" fmla="val 1037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E3E4E8">
                <a:alpha val="10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6" name="slide-001-image-29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66750" y="5460008"/>
            <a:ext cx="10858500" cy="228600"/>
          </a:xfrm>
          <a:prstGeom prst="rect">
            <a:avLst/>
          </a:prstGeom>
        </p:spPr>
      </p:pic>
      <p:sp>
        <p:nvSpPr>
          <p:cNvPr id="147" name="形状 147"/>
          <p:cNvSpPr/>
          <p:nvPr/>
        </p:nvSpPr>
        <p:spPr>
          <a:xfrm>
            <a:off x="666750" y="5460008"/>
            <a:ext cx="429915" cy="158750"/>
          </a:xfrm>
          <a:prstGeom prst="roundRect">
            <a:avLst>
              <a:gd name="adj" fmla="val 24000"/>
            </a:avLst>
          </a:prstGeom>
          <a:solidFill>
            <a:srgbClr val="FDF0F1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8" name="文字 148"/>
          <p:cNvSpPr txBox="1"/>
          <p:nvPr/>
        </p:nvSpPr>
        <p:spPr>
          <a:xfrm>
            <a:off x="730250" y="5479058"/>
            <a:ext cx="31561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举个例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1185565" y="5466358"/>
            <a:ext cx="139571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PDF 处理 Skill 怎么走完四段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10148888" y="5479058"/>
            <a:ext cx="1389063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example · pdf-processing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66750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666750" y="5904508"/>
            <a:ext cx="17353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写 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7584" y="5916573"/>
            <a:ext cx="5270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666750" y="6073279"/>
            <a:ext cx="1259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+ 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779959" y="6085344"/>
            <a:ext cx="5270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scripts/</a:t>
            </a:r>
            <a:endParaRPr/>
          </a:p>
        </p:txBody>
      </p:sp>
      <p:pic>
        <p:nvPicPr>
          <p:cNvPr id="156" name="slide-001-image-30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0017" y="5936754"/>
            <a:ext cx="139700" cy="114300"/>
          </a:xfrm>
          <a:prstGeom prst="rect">
            <a:avLst/>
          </a:prstGeom>
        </p:spPr>
      </p:pic>
      <p:sp>
        <p:nvSpPr>
          <p:cNvPr id="157" name="文字 157"/>
          <p:cNvSpPr txBox="1"/>
          <p:nvPr/>
        </p:nvSpPr>
        <p:spPr>
          <a:xfrm>
            <a:off x="2499717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2499717" y="5904508"/>
            <a:ext cx="8203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 Git / 打 ZIP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2499717" y="6070997"/>
            <a:ext cx="38437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 v1.0</a:t>
            </a:r>
            <a:endParaRPr/>
          </a:p>
        </p:txBody>
      </p:sp>
      <p:pic>
        <p:nvPicPr>
          <p:cNvPr id="160" name="slide-001-image-31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193084" y="5936754"/>
            <a:ext cx="139700" cy="114300"/>
          </a:xfrm>
          <a:prstGeom prst="rect">
            <a:avLst/>
          </a:prstGeom>
        </p:spPr>
      </p:pic>
      <p:sp>
        <p:nvSpPr>
          <p:cNvPr id="161" name="文字 161"/>
          <p:cNvSpPr txBox="1"/>
          <p:nvPr/>
        </p:nvSpPr>
        <p:spPr>
          <a:xfrm>
            <a:off x="4332784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</a:t>
            </a:r>
            <a:endParaRPr/>
          </a:p>
        </p:txBody>
      </p:sp>
      <p:sp>
        <p:nvSpPr>
          <p:cNvPr id="162" name="文字 162"/>
          <p:cNvSpPr txBox="1"/>
          <p:nvPr/>
        </p:nvSpPr>
        <p:spPr>
          <a:xfrm>
            <a:off x="4332784" y="5916573"/>
            <a:ext cx="912813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skills add</a:t>
            </a:r>
            <a:endParaRPr/>
          </a:p>
        </p:txBody>
      </p:sp>
      <p:sp>
        <p:nvSpPr>
          <p:cNvPr id="163" name="文字 163"/>
          <p:cNvSpPr txBox="1"/>
          <p:nvPr/>
        </p:nvSpPr>
        <p:spPr>
          <a:xfrm>
            <a:off x="4332784" y="6073279"/>
            <a:ext cx="2941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落到 </a:t>
            </a:r>
            <a:endParaRPr/>
          </a:p>
        </p:txBody>
      </p:sp>
      <p:sp>
        <p:nvSpPr>
          <p:cNvPr id="164" name="文字 164"/>
          <p:cNvSpPr txBox="1"/>
          <p:nvPr/>
        </p:nvSpPr>
        <p:spPr>
          <a:xfrm>
            <a:off x="4614267" y="6085344"/>
            <a:ext cx="1105595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~/.agents/skills/</a:t>
            </a:r>
            <a:endParaRPr/>
          </a:p>
        </p:txBody>
      </p:sp>
      <p:pic>
        <p:nvPicPr>
          <p:cNvPr id="165" name="slide-001-image-32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026051" y="5936754"/>
            <a:ext cx="139700" cy="114300"/>
          </a:xfrm>
          <a:prstGeom prst="rect">
            <a:avLst/>
          </a:prstGeom>
        </p:spPr>
      </p:pic>
      <p:sp>
        <p:nvSpPr>
          <p:cNvPr id="166" name="文字 166"/>
          <p:cNvSpPr txBox="1"/>
          <p:nvPr/>
        </p:nvSpPr>
        <p:spPr>
          <a:xfrm>
            <a:off x="6165751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</a:t>
            </a:r>
            <a:endParaRPr/>
          </a:p>
        </p:txBody>
      </p:sp>
      <p:sp>
        <p:nvSpPr>
          <p:cNvPr id="167" name="文字 167"/>
          <p:cNvSpPr txBox="1"/>
          <p:nvPr/>
        </p:nvSpPr>
        <p:spPr>
          <a:xfrm>
            <a:off x="6165751" y="5916573"/>
            <a:ext cx="977106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/pdf-processing</a:t>
            </a:r>
            <a:endParaRPr/>
          </a:p>
        </p:txBody>
      </p:sp>
      <p:sp>
        <p:nvSpPr>
          <p:cNvPr id="168" name="文字 168"/>
          <p:cNvSpPr txBox="1"/>
          <p:nvPr/>
        </p:nvSpPr>
        <p:spPr>
          <a:xfrm>
            <a:off x="6165751" y="6073279"/>
            <a:ext cx="76775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合并三个 PDF</a:t>
            </a:r>
            <a:endParaRPr/>
          </a:p>
        </p:txBody>
      </p:sp>
      <p:pic>
        <p:nvPicPr>
          <p:cNvPr id="169" name="slide-001-image-33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859117" y="5936754"/>
            <a:ext cx="139700" cy="114300"/>
          </a:xfrm>
          <a:prstGeom prst="rect">
            <a:avLst/>
          </a:prstGeom>
        </p:spPr>
      </p:pic>
      <p:sp>
        <p:nvSpPr>
          <p:cNvPr id="170" name="文字 170"/>
          <p:cNvSpPr txBox="1"/>
          <p:nvPr/>
        </p:nvSpPr>
        <p:spPr>
          <a:xfrm>
            <a:off x="7998817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验收</a:t>
            </a:r>
            <a:endParaRPr/>
          </a:p>
        </p:txBody>
      </p:sp>
      <p:sp>
        <p:nvSpPr>
          <p:cNvPr id="171" name="文字 171"/>
          <p:cNvSpPr txBox="1"/>
          <p:nvPr/>
        </p:nvSpPr>
        <p:spPr>
          <a:xfrm>
            <a:off x="7998817" y="5904508"/>
            <a:ext cx="85725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页数、文本完整</a:t>
            </a:r>
            <a:endParaRPr/>
          </a:p>
        </p:txBody>
      </p:sp>
      <p:sp>
        <p:nvSpPr>
          <p:cNvPr id="172" name="文字 172"/>
          <p:cNvSpPr txBox="1"/>
          <p:nvPr/>
        </p:nvSpPr>
        <p:spPr>
          <a:xfrm>
            <a:off x="7998817" y="6070997"/>
            <a:ext cx="61595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输出能打开</a:t>
            </a:r>
            <a:endParaRPr/>
          </a:p>
        </p:txBody>
      </p:sp>
      <p:pic>
        <p:nvPicPr>
          <p:cNvPr id="173" name="slide-001-image-34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692184" y="5936754"/>
            <a:ext cx="139700" cy="114300"/>
          </a:xfrm>
          <a:prstGeom prst="rect">
            <a:avLst/>
          </a:prstGeom>
        </p:spPr>
      </p:pic>
      <p:sp>
        <p:nvSpPr>
          <p:cNvPr id="174" name="文字 174"/>
          <p:cNvSpPr txBox="1"/>
          <p:nvPr/>
        </p:nvSpPr>
        <p:spPr>
          <a:xfrm>
            <a:off x="9831884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反馈</a:t>
            </a:r>
            <a:endParaRPr/>
          </a:p>
        </p:txBody>
      </p:sp>
      <p:sp>
        <p:nvSpPr>
          <p:cNvPr id="175" name="文字 175"/>
          <p:cNvSpPr txBox="1"/>
          <p:nvPr/>
        </p:nvSpPr>
        <p:spPr>
          <a:xfrm>
            <a:off x="9831884" y="5904508"/>
            <a:ext cx="71695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补 OCR 说明</a:t>
            </a:r>
            <a:endParaRPr/>
          </a:p>
        </p:txBody>
      </p:sp>
      <p:sp>
        <p:nvSpPr>
          <p:cNvPr id="176" name="文字 176"/>
          <p:cNvSpPr txBox="1"/>
          <p:nvPr/>
        </p:nvSpPr>
        <p:spPr>
          <a:xfrm>
            <a:off x="9831884" y="6070997"/>
            <a:ext cx="360362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 v1.1</a:t>
            </a:r>
            <a:endParaRPr/>
          </a:p>
        </p:txBody>
      </p:sp>
      <p:pic>
        <p:nvPicPr>
          <p:cNvPr id="177" name="slide-001-image-35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33400" y="6419850"/>
            <a:ext cx="11125200" cy="222250"/>
          </a:xfrm>
          <a:prstGeom prst="rect">
            <a:avLst/>
          </a:prstGeom>
        </p:spPr>
      </p:pic>
      <p:sp>
        <p:nvSpPr>
          <p:cNvPr id="183" name="文字 183"/>
          <p:cNvSpPr txBox="1"/>
          <p:nvPr/>
        </p:nvSpPr>
        <p:spPr>
          <a:xfrm>
            <a:off x="1996678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安装实例</a:t>
            </a:r>
            <a:endParaRPr/>
          </a:p>
        </p:txBody>
      </p:sp>
      <p:sp>
        <p:nvSpPr>
          <p:cNvPr id="184" name="文字 184"/>
          <p:cNvSpPr txBox="1"/>
          <p:nvPr/>
        </p:nvSpPr>
        <p:spPr>
          <a:xfrm>
            <a:off x="2377678" y="6508750"/>
            <a:ext cx="184745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B9B9C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 → </a:t>
            </a:r>
            <a:endParaRPr/>
          </a:p>
        </p:txBody>
      </p:sp>
      <p:sp>
        <p:nvSpPr>
          <p:cNvPr id="185" name="文字 185"/>
          <p:cNvSpPr txBox="1"/>
          <p:nvPr/>
        </p:nvSpPr>
        <p:spPr>
          <a:xfrm>
            <a:off x="2549724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使用记录</a:t>
            </a:r>
            <a:endParaRPr/>
          </a:p>
        </p:txBody>
      </p:sp>
      <p:sp>
        <p:nvSpPr>
          <p:cNvPr id="186" name="文字 186"/>
          <p:cNvSpPr txBox="1"/>
          <p:nvPr/>
        </p:nvSpPr>
        <p:spPr>
          <a:xfrm>
            <a:off x="8720138" y="6511925"/>
            <a:ext cx="2127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口径</a:t>
            </a:r>
            <a:endParaRPr/>
          </a:p>
        </p:txBody>
      </p:sp>
      <p:sp>
        <p:nvSpPr>
          <p:cNvPr id="187" name="文字 187"/>
          <p:cNvSpPr txBox="1"/>
          <p:nvPr/>
        </p:nvSpPr>
        <p:spPr>
          <a:xfrm>
            <a:off x="8977312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已上架</a:t>
            </a:r>
            <a:endParaRPr/>
          </a:p>
        </p:txBody>
      </p:sp>
      <p:sp>
        <p:nvSpPr>
          <p:cNvPr id="188" name="文字 188"/>
          <p:cNvSpPr txBox="1"/>
          <p:nvPr/>
        </p:nvSpPr>
        <p:spPr>
          <a:xfrm>
            <a:off x="9263062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 ≠ </a:t>
            </a:r>
            <a:endParaRPr/>
          </a:p>
        </p:txBody>
      </p:sp>
      <p:sp>
        <p:nvSpPr>
          <p:cNvPr id="189" name="文字 189"/>
          <p:cNvSpPr txBox="1"/>
          <p:nvPr/>
        </p:nvSpPr>
        <p:spPr>
          <a:xfrm>
            <a:off x="9401175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可获取</a:t>
            </a:r>
            <a:endParaRPr/>
          </a:p>
        </p:txBody>
      </p:sp>
      <p:sp>
        <p:nvSpPr>
          <p:cNvPr id="190" name="文字 190"/>
          <p:cNvSpPr txBox="1"/>
          <p:nvPr/>
        </p:nvSpPr>
        <p:spPr>
          <a:xfrm>
            <a:off x="9801225" y="6511925"/>
            <a:ext cx="603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C9C9C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</a:t>
            </a:r>
            <a:endParaRPr/>
          </a:p>
        </p:txBody>
      </p:sp>
      <p:sp>
        <p:nvSpPr>
          <p:cNvPr id="191" name="文字 191"/>
          <p:cNvSpPr txBox="1"/>
          <p:nvPr/>
        </p:nvSpPr>
        <p:spPr>
          <a:xfrm>
            <a:off x="9963151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已安装</a:t>
            </a:r>
            <a:endParaRPr/>
          </a:p>
        </p:txBody>
      </p:sp>
      <p:sp>
        <p:nvSpPr>
          <p:cNvPr id="192" name="文字 192"/>
          <p:cNvSpPr txBox="1"/>
          <p:nvPr/>
        </p:nvSpPr>
        <p:spPr>
          <a:xfrm>
            <a:off x="10248901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 ≠ </a:t>
            </a:r>
            <a:endParaRPr/>
          </a:p>
        </p:txBody>
      </p:sp>
      <p:sp>
        <p:nvSpPr>
          <p:cNvPr id="193" name="文字 193"/>
          <p:cNvSpPr txBox="1"/>
          <p:nvPr/>
        </p:nvSpPr>
        <p:spPr>
          <a:xfrm>
            <a:off x="10387013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已就绪</a:t>
            </a:r>
            <a:endParaRPr/>
          </a:p>
        </p:txBody>
      </p:sp>
      <p:sp>
        <p:nvSpPr>
          <p:cNvPr id="194" name="文字 194"/>
          <p:cNvSpPr txBox="1"/>
          <p:nvPr/>
        </p:nvSpPr>
        <p:spPr>
          <a:xfrm>
            <a:off x="10787063" y="6511925"/>
            <a:ext cx="603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C9C9C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</a:t>
            </a:r>
            <a:endParaRPr/>
          </a:p>
        </p:txBody>
      </p:sp>
      <p:sp>
        <p:nvSpPr>
          <p:cNvPr id="195" name="文字 195"/>
          <p:cNvSpPr txBox="1"/>
          <p:nvPr/>
        </p:nvSpPr>
        <p:spPr>
          <a:xfrm>
            <a:off x="10948988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已调用</a:t>
            </a:r>
            <a:endParaRPr/>
          </a:p>
        </p:txBody>
      </p:sp>
      <p:sp>
        <p:nvSpPr>
          <p:cNvPr id="196" name="文字 196"/>
          <p:cNvSpPr txBox="1"/>
          <p:nvPr/>
        </p:nvSpPr>
        <p:spPr>
          <a:xfrm>
            <a:off x="11234738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 ≠ </a:t>
            </a:r>
            <a:endParaRPr/>
          </a:p>
        </p:txBody>
      </p:sp>
      <p:sp>
        <p:nvSpPr>
          <p:cNvPr id="197" name="文字 197"/>
          <p:cNvSpPr txBox="1"/>
          <p:nvPr/>
        </p:nvSpPr>
        <p:spPr>
          <a:xfrm>
            <a:off x="11372850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已验收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730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 AI 资产广场 / Skill 资产建设启示 · 2026.10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917803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魔搭证明开放标准能起量，SkillHub 证明评测与商品化能建立信任；智果园已有标准、审核、优化与多平台分发，下一步是把质量信号、供给运营和商业闭环补齐。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商业化洞察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758428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商业化洞察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82625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商业化原理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1595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 商业化原理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401241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SkillPay 与 MachinePay 原理研究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250"/>
            <a:ext cx="11264532" cy="0"/>
          </a:xfrm>
          <a:prstGeom prst="line">
            <a:avLst/>
          </a:prstGeom>
          <a:ln w="12622" cap="flat">
            <a:solidFill>
              <a:srgbClr val="B5333B"/>
            </a:solidFill>
            <a:prstDash val="solid"/>
          </a:ln>
        </p:spPr>
      </p:cxn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SkillPay 与 MachinePay 原理研究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392"/>
            <a:ext cx="11264532" cy="0"/>
          </a:xfrm>
          <a:prstGeom prst="line">
            <a:avLst/>
          </a:prstGeom>
          <a:ln w="11701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59160"/>
            <a:ext cx="48530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云端保护控制知识披露；用户的 Agent 仍负责校验、脚本执行和最终输出。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SkillPay 与 MachinePay 原理研究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017"/>
            <a:ext cx="11264532" cy="0"/>
          </a:xfrm>
          <a:prstGeom prst="line">
            <a:avLst/>
          </a:prstGeom>
          <a:ln w="11701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59160"/>
            <a:ext cx="63026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接入前注册商户应用与服务：service_id 关联服务 URL、单价及说明；一次调用再生成本地订单。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SkillPay 与 MachinePay 原理研究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391"/>
            <a:ext cx="11264532" cy="0"/>
          </a:xfrm>
          <a:prstGeom prst="line">
            <a:avLst/>
          </a:prstGeom>
          <a:ln w="11700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65510"/>
            <a:ext cx="6292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验付接口返回成功后，还要匹配金额、订单、资源和交易号，保留并发控制与可恢复的结果状态。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730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AI PAY / 全景 · 2026.10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81360"/>
            <a:ext cx="723532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同一套 AI 付钱包与 402 协议：SkillPay 解决“卖什么、怎么交付”，MachinePay 解决“每次调用怎么计价、怎么验单”。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6891"/>
            <a:ext cx="11277600" cy="552450"/>
          </a:xfrm>
          <a:prstGeom prst="rect">
            <a:avLst/>
          </a:prstGeom>
        </p:spPr>
      </p:pic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730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/ 商品化机制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65658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平台负责安全检测与商品化，开发者保留定价权；买家在 Agent 任务中完成支付，资金直接进入开发者支付宝。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476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/ A402 协议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006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00100"/>
            <a:ext cx="533638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商家在响应里报价，Agent 用支付宝付款，商家验单后交付；支付与履约都进入机器调用链路。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730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COMPARISON / 分工与边界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44449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两者共用 AI 付钱包与 402，但卖的东西、触发点、交付物与风险控制不同。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 Skill 资产商业化演进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阿里经营 Skill 商品权益，腾讯连接付费服务与生态分发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287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71860"/>
            <a:ext cx="2751633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阿里：SkillPay + MachinePay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8936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把知识交付与支付协议分别做深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6273800" y="1071860"/>
            <a:ext cx="225177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腾讯：SkillHub SkillPay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273800" y="1389360"/>
            <a:ext cx="23773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让免费 Skill 连接可收费的远程服务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6099175" y="1062590"/>
            <a:ext cx="0" cy="3393650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14" name="文字 14"/>
          <p:cNvSpPr txBox="1"/>
          <p:nvPr/>
        </p:nvSpPr>
        <p:spPr>
          <a:xfrm>
            <a:off x="4572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卖什么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524000" y="1770360"/>
            <a:ext cx="4261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买断交付完整源文件；周期订阅把原文留云端，按任务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524000" y="1991320"/>
            <a:ext cx="186313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给指导，本地 Agent 执行。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2738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卖什么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7340600" y="1770360"/>
            <a:ext cx="404197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包负责发现和调用；远程业务后端提供付费能力。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7340600" y="1991320"/>
            <a:ext cx="271194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图像生成展示价 0.36 元/次。</a:t>
            </a:r>
            <a:endParaRPr/>
          </a:p>
        </p:txBody>
      </p:sp>
      <p:cxnSp>
        <p:nvCxnSpPr>
          <p:cNvPr id="20" name="Editable line 20"/>
          <p:cNvCxnSpPr/>
          <p:nvPr/>
        </p:nvCxnSpPr>
        <p:spPr>
          <a:xfrm>
            <a:off x="463727" y="2476268"/>
            <a:ext cx="5384447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cxnSp>
        <p:nvCxnSpPr>
          <p:cNvPr id="21" name="Editable line 21"/>
          <p:cNvCxnSpPr/>
          <p:nvPr/>
        </p:nvCxnSpPr>
        <p:spPr>
          <a:xfrm>
            <a:off x="6277067" y="2476268"/>
            <a:ext cx="5387698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sp>
        <p:nvSpPr>
          <p:cNvPr id="22" name="文字 22"/>
          <p:cNvSpPr txBox="1"/>
          <p:nvPr/>
        </p:nvSpPr>
        <p:spPr>
          <a:xfrm>
            <a:off x="4572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平台做得好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1524000" y="2621260"/>
            <a:ext cx="426313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商品模式、试用、价格、版本和权益统一经营。402 付款后恢复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524000" y="284222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原任务，按权益完成对应交付。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62738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平台做得好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340600" y="2621260"/>
            <a:ext cx="412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企业认证、商户绑定、开发者身份、定价审核与分发相连接；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340600" y="2842220"/>
            <a:ext cx="2908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平台官方样例与第三方服务共同示范收费。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463727" y="33271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29" name="Editable line 29"/>
          <p:cNvCxnSpPr/>
          <p:nvPr/>
        </p:nvCxnSpPr>
        <p:spPr>
          <a:xfrm>
            <a:off x="6277067" y="33271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0" name="文字 30"/>
          <p:cNvSpPr txBox="1"/>
          <p:nvPr/>
        </p:nvSpPr>
        <p:spPr>
          <a:xfrm>
            <a:off x="4572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交易与履约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24000" y="3472160"/>
            <a:ext cx="425261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以签名报价、付款凭证、在线验付和履约回执服务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1524000" y="3693120"/>
            <a:ext cx="27188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收款；商户仍须做业务核对与幂等。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62738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交易与履约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340600" y="3472160"/>
            <a:ext cx="418058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微信订单登记为 AI 支付码，用户逐笔确认。商户验付后交付；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7340600" y="3693120"/>
            <a:ext cx="274508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用同一任务标识恢复取结果。</a:t>
            </a:r>
            <a:endParaRPr/>
          </a:p>
        </p:txBody>
      </p:sp>
      <p:cxnSp>
        <p:nvCxnSpPr>
          <p:cNvPr id="36" name="Editable line 36"/>
          <p:cNvCxnSpPr/>
          <p:nvPr/>
        </p:nvCxnSpPr>
        <p:spPr>
          <a:xfrm>
            <a:off x="463727" y="41780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37" name="Editable line 37"/>
          <p:cNvCxnSpPr/>
          <p:nvPr/>
        </p:nvCxnSpPr>
        <p:spPr>
          <a:xfrm>
            <a:off x="6277067" y="41780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8" name="文字 38"/>
          <p:cNvSpPr txBox="1"/>
          <p:nvPr/>
        </p:nvSpPr>
        <p:spPr>
          <a:xfrm>
            <a:off x="4572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值得借鉴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1524000" y="4386560"/>
            <a:ext cx="412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先定义购买权益与交付形态，再把试用、续购和持续更新连成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524000" y="4607521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商品经营。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2738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值得借鉴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7340600" y="4386560"/>
            <a:ext cx="3975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保留低门槛安装入口，把收费控制放在持续提供价值的服务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7340600" y="4607521"/>
            <a:ext cx="31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端。</a:t>
            </a:r>
            <a:endParaRPr/>
          </a:p>
        </p:txBody>
      </p:sp>
      <p:cxnSp>
        <p:nvCxnSpPr>
          <p:cNvPr id="44" name="Editable line 44"/>
          <p:cNvCxnSpPr/>
          <p:nvPr/>
        </p:nvCxnSpPr>
        <p:spPr>
          <a:xfrm>
            <a:off x="463734" y="5017062"/>
            <a:ext cx="11264532" cy="0"/>
          </a:xfrm>
          <a:prstGeom prst="line">
            <a:avLst/>
          </a:prstGeom>
          <a:ln w="8168" cap="flat">
            <a:solidFill>
              <a:srgbClr val="B5333B"/>
            </a:solidFill>
            <a:prstDash val="solid"/>
          </a:ln>
        </p:spPr>
      </p:cxnSp>
      <p:sp>
        <p:nvSpPr>
          <p:cNvPr id="45" name="文字 45"/>
          <p:cNvSpPr txBox="1"/>
          <p:nvPr/>
        </p:nvSpPr>
        <p:spPr>
          <a:xfrm>
            <a:off x="457200" y="5146179"/>
            <a:ext cx="19685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智果园已有可沿用的起点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57200" y="5450979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资产共享与访问授权已具备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57200" y="5717679"/>
            <a:ext cx="522228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独立仓库、SKILL.md 与元数据、许可证、发布审核；指定用户可见、申请审批与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57200" y="5929412"/>
            <a:ext cx="14732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撤销、公开安装入口。</a:t>
            </a:r>
            <a:endParaRPr/>
          </a:p>
        </p:txBody>
      </p:sp>
      <p:cxnSp>
        <p:nvCxnSpPr>
          <p:cNvPr id="49" name="Editable line 49"/>
          <p:cNvCxnSpPr/>
          <p:nvPr/>
        </p:nvCxnSpPr>
        <p:spPr>
          <a:xfrm>
            <a:off x="6099175" y="5431929"/>
            <a:ext cx="0" cy="831702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50" name="文字 50"/>
          <p:cNvSpPr txBox="1"/>
          <p:nvPr/>
        </p:nvSpPr>
        <p:spPr>
          <a:xfrm>
            <a:off x="6273800" y="5450979"/>
            <a:ext cx="20532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交易闭环仍需核实与打通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273800" y="5717679"/>
            <a:ext cx="533459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文档尚未充分披露价格、订单、付费权益、计量和结算；“允许使用”仍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273800" y="5929412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需连接可核验的购买权益。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" name="文字 5"/>
          <p:cNvSpPr txBox="1"/>
          <p:nvPr/>
        </p:nvSpPr>
        <p:spPr>
          <a:xfrm>
            <a:off x="457200" y="298450"/>
            <a:ext cx="670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 Skill 资产商业化演进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智果园复用资产与云商店底座，重点补齐 Skill 商业编排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776"/>
            <a:ext cx="11264532" cy="0"/>
          </a:xfrm>
          <a:prstGeom prst="line">
            <a:avLst/>
          </a:prstGeom>
          <a:ln w="12634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972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直接沿用：新版资产广场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465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资产供给与分发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719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仓库、标准包、元数据、许可证、审核、安装入口。继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931293"/>
            <a:ext cx="150465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续兼容免费开源 Skill。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22910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访问范围与审批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57200" y="2545060"/>
            <a:ext cx="34290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沿用可见/可用分离及申请撤销；保留企业共享和指定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457200" y="2756793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用户授权。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311656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复用边界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3370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既有审批控制访问；付费权益还须绑定买家、商品、版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35822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本及可用额度。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292600" y="1097260"/>
            <a:ext cx="20701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对接复用：华为云商业底座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292600" y="146556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云商店订购与结算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292600" y="1719560"/>
            <a:ext cx="337185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按商品类型和合作模式复用订购、退订及结算；补齐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292600" y="1931293"/>
            <a:ext cx="15618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与商品/订单映射。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292600" y="2291060"/>
            <a:ext cx="16139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Agents 网关鉴权与计量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292600" y="25450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已有路由、鉴权、用量解析；适配后端与计费口径。当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4292600" y="27567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前默认北京四。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292600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宿主与外部支付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292600" y="3370560"/>
            <a:ext cx="34990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打通 CodeArts / OfficeAce 等消费端；外部支付另核签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292600" y="3582293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约、宿主工具及身份接入。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28001" y="1097260"/>
            <a:ext cx="213687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智果园补齐：Skill 商业编排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128001" y="14655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商品、试用与服务端权益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8128001" y="1719560"/>
            <a:ext cx="3365004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区分买断文件/订阅/远程按量；定义 SKU、价格和许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8128001" y="1931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可，订单驱动授权。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8128001" y="2291060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任务履约与异常恢复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8128001" y="2545060"/>
            <a:ext cx="3371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固定请求和订单，验付、验权后执行；重试不重复扣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128001" y="2756793"/>
            <a:ext cx="16192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次，失败可恢复或补偿。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128001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质量与作者经营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128001" y="3370560"/>
            <a:ext cx="34863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上架需补任务效果/安全/收费测试；提供订单收益、退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8128001" y="3582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款对账及申诉入口。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4163219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7997031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1" name="Editable line 41"/>
          <p:cNvCxnSpPr/>
          <p:nvPr/>
        </p:nvCxnSpPr>
        <p:spPr>
          <a:xfrm>
            <a:off x="463734" y="3962168"/>
            <a:ext cx="11264532" cy="0"/>
          </a:xfrm>
          <a:prstGeom prst="line">
            <a:avLst/>
          </a:prstGeom>
          <a:ln w="8226" cap="flat">
            <a:solidFill>
              <a:srgbClr val="B5333B"/>
            </a:solidFill>
            <a:prstDash val="solid"/>
          </a:ln>
        </p:spPr>
      </p:cxnSp>
      <p:sp>
        <p:nvSpPr>
          <p:cNvPr id="42" name="文字 42"/>
          <p:cNvSpPr txBox="1"/>
          <p:nvPr/>
        </p:nvSpPr>
        <p:spPr>
          <a:xfrm>
            <a:off x="457200" y="4094460"/>
            <a:ext cx="5819577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首期建议：免费 Skill 入口 + 付费远程能力，先完成一条可对账的交易闭环</a:t>
            </a:r>
            <a:endParaRPr/>
          </a:p>
        </p:txBody>
      </p:sp>
      <p:sp>
        <p:nvSpPr>
          <p:cNvPr id="43" name="形状 43"/>
          <p:cNvSpPr/>
          <p:nvPr/>
        </p:nvSpPr>
        <p:spPr>
          <a:xfrm>
            <a:off x="4572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文字 44"/>
          <p:cNvSpPr txBox="1"/>
          <p:nvPr/>
        </p:nvSpPr>
        <p:spPr>
          <a:xfrm>
            <a:off x="5524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52450" y="4770041"/>
            <a:ext cx="120372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asset_id / 版本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2346380" y="4770735"/>
            <a:ext cx="36496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26289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27178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28130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试用或购买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28130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关联商品、订单与买家</a:t>
            </a:r>
            <a:endParaRPr/>
          </a:p>
        </p:txBody>
      </p:sp>
      <p:cxnSp>
        <p:nvCxnSpPr>
          <p:cNvPr id="51" name="Editable line 51"/>
          <p:cNvCxnSpPr/>
          <p:nvPr/>
        </p:nvCxnSpPr>
        <p:spPr>
          <a:xfrm>
            <a:off x="4610100" y="4770735"/>
            <a:ext cx="361950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2" name="文字 52"/>
          <p:cNvSpPr/>
          <p:nvPr/>
        </p:nvSpPr>
        <p:spPr>
          <a:xfrm rot="5400000">
            <a:off x="48895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49784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50736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服务端验权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073650" y="47700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限额、有效期与请求绑定</a:t>
            </a:r>
            <a:endParaRPr/>
          </a:p>
        </p:txBody>
      </p:sp>
      <p:cxnSp>
        <p:nvCxnSpPr>
          <p:cNvPr id="56" name="Editable line 56"/>
          <p:cNvCxnSpPr/>
          <p:nvPr/>
        </p:nvCxnSpPr>
        <p:spPr>
          <a:xfrm>
            <a:off x="686758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7" name="文字 57"/>
          <p:cNvSpPr/>
          <p:nvPr/>
        </p:nvSpPr>
        <p:spPr>
          <a:xfrm rot="5400000">
            <a:off x="71501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形状 58"/>
          <p:cNvSpPr/>
          <p:nvPr/>
        </p:nvSpPr>
        <p:spPr>
          <a:xfrm>
            <a:off x="72390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文字 59"/>
          <p:cNvSpPr txBox="1"/>
          <p:nvPr/>
        </p:nvSpPr>
        <p:spPr>
          <a:xfrm>
            <a:off x="73342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执行与计量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3342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同一任务只记一次消费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912495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62" name="文字 62"/>
          <p:cNvSpPr/>
          <p:nvPr/>
        </p:nvSpPr>
        <p:spPr>
          <a:xfrm rot="5400000">
            <a:off x="9410701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3" name="形状 63"/>
          <p:cNvSpPr/>
          <p:nvPr/>
        </p:nvSpPr>
        <p:spPr>
          <a:xfrm>
            <a:off x="9499600" y="4431010"/>
            <a:ext cx="223520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95948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交付与对账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9594850" y="4770041"/>
            <a:ext cx="13032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失败恢复 / 补偿 / 售后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57200" y="5237460"/>
            <a:ext cx="614680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验收以付费任务履约为准：重复请求不重复扣费，已付未交付可恢复，退款与权益及账单一致。</a:t>
            </a:r>
            <a:endParaRPr/>
          </a:p>
        </p:txBody>
      </p:sp>
      <p:cxnSp>
        <p:nvCxnSpPr>
          <p:cNvPr id="67" name="Editable line 67"/>
          <p:cNvCxnSpPr/>
          <p:nvPr/>
        </p:nvCxnSpPr>
        <p:spPr>
          <a:xfrm>
            <a:off x="463734" y="5658677"/>
            <a:ext cx="11264532" cy="0"/>
          </a:xfrm>
          <a:prstGeom prst="line">
            <a:avLst/>
          </a:prstGeom>
          <a:ln w="8060" cap="flat">
            <a:solidFill>
              <a:srgbClr val="D9DDE2"/>
            </a:solidFill>
            <a:prstDash val="solid"/>
          </a:ln>
        </p:spPr>
      </p:cxnSp>
      <p:sp>
        <p:nvSpPr>
          <p:cNvPr id="68" name="文字 68"/>
          <p:cNvSpPr txBox="1"/>
          <p:nvPr/>
        </p:nvSpPr>
        <p:spPr>
          <a:xfrm>
            <a:off x="457200" y="577721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后续演进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695450" y="5777210"/>
            <a:ext cx="723324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知识型高价值 Skill 再评估云端原文保护与组织订阅。源文件买断需讲清许可，保护范围不应承诺超出交付方式。</a:t>
            </a:r>
            <a:endParaRPr/>
          </a:p>
        </p:txBody>
      </p:sp>
      <p:pic>
        <p:nvPicPr>
          <p:cNvPr id="71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