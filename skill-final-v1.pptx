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76" r:id="rId22"/>
    <p:sldId id="279" r:id="rId6"/>
    <p:sldId id="280" r:id="rId2"/>
    <p:sldId id="281" r:id="rId23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0"/>
    <p:sldId id="278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1.xml"/><Relationship Id="rId23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 资产生命周期：生产 → 分发 → 安装 → 使用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31520" y="1097280"/>
            <a:ext cx="10728960" cy="0"/>
          </a:xfrm>
          <a:prstGeom prst="line">
            <a:avLst/>
          </a:prstGeom>
          <a:ln w="12700">
            <a:solidFill>
              <a:srgbClr val="C9CD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6720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7408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50720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7408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把经验变成可复用的方法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7408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7408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定任务：目标 / 输入输出 / 边界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起稿：$skill-creator 生成草稿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补步骤/异常/验收，配资源跑三类任务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73024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7408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触发准 / 边界清 / 样例与评测齐全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方法包 + 样例 + 评测 + 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2566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3254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0246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6566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作者 / 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254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让合适的人拿到明确版本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254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254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打包：Git / ZIP，附来源/版本/许可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写说明页：场景/示例/环境/限制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上架：市场 / Plugin / 托管 API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458870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483254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22166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展示=实得 / 来源可追 / 版本可回滚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3254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166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发布包 + 说明页 + 来源/版本/许可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8412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9100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86092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2412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宿主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69100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在宿主 Agent 中安装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9100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9100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复制到 ~/.agents/skills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skills add &lt;repo&gt; -g -a codex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查依赖 / 权限，跑最小任务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344716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369100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08012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宿主可见 / 依赖权限 / 最小任务通过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9100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08012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安装实例 + 就绪检查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84259" y="1371600"/>
            <a:ext cx="2682240" cy="240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4947" y="1440180"/>
            <a:ext cx="36576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71939" y="1440180"/>
            <a:ext cx="10363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8259" y="1453896"/>
            <a:ext cx="97536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用户 / 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54947" y="1673352"/>
            <a:ext cx="231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在任务中调用并反馈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54947" y="1906524"/>
            <a:ext cx="48768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4947" y="2029968"/>
            <a:ext cx="231648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提任务：目标 / 输入 / 约束 / 验收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自动匹配，或点名 /pdf-processing</a:t>
            </a: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渐进加载 references/scripts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0563" y="2935224"/>
            <a:ext cx="2389632" cy="0"/>
          </a:xfrm>
          <a:prstGeom prst="line">
            <a:avLst/>
          </a:prstGeom>
          <a:ln w="6350">
            <a:solidFill>
              <a:srgbClr val="E2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54947" y="3003804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3859" y="3003804"/>
            <a:ext cx="1950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已加载 / 已执行 / 已验收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4947" y="3236976"/>
            <a:ext cx="426720" cy="1234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3859" y="3236976"/>
            <a:ext cx="19507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任务结果 + 验收结论 + 使用记录</a:t>
            </a:r>
          </a:p>
        </p:txBody>
      </p:sp>
      <p:sp>
        <p:nvSpPr>
          <p:cNvPr id="52" name="Oval 51"/>
          <p:cNvSpPr/>
          <p:nvPr/>
        </p:nvSpPr>
        <p:spPr>
          <a:xfrm>
            <a:off x="1671828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083308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57674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969154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443520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7855000" y="1049274"/>
            <a:ext cx="207264" cy="96012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29367" y="1001268"/>
            <a:ext cx="192024" cy="1920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3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cxnSp>
        <p:nvCxnSpPr>
          <p:cNvPr id="59" name="Connector 58"/>
          <p:cNvCxnSpPr/>
          <p:nvPr/>
        </p:nvCxnSpPr>
        <p:spPr>
          <a:xfrm flipH="1">
            <a:off x="853440" y="3977639"/>
            <a:ext cx="10485120" cy="0"/>
          </a:xfrm>
          <a:prstGeom prst="line">
            <a:avLst/>
          </a:prstGeom>
          <a:ln w="12700">
            <a:solidFill>
              <a:srgbClr val="A5AC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609600" y="3929633"/>
            <a:ext cx="207264" cy="96012"/>
          </a:xfrm>
          <a:prstGeom prst="leftArrow">
            <a:avLst/>
          </a:prstGeom>
          <a:solidFill>
            <a:srgbClr val="A5AC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3867911"/>
            <a:ext cx="341376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用后反馈 → 修订 → 新版本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6720" y="4217670"/>
            <a:ext cx="11338560" cy="137160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4256" y="4341114"/>
            <a:ext cx="48768" cy="1124712"/>
          </a:xfrm>
          <a:prstGeom prst="roundRect">
            <a:avLst>
              <a:gd name="adj" fmla="val 5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70560" y="4286250"/>
            <a:ext cx="243840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智果园示例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0560" y="4423410"/>
            <a:ext cx="670560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从生产到 CodeArts Agent 的一条链路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0560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0560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本地或 CodeArts 生产 Skill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2609088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28544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45536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上架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28544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智果园 AI 资产广场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4767072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86528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03520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安装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6528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CodeArts Agent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6925056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44512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61504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调用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4512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任务中按需加载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083040" y="4807458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302496" y="4656582"/>
            <a:ext cx="31699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656582"/>
            <a:ext cx="548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反馈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302496" y="4807458"/>
            <a:ext cx="1889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使用记录 → v1.1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0560" y="5301234"/>
            <a:ext cx="1072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验收：能装 · 能跑 · 能验收 · 能回滚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7680" y="586359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72896" y="586359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平台的价值不在“存资产”，而在让 Skill 可发现、可安装、可运行、可迭代。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魔搭 Skill 关键能力：发布两步、安装四路，试运行和原创供给都还薄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878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两步 API，约束不少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40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传 zip → 建 Skill；包 ≤5MB，只能 1 个 SKILL.md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name / owner 不可改；审核、version 不透明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816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884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022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四条安装通道，搜索不好用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npx / SDK / bash / zip；默认 ~/.agents/skills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OpenAPI 关键词 search 不生效，只能按类目 / 作者筛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768096"/>
            <a:ext cx="365760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0288" y="850392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836676"/>
            <a:ext cx="121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试运行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1028700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没有技能级沙箱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0288" y="120015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只有「前往实验场试用」→ 通用 Agent 会话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无输入 / 结果 / 回放；MCP 有实验场，Skill 没有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182422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实测：iic/fun-denoise 5.3k 浏览 / 782 下载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720" y="2139696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720" y="236601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供给：数量很大，原创很薄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720" y="264033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6880" y="2667762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706880" y="2667762"/>
            <a:ext cx="7872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9520" y="2640330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337 / 0.4%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6720" y="285978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06880" y="2887218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06880" y="2887218"/>
            <a:ext cx="12847" cy="75438"/>
          </a:xfrm>
          <a:prstGeom prst="roundRect">
            <a:avLst>
              <a:gd name="adj" fmla="val 40000"/>
            </a:avLst>
          </a:prstGeom>
          <a:solidFill>
            <a:srgbClr val="56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9520" y="2859786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550 / &lt;1%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" y="307924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6880" y="3106674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706880" y="3106674"/>
            <a:ext cx="60285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9520" y="3079242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25,808 / 30.9%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6720" y="32986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06880" y="3326130"/>
            <a:ext cx="195072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706880" y="3326130"/>
            <a:ext cx="1327140" cy="75438"/>
          </a:xfrm>
          <a:prstGeom prst="roundRect">
            <a:avLst>
              <a:gd name="adj" fmla="val 40000"/>
            </a:avLst>
          </a:prstGeom>
          <a:solidFill>
            <a:srgbClr val="CFD4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9520" y="3298698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56,814 / 68.0%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6720" y="3531870"/>
            <a:ext cx="560832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官方 337 条；垂直约 550；镜像 25,808 条；其余约 5.68 万（按总数估算）。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39840" y="2366010"/>
            <a:ext cx="536448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消费：上架即沉默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3984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3984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中位下载（样本 2,400）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0768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65.9%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768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Top1% 技能拿走下载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0" y="2640330"/>
            <a:ext cx="158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3.5×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2914650"/>
            <a:ext cx="1584960" cy="233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品牌/垂直中位 vs 长尾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39840" y="34290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下载含 CLI / 镜像拉取，不等于用户数；样本偏向推荐位，真实中位更低。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672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类目：Top3 占 66.3%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6720" y="432054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10 个一级类目；35 个二级类目里 24 个是 0 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49199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开发工具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706880" y="4519422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4491990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27,928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67029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代码质检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706880" y="4697730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706880" y="4697730"/>
            <a:ext cx="1397950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6240" y="4670298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16,854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4860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媒体处理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706880" y="4876038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706880" y="4876038"/>
            <a:ext cx="876642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4848606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10,569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6720" y="5026914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前端开发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706880" y="5054346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706880" y="5054346"/>
            <a:ext cx="554568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06240" y="5026914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6,686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6720" y="52052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云效工具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6880" y="5232654"/>
            <a:ext cx="2316480" cy="68580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706880" y="5232654"/>
            <a:ext cx="459845" cy="68580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5205222"/>
            <a:ext cx="975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5,544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6720" y="541782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开发工具 + 代码质检 + 媒体处理 = 55,351 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39840" y="4149090"/>
            <a:ext cx="560832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谁被下载：品牌 &gt; 官方 &gt; 长尾 &gt; 镜像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39840" y="4423410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品牌 / 垂直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802880" y="4450842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14560" y="442341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39840" y="4642866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平台官方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02880" y="4670298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802880" y="4670298"/>
            <a:ext cx="132552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814560" y="464286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374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39840" y="4862322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社区长尾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02880" y="4889754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7802880" y="4889754"/>
            <a:ext cx="52453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14560" y="486232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39840" y="5081778"/>
            <a:ext cx="1219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聚合 / 镜像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802880" y="5109210"/>
            <a:ext cx="18288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802880" y="5109210"/>
            <a:ext cx="513906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814560" y="508177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9840" y="5314950"/>
            <a:ext cx="5608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最高异常：1.15M 下载 / 592 浏览；下载不宜直接当用户数。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已有按次收费供给，平台暂不收技术服务费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91440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  <p:txBody>
          <a:bodyPr/>
          <a:p/>
        </p:txBody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展示交易边界、协助投诉退款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 SkillPay 将微信订单接入 Agent，商户验付后履约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次依据官方文档和源码，未真实交易。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两次下单接入 Agent，SkillHub 提供商户验签与分发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  <p:txBody>
          <a:bodyPr/>
          <a:p/>
        </p:txBody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开发者密钥及教程所述验签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payment_code 发起付款，payment_id 串联任务与交付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不能混接。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经营 Skill 商品，付款后分为源文件与使用权两种交付</a:t>
            </a:r>
            <a:endParaRPr/>
          </a:p>
        </p:txBody>
      </p: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本地执行与产物是否合格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订阅原文留云端，云端给任务指导，本地 Agent 继续执行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先签报价，付款后带票重试，商户在线验付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66472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7" name="文字 7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支付宝验证支付事实，商户核对业务账并恢复唯一履约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  <p:txBody>
          <a:bodyPr/>
          <a:p/>
        </p:txBody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  <p:txBody>
          <a:bodyPr/>
          <a:p/>
        </p:txBody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推定全部流量走同一内部链路。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阿里把 Agent 支付拆成两层：SkillPay 卖商品，MachinePay 卖调用</a:t>
            </a:r>
            <a:endParaRPr/>
          </a:p>
        </p:txBody>
      </p:sp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200" b="1">
                <a:latin typeface="微软雅黑"/>
              </a:defRPr>
            </a:pPr>
            <a:r>
              <a:rPr sz="1200" b="1" i="0" u="none" spc="-5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0" i="0" u="none" spc="-10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支付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试用、订阅与履约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→200 + fulfillment.confirm。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文字 6"/>
          <p:cNvSpPr txBox="1"/>
          <p:nvPr/>
        </p:nvSpPr>
        <p:spPr>
          <a:xfrm>
            <a:off x="457200" y="308610"/>
            <a:ext cx="11247120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2400" b="1">
                <a:latin typeface="微软雅黑"/>
              </a:defRPr>
            </a:pPr>
            <a:r>
              <a:rPr sz="2400" b="1" i="0" u="none" spc="0">
                <a:solidFill>
                  <a:srgbClr val="C7000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vs MachinePay：商品化与计费化的分工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维度</a:t>
                      </a:r>
                      <a:endParaRPr/>
                    </a:p>
                  </a:txBody>
                  <a:tcPr marL="27432" marR="27432" marT="4572" marB="4572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FFFFFF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MachinePay</a:t>
                      </a:r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卖什么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计费单位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触发方式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交付物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资金路径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信任机制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1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关键风险</a:t>
                      </a:r>
                      <a:endParaRPr/>
                    </a:p>
                  </a:txBody>
                  <a:tcPr marL="27432" marR="27432" marT="4572" marB="4572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750" b="0" i="0" u="none" spc="-40">
                          <a:solidFill>
                            <a:srgbClr val="1A1A1C">
                              <a:alpha val="100000"/>
                            </a:srgbClr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27432" marR="27432" marT="4572" marB="4572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微软雅黑"/>
              </a:defRPr>
            </a:pPr>
            <a:r>
              <a:rPr sz="1000" b="1" i="0" u="none" spc="-10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 xml:space="preserve">Skill 质量评测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两个平台的商业化：阿里卖商品权益，腾讯连付费服务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87680" y="925830"/>
          <a:ext cx="12192000" cy="29832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06880"/>
                <a:gridCol w="5242560"/>
                <a:gridCol w="5242560"/>
              </a:tblGrid>
              <a:tr h="37719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维度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阿里：SkillPay + MachinePay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腾讯：SkillHub SkillPay</a:t>
                      </a:r>
                    </a:p>
                  </a:txBody>
                  <a:tcPr marL="36576" marR="36576" marT="18288" marB="18288" anchor="ctr">
                    <a:solidFill>
                      <a:srgbClr val="B5333B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卖什么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商品/权益：买断源码、订阅云端；MachinePay 按次 API / MCP 资源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Skill 包负责发现与调用；远程服务按次收费，如 WorkRally 0.36 元/次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平台角色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商品化、试用/版本/权益、402 支付、云端保护、退款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企业认证、商户绑定、开发者签名、定价审核、分发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交易与履约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402 报价 → 付款凭证 → 验付 → 履约回执；商户做幂等与业务核对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微信订单 → AI 支付码 → payment_code → payment_id；商户验付后交付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收入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开发者定价、资金直达；平台费率未公开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平台技术服务费暂免；服务商从远程服务变现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值得借鉴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先定义购买权益与交付形态，再做试用、续购与持续更新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1A1A1C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保留低门槛安装入口，把收费放在持续服务端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8768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398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阿里：商品经营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8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 / 订阅 / 试用 / 退款 + 402 验付；强在权益与交付；平台费率未公开。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350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腾讯：服务入口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50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免费包 + 远程按次 + 微信支付；强在分发与商户连接；平台技术服务费暂免。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217670"/>
            <a:ext cx="3535679" cy="12001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3024" y="4299966"/>
            <a:ext cx="3243071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共同待解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3024" y="4526280"/>
            <a:ext cx="3243071" cy="7886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费率、结算、退款、质量；公开信息不足，需按协议核实；不要把示例当全量。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680" y="5589270"/>
            <a:ext cx="11216640" cy="240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一句话：阿里把 Skill 变成商品，腾讯把 Skill 变成付费服务的入口。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680" y="5932170"/>
            <a:ext cx="54864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96" y="5932170"/>
            <a:ext cx="10607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阿里证明 Skill 可以商品化，腾讯证明 Skill 可以服务化；智果园要选一条能对账的路径。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7680" y="308610"/>
            <a:ext cx="11216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对智果园的启示：补商业编排，而不是再堆资产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740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316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先定义卖什么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40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买断、订阅、按次三种形态并存；商品是权益，不是文件；先定 SKU、价格、许可与版本；试用、续购、更新要连成经营。先做一个可售 SKU 试点，再扩品类。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880" y="96012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9568" y="104241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5328" y="104241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把交易接进任务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9568" y="133731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402/支付凭证/验付/履约，或微信支付码/回调；支付成功 ≠ 交付成功；重试不重复扣费；已付未交付可恢复。把支付、权益、履约写成状态机。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72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740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16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平台做可信中介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40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企业认证、开发者签名、版本/许可、退款/争议；上架补质量与收费测试；订单、收益、退款要能对账。把作者收益、退款、申诉产品化。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8880" y="2571750"/>
            <a:ext cx="5486400" cy="14401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9568" y="2654046"/>
            <a:ext cx="341376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5328" y="2654046"/>
            <a:ext cx="475488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智果园的差异化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9568" y="2948940"/>
            <a:ext cx="5145024" cy="9258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复用 AI 资产广场供给 + CodeArts Agent 宿主；先做行业标杆，不追规模；首期免费入口 + 付费远程能力。先用 3–5 个行业标杆验证。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20" y="4354830"/>
            <a:ext cx="11338560" cy="925830"/>
          </a:xfrm>
          <a:prstGeom prst="roundRect">
            <a:avLst>
              <a:gd name="adj" fmla="val 4000"/>
            </a:avLst>
          </a:prstGeom>
          <a:solidFill>
            <a:srgbClr val="F7F8FA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4437126"/>
            <a:ext cx="1950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首期路径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发现 / 安装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免费 Skill 入口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79904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14016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绑定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4016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资产 / 版本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084320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18432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试用 / 购买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18432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商品 / 订单 / 买家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888736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22847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服务端验权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22847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限额 / 有效期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693151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27264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执行 / 计量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27264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同一任务一次消费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97568" y="4766310"/>
            <a:ext cx="121920" cy="68580"/>
          </a:xfrm>
          <a:prstGeom prst="rightArrow">
            <a:avLst/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31680" y="462915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交付 / 对账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31680" y="4793742"/>
            <a:ext cx="164592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恢复 / 补偿 / 售后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7680" y="5520690"/>
            <a:ext cx="112166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首期建议：免费 Skill 入口 + 付费远程能力，先跑通一条可对账的交易闭环。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897880"/>
            <a:ext cx="11216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验收以付费任务履约为准：重复请求不重复扣费，已付未交付可恢复，退款与权益、账单一致。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关键能力：20 万供给、多路安装、云端试跑、TRACE 评分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供给与发布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20 万 Skill，来源三条线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20.0 万 Skill / 13 类 / 1,999 家企业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ClawHub 同步 + 社区 + 企业；来源可重叠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Web / CLI / GitHub / Agent 发布；版本、可见性、团队审核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来源记录可重叠：community / enterprise / clawhub 不可直接相加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92583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01498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2176" y="100126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分发与安装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42176" y="122072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Web、CLI、API、DSH、ZIP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075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skillhub search / install &lt;slug&gt; --dir ./skills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装到宿主目录；Claude Code / Cursor / Codex 等可发现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不自动装 pip/npm 依赖，也不执行包内脚本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默认 ./skills；不指定 --dir 可能不被宿主识别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云端试跑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从「能装」到「能跑」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前端已有 sandbox / session / 运行案例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支持创建、恢复、清理会话，保存结果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本次只读核查，未登录实测隔离、成功率、费用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官方文档列沙箱 / 会话 / 文件处理；公开 API 契约未完整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188970"/>
            <a:ext cx="5547360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2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278124"/>
            <a:ext cx="365760" cy="150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2176" y="3264408"/>
            <a:ext cx="3169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TRACE 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2176" y="3483864"/>
            <a:ext cx="36576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从「能装」到「可评」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23894"/>
            <a:ext cx="5181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 维、15 子项；抽样 40 条有效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均分 4.54 / 5；72.5% ≥ 4.5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企业覆盖 100%、社区 74%、ClawHub 0%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95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· </a:t>
            </a:r>
            <a:r>
              <a:rPr sz="9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评测绑定 versionId；旧版本 / 未评测版本可能为空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" y="552069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关键差异：不只是 20 万供给，而是把云端试跑和 TRACE 接进分发；但评测覆盖还不均。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6720" y="274320"/>
            <a:ext cx="11338560" cy="377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7000B"/>
                </a:solidFill>
                <a:latin typeface="微软雅黑"/>
                <a:ea typeface="微软雅黑"/>
                <a:cs typeface="微软雅黑"/>
              </a:rPr>
              <a:t>SkillHub 生态画像：20 万 Skill，开发类占下载 36.3%，TRACE 覆盖不均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6720" y="754380"/>
            <a:ext cx="4876800" cy="178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生态画像：4 项对比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6720" y="102870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谁在供给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" y="123444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 头部样本来源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6720" y="1495044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24000" y="1522476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4000" y="1522476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45280" y="149504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1741932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ClawHub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24000" y="1769364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24000" y="1769364"/>
            <a:ext cx="155170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45280" y="174193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" y="198882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24000" y="2016252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524000" y="2016252"/>
            <a:ext cx="1551709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45280" y="198882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28%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20" y="2297430"/>
            <a:ext cx="536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1,999 家企业；腾讯官方 155；13 个一级类目。44/28/28 只是 Top50 头部，不是全量来源占比。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02870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什么被下载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123444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 下载类别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495044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开发编程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37120" y="1522476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37120" y="1522476"/>
            <a:ext cx="2263783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149504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36.3%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1714500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AI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37120" y="1741932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37120" y="1741932"/>
            <a:ext cx="810721" cy="75438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17145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13.0%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933956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知识管理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37120" y="1961388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37120" y="1961388"/>
            <a:ext cx="723412" cy="75438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0" y="1933956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11.6%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153412"/>
            <a:ext cx="1158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其他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37120" y="2180844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37120" y="2180844"/>
            <a:ext cx="2438400" cy="75438"/>
          </a:xfrm>
          <a:prstGeom prst="roundRect">
            <a:avLst>
              <a:gd name="adj" fmla="val 40000"/>
            </a:avLst>
          </a:prstGeom>
          <a:solidFill>
            <a:srgbClr val="C9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2153412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39.1%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400300"/>
            <a:ext cx="536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开发类 5 条贡献 36.3%，头部集中；样本只代表下载头部。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6720" y="346329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消费有多集中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6720" y="366903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Top50 下载合计约 5,481 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6720" y="3909059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编程大神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28800" y="3936491"/>
            <a:ext cx="219456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828800" y="3936491"/>
            <a:ext cx="219456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45280" y="3909059"/>
            <a:ext cx="853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521.3 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720" y="4128515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编程专家Pro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828800" y="4155947"/>
            <a:ext cx="219456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828800" y="4155947"/>
            <a:ext cx="2185298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45280" y="4128515"/>
            <a:ext cx="853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519.1 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6720" y="4347972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编程专家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28800" y="4375404"/>
            <a:ext cx="219456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28800" y="4375404"/>
            <a:ext cx="2052690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45280" y="4347972"/>
            <a:ext cx="853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487.6 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6720" y="4567428"/>
            <a:ext cx="1341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腾讯文档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828800" y="4594860"/>
            <a:ext cx="219456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828800" y="4594860"/>
            <a:ext cx="767443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45280" y="4567428"/>
            <a:ext cx="8534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182.3 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6720" y="4869180"/>
            <a:ext cx="536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downloads 含 CLI / 镜像拉取；部分头部 installs 为 0，下载不等于使用。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3463290"/>
            <a:ext cx="536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质量覆盖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3669030"/>
            <a:ext cx="536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TRACE 抽样：40 条有效 / 53 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840480"/>
            <a:ext cx="121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4.54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59040" y="3874769"/>
            <a:ext cx="134112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均分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22080" y="3874769"/>
            <a:ext cx="1463040" cy="20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5333B"/>
                </a:solidFill>
                <a:latin typeface="微软雅黑"/>
                <a:ea typeface="微软雅黑"/>
                <a:cs typeface="微软雅黑"/>
              </a:rPr>
              <a:t>72.5%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22080" y="4046220"/>
            <a:ext cx="1950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≥4.5 / 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428625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企业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0" y="4313682"/>
            <a:ext cx="231648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315200" y="4313682"/>
            <a:ext cx="2316480" cy="75438"/>
          </a:xfrm>
          <a:prstGeom prst="roundRect">
            <a:avLst>
              <a:gd name="adj" fmla="val 40000"/>
            </a:avLst>
          </a:prstGeom>
          <a:solidFill>
            <a:srgbClr val="B53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53600" y="428625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100%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449199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社区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4519422"/>
            <a:ext cx="231648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315200" y="4519422"/>
            <a:ext cx="1714195" cy="75438"/>
          </a:xfrm>
          <a:prstGeom prst="roundRect">
            <a:avLst>
              <a:gd name="adj" fmla="val 40000"/>
            </a:avLst>
          </a:prstGeom>
          <a:solidFill>
            <a:srgbClr val="9AA1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753600" y="449199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74%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697730"/>
            <a:ext cx="103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16B"/>
                </a:solidFill>
                <a:latin typeface="微软雅黑"/>
                <a:ea typeface="微软雅黑"/>
                <a:cs typeface="微软雅黑"/>
              </a:rPr>
              <a:t>ClawHub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15200" y="4725162"/>
            <a:ext cx="2316480" cy="75438"/>
          </a:xfrm>
          <a:prstGeom prst="roundRect">
            <a:avLst>
              <a:gd name="adj" fmla="val 40000"/>
            </a:avLst>
          </a:prstGeom>
          <a:solidFill>
            <a:srgbClr val="EDE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753600" y="469773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992624"/>
            <a:ext cx="536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B8E94"/>
                </a:solidFill>
                <a:latin typeface="微软雅黑"/>
                <a:ea typeface="微软雅黑"/>
                <a:cs typeface="微软雅黑"/>
              </a:rPr>
              <a:t>最低 4.12，0 条 &lt;4.0；分数高且集中，不能替代真实任务验收。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720" y="5760720"/>
            <a:ext cx="1133856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A1A1C"/>
                </a:solidFill>
                <a:latin typeface="微软雅黑"/>
                <a:ea typeface="微软雅黑"/>
                <a:cs typeface="微软雅黑"/>
              </a:rPr>
              <a:t>读法：供给靠社区，下载靠开发，评测覆盖靠企业；TRACE 覆盖不均，ClawHub 基本空白。</a:t>
            </a:r>
          </a:p>
        </p:txBody>
      </p:sp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v1（旅程版）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