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1748790"/>
            <a:ext cx="7315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057400"/>
            <a:ext cx="5364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供给：97.5% 标源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228850"/>
            <a:ext cx="53644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83,552；已分类 81,973（98.1%）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32486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72640" y="234543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72640" y="2345436"/>
            <a:ext cx="2020824" cy="51435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232486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79,945 / 97.5%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46202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其他 Skill 市场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72640" y="248259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072640" y="2482596"/>
            <a:ext cx="36576" cy="51435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246202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248 / 0.3%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259918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外部网站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2640" y="261975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72640" y="2619756"/>
            <a:ext cx="36576" cy="51435"/>
          </a:xfrm>
          <a:prstGeom prst="roundRect">
            <a:avLst>
              <a:gd name="adj" fmla="val 40000"/>
            </a:avLst>
          </a:prstGeom>
          <a:solidFill>
            <a:srgbClr val="6B7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200" y="259918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329 / 0.4%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273634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个人上传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72640" y="275691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72640" y="2756916"/>
            <a:ext cx="37307" cy="51435"/>
          </a:xfrm>
          <a:prstGeom prst="roundRect">
            <a:avLst>
              <a:gd name="adj" fmla="val 40000"/>
            </a:avLst>
          </a:prstGeom>
          <a:solidFill>
            <a:srgbClr val="8B8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7200" y="273634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1,451 / 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2880360"/>
            <a:ext cx="53644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个人上传=无/无效标源近似；其余三类合计 2.5%。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057400"/>
            <a:ext cx="54254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月度上架：3 月占 89.2%，平台批量导入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228850"/>
            <a:ext cx="54254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 GmtCreate 归月 · 2026-03 至 2026-10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297430"/>
            <a:ext cx="158496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89.2%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9840" y="2606040"/>
            <a:ext cx="158496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2026-03 单月占比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9840" y="2688336"/>
            <a:ext cx="15849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9840" y="2839212"/>
            <a:ext cx="15849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 月上架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2571750"/>
            <a:ext cx="268224" cy="363474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6864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1104" y="2475738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83168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7331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4892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63456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39072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53600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29216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43744" y="2917924"/>
            <a:ext cx="268224" cy="17299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1936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21824" y="2821912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3,479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533888" y="2919222"/>
            <a:ext cx="268224" cy="16001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950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11968" y="2823210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3,218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2403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9964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9840" y="3038094"/>
            <a:ext cx="5425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3 月 73,098 条；前两账号占 45.7%；前 3 月 97.3%。批量导入，不是自然上架。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3168396"/>
            <a:ext cx="7315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66.2%，Top5 占 80.9%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" y="3353562"/>
            <a:ext cx="3666968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093688" y="3353562"/>
            <a:ext cx="2213024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06712" y="3353562"/>
            <a:ext cx="1388147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694860" y="3353562"/>
            <a:ext cx="878328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573188" y="3353562"/>
            <a:ext cx="728481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301670" y="3353562"/>
            <a:ext cx="2097849" cy="10972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72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 27,922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8224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 16,851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 10,570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9328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 6,688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4880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 5,547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720" y="3579876"/>
            <a:ext cx="109728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个二级里 24 个空；Top3=55,343；Top5=67,578。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6720" y="3669030"/>
            <a:ext cx="1133856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谁被下载：四类 Top6（共 24 个）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" y="3785616"/>
            <a:ext cx="113385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显示名 · 所有者 · 下载量；按 DownloadCount 降序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GitHub Top6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672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72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1881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1,156,332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60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ebandao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672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skill-creator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1881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20,876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960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672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960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床垫选购顾问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1881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19,487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960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672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frontend-design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1881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16,285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960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672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960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OneSkills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1881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12,861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960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OneScience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672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960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docx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1881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10,754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60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9184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其他市场 Top6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9184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9184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7472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Mysteel_PriceSearch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8393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31,477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@wyb92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9184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7472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weather天气查询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8393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5,818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7472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9184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47472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8393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3,844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9184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7472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 Vetter 安全扫描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58393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3,781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7472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@spclaudehome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4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47472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8393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2,666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7472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29184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7472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amap-jsapi-skill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58393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2,344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7472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@lbs-amap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15696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外部网站 Top6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5696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5696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3984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小包公智能法律专家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4905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27,742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3984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5696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3984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小包公智能合同起草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4905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26,770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33984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5696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3984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小包公智能合同审查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4905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10,637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33984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15696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33984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小包公合同自动纠错工具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4905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10,566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3984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15696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33984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小包公合同自动排版工具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4905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10,555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3984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15696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3984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小包公合同风险评估工具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4905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10,481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3984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22080" y="3909059"/>
            <a:ext cx="2682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 Top6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022080" y="4005071"/>
            <a:ext cx="2682240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022080" y="402564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204960" y="402564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床垫试睡权益顾问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1314176" y="402564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13,082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04960" y="411480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022080" y="4279392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204960" y="4279392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新房低异味床垫顾问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314176" y="4279392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12,583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204960" y="4368546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022080" y="4533137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204960" y="4533137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招标中标数据查询API，标讯日更新30万+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14176" y="4533137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11,312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204960" y="4622292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022080" y="4786884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204960" y="4786884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3000档床垫预算顾问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314176" y="4786884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11,273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204960" y="4876038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022080" y="5040630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204960" y="5040630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企业画像与上下游关系分析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14176" y="5040630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204960" y="5129784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022080" y="5294376"/>
            <a:ext cx="17068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204960" y="5294376"/>
            <a:ext cx="2121408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拟在建项目与招投标前置商机挖掘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1314176" y="5294376"/>
            <a:ext cx="402336" cy="75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04960" y="5383530"/>
            <a:ext cx="249936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26720" y="555498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读法：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 撑数量，3 月集中导入；四类头部差异大，个人上传集中在少数账号。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生态画像：全站个人 34.0%、企业 34.4%、镜像 31.6%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全站个人/企业/镜像约三分；下方按 Top10000 样本看免费 / Payskill / API Key 三类 Top8。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1028700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谁在供给：个人 34.0% / 企业 34.4% / 镜像 31.6%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93292"/>
            <a:ext cx="536448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条数占比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03020"/>
            <a:ext cx="134112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个人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330452"/>
            <a:ext cx="2072640" cy="48006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1330452"/>
            <a:ext cx="704697" cy="48006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303020"/>
            <a:ext cx="158496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68,158 / 34.0%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474470"/>
            <a:ext cx="134112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501902"/>
            <a:ext cx="2072640" cy="48006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28800" y="1501902"/>
            <a:ext cx="712988" cy="48006"/>
          </a:xfrm>
          <a:prstGeom prst="roundRect">
            <a:avLst>
              <a:gd name="adj" fmla="val 40000"/>
            </a:avLst>
          </a:prstGeom>
          <a:solidFill>
            <a:srgbClr val="6B7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474470"/>
            <a:ext cx="158496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68,859 / 34.4%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645920"/>
            <a:ext cx="134112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1673352"/>
            <a:ext cx="2072640" cy="48006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28800" y="1673352"/>
            <a:ext cx="654954" cy="4800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1645920"/>
            <a:ext cx="158496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188595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按账号/来源标签折算；个人=社区−企业；非严格互斥。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840" y="1028700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9840" y="1193292"/>
            <a:ext cx="536448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12 个内容分类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9840" y="130302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59040" y="133045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59040" y="133045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0" y="130302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9840" y="144018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59040" y="146761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59040" y="1467612"/>
            <a:ext cx="1674795" cy="44577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144018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9840" y="157734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59040" y="160477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559040" y="1604772"/>
            <a:ext cx="1617044" cy="44577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157734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9840" y="171450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59040" y="174193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559040" y="1741932"/>
            <a:ext cx="1530416" cy="44577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171450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9840" y="1851660"/>
            <a:ext cx="11582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59040" y="1879092"/>
            <a:ext cx="2194560" cy="44577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559040" y="1879092"/>
            <a:ext cx="1357162" cy="44577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0" y="1851660"/>
            <a:ext cx="85344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9840" y="1954529"/>
            <a:ext cx="536448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34.7%；Pay Skill 10.0% 为多标签。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6720" y="2098548"/>
            <a:ext cx="1133856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Top8 下载：免费 / Payskill / API Key（各 8 个）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6720" y="2235708"/>
            <a:ext cx="1133856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内 · 免费 6,908 / Payskill 68 / API Key 3,030；Payskill 与 API Key 可重叠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720" y="2372868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免费 Top8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6720" y="2468880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6720" y="251002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984" y="251002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编程大神.Skill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13760" y="251002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5,213,811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984" y="264033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阿客实验室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720" y="290779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984" y="290779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编程专家Pro.Skill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13760" y="290779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5,192,102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984" y="303809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user_47d655f0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6720" y="330555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984" y="330555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编程专家.Skill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13760" y="330555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4,877,322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3984" y="343585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user_741dc82b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720" y="3703320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984" y="3703320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搜索引擎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13760" y="3703320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4,712,038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3984" y="3833622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智创未来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6720" y="4101084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984" y="4101084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13760" y="4101084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4,173,129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3984" y="4231386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user_814dbe54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6720" y="449884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984" y="449884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育儿大师.Skill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13760" y="449884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2,508,248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" y="462915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user_741dc82b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6720" y="489661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3984" y="489661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self-improving agent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13760" y="489661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1,452,722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3984" y="502691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pskoett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529437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3984" y="529437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防骗大师.Skill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13760" y="529437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1,341,004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3984" y="542467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user_741dc82b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28160" y="2372868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Payskill Top8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28160" y="2468880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28160" y="251002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35424" y="251002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WPS全家桶·办公管家.Skill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15200" y="251002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190,264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264033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user_185644ed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28160" y="290779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35424" y="290779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招标文件解读【喜鹊标书】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15200" y="290779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169,094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35424" y="303809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喜鹊AI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28160" y="330555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35424" y="330555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办公文档三件套（Word/Excel/PDF）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0" y="330555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135,227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35424" y="343585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user_69794d19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28160" y="3703320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35424" y="3703320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知了标讯 · 全网招中标数据查询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15200" y="3703320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82,636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35424" y="3833622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知了标讯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8160" y="4101084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35424" y="4101084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标书审查【喜鹊标书】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0" y="4101084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80,948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35424" y="4231386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喜鹊AI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28160" y="449884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35424" y="449884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浏览器自动化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0" y="449884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66,947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35424" y="462915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菏泽九有信息科技有限公司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28160" y="489661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35424" y="489661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技能开发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15200" y="489661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61,444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35424" y="502691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菏泽九有信息科技有限公司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28160" y="529437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35424" y="529437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中文去 AI 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315200" y="529437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53,582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35424" y="542467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user_4e7171fa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0" y="2372868"/>
            <a:ext cx="3535679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API Key Top8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229600" y="2468880"/>
            <a:ext cx="3535679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229600" y="251002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36864" y="251002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腾讯文档 TENCENT DOCS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16640" y="251002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1,824,922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36864" y="264033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腾讯文档团队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9600" y="290779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6864" y="290779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全国电子印章互认平台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216640" y="290779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1,033,084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36864" y="303809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成都国信公链科技有限公司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0" y="330555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36864" y="330555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216640" y="330555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765,618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436864" y="343585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paudyyin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29600" y="3703320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36864" y="3703320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视频号爆款短视频拆解（付费版：全能）【零一数科·出品】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216640" y="3703320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690,517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436864" y="3833622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零一数科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101084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436864" y="4101084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钢联AI - 智能问数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216640" y="4101084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667,903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36864" y="4231386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上海钢联电子商务股份有限公司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498848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36864" y="4498848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ima-skills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216640" y="4498848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663,062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436864" y="4629150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tencent-ima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229600" y="4896612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36864" y="4896612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全能金融爬虫（新增MCP接入）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216640" y="4896612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568,611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36864" y="5026914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user_9d5a2a39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5294376"/>
            <a:ext cx="170688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436864" y="5294376"/>
            <a:ext cx="27432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AdMapix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1216640" y="5294376"/>
            <a:ext cx="548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483,692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36864" y="5424678"/>
            <a:ext cx="323088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fly0pants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6720" y="5911596"/>
            <a:ext cx="11338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免费拿走头部下载；Payskill 与 API Key 的头部量级低一个数量级。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21919" y="1933955"/>
            <a:ext cx="2316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用户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280160" y="2125980"/>
            <a:ext cx="0" cy="2606040"/>
          </a:xfrm>
          <a:prstGeom prst="line">
            <a:avLst/>
          </a:prstGeom>
          <a:ln w="10160">
            <a:solidFill>
              <a:srgbClr val="C4C8CD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950720" y="1933955"/>
            <a:ext cx="2316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用户 Agent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108960" y="2125980"/>
            <a:ext cx="0" cy="2606040"/>
          </a:xfrm>
          <a:prstGeom prst="line">
            <a:avLst/>
          </a:prstGeom>
          <a:ln w="10160">
            <a:solidFill>
              <a:srgbClr val="C4C8CD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779520" y="1933955"/>
            <a:ext cx="2316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支付宝 SkillPay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937760" y="2125980"/>
            <a:ext cx="0" cy="2606040"/>
          </a:xfrm>
          <a:prstGeom prst="line">
            <a:avLst/>
          </a:prstGeom>
          <a:ln w="10160">
            <a:solidFill>
              <a:srgbClr val="C4C8CD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608320" y="1933955"/>
            <a:ext cx="2316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商品履约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766560" y="2125980"/>
            <a:ext cx="0" cy="2606040"/>
          </a:xfrm>
          <a:prstGeom prst="line">
            <a:avLst/>
          </a:prstGeom>
          <a:ln w="10160">
            <a:solidFill>
              <a:srgbClr val="C4C8CD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80160" y="2434590"/>
            <a:ext cx="1828800" cy="0"/>
          </a:xfrm>
          <a:prstGeom prst="line">
            <a:avLst/>
          </a:prstGeom>
          <a:ln w="11430">
            <a:solidFill>
              <a:srgbClr val="5B616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341120" y="2228850"/>
            <a:ext cx="1706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① 提出任务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108960" y="2722626"/>
            <a:ext cx="1828800" cy="0"/>
          </a:xfrm>
          <a:prstGeom prst="line">
            <a:avLst/>
          </a:prstGeom>
          <a:ln w="11430">
            <a:solidFill>
              <a:srgbClr val="5B616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3169920" y="2516886"/>
            <a:ext cx="1706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② 请求调用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3108960" y="3010662"/>
            <a:ext cx="1828800" cy="0"/>
          </a:xfrm>
          <a:prstGeom prst="line">
            <a:avLst/>
          </a:prstGeom>
          <a:ln w="11430">
            <a:solidFill>
              <a:srgbClr val="B5333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2865120" y="2804922"/>
            <a:ext cx="2316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③ HTTP 402 + 支付要求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1280160" y="3298698"/>
            <a:ext cx="1828800" cy="0"/>
          </a:xfrm>
          <a:prstGeom prst="line">
            <a:avLst/>
          </a:prstGeom>
          <a:ln w="11430">
            <a:solidFill>
              <a:srgbClr val="5B616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975360" y="3092958"/>
            <a:ext cx="2438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④ 说明价格并请求确认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280160" y="3586734"/>
            <a:ext cx="1828800" cy="0"/>
          </a:xfrm>
          <a:prstGeom prst="line">
            <a:avLst/>
          </a:prstGeom>
          <a:ln w="11430">
            <a:solidFill>
              <a:srgbClr val="B5333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341120" y="3380994"/>
            <a:ext cx="1706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⑤ 确认支付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108960" y="3874769"/>
            <a:ext cx="1828800" cy="0"/>
          </a:xfrm>
          <a:prstGeom prst="line">
            <a:avLst/>
          </a:prstGeom>
          <a:ln w="11430">
            <a:solidFill>
              <a:srgbClr val="B5333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865120" y="3669029"/>
            <a:ext cx="2316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⑥ 携带支付结果重试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937760" y="4162806"/>
            <a:ext cx="1828800" cy="0"/>
          </a:xfrm>
          <a:prstGeom prst="line">
            <a:avLst/>
          </a:prstGeom>
          <a:ln w="11430">
            <a:solidFill>
              <a:srgbClr val="B5333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4328160" y="3957066"/>
            <a:ext cx="30480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⑦ 一次性交付 / 创建订阅权益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3108960" y="4450842"/>
            <a:ext cx="3657600" cy="0"/>
          </a:xfrm>
          <a:prstGeom prst="line">
            <a:avLst/>
          </a:prstGeom>
          <a:ln w="11430">
            <a:solidFill>
              <a:srgbClr val="5B616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865120" y="4245102"/>
            <a:ext cx="4145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⑧ 恢复安装或调用，继续原任务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6720" y="4869180"/>
            <a:ext cx="719328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交付分叉：买断=源文件；订阅=使用权；支付成功≠交付成功。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