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商业化程度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47022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72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商业化洞察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381353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已有按次收费供给，平台暂不收技术服务费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758428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21060"/>
            <a:ext cx="83185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327150" y="1141710"/>
            <a:ext cx="317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万条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417538"/>
            <a:ext cx="13825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条目 199,545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290417" y="1021060"/>
            <a:ext cx="83185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10.0%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290417" y="1417538"/>
            <a:ext cx="114637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付费标签 19,962 条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123734" y="1021060"/>
            <a:ext cx="83185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19.3%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8123734" y="1417538"/>
            <a:ext cx="15355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 API Key 标签 38,568 条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57200" y="1862038"/>
            <a:ext cx="13843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付费供给约占一成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2186484"/>
            <a:ext cx="21700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付费标签 10.0%，其余条目约 90.0%</a:t>
            </a:r>
            <a:endParaRPr/>
          </a:p>
        </p:txBody>
      </p:sp>
      <p:sp>
        <p:nvSpPr>
          <p:cNvPr id="18" name="形状 18"/>
          <p:cNvSpPr/>
          <p:nvPr/>
        </p:nvSpPr>
        <p:spPr>
          <a:xfrm>
            <a:off x="457200" y="2455664"/>
            <a:ext cx="282277" cy="16510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19" name="形状 19"/>
          <p:cNvSpPr/>
          <p:nvPr/>
        </p:nvSpPr>
        <p:spPr>
          <a:xfrm>
            <a:off x="739477" y="2455664"/>
            <a:ext cx="47823" cy="1651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0" name="形状 20"/>
          <p:cNvSpPr/>
          <p:nvPr/>
        </p:nvSpPr>
        <p:spPr>
          <a:xfrm>
            <a:off x="787301" y="2455664"/>
            <a:ext cx="2971800" cy="165100"/>
          </a:xfrm>
          <a:prstGeom prst="rect">
            <a:avLst/>
          </a:prstGeom>
          <a:solidFill>
            <a:srgbClr val="E9EBEE">
              <a:alpha val="100000"/>
            </a:srgbClr>
          </a:solidFill>
          <a:ln>
            <a:noFill/>
          </a:ln>
        </p:spPr>
      </p:sp>
      <p:pic>
        <p:nvPicPr>
          <p:cNvPr id="21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6014"/>
            <a:ext cx="3302000" cy="361950"/>
          </a:xfrm>
          <a:prstGeom prst="rect">
            <a:avLst/>
          </a:prstGeom>
        </p:spPr>
      </p:pic>
      <p:sp>
        <p:nvSpPr>
          <p:cNvPr id="22" name="文字 22"/>
          <p:cNvSpPr txBox="1"/>
          <p:nvPr/>
        </p:nvSpPr>
        <p:spPr>
          <a:xfrm>
            <a:off x="457200" y="2817614"/>
            <a:ext cx="59809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paid 标签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2641600" y="2817614"/>
            <a:ext cx="4200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17,061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3263900" y="2817614"/>
            <a:ext cx="3417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8.5%</a:t>
            </a:r>
            <a:endParaRPr/>
          </a:p>
        </p:txBody>
      </p:sp>
      <p:pic>
        <p:nvPicPr>
          <p:cNvPr id="25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7964"/>
            <a:ext cx="3302000" cy="361950"/>
          </a:xfrm>
          <a:prstGeom prst="rect">
            <a:avLst/>
          </a:prstGeom>
        </p:spPr>
      </p:pic>
      <p:sp>
        <p:nvSpPr>
          <p:cNvPr id="26" name="文字 26"/>
          <p:cNvSpPr txBox="1"/>
          <p:nvPr/>
        </p:nvSpPr>
        <p:spPr>
          <a:xfrm>
            <a:off x="457200" y="3179564"/>
            <a:ext cx="7095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alipay 标签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2641600" y="3179564"/>
            <a:ext cx="34597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2,901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3263900" y="3179564"/>
            <a:ext cx="3417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1.5%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57200" y="354786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两标签是官网付费识别的两种取值。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57200" y="3747889"/>
            <a:ext cx="249386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 Skill 目录另计 19,974 条，口径不同。</a:t>
            </a:r>
            <a:endParaRPr/>
          </a:p>
        </p:txBody>
      </p:sp>
      <p:pic>
        <p:nvPicPr>
          <p:cNvPr id="31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74914"/>
            <a:ext cx="3302000" cy="323850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457200" y="4201914"/>
            <a:ext cx="197911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API Key 依赖与付费分别统计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57200" y="4474964"/>
            <a:ext cx="231298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 Key 占 19.3%，表示外部凭证依赖。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57200" y="4674989"/>
            <a:ext cx="189468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与付费标签交叉的仅约 332 条，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4875014"/>
            <a:ext cx="216783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不能将需 Key 的条目全部算成付费。</a:t>
            </a:r>
            <a:endParaRPr/>
          </a:p>
        </p:txBody>
      </p:sp>
      <p:pic>
        <p:nvPicPr>
          <p:cNvPr id="36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0650" y="1849338"/>
            <a:ext cx="3619500" cy="3282255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4108450" y="1862038"/>
            <a:ext cx="17272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主要收费点在远程服务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4108450" y="2199184"/>
            <a:ext cx="2138263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典型模式：Skill 包免费获取，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4108450" y="2429371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商户后端按服务调用收费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4108450" y="2723059"/>
            <a:ext cx="34365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商家自主设定单次价格。Agent 按技能指令调用 API，用户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4108450" y="2923084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在支付工具中授权。</a:t>
            </a:r>
            <a:endParaRPr/>
          </a:p>
        </p:txBody>
      </p:sp>
      <p:pic>
        <p:nvPicPr>
          <p:cNvPr id="42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450" y="3250108"/>
            <a:ext cx="3441700" cy="787400"/>
          </a:xfrm>
          <a:prstGeom prst="rect">
            <a:avLst/>
          </a:prstGeom>
        </p:spPr>
      </p:pic>
      <p:sp>
        <p:nvSpPr>
          <p:cNvPr id="43" name="文字 43"/>
          <p:cNvSpPr txBox="1"/>
          <p:nvPr/>
        </p:nvSpPr>
        <p:spPr>
          <a:xfrm>
            <a:off x="4108450" y="3389809"/>
            <a:ext cx="142557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图片生成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6860580" y="3389809"/>
            <a:ext cx="70227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¥0.36 / 次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108450" y="36565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腾讯科技（深圳）有限公司认证供给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108450" y="3856534"/>
            <a:ext cx="237232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无需用户 API Key，远程生成并交付图片</a:t>
            </a:r>
            <a:endParaRPr/>
          </a:p>
        </p:txBody>
      </p:sp>
      <p:pic>
        <p:nvPicPr>
          <p:cNvPr id="47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8450" y="4164509"/>
            <a:ext cx="3441700" cy="78740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4108450" y="4304209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喜鹊标书解读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7089775" y="4304209"/>
            <a:ext cx="47307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¥1 / 次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4108450" y="45709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北京喜鹊云智科技有限公司认证供给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108450" y="4770934"/>
            <a:ext cx="24657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无需用户 API Key，交付摘要和三份 Word</a:t>
            </a:r>
            <a:endParaRPr/>
          </a:p>
        </p:txBody>
      </p:sp>
      <p:pic>
        <p:nvPicPr>
          <p:cNvPr id="52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1600" y="1849338"/>
            <a:ext cx="4013201" cy="3282255"/>
          </a:xfrm>
          <a:prstGeom prst="rect">
            <a:avLst/>
          </a:prstGeom>
        </p:spPr>
      </p:pic>
      <p:sp>
        <p:nvSpPr>
          <p:cNvPr id="53" name="文字 53"/>
          <p:cNvSpPr txBox="1"/>
          <p:nvPr/>
        </p:nvSpPr>
        <p:spPr>
          <a:xfrm>
            <a:off x="7899400" y="1862038"/>
            <a:ext cx="22415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服务商变现，平台暂免服务费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7899400" y="2122984"/>
            <a:ext cx="229890" cy="476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8205490" y="2326184"/>
            <a:ext cx="144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当前平台技术服务费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7899400" y="2643684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官网明确暂不收取技术服务费。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899400" y="28437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支付渠道费用及结算仍按渠道规则。</a:t>
            </a:r>
            <a:endParaRPr/>
          </a:p>
        </p:txBody>
      </p:sp>
      <p:pic>
        <p:nvPicPr>
          <p:cNvPr id="58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9400" y="3164384"/>
            <a:ext cx="3835401" cy="349250"/>
          </a:xfrm>
          <a:prstGeom prst="rect">
            <a:avLst/>
          </a:prstGeom>
        </p:spPr>
      </p:pic>
      <p:sp>
        <p:nvSpPr>
          <p:cNvPr id="59" name="文字 59"/>
          <p:cNvSpPr txBox="1"/>
          <p:nvPr/>
        </p:nvSpPr>
        <p:spPr>
          <a:xfrm>
            <a:off x="7899400" y="3310434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用户直接付款给创作者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899400" y="3589834"/>
            <a:ext cx="376892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提供展示、投诉处理及平台服务；交易款按渠道规则结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7899400" y="3789859"/>
            <a:ext cx="946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算至绑定账户。</a:t>
            </a:r>
            <a:endParaRPr/>
          </a:p>
        </p:txBody>
      </p:sp>
      <p:pic>
        <p:nvPicPr>
          <p:cNvPr id="62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9400" y="4116884"/>
            <a:ext cx="3835401" cy="349250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7899400" y="4262934"/>
            <a:ext cx="2235201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已证实供给，成交规模仍待披露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7899400" y="4542334"/>
            <a:ext cx="231963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全站 GMV、付费转化、复购和平台收入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7899400" y="4742359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未见公开可核验数据。</a:t>
            </a:r>
            <a:endParaRPr/>
          </a:p>
        </p:txBody>
      </p:sp>
      <p:pic>
        <p:nvPicPr>
          <p:cNvPr id="66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258594"/>
            <a:ext cx="11277600" cy="1072356"/>
          </a:xfrm>
          <a:prstGeom prst="rect">
            <a:avLst/>
          </a:prstGeom>
        </p:spPr>
      </p:pic>
      <p:sp>
        <p:nvSpPr>
          <p:cNvPr id="67" name="文字 67"/>
          <p:cNvSpPr txBox="1"/>
          <p:nvPr/>
        </p:nvSpPr>
        <p:spPr>
          <a:xfrm>
            <a:off x="457200" y="5385594"/>
            <a:ext cx="271581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将服务供给接入 Agent 的工作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57200" y="5696744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身份与支付准入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5963444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企业认证、绑定微信商户号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457200" y="61567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个人提供支付宝接入路径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3319463" y="5696744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资产商品化与审核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3319463" y="596344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版本包、按次定价和费用说明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3319463" y="61567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校验支付链路后审核上架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6181725" y="5696744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发现、分发与宿主接入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6181725" y="5963444"/>
            <a:ext cx="15175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官网、CLI / API 获取 Skill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6181725" y="6156722"/>
            <a:ext cx="149850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向支持支付的 Agent 分发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9043988" y="5696744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支付身份与售后协同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9043988" y="5963444"/>
            <a:ext cx="16128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提供开发者密钥和接入指南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9043988" y="6156722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展示交易边界、协助投诉退款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457200" y="6445250"/>
            <a:ext cx="6668096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口径：2026-10-20 同参数公开 API 的非原子快照，按条目计数，比例为近似值。付费标签不代表已开通微信收款或已成交；paid 标签不能直接等同微信份额。来源及查询链接见备注。</a:t>
            </a:r>
            <a:endParaRPr/>
          </a:p>
        </p:txBody>
      </p:sp>
      <p:pic>
        <p:nvPicPr>
          <p:cNvPr id="81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微信支付机制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47022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72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商业化洞察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632873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 SkillPay 将微信订单接入 Agent，商户验付后履约</a:t>
            </a:r>
            <a:endParaRPr/>
          </a:p>
        </p:txBody>
      </p:sp>
      <p:pic>
        <p:nvPicPr>
          <p:cNvPr id="8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682625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71860"/>
            <a:ext cx="246181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在交易前完成接入与分发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38560"/>
            <a:ext cx="81648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企业认证及微信商户绑定，提供开发者密钥，配置按次价格，审核并发布 Skill，接入支持支付的 Agent。实际服务与订单由商户后端承接。</a:t>
            </a:r>
            <a:endParaRPr/>
          </a:p>
        </p:txBody>
      </p:sp>
      <p:pic>
        <p:nvPicPr>
          <p:cNvPr id="11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1785"/>
            <a:ext cx="11277600" cy="393700"/>
          </a:xfrm>
          <a:prstGeom prst="rect">
            <a:avLst/>
          </a:prstGeom>
        </p:spPr>
      </p:pic>
      <p:sp>
        <p:nvSpPr>
          <p:cNvPr id="12" name="文字 12"/>
          <p:cNvSpPr txBox="1"/>
          <p:nvPr/>
        </p:nvSpPr>
        <p:spPr>
          <a:xfrm>
            <a:off x="1536700" y="1830685"/>
            <a:ext cx="1016992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与用户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457700" y="1830685"/>
            <a:ext cx="10033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商户业务后端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204200" y="1830685"/>
            <a:ext cx="6731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微信支付</a:t>
            </a:r>
            <a:endParaRPr/>
          </a:p>
        </p:txBody>
      </p:sp>
      <p:pic>
        <p:nvPicPr>
          <p:cNvPr id="15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35485"/>
            <a:ext cx="11277600" cy="858937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57200" y="2256135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2548235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创建订单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1536700" y="225613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调用付费业务接口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1536700" y="2512616"/>
            <a:ext cx="22048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读取 Skill 指令，向商户发起业务请求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457700" y="225613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先下传统微信订单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457700" y="2512616"/>
            <a:ext cx="18170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金额、商户订单号、notify_url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457700" y="2705894"/>
            <a:ext cx="18416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Native / JSAPI 等现有支付接口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8204200" y="2256135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返回微信预支付标识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8204200" y="2512616"/>
            <a:ext cx="129599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code_url / prepay_id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8204200" y="2705894"/>
            <a:ext cx="17462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保留原有微信订单及收款主体</a:t>
            </a:r>
            <a:endParaRPr/>
          </a:p>
        </p:txBody>
      </p:sp>
      <p:pic>
        <p:nvPicPr>
          <p:cNvPr id="26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94422"/>
            <a:ext cx="11277600" cy="858937"/>
          </a:xfrm>
          <a:prstGeom prst="rect">
            <a:avLst/>
          </a:prstGeom>
        </p:spPr>
      </p:pic>
      <p:sp>
        <p:nvSpPr>
          <p:cNvPr id="27" name="文字 27"/>
          <p:cNvSpPr txBox="1"/>
          <p:nvPr/>
        </p:nvSpPr>
        <p:spPr>
          <a:xfrm>
            <a:off x="457200" y="3115072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57200" y="3407172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申请支付码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1536700" y="3115072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等待商户返回支付请求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1536700" y="3371552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商户的签名私钥保留在后端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536700" y="3564831"/>
            <a:ext cx="15569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不下发给 Agent 或 Skill 包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457700" y="3115072"/>
            <a:ext cx="1199158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再做 x402 预下单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457700" y="3371552"/>
            <a:ext cx="196760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 SkillHub 开发者 RSA 密钥签名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457700" y="3564831"/>
            <a:ext cx="219273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将既有微信预支付标识登记到 AI 支付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8204200" y="3115072"/>
            <a:ext cx="268456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校验开发者身份，返回 payment_code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204200" y="3371552"/>
            <a:ext cx="235406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此码用于拉起支付，有效期最长 15 分钟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8204200" y="356483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它本身不证明付款成功</a:t>
            </a:r>
            <a:endParaRPr/>
          </a:p>
        </p:txBody>
      </p:sp>
      <p:pic>
        <p:nvPicPr>
          <p:cNvPr id="38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53359"/>
            <a:ext cx="11277600" cy="858937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457200" y="3974009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457200" y="4266109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用户授权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1536700" y="3974009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支付工具拉起卡片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536700" y="4230489"/>
            <a:ext cx="170596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宿主须支持 weixinpay_ 工具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536700" y="4423767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保留支付码原文，避免模型改写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457700" y="3974009"/>
            <a:ext cx="168027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返回 HTTP 402 + 支付码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457700" y="4230489"/>
            <a:ext cx="225325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WeixinPay-Required: payment_code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457700" y="4423767"/>
            <a:ext cx="15990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也支持 HTTP 200 兼容投递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8204200" y="3974009"/>
            <a:ext cx="232489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用户扫码到微信 Liteapp 逐笔确认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8204200" y="4230489"/>
            <a:ext cx="12592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 AI 专属卡余额支付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8204200" y="4423767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与用户微信主账户资金隔离</a:t>
            </a:r>
            <a:endParaRPr/>
          </a:p>
        </p:txBody>
      </p:sp>
      <p:pic>
        <p:nvPicPr>
          <p:cNvPr id="50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12295"/>
            <a:ext cx="11277600" cy="858937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457200" y="4832945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57200" y="5125046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验付交付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1536700" y="4832945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继续原任务，获取业务结果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1536700" y="5089426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可沿用原订单关联取回结果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1536700" y="528270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具体重试方式由服务接口约定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457700" y="4832945"/>
            <a:ext cx="181739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以微信回调 / 查单结果验付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4457700" y="5089426"/>
            <a:ext cx="2085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验证签名、订单、金额及 SUCCESS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4457700" y="528270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履约并幂等保存结果，失败按需退款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8204200" y="483294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通知商户支付结果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8204200" y="5089426"/>
            <a:ext cx="195867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沿用 notify_url / 微信查单与退款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8204200" y="528270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资金按渠道规则结算至商户绑定账户</a:t>
            </a:r>
            <a:endParaRPr/>
          </a:p>
        </p:txBody>
      </p:sp>
      <p:pic>
        <p:nvPicPr>
          <p:cNvPr id="62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568950"/>
            <a:ext cx="11277600" cy="768350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457200" y="5695950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三类凭证用途不同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457200" y="5956300"/>
            <a:ext cx="56848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业务 API Key 用于外部服务接入；SkillHub RSA 密钥签名 AI 预下单；微信商户证书与 APIv3 密钥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457200" y="6156325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处理支付请求和回调。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6416675" y="569595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落地需对齐官方接口版本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6416675" y="5956300"/>
            <a:ext cx="524113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微信当前 API 与 SkillHub 教程 / Demo 的端点、鉴权位置和报文结构不同。不能混接；本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6416675" y="6156325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次依据官方文档和源码，未真实交易。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6445250"/>
            <a:ext cx="6422232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来源：微信 AI 支付接入准备、开发指引、x402 API、FAQ；SkillHub 接入教程、官方商户 Demo 及 WorkRally Skill。详细链接、版本差异与可核验范围见备注和伴生研究文档。</a:t>
            </a:r>
            <a:endParaRPr/>
          </a:p>
        </p:txBody>
      </p:sp>
      <p:pic>
        <p:nvPicPr>
          <p:cNvPr id="70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