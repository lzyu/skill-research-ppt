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1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双下单与信任链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商业化原理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706100" y="279400"/>
            <a:ext cx="104140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V2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374706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两次下单接入 Agent，SkillHub 提供商户验签与分发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615950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46460"/>
            <a:ext cx="1485503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付费标签约 10.0%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457200" y="1319510"/>
            <a:ext cx="209540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19,962 / 199,545 条，含 paid 与 alipay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667647" y="1046460"/>
            <a:ext cx="1686322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 API Key 约 19.3%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667647" y="1319510"/>
            <a:ext cx="2217936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38,568 条，外部凭证依赖与付费分别统计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8374162" y="1046460"/>
            <a:ext cx="1612900" cy="254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平台技术服务费暂免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8374162" y="1319510"/>
            <a:ext cx="25463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真实成交、复购与平台收入尚无可核验全站数据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671711" y="1706860"/>
            <a:ext cx="91707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/ 用户</a:t>
            </a:r>
            <a:endParaRPr/>
          </a:p>
        </p:txBody>
      </p:sp>
      <p:pic>
        <p:nvPicPr>
          <p:cNvPr id="16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960860"/>
            <a:ext cx="6350" cy="3549650"/>
          </a:xfrm>
          <a:prstGeom prst="rect">
            <a:avLst/>
          </a:prstGeom>
        </p:spPr>
      </p:pic>
      <p:sp>
        <p:nvSpPr>
          <p:cNvPr id="17" name="文字 17"/>
          <p:cNvSpPr txBox="1"/>
          <p:nvPr/>
        </p:nvSpPr>
        <p:spPr>
          <a:xfrm>
            <a:off x="3028950" y="170686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商户后端</a:t>
            </a:r>
            <a:endParaRPr/>
          </a:p>
        </p:txBody>
      </p:sp>
      <p:pic>
        <p:nvPicPr>
          <p:cNvPr id="18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0" y="1960860"/>
            <a:ext cx="6350" cy="354965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5378450" y="170686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微信支付</a:t>
            </a:r>
            <a:endParaRPr/>
          </a:p>
        </p:txBody>
      </p:sp>
      <p:pic>
        <p:nvPicPr>
          <p:cNvPr id="20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950" y="1960860"/>
            <a:ext cx="6350" cy="3549650"/>
          </a:xfrm>
          <a:prstGeom prst="rect">
            <a:avLst/>
          </a:prstGeom>
        </p:spPr>
      </p:pic>
      <p:sp>
        <p:nvSpPr>
          <p:cNvPr id="21" name="文字 21"/>
          <p:cNvSpPr txBox="1"/>
          <p:nvPr/>
        </p:nvSpPr>
        <p:spPr>
          <a:xfrm>
            <a:off x="7267575" y="1706860"/>
            <a:ext cx="679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</a:t>
            </a:r>
            <a:endParaRPr/>
          </a:p>
        </p:txBody>
      </p:sp>
      <p:pic>
        <p:nvPicPr>
          <p:cNvPr id="22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0950" y="1960860"/>
            <a:ext cx="6350" cy="3549650"/>
          </a:xfrm>
          <a:prstGeom prst="rect">
            <a:avLst/>
          </a:prstGeom>
        </p:spPr>
      </p:pic>
      <p:pic>
        <p:nvPicPr>
          <p:cNvPr id="23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0" y="2202160"/>
            <a:ext cx="2222500" cy="12700"/>
          </a:xfrm>
          <a:prstGeom prst="rect">
            <a:avLst/>
          </a:prstGeom>
        </p:spPr>
      </p:pic>
      <p:sp>
        <p:nvSpPr>
          <p:cNvPr id="24" name="文字 24"/>
          <p:cNvSpPr txBox="1"/>
          <p:nvPr/>
        </p:nvSpPr>
        <p:spPr>
          <a:xfrm>
            <a:off x="3295650" y="21196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1200150" y="1992610"/>
            <a:ext cx="20701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6" name="文字 26"/>
          <p:cNvSpPr txBox="1"/>
          <p:nvPr/>
        </p:nvSpPr>
        <p:spPr>
          <a:xfrm>
            <a:off x="1753394" y="2005310"/>
            <a:ext cx="9762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① 调用付费服务</a:t>
            </a:r>
            <a:endParaRPr/>
          </a:p>
        </p:txBody>
      </p:sp>
      <p:pic>
        <p:nvPicPr>
          <p:cNvPr id="27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450" y="2500610"/>
            <a:ext cx="2349500" cy="12700"/>
          </a:xfrm>
          <a:prstGeom prst="rect">
            <a:avLst/>
          </a:prstGeom>
        </p:spPr>
      </p:pic>
      <p:sp>
        <p:nvSpPr>
          <p:cNvPr id="28" name="文字 28"/>
          <p:cNvSpPr txBox="1"/>
          <p:nvPr/>
        </p:nvSpPr>
        <p:spPr>
          <a:xfrm>
            <a:off x="5645150" y="24180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9" name="形状 29"/>
          <p:cNvSpPr/>
          <p:nvPr/>
        </p:nvSpPr>
        <p:spPr>
          <a:xfrm>
            <a:off x="3422650" y="22910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0" name="文字 30"/>
          <p:cNvSpPr txBox="1"/>
          <p:nvPr/>
        </p:nvSpPr>
        <p:spPr>
          <a:xfrm>
            <a:off x="3505994" y="2303760"/>
            <a:ext cx="2043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② 传统下单：商户、金额、订单号</a:t>
            </a:r>
            <a:endParaRPr/>
          </a:p>
        </p:txBody>
      </p:sp>
      <p:pic>
        <p:nvPicPr>
          <p:cNvPr id="31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450" y="2799060"/>
            <a:ext cx="2349500" cy="12700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3295650" y="27165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3422650" y="2589510"/>
            <a:ext cx="21971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4" name="文字 34"/>
          <p:cNvSpPr txBox="1"/>
          <p:nvPr/>
        </p:nvSpPr>
        <p:spPr>
          <a:xfrm>
            <a:off x="3865959" y="2602210"/>
            <a:ext cx="13230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code_url / prepay_id</a:t>
            </a:r>
            <a:endParaRPr/>
          </a:p>
        </p:txBody>
      </p:sp>
      <p:pic>
        <p:nvPicPr>
          <p:cNvPr id="35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450" y="3097510"/>
            <a:ext cx="2349500" cy="12700"/>
          </a:xfrm>
          <a:prstGeom prst="rect">
            <a:avLst/>
          </a:prstGeom>
        </p:spPr>
      </p:pic>
      <p:sp>
        <p:nvSpPr>
          <p:cNvPr id="36" name="文字 36"/>
          <p:cNvSpPr txBox="1"/>
          <p:nvPr/>
        </p:nvSpPr>
        <p:spPr>
          <a:xfrm>
            <a:off x="5645150" y="30149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37" name="形状 37"/>
          <p:cNvSpPr/>
          <p:nvPr/>
        </p:nvSpPr>
        <p:spPr>
          <a:xfrm>
            <a:off x="3422650" y="28879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8" name="文字 38"/>
          <p:cNvSpPr txBox="1"/>
          <p:nvPr/>
        </p:nvSpPr>
        <p:spPr>
          <a:xfrm>
            <a:off x="3688953" y="2900660"/>
            <a:ext cx="167719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③ x402：签名 + 预支付标识</a:t>
            </a:r>
            <a:endParaRPr/>
          </a:p>
        </p:txBody>
      </p:sp>
      <p:pic>
        <p:nvPicPr>
          <p:cNvPr id="39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95950" y="3395960"/>
            <a:ext cx="1905000" cy="12700"/>
          </a:xfrm>
          <a:prstGeom prst="rect">
            <a:avLst/>
          </a:prstGeom>
        </p:spPr>
      </p:pic>
      <p:sp>
        <p:nvSpPr>
          <p:cNvPr id="40" name="文字 40"/>
          <p:cNvSpPr txBox="1"/>
          <p:nvPr/>
        </p:nvSpPr>
        <p:spPr>
          <a:xfrm>
            <a:off x="7550151" y="33134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1" name="形状 41"/>
          <p:cNvSpPr/>
          <p:nvPr/>
        </p:nvSpPr>
        <p:spPr>
          <a:xfrm>
            <a:off x="5772150" y="3186410"/>
            <a:ext cx="1752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2" name="文字 42"/>
          <p:cNvSpPr txBox="1"/>
          <p:nvPr/>
        </p:nvSpPr>
        <p:spPr>
          <a:xfrm>
            <a:off x="6160095" y="3199110"/>
            <a:ext cx="98941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身份 / 签名校验*</a:t>
            </a:r>
            <a:endParaRPr/>
          </a:p>
        </p:txBody>
      </p:sp>
      <p:pic>
        <p:nvPicPr>
          <p:cNvPr id="43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5950" y="3694410"/>
            <a:ext cx="1905000" cy="12700"/>
          </a:xfrm>
          <a:prstGeom prst="rect">
            <a:avLst/>
          </a:prstGeom>
        </p:spPr>
      </p:pic>
      <p:sp>
        <p:nvSpPr>
          <p:cNvPr id="44" name="文字 44"/>
          <p:cNvSpPr txBox="1"/>
          <p:nvPr/>
        </p:nvSpPr>
        <p:spPr>
          <a:xfrm>
            <a:off x="5645150" y="36118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45" name="形状 45"/>
          <p:cNvSpPr/>
          <p:nvPr/>
        </p:nvSpPr>
        <p:spPr>
          <a:xfrm>
            <a:off x="5772150" y="3484860"/>
            <a:ext cx="1752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6" name="文字 46"/>
          <p:cNvSpPr txBox="1"/>
          <p:nvPr/>
        </p:nvSpPr>
        <p:spPr>
          <a:xfrm>
            <a:off x="6149380" y="3497560"/>
            <a:ext cx="101074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确认开发者身份*</a:t>
            </a:r>
            <a:endParaRPr/>
          </a:p>
        </p:txBody>
      </p:sp>
      <p:pic>
        <p:nvPicPr>
          <p:cNvPr id="47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46450" y="3992860"/>
            <a:ext cx="2349500" cy="1270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3295650" y="39103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49" name="形状 49"/>
          <p:cNvSpPr/>
          <p:nvPr/>
        </p:nvSpPr>
        <p:spPr>
          <a:xfrm>
            <a:off x="3422650" y="378331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0" name="文字 50"/>
          <p:cNvSpPr txBox="1"/>
          <p:nvPr/>
        </p:nvSpPr>
        <p:spPr>
          <a:xfrm>
            <a:off x="3898205" y="3796010"/>
            <a:ext cx="125859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 payment_code</a:t>
            </a:r>
            <a:endParaRPr/>
          </a:p>
        </p:txBody>
      </p:sp>
      <p:pic>
        <p:nvPicPr>
          <p:cNvPr id="51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3950" y="4291310"/>
            <a:ext cx="2222500" cy="12700"/>
          </a:xfrm>
          <a:prstGeom prst="rect">
            <a:avLst/>
          </a:prstGeom>
        </p:spPr>
      </p:pic>
      <p:sp>
        <p:nvSpPr>
          <p:cNvPr id="52" name="文字 52"/>
          <p:cNvSpPr txBox="1"/>
          <p:nvPr/>
        </p:nvSpPr>
        <p:spPr>
          <a:xfrm>
            <a:off x="1073150" y="42087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1200150" y="408176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4" name="文字 54"/>
          <p:cNvSpPr txBox="1"/>
          <p:nvPr/>
        </p:nvSpPr>
        <p:spPr>
          <a:xfrm>
            <a:off x="1354435" y="4094460"/>
            <a:ext cx="177423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④ 402 + 支付码 + 业务关联 ID</a:t>
            </a:r>
            <a:endParaRPr/>
          </a:p>
        </p:txBody>
      </p:sp>
      <p:pic>
        <p:nvPicPr>
          <p:cNvPr id="55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3950" y="4589760"/>
            <a:ext cx="4572000" cy="12700"/>
          </a:xfrm>
          <a:prstGeom prst="rect">
            <a:avLst/>
          </a:prstGeom>
        </p:spPr>
      </p:pic>
      <p:sp>
        <p:nvSpPr>
          <p:cNvPr id="56" name="文字 56"/>
          <p:cNvSpPr txBox="1"/>
          <p:nvPr/>
        </p:nvSpPr>
        <p:spPr>
          <a:xfrm>
            <a:off x="5645150" y="45072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57" name="形状 57"/>
          <p:cNvSpPr/>
          <p:nvPr/>
        </p:nvSpPr>
        <p:spPr>
          <a:xfrm>
            <a:off x="1200150" y="4380210"/>
            <a:ext cx="44196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8" name="文字 58"/>
          <p:cNvSpPr txBox="1"/>
          <p:nvPr/>
        </p:nvSpPr>
        <p:spPr>
          <a:xfrm>
            <a:off x="1969294" y="4392910"/>
            <a:ext cx="28939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⑤ 官方支付工具拉起，用户以 AI 专属卡逐笔确认</a:t>
            </a:r>
            <a:endParaRPr/>
          </a:p>
        </p:txBody>
      </p:sp>
      <p:pic>
        <p:nvPicPr>
          <p:cNvPr id="59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46450" y="4888210"/>
            <a:ext cx="2349500" cy="12700"/>
          </a:xfrm>
          <a:prstGeom prst="rect">
            <a:avLst/>
          </a:prstGeom>
        </p:spPr>
      </p:pic>
      <p:sp>
        <p:nvSpPr>
          <p:cNvPr id="60" name="文字 60"/>
          <p:cNvSpPr txBox="1"/>
          <p:nvPr/>
        </p:nvSpPr>
        <p:spPr>
          <a:xfrm>
            <a:off x="3295650" y="480566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61" name="形状 61"/>
          <p:cNvSpPr/>
          <p:nvPr/>
        </p:nvSpPr>
        <p:spPr>
          <a:xfrm>
            <a:off x="3422650" y="4678660"/>
            <a:ext cx="2197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2" name="文字 62"/>
          <p:cNvSpPr txBox="1"/>
          <p:nvPr/>
        </p:nvSpPr>
        <p:spPr>
          <a:xfrm>
            <a:off x="3675757" y="4691360"/>
            <a:ext cx="170358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⑥ 回调 / 查单确认 SUCCESS</a:t>
            </a:r>
            <a:endParaRPr/>
          </a:p>
        </p:txBody>
      </p:sp>
      <p:pic>
        <p:nvPicPr>
          <p:cNvPr id="63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3950" y="5186660"/>
            <a:ext cx="2222500" cy="12700"/>
          </a:xfrm>
          <a:prstGeom prst="rect">
            <a:avLst/>
          </a:prstGeom>
        </p:spPr>
      </p:pic>
      <p:sp>
        <p:nvSpPr>
          <p:cNvPr id="64" name="文字 64"/>
          <p:cNvSpPr txBox="1"/>
          <p:nvPr/>
        </p:nvSpPr>
        <p:spPr>
          <a:xfrm>
            <a:off x="3295650" y="5104110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65" name="形状 65"/>
          <p:cNvSpPr/>
          <p:nvPr/>
        </p:nvSpPr>
        <p:spPr>
          <a:xfrm>
            <a:off x="1200150" y="497711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6" name="文字 66"/>
          <p:cNvSpPr txBox="1"/>
          <p:nvPr/>
        </p:nvSpPr>
        <p:spPr>
          <a:xfrm>
            <a:off x="1389459" y="4989810"/>
            <a:ext cx="17040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⑦ 沿用原业务关联 ID 取结果</a:t>
            </a:r>
            <a:endParaRPr/>
          </a:p>
        </p:txBody>
      </p:sp>
      <p:pic>
        <p:nvPicPr>
          <p:cNvPr id="67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3950" y="5485110"/>
            <a:ext cx="2222500" cy="12700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1073150" y="540256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◀</a:t>
            </a:r>
            <a:endParaRPr/>
          </a:p>
        </p:txBody>
      </p:sp>
      <p:sp>
        <p:nvSpPr>
          <p:cNvPr id="69" name="形状 69"/>
          <p:cNvSpPr/>
          <p:nvPr/>
        </p:nvSpPr>
        <p:spPr>
          <a:xfrm>
            <a:off x="1200150" y="5275560"/>
            <a:ext cx="20701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70" name="文字 70"/>
          <p:cNvSpPr txBox="1"/>
          <p:nvPr/>
        </p:nvSpPr>
        <p:spPr>
          <a:xfrm>
            <a:off x="1512392" y="5288260"/>
            <a:ext cx="145821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交付结果 / 返回生成状态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57200" y="5605760"/>
            <a:ext cx="401568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* 按 SkillHub 官方教程表达逻辑校验关系，内部调用方式、缓存和同步依赖未公开。</a:t>
            </a:r>
            <a:endParaRPr/>
          </a:p>
        </p:txBody>
      </p:sp>
      <p:pic>
        <p:nvPicPr>
          <p:cNvPr id="72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21700" y="1687810"/>
            <a:ext cx="3213100" cy="4070350"/>
          </a:xfrm>
          <a:prstGeom prst="rect">
            <a:avLst/>
          </a:prstGeom>
        </p:spPr>
      </p:pic>
      <p:sp>
        <p:nvSpPr>
          <p:cNvPr id="73" name="文字 73"/>
          <p:cNvSpPr txBox="1"/>
          <p:nvPr/>
        </p:nvSpPr>
        <p:spPr>
          <a:xfrm>
            <a:off x="8693151" y="1700510"/>
            <a:ext cx="19177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第一次下单确定商户和金额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8693151" y="1965623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传统微信订单保存商户、金额和回调地址。此时仍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8693151" y="2162969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待支付。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8693151" y="2493665"/>
            <a:ext cx="212566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第二次预下单建立 Agent 入口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8693151" y="2758777"/>
            <a:ext cx="304452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x402 将既有预支付标识登记到微信 AI 支付，换取限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8693151" y="2956124"/>
            <a:ext cx="243939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时 payment_code。它不新增一次扣款。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8693151" y="3286820"/>
            <a:ext cx="20764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两套验签分别确认身份与付款</a:t>
            </a:r>
            <a:endParaRPr/>
          </a:p>
        </p:txBody>
      </p:sp>
      <p:sp>
        <p:nvSpPr>
          <p:cNvPr id="80" name="文字 80"/>
          <p:cNvSpPr txBox="1"/>
          <p:nvPr/>
        </p:nvSpPr>
        <p:spPr>
          <a:xfrm>
            <a:off x="8693151" y="3551932"/>
            <a:ext cx="296882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开发者签名用于预下单身份校验；商户另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8693151" y="3749278"/>
            <a:ext cx="265826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验微信回调 / 查单结果，确认这笔订单已付。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8693151" y="4079974"/>
            <a:ext cx="207644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交易款由用户直接付给创作者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8693151" y="4345087"/>
            <a:ext cx="29463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平台目前暂免技术服务费，支付渠道费用与结算按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8693151" y="4542433"/>
            <a:ext cx="218628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渠道规则。供给占比无法推算 GMV。</a:t>
            </a:r>
            <a:endParaRPr/>
          </a:p>
        </p:txBody>
      </p:sp>
      <p:pic>
        <p:nvPicPr>
          <p:cNvPr id="85" name="slide-001-image-1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820470"/>
            <a:ext cx="11277600" cy="529531"/>
          </a:xfrm>
          <a:prstGeom prst="rect">
            <a:avLst/>
          </a:prstGeom>
        </p:spPr>
      </p:pic>
      <p:sp>
        <p:nvSpPr>
          <p:cNvPr id="86" name="文字 86"/>
          <p:cNvSpPr txBox="1"/>
          <p:nvPr/>
        </p:nvSpPr>
        <p:spPr>
          <a:xfrm>
            <a:off x="457200" y="5941120"/>
            <a:ext cx="5969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供给准入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4572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企业认证、绑定微信商户号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3314700" y="5941120"/>
            <a:ext cx="7429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商品化发布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3314700" y="6176070"/>
            <a:ext cx="174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定价、版本包、支付链路审核</a:t>
            </a:r>
            <a:endParaRPr/>
          </a:p>
        </p:txBody>
      </p:sp>
      <p:sp>
        <p:nvSpPr>
          <p:cNvPr id="90" name="文字 90"/>
          <p:cNvSpPr txBox="1"/>
          <p:nvPr/>
        </p:nvSpPr>
        <p:spPr>
          <a:xfrm>
            <a:off x="6172200" y="5941120"/>
            <a:ext cx="901105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分发到 Agent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1722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发现与安装入口、宿主接入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9029700" y="5941120"/>
            <a:ext cx="8890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交易身份信任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9029700" y="6176070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开发者密钥及教程所述验签</a:t>
            </a:r>
            <a:endParaRPr/>
          </a:p>
        </p:txBody>
      </p:sp>
      <p:sp>
        <p:nvSpPr>
          <p:cNvPr id="94" name="文字 94"/>
          <p:cNvSpPr txBox="1"/>
          <p:nvPr/>
        </p:nvSpPr>
        <p:spPr>
          <a:xfrm>
            <a:off x="457200" y="6445250"/>
            <a:ext cx="6056610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统计为 2026-10-20 公开 API 非原子快照，按资产条目计；paid 不等同微信已开户或成交。时序采用官方共识，微信 API 与 SkillHub Demo 版本差异及来源详见备注。</a:t>
            </a:r>
            <a:endParaRPr/>
          </a:p>
        </p:txBody>
      </p:sp>
      <p:pic>
        <p:nvPicPr>
          <p:cNvPr id="95" name="slide-001-image-2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凭据与履约状态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98450"/>
            <a:ext cx="147022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7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商业化原理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706100" y="279400"/>
            <a:ext cx="104140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2026.10.20 · V2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501650"/>
            <a:ext cx="6932811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payment_code 发起付款，payment_id 串联任务与交付</a:t>
            </a:r>
            <a:endParaRPr/>
          </a:p>
        </p:txBody>
      </p:sp>
      <p:pic>
        <p:nvPicPr>
          <p:cNvPr id="8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44860"/>
            <a:ext cx="11277600" cy="401241"/>
          </a:xfrm>
          <a:prstGeom prst="rect">
            <a:avLst/>
          </a:prstGeom>
        </p:spPr>
      </p:pic>
      <p:sp>
        <p:nvSpPr>
          <p:cNvPr id="9" name="文字 9"/>
          <p:cNvSpPr txBox="1"/>
          <p:nvPr/>
        </p:nvSpPr>
        <p:spPr>
          <a:xfrm>
            <a:off x="457200" y="1059160"/>
            <a:ext cx="311616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真实案例：腾讯 WorkRally 图片生成 ¥0.36 / 次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3713063" y="1059160"/>
            <a:ext cx="4495602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技能包可公开获取，用户无需业务 API Key；付费点在远程图片服务。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98501"/>
            <a:ext cx="271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同一响应里的两个标识，走向不同接口</a:t>
            </a:r>
            <a:endParaRPr/>
          </a:p>
        </p:txBody>
      </p:sp>
      <p:sp>
        <p:nvSpPr>
          <p:cNvPr id="12" name="形状 12"/>
          <p:cNvSpPr/>
          <p:nvPr/>
        </p:nvSpPr>
        <p:spPr>
          <a:xfrm>
            <a:off x="457200" y="1847751"/>
            <a:ext cx="2730500" cy="958850"/>
          </a:xfrm>
          <a:prstGeom prst="roundRect">
            <a:avLst>
              <a:gd name="adj" fmla="val 662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13" name="文字 13"/>
          <p:cNvSpPr txBox="1"/>
          <p:nvPr/>
        </p:nvSpPr>
        <p:spPr>
          <a:xfrm>
            <a:off x="1029295" y="1943001"/>
            <a:ext cx="159901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invoke 返回 HTTP 402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912713" y="2179142"/>
            <a:ext cx="18321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Body: payment_id = WPAY_…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1008658" y="2359124"/>
            <a:ext cx="164028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Header / WeixinPay 节点：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893564" y="2539107"/>
            <a:ext cx="187047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WeixinPay-Required = PMT_…</a:t>
            </a:r>
            <a:endParaRPr/>
          </a:p>
        </p:txBody>
      </p:sp>
      <p:pic>
        <p:nvPicPr>
          <p:cNvPr id="17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1987451"/>
            <a:ext cx="1397000" cy="12700"/>
          </a:xfrm>
          <a:prstGeom prst="rect">
            <a:avLst/>
          </a:prstGeom>
        </p:spPr>
      </p:pic>
      <p:sp>
        <p:nvSpPr>
          <p:cNvPr id="18" name="文字 18"/>
          <p:cNvSpPr txBox="1"/>
          <p:nvPr/>
        </p:nvSpPr>
        <p:spPr>
          <a:xfrm>
            <a:off x="4533900" y="19049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19" name="形状 19"/>
          <p:cNvSpPr/>
          <p:nvPr/>
        </p:nvSpPr>
        <p:spPr>
          <a:xfrm>
            <a:off x="3263900" y="1777901"/>
            <a:ext cx="1244600" cy="18663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0" name="文字 20"/>
          <p:cNvSpPr txBox="1"/>
          <p:nvPr/>
        </p:nvSpPr>
        <p:spPr>
          <a:xfrm>
            <a:off x="3686175" y="1790601"/>
            <a:ext cx="4127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支付码</a:t>
            </a:r>
            <a:endParaRPr/>
          </a:p>
        </p:txBody>
      </p:sp>
      <p:sp>
        <p:nvSpPr>
          <p:cNvPr id="21" name="形状 21"/>
          <p:cNvSpPr/>
          <p:nvPr/>
        </p:nvSpPr>
        <p:spPr>
          <a:xfrm>
            <a:off x="4584700" y="1701701"/>
            <a:ext cx="2762250" cy="584200"/>
          </a:xfrm>
          <a:prstGeom prst="roundRect">
            <a:avLst>
              <a:gd name="adj" fmla="val 1087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</p:sp>
      <p:sp>
        <p:nvSpPr>
          <p:cNvPr id="22" name="文字 22"/>
          <p:cNvSpPr txBox="1"/>
          <p:nvPr/>
        </p:nvSpPr>
        <p:spPr>
          <a:xfrm>
            <a:off x="5356225" y="1796951"/>
            <a:ext cx="1231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交给微信支付工具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128518" y="2033092"/>
            <a:ext cx="16873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用于拉起付款，最长 15 分钟</a:t>
            </a:r>
            <a:endParaRPr/>
          </a:p>
        </p:txBody>
      </p:sp>
      <p:pic>
        <p:nvPicPr>
          <p:cNvPr id="24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00" y="2590701"/>
            <a:ext cx="1397000" cy="12700"/>
          </a:xfrm>
          <a:prstGeom prst="rect">
            <a:avLst/>
          </a:prstGeom>
        </p:spPr>
      </p:pic>
      <p:sp>
        <p:nvSpPr>
          <p:cNvPr id="25" name="文字 25"/>
          <p:cNvSpPr txBox="1"/>
          <p:nvPr/>
        </p:nvSpPr>
        <p:spPr>
          <a:xfrm>
            <a:off x="4533900" y="25081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3263900" y="2381151"/>
            <a:ext cx="1244600" cy="186631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27" name="文字 27"/>
          <p:cNvSpPr txBox="1"/>
          <p:nvPr/>
        </p:nvSpPr>
        <p:spPr>
          <a:xfrm>
            <a:off x="3537248" y="2393851"/>
            <a:ext cx="71060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业务关联 ID</a:t>
            </a:r>
            <a:endParaRPr/>
          </a:p>
        </p:txBody>
      </p:sp>
      <p:sp>
        <p:nvSpPr>
          <p:cNvPr id="28" name="形状 28"/>
          <p:cNvSpPr/>
          <p:nvPr/>
        </p:nvSpPr>
        <p:spPr>
          <a:xfrm>
            <a:off x="4584700" y="2324001"/>
            <a:ext cx="2762250" cy="584200"/>
          </a:xfrm>
          <a:prstGeom prst="roundRect">
            <a:avLst>
              <a:gd name="adj" fmla="val 1087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29" name="文字 29"/>
          <p:cNvSpPr txBox="1"/>
          <p:nvPr/>
        </p:nvSpPr>
        <p:spPr>
          <a:xfrm>
            <a:off x="5151239" y="2419251"/>
            <a:ext cx="164177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content {payment_id}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5299075" y="2655392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沿用同一任务查询结果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457200" y="2933601"/>
            <a:ext cx="447367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两者来自同一次 invoke 响应，各自承担对应步骤。Agent 无需解析支付码。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57200" y="3219351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支付成功之后，商户还要完成业务状态迁移</a:t>
            </a:r>
            <a:endParaRPr/>
          </a:p>
        </p:txBody>
      </p:sp>
      <p:sp>
        <p:nvSpPr>
          <p:cNvPr id="33" name="形状 33"/>
          <p:cNvSpPr/>
          <p:nvPr/>
        </p:nvSpPr>
        <p:spPr>
          <a:xfrm>
            <a:off x="457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4" name="文字 34"/>
          <p:cNvSpPr txBox="1"/>
          <p:nvPr/>
        </p:nvSpPr>
        <p:spPr>
          <a:xfrm>
            <a:off x="1022350" y="3759101"/>
            <a:ext cx="4699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待支付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582513" y="3995242"/>
            <a:ext cx="134947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402 / code: NOT_PAID</a:t>
            </a:r>
            <a:endParaRPr/>
          </a:p>
        </p:txBody>
      </p:sp>
      <p:sp>
        <p:nvSpPr>
          <p:cNvPr id="36" name="形状 36"/>
          <p:cNvSpPr/>
          <p:nvPr/>
        </p:nvSpPr>
        <p:spPr>
          <a:xfrm>
            <a:off x="3124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37" name="文字 37"/>
          <p:cNvSpPr txBox="1"/>
          <p:nvPr/>
        </p:nvSpPr>
        <p:spPr>
          <a:xfrm>
            <a:off x="3513832" y="3759101"/>
            <a:ext cx="8209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generating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3517900" y="3995242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已付，生成中</a:t>
            </a:r>
            <a:endParaRPr/>
          </a:p>
        </p:txBody>
      </p:sp>
      <p:sp>
        <p:nvSpPr>
          <p:cNvPr id="39" name="形状 39"/>
          <p:cNvSpPr/>
          <p:nvPr/>
        </p:nvSpPr>
        <p:spPr>
          <a:xfrm>
            <a:off x="5791200" y="36638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B5333B">
                <a:alpha val="100000"/>
              </a:srgbClr>
            </a:solidFill>
            <a:prstDash val="solid"/>
          </a:ln>
        </p:spPr>
      </p:sp>
      <p:sp>
        <p:nvSpPr>
          <p:cNvPr id="40" name="文字 40"/>
          <p:cNvSpPr txBox="1"/>
          <p:nvPr/>
        </p:nvSpPr>
        <p:spPr>
          <a:xfrm>
            <a:off x="6232029" y="3759101"/>
            <a:ext cx="7185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delivered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003131" y="3995242"/>
            <a:ext cx="117633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交付同一 result_url</a:t>
            </a:r>
            <a:endParaRPr/>
          </a:p>
        </p:txBody>
      </p:sp>
      <p:pic>
        <p:nvPicPr>
          <p:cNvPr id="42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700" y="3943251"/>
            <a:ext cx="1079500" cy="12700"/>
          </a:xfrm>
          <a:prstGeom prst="rect">
            <a:avLst/>
          </a:prstGeom>
        </p:spPr>
      </p:pic>
      <p:sp>
        <p:nvSpPr>
          <p:cNvPr id="43" name="文字 43"/>
          <p:cNvSpPr txBox="1"/>
          <p:nvPr/>
        </p:nvSpPr>
        <p:spPr>
          <a:xfrm>
            <a:off x="3073400" y="38607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4" name="形状 44"/>
          <p:cNvSpPr/>
          <p:nvPr/>
        </p:nvSpPr>
        <p:spPr>
          <a:xfrm>
            <a:off x="2120900" y="373370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5" name="文字 45"/>
          <p:cNvSpPr txBox="1"/>
          <p:nvPr/>
        </p:nvSpPr>
        <p:spPr>
          <a:xfrm>
            <a:off x="2282825" y="3746401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验付后启动</a:t>
            </a:r>
            <a:endParaRPr/>
          </a:p>
        </p:txBody>
      </p:sp>
      <p:pic>
        <p:nvPicPr>
          <p:cNvPr id="46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00" y="3943251"/>
            <a:ext cx="1079500" cy="12700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5740400" y="386070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48" name="形状 48"/>
          <p:cNvSpPr/>
          <p:nvPr/>
        </p:nvSpPr>
        <p:spPr>
          <a:xfrm>
            <a:off x="4787900" y="373370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9" name="文字 49"/>
          <p:cNvSpPr txBox="1"/>
          <p:nvPr/>
        </p:nvSpPr>
        <p:spPr>
          <a:xfrm>
            <a:off x="5010150" y="374640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生成成功</a:t>
            </a:r>
            <a:endParaRPr/>
          </a:p>
        </p:txBody>
      </p:sp>
      <p:pic>
        <p:nvPicPr>
          <p:cNvPr id="50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950" y="4241701"/>
            <a:ext cx="12700" cy="47625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1193800" y="463540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1346200" y="4305201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未支付超时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457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967879" y="4813201"/>
            <a:ext cx="578842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expired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647303" y="5049342"/>
            <a:ext cx="121989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旧 payment_id 终止</a:t>
            </a:r>
            <a:endParaRPr/>
          </a:p>
        </p:txBody>
      </p:sp>
      <p:pic>
        <p:nvPicPr>
          <p:cNvPr id="5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950" y="4241701"/>
            <a:ext cx="12700" cy="476250"/>
          </a:xfrm>
          <a:prstGeom prst="rect">
            <a:avLst/>
          </a:prstGeom>
        </p:spPr>
      </p:pic>
      <p:sp>
        <p:nvSpPr>
          <p:cNvPr id="57" name="文字 57"/>
          <p:cNvSpPr txBox="1"/>
          <p:nvPr/>
        </p:nvSpPr>
        <p:spPr>
          <a:xfrm>
            <a:off x="3860800" y="4635401"/>
            <a:ext cx="139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▼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4013200" y="4305201"/>
            <a:ext cx="83780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生成失败 / 超时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3124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3706217" y="4813201"/>
            <a:ext cx="43616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failed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3317875" y="5049342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失败，查看退款状态</a:t>
            </a:r>
            <a:endParaRPr/>
          </a:p>
        </p:txBody>
      </p:sp>
      <p:pic>
        <p:nvPicPr>
          <p:cNvPr id="62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00" y="5003701"/>
            <a:ext cx="1079500" cy="12700"/>
          </a:xfrm>
          <a:prstGeom prst="rect">
            <a:avLst/>
          </a:prstGeom>
        </p:spPr>
      </p:pic>
      <p:sp>
        <p:nvSpPr>
          <p:cNvPr id="63" name="文字 63"/>
          <p:cNvSpPr txBox="1"/>
          <p:nvPr/>
        </p:nvSpPr>
        <p:spPr>
          <a:xfrm>
            <a:off x="5740400" y="4921151"/>
            <a:ext cx="1460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▶</a:t>
            </a:r>
            <a:endParaRPr/>
          </a:p>
        </p:txBody>
      </p:sp>
      <p:sp>
        <p:nvSpPr>
          <p:cNvPr id="64" name="形状 64"/>
          <p:cNvSpPr/>
          <p:nvPr/>
        </p:nvSpPr>
        <p:spPr>
          <a:xfrm>
            <a:off x="4787900" y="4794151"/>
            <a:ext cx="927100" cy="16887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65" name="文字 65"/>
          <p:cNvSpPr txBox="1"/>
          <p:nvPr/>
        </p:nvSpPr>
        <p:spPr>
          <a:xfrm>
            <a:off x="5010150" y="480685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退款确认</a:t>
            </a:r>
            <a:endParaRPr/>
          </a:p>
        </p:txBody>
      </p:sp>
      <p:sp>
        <p:nvSpPr>
          <p:cNvPr id="66" name="形状 66"/>
          <p:cNvSpPr/>
          <p:nvPr/>
        </p:nvSpPr>
        <p:spPr>
          <a:xfrm>
            <a:off x="5791200" y="4717951"/>
            <a:ext cx="1587500" cy="577850"/>
          </a:xfrm>
          <a:prstGeom prst="roundRect">
            <a:avLst>
              <a:gd name="adj" fmla="val 1098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9DDE2">
                <a:alpha val="100000"/>
              </a:srgbClr>
            </a:solidFill>
            <a:prstDash val="solid"/>
          </a:ln>
        </p:spPr>
      </p:sp>
      <p:sp>
        <p:nvSpPr>
          <p:cNvPr id="67" name="文字 67"/>
          <p:cNvSpPr txBox="1"/>
          <p:nvPr/>
        </p:nvSpPr>
        <p:spPr>
          <a:xfrm>
            <a:off x="6241356" y="4813201"/>
            <a:ext cx="699889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refunded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184900" y="5049342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退款完成终态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457200" y="5429151"/>
            <a:ext cx="42392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状态图依据 WorkRally 公开调用契约；支付状态、服务状态及退款状态由商户分别管理。</a:t>
            </a:r>
            <a:endParaRPr/>
          </a:p>
        </p:txBody>
      </p:sp>
      <p:pic>
        <p:nvPicPr>
          <p:cNvPr id="70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7300" y="1473101"/>
            <a:ext cx="4127501" cy="4108450"/>
          </a:xfrm>
          <a:prstGeom prst="rect">
            <a:avLst/>
          </a:prstGeom>
        </p:spPr>
      </p:pic>
      <p:sp>
        <p:nvSpPr>
          <p:cNvPr id="71" name="文字 71"/>
          <p:cNvSpPr txBox="1"/>
          <p:nvPr/>
        </p:nvSpPr>
        <p:spPr>
          <a:xfrm>
            <a:off x="7791450" y="1485801"/>
            <a:ext cx="14414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生成中：继续原任务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7791450" y="1750913"/>
            <a:ext cx="394801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HTTP 200 + generating 仍未交付。按 retry_after_seconds（5 秒）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7791450" y="1948260"/>
            <a:ext cx="212983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用同一 payment_id 重试 content。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7791450" y="2259906"/>
            <a:ext cx="1758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已交付：重复取同一结果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791450" y="2525018"/>
            <a:ext cx="39099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delivered 返回相同 result_url。WorkRally 契约承诺同任务不重复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7791450" y="272236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扣费、不重复生成。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791450" y="3034010"/>
            <a:ext cx="239395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终态：先处理旧任务，再决定新购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7791450" y="3299123"/>
            <a:ext cx="377834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failed / refunded / expired 按错误规则结束旧任务。按契约重新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791450" y="3496469"/>
            <a:ext cx="269140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invoke，不能把“生成中”误判为需要再买。</a:t>
            </a:r>
            <a:endParaRPr/>
          </a:p>
        </p:txBody>
      </p:sp>
      <p:pic>
        <p:nvPicPr>
          <p:cNvPr id="80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1450" y="3820815"/>
            <a:ext cx="3943350" cy="342900"/>
          </a:xfrm>
          <a:prstGeom prst="rect">
            <a:avLst/>
          </a:prstGeom>
        </p:spPr>
      </p:pic>
      <p:sp>
        <p:nvSpPr>
          <p:cNvPr id="81" name="文字 81"/>
          <p:cNvSpPr txBox="1"/>
          <p:nvPr/>
        </p:nvSpPr>
        <p:spPr>
          <a:xfrm>
            <a:off x="7791450" y="396051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服务履约仍由商户保证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7791450" y="4239915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请求、回调、履约各有幂等约束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7791450" y="4505028"/>
            <a:ext cx="3879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稳定业务订单防重复建单；验签后去重支付通知；唯一任务执行权</a:t>
            </a:r>
            <a:endParaRPr/>
          </a:p>
        </p:txBody>
      </p:sp>
      <p:sp>
        <p:nvSpPr>
          <p:cNvPr id="84" name="文字 84"/>
          <p:cNvSpPr txBox="1"/>
          <p:nvPr/>
        </p:nvSpPr>
        <p:spPr>
          <a:xfrm>
            <a:off x="7791450" y="4702374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和持久结果防重复生成。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7791450" y="4982270"/>
            <a:ext cx="395376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 Demo 使用内存 map，不能证明并发、重启与退款恢复已具备</a:t>
            </a:r>
            <a:endParaRPr/>
          </a:p>
        </p:txBody>
      </p:sp>
      <p:sp>
        <p:nvSpPr>
          <p:cNvPr id="86" name="文字 86"/>
          <p:cNvSpPr txBox="1"/>
          <p:nvPr/>
        </p:nvSpPr>
        <p:spPr>
          <a:xfrm>
            <a:off x="7791450" y="5179616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生产保证。</a:t>
            </a:r>
            <a:endParaRPr/>
          </a:p>
        </p:txBody>
      </p:sp>
      <p:pic>
        <p:nvPicPr>
          <p:cNvPr id="87" name="slide-002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633839"/>
            <a:ext cx="11277600" cy="716161"/>
          </a:xfrm>
          <a:prstGeom prst="rect">
            <a:avLst/>
          </a:prstGeom>
        </p:spPr>
      </p:pic>
      <p:sp>
        <p:nvSpPr>
          <p:cNvPr id="88" name="文字 88"/>
          <p:cNvSpPr txBox="1"/>
          <p:nvPr/>
        </p:nvSpPr>
        <p:spPr>
          <a:xfrm>
            <a:off x="457200" y="5754489"/>
            <a:ext cx="23495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支付回调的真实性与保密性分开处理</a:t>
            </a:r>
            <a:endParaRPr/>
          </a:p>
        </p:txBody>
      </p:sp>
      <p:sp>
        <p:nvSpPr>
          <p:cNvPr id="89" name="文字 89"/>
          <p:cNvSpPr txBox="1"/>
          <p:nvPr/>
        </p:nvSpPr>
        <p:spPr>
          <a:xfrm>
            <a:off x="457200" y="5989439"/>
            <a:ext cx="553491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商户用微信支付公钥 / 平台证书验签，用 APIv3 密钥解密。SkillHub 开发者私钥只用于 AI 预下</a:t>
            </a:r>
            <a:endParaRPr/>
          </a:p>
        </p:txBody>
      </p:sp>
      <p:sp>
        <p:nvSpPr>
          <p:cNvPr id="90" name="文字 90"/>
          <p:cNvSpPr txBox="1"/>
          <p:nvPr/>
        </p:nvSpPr>
        <p:spPr>
          <a:xfrm>
            <a:off x="457200" y="6176070"/>
            <a:ext cx="5461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单身份。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197600" y="5754489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实现必须选定同一版本契约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6197600" y="5989439"/>
            <a:ext cx="552797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微信当前 API 采用 Authorization + JSON 对象；SkillHub Demo 仍采用旧端点和 Body 鉴权，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6197600" y="6176070"/>
            <a:ext cx="6794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不能混接。</a:t>
            </a:r>
            <a:endParaRPr/>
          </a:p>
        </p:txBody>
      </p:sp>
      <p:sp>
        <p:nvSpPr>
          <p:cNvPr id="94" name="文字 94"/>
          <p:cNvSpPr txBox="1"/>
          <p:nvPr/>
        </p:nvSpPr>
        <p:spPr>
          <a:xfrm>
            <a:off x="457200" y="6445250"/>
            <a:ext cx="7182049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来源：WorkRally SKILL.md / invoke-flow / troubleshooting，微信 x402 API / FAQ / 支付回调，SkillHub 商户 Demo。本次为公开文档与源码核查，未真实交易；详细证据与恢复边界见伴生文档。</a:t>
            </a:r>
            <a:endParaRPr/>
          </a:p>
        </p:txBody>
      </p:sp>
      <p:pic>
        <p:nvPicPr>
          <p:cNvPr id="95" name="slide-002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98678" y="6691517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