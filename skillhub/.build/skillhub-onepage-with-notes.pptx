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腾讯 SkillHub 平台洞察。调研日期：2026-10-19（Asia/Shanghai）。</a:t>
            </a:r>
          </a:p>
          <a:p/>
          <a:p>
            <a:r>
              <a:t>结论：平台从 Skill 获取延伸至角色、场景组合、外部工具与云端运行案例。该结论为基于官方能力与实现的分析，不代表商业效果已获验证。</a:t>
            </a:r>
          </a:p>
          <a:p/>
          <a:p>
            <a:r>
              <a:t>规模：公开列表接口本次返回 total=199511；一级分类接口 count=13。官方仓库仍声明13万+ Skills、2万+企业发布、500+商家，两者时间及统计口径不同，不混作同一实时指标。</a:t>
            </a:r>
          </a:p>
          <a:p/>
          <a:p>
            <a:r>
              <a:t>图表：下载量降序的前50条公开记录，downloads合计53,316,699。开发编程5条、19,694,704次记录、36.94%；AI Agent11条、7,054,833、13.23%；知识管理4条、5,405,241、10.14%；其他39.69%。画面按1位小数显示，可能有四舍五入误差。下载不代表独立用户、成功安装、活跃用户或任务成功。样本不是全平台分布。</a:t>
            </a:r>
          </a:p>
          <a:p/>
          <a:p>
            <a:r>
              <a:t>来源样本：community23条、clawhub14条、enterprise13条。全量source筛选total无法相加还原全量，未据此画全量来源占比。</a:t>
            </a:r>
          </a:p>
          <a:p/>
          <a:p>
            <a:r>
              <a:t>四层：角色SOUL、场景专家包、Skill任务方法、MCP工具服务，是本稿分析视图，不是官方强制架构。官网分别提供相应入口。官方/产品、垂直专业、社区泛用也是分析画像，不等同source枚举。</a:t>
            </a:r>
          </a:p>
          <a:p/>
          <a:p>
            <a:r>
              <a:t>消费：来源、发布、消费、试运行四环节。官网代码有创建/恢复沙箱会话、加载Skill、流式聊天与案例留存。本次没有登录、创建沙箱、运行Skill或上传文件。仅确认公开文档和前端实现，未测成功率、性能和费用。</a:t>
            </a:r>
          </a:p>
          <a:p/>
          <a:p>
            <a:r>
              <a:t>TRACE：Trust、Reliability、Adaptability、Convention、Effectiveness。公开API按维度内子项均分后五维等权计算展示总分。榜单score是热度排序，不是5分制TRACE。安全审核和开源evaluator不同，后者跳过trust.scan，并允许文档型效果依据流程/模板推断。单次find-skill-skillhub评测解释与详情功能有不一致现象，原因未查明，不能泛化全站质量。</a:t>
            </a:r>
          </a:p>
          <a:p/>
          <a:p>
            <a:r>
              <a:t>来源：</a:t>
            </a:r>
          </a:p>
          <a:p>
            <a:r>
              <a:t>https://github.com/Tencent/skillhub</a:t>
            </a:r>
          </a:p>
          <a:p>
            <a:r>
              <a:t>https://skillhub.cn/</a:t>
            </a:r>
          </a:p>
          <a:p>
            <a:r>
              <a:t>https://skillhub.cn/tutorials#trace-evaluation</a:t>
            </a:r>
          </a:p>
          <a:p>
            <a:r>
              <a:t>https://api.skillhub.cn/api/skills?sortBy=downloads&amp;order=desc&amp;pageSize=50</a:t>
            </a:r>
          </a:p>
          <a:p>
            <a:r>
              <a:t>https://api.skillhub.cn/api/v1/categories</a:t>
            </a:r>
          </a:p>
          <a:p>
            <a:r>
              <a:t>https://github.com/Tencent/skillhub/blob/main/docs/api/skills.md</a:t>
            </a:r>
          </a:p>
          <a:p>
            <a:r>
              <a:t>https://github.com/Tencent/skillhub/blob/main/docs/api/evaluation.md</a:t>
            </a:r>
          </a:p>
          <a:p>
            <a:r>
              <a:t>https://github.com/Tencent/skillhub/blob/main/docs/README.md</a:t>
            </a:r>
          </a:p>
          <a:p>
            <a:r>
              <a:t>https://github.com/Tencent/skillhub/blob/main/dsh-plugin/README.md</a:t>
            </a:r>
          </a:p>
          <a:p>
            <a:r>
              <a:t>https://github.com/Tencent/skillhub/tree/main/skills/skillhub-trace-evaluator</a:t>
            </a:r>
          </a:p>
          <a:p>
            <a:r>
              <a:t>https://api.skillhub.cn/api/v1/skills/tencent-docs</a:t>
            </a:r>
          </a:p>
          <a:p>
            <a:r>
              <a:t>https://api.skillhub.cn/api/v1/skills/mysteel-datasearch</a:t>
            </a:r>
          </a:p>
          <a:p>
            <a:r>
              <a:t>https://api.skillhub.cn/api/v1/skills/find-skill-skillhub/evaluation</a:t>
            </a:r>
          </a:p>
          <a:p/>
          <a:p>
            <a:r>
              <a:t>详细推导、原始快照及限制见同目录 skillhub-insights.md、research-evaluation-runtime.md、statistics.json、download-top50.csv 和 sources/。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5833765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将技能分发扩展到场景组合与云端验证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49832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Agent 能力供给网络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全球同步扩大覆盖，本土共建与企业服务补充专业能力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资产结构：四层分析视图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2043410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职责可组合，非官方强制依赖层级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457200" y="2297410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1" name="形状 21"/>
          <p:cNvSpPr/>
          <p:nvPr/>
        </p:nvSpPr>
        <p:spPr>
          <a:xfrm>
            <a:off x="463550" y="2303760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632420" y="242500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L4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71500" y="2594471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041400" y="2400895"/>
            <a:ext cx="4272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SOUL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041400" y="2630686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人格、表达与协作方式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457200" y="2971701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7" name="形状 27"/>
          <p:cNvSpPr/>
          <p:nvPr/>
        </p:nvSpPr>
        <p:spPr>
          <a:xfrm>
            <a:off x="463550" y="2978051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8" name="文字 28"/>
          <p:cNvSpPr txBox="1"/>
          <p:nvPr/>
        </p:nvSpPr>
        <p:spPr>
          <a:xfrm>
            <a:off x="632420" y="309929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571500" y="326876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组合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041400" y="3075186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专家包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041400" y="3304977"/>
            <a:ext cx="13039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按场景组织多个 Skills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457200" y="364599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3" name="形状 33"/>
          <p:cNvSpPr/>
          <p:nvPr/>
        </p:nvSpPr>
        <p:spPr>
          <a:xfrm>
            <a:off x="463550" y="365234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632420" y="377358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71500" y="394305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方法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1041400" y="3749477"/>
            <a:ext cx="34220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41400" y="3979267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指令、脚本、参考与模板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457200" y="432028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9" name="形状 39"/>
          <p:cNvSpPr/>
          <p:nvPr/>
        </p:nvSpPr>
        <p:spPr>
          <a:xfrm>
            <a:off x="463550" y="432663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40" name="文字 40"/>
          <p:cNvSpPr txBox="1"/>
          <p:nvPr/>
        </p:nvSpPr>
        <p:spPr>
          <a:xfrm>
            <a:off x="632420" y="444787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571500" y="4617343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041400" y="4423767"/>
            <a:ext cx="34458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041400" y="4653558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连接外部数据与受控动作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5013623"/>
            <a:ext cx="270589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 可跨层交付，运行仍依赖宿主与授权。</a:t>
            </a:r>
            <a:endParaRPr/>
          </a:p>
        </p:txBody>
      </p:sp>
      <p:pic>
        <p:nvPicPr>
          <p:cNvPr id="4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744960"/>
            <a:ext cx="3492500" cy="3442593"/>
          </a:xfrm>
          <a:prstGeom prst="rect">
            <a:avLst/>
          </a:prstGeom>
        </p:spPr>
      </p:pic>
      <p:sp>
        <p:nvSpPr>
          <p:cNvPr id="46" name="文字 46"/>
          <p:cNvSpPr txBox="1"/>
          <p:nvPr/>
        </p:nvSpPr>
        <p:spPr>
          <a:xfrm>
            <a:off x="357505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资产消费：从获取到验证</a:t>
            </a:r>
            <a:endParaRPr/>
          </a:p>
        </p:txBody>
      </p:sp>
      <p:sp>
        <p:nvSpPr>
          <p:cNvPr id="47" name="形状 47"/>
          <p:cNvSpPr/>
          <p:nvPr/>
        </p:nvSpPr>
        <p:spPr>
          <a:xfrm>
            <a:off x="3575050" y="2119610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8" name="文字 48"/>
          <p:cNvSpPr txBox="1"/>
          <p:nvPr/>
        </p:nvSpPr>
        <p:spPr>
          <a:xfrm>
            <a:off x="3621981" y="216088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3937000" y="2132310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来源：全球同步与本土共建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3937000" y="2362101"/>
            <a:ext cx="194161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同步，个人与企业发布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3575050" y="2843014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2" name="文字 52"/>
          <p:cNvSpPr txBox="1"/>
          <p:nvPr/>
        </p:nvSpPr>
        <p:spPr>
          <a:xfrm>
            <a:off x="3621981" y="2884289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3937000" y="2855714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发布：导入、版本与可见性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3937000" y="3085505"/>
            <a:ext cx="20723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文件 / GitHub / CLI，组织内技能库</a:t>
            </a:r>
            <a:endParaRPr/>
          </a:p>
        </p:txBody>
      </p:sp>
      <p:sp>
        <p:nvSpPr>
          <p:cNvPr id="55" name="形状 55"/>
          <p:cNvSpPr/>
          <p:nvPr/>
        </p:nvSpPr>
        <p:spPr>
          <a:xfrm>
            <a:off x="3575050" y="3566517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3621981" y="3607792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3937000" y="3579217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消费：发现后进入目标宿主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937000" y="3809008"/>
            <a:ext cx="228818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中文搜索与榜单，ZIP / CLI / API / DSH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3575050" y="4289921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3621981" y="433119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937000" y="4302621"/>
            <a:ext cx="1993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试运行：云端会话与运行案例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3937000" y="453241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流式结果与案例留存；代码已核，未实跑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3575050" y="482699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体验重点：发现入口与宿主内消费衔接，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3575050" y="5013623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运行案例补充选用依据。</a:t>
            </a:r>
            <a:endParaRPr/>
          </a:p>
        </p:txBody>
      </p:sp>
      <p:pic>
        <p:nvPicPr>
          <p:cNvPr id="65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1744960"/>
            <a:ext cx="4673601" cy="3442593"/>
          </a:xfrm>
          <a:prstGeom prst="rect">
            <a:avLst/>
          </a:prstGeom>
        </p:spPr>
      </p:pic>
      <p:sp>
        <p:nvSpPr>
          <p:cNvPr id="66" name="文字 66"/>
          <p:cNvSpPr txBox="1"/>
          <p:nvPr/>
        </p:nvSpPr>
        <p:spPr>
          <a:xfrm>
            <a:off x="7226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生态画像：三类供需并存</a:t>
            </a:r>
            <a:endParaRPr/>
          </a:p>
        </p:txBody>
      </p:sp>
      <p:pic>
        <p:nvPicPr>
          <p:cNvPr id="67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300" y="2024360"/>
            <a:ext cx="4508501" cy="507901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7226300" y="2106910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官方与产品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7988300" y="2106910"/>
            <a:ext cx="18482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腾讯文档、ima、平台查找技能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988300" y="2305943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需求：产品连接、办公与知识协作</a:t>
            </a:r>
            <a:endParaRPr/>
          </a:p>
        </p:txBody>
      </p:sp>
      <p:pic>
        <p:nvPicPr>
          <p:cNvPr id="71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300" y="2532261"/>
            <a:ext cx="4508501" cy="507901"/>
          </a:xfrm>
          <a:prstGeom prst="rect">
            <a:avLst/>
          </a:prstGeom>
        </p:spPr>
      </p:pic>
      <p:sp>
        <p:nvSpPr>
          <p:cNvPr id="72" name="文字 72"/>
          <p:cNvSpPr txBox="1"/>
          <p:nvPr/>
        </p:nvSpPr>
        <p:spPr>
          <a:xfrm>
            <a:off x="7226300" y="261481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垂直专业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7988300" y="261481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钢联智能问数、电子印章平台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7988300" y="2813844"/>
            <a:ext cx="17018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需求：行业数据与专业业务流程</a:t>
            </a:r>
            <a:endParaRPr/>
          </a:p>
        </p:txBody>
      </p:sp>
      <p:pic>
        <p:nvPicPr>
          <p:cNvPr id="75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6300" y="3040162"/>
            <a:ext cx="4508501" cy="507901"/>
          </a:xfrm>
          <a:prstGeom prst="rect">
            <a:avLst/>
          </a:prstGeom>
        </p:spPr>
      </p:pic>
      <p:sp>
        <p:nvSpPr>
          <p:cNvPr id="76" name="文字 76"/>
          <p:cNvSpPr txBox="1"/>
          <p:nvPr/>
        </p:nvSpPr>
        <p:spPr>
          <a:xfrm>
            <a:off x="7226300" y="3122712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社区泛用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988300" y="3122712"/>
            <a:ext cx="20794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Find Skills、Agent Browser、摘要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7988300" y="3321745"/>
            <a:ext cx="193327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需求：Agent 研发、检索与通用效率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226300" y="3675063"/>
            <a:ext cx="204132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Top50：样本下载记录占比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7226300" y="39417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81" name="形状 81"/>
          <p:cNvSpPr/>
          <p:nvPr/>
        </p:nvSpPr>
        <p:spPr>
          <a:xfrm>
            <a:off x="7886700" y="39608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2" name="形状 82"/>
          <p:cNvSpPr/>
          <p:nvPr/>
        </p:nvSpPr>
        <p:spPr>
          <a:xfrm>
            <a:off x="7886700" y="3960813"/>
            <a:ext cx="1237159" cy="95250"/>
          </a:xfrm>
          <a:prstGeom prst="roundRect">
            <a:avLst>
              <a:gd name="adj" fmla="val 2000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83" name="文字 83"/>
          <p:cNvSpPr txBox="1"/>
          <p:nvPr/>
        </p:nvSpPr>
        <p:spPr>
          <a:xfrm>
            <a:off x="11372850" y="392906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226300" y="4170363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85" name="形状 85"/>
          <p:cNvSpPr/>
          <p:nvPr/>
        </p:nvSpPr>
        <p:spPr>
          <a:xfrm>
            <a:off x="7886700" y="41894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6" name="形状 86"/>
          <p:cNvSpPr/>
          <p:nvPr/>
        </p:nvSpPr>
        <p:spPr>
          <a:xfrm>
            <a:off x="7886700" y="4189413"/>
            <a:ext cx="442515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7" name="文字 87"/>
          <p:cNvSpPr txBox="1"/>
          <p:nvPr/>
        </p:nvSpPr>
        <p:spPr>
          <a:xfrm>
            <a:off x="11372850" y="41576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226300" y="43989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9" name="形状 89"/>
          <p:cNvSpPr/>
          <p:nvPr/>
        </p:nvSpPr>
        <p:spPr>
          <a:xfrm>
            <a:off x="7886700" y="44180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0" name="形状 90"/>
          <p:cNvSpPr/>
          <p:nvPr/>
        </p:nvSpPr>
        <p:spPr>
          <a:xfrm>
            <a:off x="7886700" y="4418013"/>
            <a:ext cx="338534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1" name="文字 91"/>
          <p:cNvSpPr txBox="1"/>
          <p:nvPr/>
        </p:nvSpPr>
        <p:spPr>
          <a:xfrm>
            <a:off x="11372850" y="43862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10.1%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7226300" y="4627563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93" name="形状 93"/>
          <p:cNvSpPr/>
          <p:nvPr/>
        </p:nvSpPr>
        <p:spPr>
          <a:xfrm>
            <a:off x="7886700" y="4646612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4" name="形状 94"/>
          <p:cNvSpPr/>
          <p:nvPr/>
        </p:nvSpPr>
        <p:spPr>
          <a:xfrm>
            <a:off x="7886700" y="4646612"/>
            <a:ext cx="1331019" cy="95250"/>
          </a:xfrm>
          <a:prstGeom prst="roundRect">
            <a:avLst>
              <a:gd name="adj" fmla="val 2000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95" name="文字 95"/>
          <p:cNvSpPr txBox="1"/>
          <p:nvPr/>
        </p:nvSpPr>
        <p:spPr>
          <a:xfrm>
            <a:off x="11372850" y="46148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7226300" y="4862513"/>
            <a:ext cx="255736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36.9%；消费画像按任务推断，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7226300" y="5031383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下载记录不代表活跃用户或任务成功。</a:t>
            </a:r>
            <a:endParaRPr/>
          </a:p>
        </p:txBody>
      </p:sp>
      <p:pic>
        <p:nvPicPr>
          <p:cNvPr id="98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9" name="文字 99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101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102" name="文字 102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105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106" name="文字 106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9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10" name="文字 110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13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14" name="文字 114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17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8" name="文字 118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22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23" name="文字 123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24" name="文字 124"/>
          <p:cNvSpPr txBox="1"/>
          <p:nvPr/>
        </p:nvSpPr>
        <p:spPr>
          <a:xfrm>
            <a:off x="7773790" y="5746353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多类资产与宿主消费共同建设，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7773790" y="5939631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把版本、质量证据和实际任务结果关联。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27" name="文字 127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8" name="文字 128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9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