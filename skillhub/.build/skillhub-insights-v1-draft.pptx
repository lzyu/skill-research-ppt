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V1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85372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围绕 Skill 打通生态供给、可信分发与宿主安装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199,514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54506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Skill 发现与分发平台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全球同步补齐长尾，本土原创与企业供给扩展任务覆盖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生态供给：同步、原创与企业</a:t>
            </a:r>
            <a:endParaRPr/>
          </a:p>
        </p:txBody>
      </p:sp>
      <p:pic>
        <p:nvPicPr>
          <p:cNvPr id="19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60"/>
            <a:ext cx="3016250" cy="780852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457200" y="210056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57200" y="2330351"/>
            <a:ext cx="163254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等公开生态 Skills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57200" y="2536031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中文描述与国内下载，补齐长尾覆盖</a:t>
            </a:r>
            <a:endParaRPr/>
          </a:p>
        </p:txBody>
      </p:sp>
      <p:pic>
        <p:nvPicPr>
          <p:cNvPr id="23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92512"/>
            <a:ext cx="3016250" cy="780851"/>
          </a:xfrm>
          <a:prstGeom prst="rect">
            <a:avLst/>
          </a:prstGeom>
        </p:spPr>
      </p:pic>
      <p:sp>
        <p:nvSpPr>
          <p:cNvPr id="24" name="文字 24"/>
          <p:cNvSpPr txBox="1"/>
          <p:nvPr/>
        </p:nvSpPr>
        <p:spPr>
          <a:xfrm>
            <a:off x="457200" y="2881412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个人与社区发布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457200" y="3111202"/>
            <a:ext cx="213727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本土作者沉淀工具、Prompt 与 SOP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57200" y="3316883"/>
            <a:ext cx="20024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网页或 CLI 接入，持续发布新版本</a:t>
            </a:r>
            <a:endParaRPr/>
          </a:p>
        </p:txBody>
      </p:sp>
      <p:pic>
        <p:nvPicPr>
          <p:cNvPr id="27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73363"/>
            <a:ext cx="3016250" cy="780852"/>
          </a:xfrm>
          <a:prstGeom prst="rect">
            <a:avLst/>
          </a:prstGeom>
        </p:spPr>
      </p:pic>
      <p:sp>
        <p:nvSpPr>
          <p:cNvPr id="28" name="文字 28"/>
          <p:cNvSpPr txBox="1"/>
          <p:nvPr/>
        </p:nvSpPr>
        <p:spPr>
          <a:xfrm>
            <a:off x="457200" y="3662264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企业与产品团队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3892054"/>
            <a:ext cx="15815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官方产品：腾讯文档、ima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4097735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垂直领域：钢联问数、电子印章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57200" y="4443115"/>
            <a:ext cx="218241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平台自供给：技能查找、TRACE 评测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57200" y="4731345"/>
            <a:ext cx="151358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 来源条目占比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457200" y="4934545"/>
            <a:ext cx="1387475" cy="1016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34" name="形状 34"/>
          <p:cNvSpPr/>
          <p:nvPr/>
        </p:nvSpPr>
        <p:spPr>
          <a:xfrm>
            <a:off x="1844675" y="4934545"/>
            <a:ext cx="844550" cy="1016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5" name="形状 35"/>
          <p:cNvSpPr/>
          <p:nvPr/>
        </p:nvSpPr>
        <p:spPr>
          <a:xfrm>
            <a:off x="2689225" y="4934545"/>
            <a:ext cx="784225" cy="101600"/>
          </a:xfrm>
          <a:prstGeom prst="rect">
            <a:avLst/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36" name="文字 36"/>
          <p:cNvSpPr txBox="1"/>
          <p:nvPr/>
        </p:nvSpPr>
        <p:spPr>
          <a:xfrm>
            <a:off x="457200" y="5099645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 46%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573411" y="5099645"/>
            <a:ext cx="79652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28%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2959993" y="5099645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 26%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457200" y="5302846"/>
            <a:ext cx="15240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供给渠道样本，不代表全量结构</a:t>
            </a:r>
            <a:endParaRPr/>
          </a:p>
        </p:txBody>
      </p:sp>
      <p:pic>
        <p:nvPicPr>
          <p:cNvPr id="40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1744960"/>
            <a:ext cx="3873500" cy="3697188"/>
          </a:xfrm>
          <a:prstGeom prst="rect">
            <a:avLst/>
          </a:prstGeom>
        </p:spPr>
      </p:pic>
      <p:sp>
        <p:nvSpPr>
          <p:cNvPr id="41" name="文字 41"/>
          <p:cNvSpPr txBox="1"/>
          <p:nvPr/>
        </p:nvSpPr>
        <p:spPr>
          <a:xfrm>
            <a:off x="3797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分发安装：从平台到宿主</a:t>
            </a:r>
            <a:endParaRPr/>
          </a:p>
        </p:txBody>
      </p:sp>
      <p:sp>
        <p:nvSpPr>
          <p:cNvPr id="42" name="形状 42"/>
          <p:cNvSpPr/>
          <p:nvPr/>
        </p:nvSpPr>
        <p:spPr>
          <a:xfrm>
            <a:off x="3797300" y="2119610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3" name="文字 43"/>
          <p:cNvSpPr txBox="1"/>
          <p:nvPr/>
        </p:nvSpPr>
        <p:spPr>
          <a:xfrm>
            <a:off x="3837881" y="215453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140200" y="2132310"/>
            <a:ext cx="154652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发布：目录或 ZIP 入库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140200" y="2362101"/>
            <a:ext cx="24223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 / CLI / Agent 发布，版本审核后可见</a:t>
            </a:r>
            <a:endParaRPr/>
          </a:p>
        </p:txBody>
      </p:sp>
      <p:sp>
        <p:nvSpPr>
          <p:cNvPr id="46" name="形状 46"/>
          <p:cNvSpPr/>
          <p:nvPr/>
        </p:nvSpPr>
        <p:spPr>
          <a:xfrm>
            <a:off x="3797300" y="2830513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7" name="文字 47"/>
          <p:cNvSpPr txBox="1"/>
          <p:nvPr/>
        </p:nvSpPr>
        <p:spPr>
          <a:xfrm>
            <a:off x="3837881" y="2865438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4140200" y="2843213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分发：检索后获取版本包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4140200" y="3073003"/>
            <a:ext cx="22440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榜单、搜索与 API；指定版本 ZIP 下载</a:t>
            </a:r>
            <a:endParaRPr/>
          </a:p>
        </p:txBody>
      </p:sp>
      <p:sp>
        <p:nvSpPr>
          <p:cNvPr id="50" name="形状 50"/>
          <p:cNvSpPr/>
          <p:nvPr/>
        </p:nvSpPr>
        <p:spPr>
          <a:xfrm>
            <a:off x="3797300" y="3541514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1" name="文字 51"/>
          <p:cNvSpPr txBox="1"/>
          <p:nvPr/>
        </p:nvSpPr>
        <p:spPr>
          <a:xfrm>
            <a:off x="3837881" y="3576439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140200" y="3554214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安装：文件落到宿主目录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140200" y="3784005"/>
            <a:ext cx="24160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CLI 默认 ./skills；DSH 默认 ~/.dsh/skills</a:t>
            </a:r>
            <a:endParaRPr/>
          </a:p>
        </p:txBody>
      </p:sp>
      <p:sp>
        <p:nvSpPr>
          <p:cNvPr id="54" name="形状 54"/>
          <p:cNvSpPr/>
          <p:nvPr/>
        </p:nvSpPr>
        <p:spPr>
          <a:xfrm>
            <a:off x="3797300" y="4252416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5" name="文字 55"/>
          <p:cNvSpPr txBox="1"/>
          <p:nvPr/>
        </p:nvSpPr>
        <p:spPr>
          <a:xfrm>
            <a:off x="3837881" y="4287341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140200" y="4265116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使用：宿主加载并执行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140200" y="4494907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依赖与账号需就绪；云端案例未实跑</a:t>
            </a:r>
            <a:endParaRPr/>
          </a:p>
        </p:txBody>
      </p:sp>
      <p:pic>
        <p:nvPicPr>
          <p:cNvPr id="58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300" y="4776788"/>
            <a:ext cx="3708400" cy="665361"/>
          </a:xfrm>
          <a:prstGeom prst="rect">
            <a:avLst/>
          </a:prstGeom>
        </p:spPr>
      </p:pic>
      <p:sp>
        <p:nvSpPr>
          <p:cNvPr id="59" name="文字 59"/>
          <p:cNvSpPr txBox="1"/>
          <p:nvPr/>
        </p:nvSpPr>
        <p:spPr>
          <a:xfrm>
            <a:off x="3797300" y="4859338"/>
            <a:ext cx="276354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install &lt;slug&gt; --dir ./skills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3797300" y="5081588"/>
            <a:ext cx="217497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安装只落文件，不自动装依赖；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797300" y="5268218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目标目录仍须被宿主发现。</a:t>
            </a:r>
            <a:endParaRPr/>
          </a:p>
        </p:txBody>
      </p:sp>
      <p:pic>
        <p:nvPicPr>
          <p:cNvPr id="62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4450" y="1744960"/>
            <a:ext cx="4070350" cy="3697188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7829550" y="1770360"/>
            <a:ext cx="2413001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消费画像：通用任务与专业服务</a:t>
            </a:r>
            <a:endParaRPr/>
          </a:p>
        </p:txBody>
      </p:sp>
      <p:pic>
        <p:nvPicPr>
          <p:cNvPr id="64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9550" y="2043410"/>
            <a:ext cx="3905251" cy="532011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7829550" y="2132310"/>
            <a:ext cx="4127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开发与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7829550" y="2318941"/>
            <a:ext cx="39350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8528050" y="2132310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编程、浏览器操作、技能发现与自改进</a:t>
            </a:r>
            <a:endParaRPr/>
          </a:p>
        </p:txBody>
      </p:sp>
      <p:pic>
        <p:nvPicPr>
          <p:cNvPr id="68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9550" y="2575421"/>
            <a:ext cx="3905251" cy="532011"/>
          </a:xfrm>
          <a:prstGeom prst="rect">
            <a:avLst/>
          </a:prstGeom>
        </p:spPr>
      </p:pic>
      <p:sp>
        <p:nvSpPr>
          <p:cNvPr id="69" name="文字 69"/>
          <p:cNvSpPr txBox="1"/>
          <p:nvPr/>
        </p:nvSpPr>
        <p:spPr>
          <a:xfrm>
            <a:off x="7829550" y="266432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知识与办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829550" y="2850952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8528050" y="266432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摘要、文档协作、数据与内容处理</a:t>
            </a:r>
            <a:endParaRPr/>
          </a:p>
        </p:txBody>
      </p:sp>
      <p:pic>
        <p:nvPicPr>
          <p:cNvPr id="72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550" y="3107432"/>
            <a:ext cx="3905251" cy="345380"/>
          </a:xfrm>
          <a:prstGeom prst="rect">
            <a:avLst/>
          </a:prstGeom>
        </p:spPr>
      </p:pic>
      <p:sp>
        <p:nvSpPr>
          <p:cNvPr id="73" name="文字 73"/>
          <p:cNvSpPr txBox="1"/>
          <p:nvPr/>
        </p:nvSpPr>
        <p:spPr>
          <a:xfrm>
            <a:off x="7829550" y="3196332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行业业务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528050" y="3196332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专业数据查询、业务接口与服务对接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829550" y="3598863"/>
            <a:ext cx="2174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Top50 样本内，下载记录的类别占比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7829550" y="3890963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77" name="形状 77"/>
          <p:cNvSpPr/>
          <p:nvPr/>
        </p:nvSpPr>
        <p:spPr>
          <a:xfrm>
            <a:off x="8489950" y="3906838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8" name="形状 78"/>
          <p:cNvSpPr/>
          <p:nvPr/>
        </p:nvSpPr>
        <p:spPr>
          <a:xfrm>
            <a:off x="8489950" y="3906838"/>
            <a:ext cx="1015108" cy="101600"/>
          </a:xfrm>
          <a:prstGeom prst="roundRect">
            <a:avLst>
              <a:gd name="adj" fmla="val 1875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79" name="文字 79"/>
          <p:cNvSpPr txBox="1"/>
          <p:nvPr/>
        </p:nvSpPr>
        <p:spPr>
          <a:xfrm>
            <a:off x="11372850" y="38782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7829550" y="4138612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81" name="形状 81"/>
          <p:cNvSpPr/>
          <p:nvPr/>
        </p:nvSpPr>
        <p:spPr>
          <a:xfrm>
            <a:off x="8489950" y="4154488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2" name="形状 82"/>
          <p:cNvSpPr/>
          <p:nvPr/>
        </p:nvSpPr>
        <p:spPr>
          <a:xfrm>
            <a:off x="8489950" y="4154488"/>
            <a:ext cx="363736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3" name="文字 83"/>
          <p:cNvSpPr txBox="1"/>
          <p:nvPr/>
        </p:nvSpPr>
        <p:spPr>
          <a:xfrm>
            <a:off x="11372850" y="412591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829550" y="4386263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5" name="形状 85"/>
          <p:cNvSpPr/>
          <p:nvPr/>
        </p:nvSpPr>
        <p:spPr>
          <a:xfrm>
            <a:off x="8489950" y="4402138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6" name="形状 86"/>
          <p:cNvSpPr/>
          <p:nvPr/>
        </p:nvSpPr>
        <p:spPr>
          <a:xfrm>
            <a:off x="8489950" y="4402138"/>
            <a:ext cx="279599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7" name="文字 87"/>
          <p:cNvSpPr txBox="1"/>
          <p:nvPr/>
        </p:nvSpPr>
        <p:spPr>
          <a:xfrm>
            <a:off x="11372850" y="43735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10.2%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829550" y="4633913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89" name="形状 89"/>
          <p:cNvSpPr/>
          <p:nvPr/>
        </p:nvSpPr>
        <p:spPr>
          <a:xfrm>
            <a:off x="8489950" y="464978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0" name="形状 90"/>
          <p:cNvSpPr/>
          <p:nvPr/>
        </p:nvSpPr>
        <p:spPr>
          <a:xfrm>
            <a:off x="8489950" y="4649787"/>
            <a:ext cx="1091010" cy="101600"/>
          </a:xfrm>
          <a:prstGeom prst="roundRect">
            <a:avLst>
              <a:gd name="adj" fmla="val 1875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91" name="文字 91"/>
          <p:cNvSpPr txBox="1"/>
          <p:nvPr/>
        </p:nvSpPr>
        <p:spPr>
          <a:xfrm>
            <a:off x="11372850" y="462121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7829550" y="4894263"/>
            <a:ext cx="238849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36.9%，AI Agent 有 11 条。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7829550" y="5063133"/>
            <a:ext cx="182245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下载不代表活跃用户或任务成功。</a:t>
            </a:r>
            <a:endParaRPr/>
          </a:p>
        </p:txBody>
      </p:sp>
      <p:sp>
        <p:nvSpPr>
          <p:cNvPr id="94" name="文字 94"/>
          <p:cNvSpPr txBox="1"/>
          <p:nvPr/>
        </p:nvSpPr>
        <p:spPr>
          <a:xfrm>
            <a:off x="7829550" y="5302846"/>
            <a:ext cx="20637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消费需求按技能能力推断，非真实用户分群</a:t>
            </a:r>
            <a:endParaRPr/>
          </a:p>
        </p:txBody>
      </p:sp>
      <p:pic>
        <p:nvPicPr>
          <p:cNvPr id="95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6" name="文字 96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98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99" name="文字 99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101" name="文字 101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102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103" name="文字 103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5" name="文字 105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6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07" name="文字 107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09" name="文字 109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10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11" name="文字 111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13" name="文字 113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14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5" name="文字 115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17" name="文字 117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18" name="文字 118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19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20" name="文字 120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7773790" y="5746353"/>
            <a:ext cx="220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以 Skill 为管理单元，贯通来源版本、</a:t>
            </a:r>
            <a:endParaRPr/>
          </a:p>
        </p:txBody>
      </p:sp>
      <p:sp>
        <p:nvSpPr>
          <p:cNvPr id="122" name="文字 122"/>
          <p:cNvSpPr txBox="1"/>
          <p:nvPr/>
        </p:nvSpPr>
        <p:spPr>
          <a:xfrm>
            <a:off x="7773790" y="5939631"/>
            <a:ext cx="227964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安装条件、质量证据和实际任务结果。</a:t>
            </a:r>
            <a:endParaRPr/>
          </a:p>
        </p:txBody>
      </p:sp>
      <p:sp>
        <p:nvSpPr>
          <p:cNvPr id="123" name="文字 123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24" name="文字 124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6" name="slide-001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