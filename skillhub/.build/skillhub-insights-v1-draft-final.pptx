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killHub洞察V1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38340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9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 平台洞察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1049000" y="279400"/>
            <a:ext cx="698501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2026.10.19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785372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围绕 Skill 打通生态供给、可信分发与宿主安装</a:t>
            </a:r>
            <a:endParaRPr/>
          </a:p>
        </p:txBody>
      </p:sp>
      <p:pic>
        <p:nvPicPr>
          <p:cNvPr id="8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32160"/>
            <a:ext cx="11277600" cy="660400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982960"/>
            <a:ext cx="812800" cy="355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19.95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1257300" y="1097260"/>
            <a:ext cx="1997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万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344910"/>
            <a:ext cx="131742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API 条目数 199,514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2489200" y="982960"/>
            <a:ext cx="332780" cy="355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13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2809280" y="1097260"/>
            <a:ext cx="1997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类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2489200" y="1344910"/>
            <a:ext cx="14605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一级分类，覆盖通用与行业</a:t>
            </a:r>
            <a:endParaRPr/>
          </a:p>
        </p:txBody>
      </p:sp>
      <p:pic>
        <p:nvPicPr>
          <p:cNvPr id="15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047651"/>
            <a:ext cx="7594600" cy="423069"/>
          </a:xfrm>
          <a:prstGeom prst="rect">
            <a:avLst/>
          </a:prstGeom>
        </p:spPr>
      </p:pic>
      <p:sp>
        <p:nvSpPr>
          <p:cNvPr id="16" name="文字 16"/>
          <p:cNvSpPr txBox="1"/>
          <p:nvPr/>
        </p:nvSpPr>
        <p:spPr>
          <a:xfrm>
            <a:off x="4305300" y="1060351"/>
            <a:ext cx="254506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面向中国用户的 Skill 发现与分发平台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305300" y="1296491"/>
            <a:ext cx="3213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全球同步补齐长尾，本土原创与企业供给扩展任务覆盖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457200" y="1770360"/>
            <a:ext cx="22415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生态供给：同步、原创与企业</a:t>
            </a:r>
            <a:endParaRPr/>
          </a:p>
        </p:txBody>
      </p:sp>
      <p:pic>
        <p:nvPicPr>
          <p:cNvPr id="19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11660"/>
            <a:ext cx="3016250" cy="562471"/>
          </a:xfrm>
          <a:prstGeom prst="rect">
            <a:avLst/>
          </a:prstGeom>
        </p:spPr>
      </p:pic>
      <p:sp>
        <p:nvSpPr>
          <p:cNvPr id="20" name="文字 20"/>
          <p:cNvSpPr txBox="1"/>
          <p:nvPr/>
        </p:nvSpPr>
        <p:spPr>
          <a:xfrm>
            <a:off x="457200" y="2100560"/>
            <a:ext cx="1454844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全球同步：ClawHub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457200" y="2317651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中文描述与国内下载，补齐长尾覆盖</a:t>
            </a:r>
            <a:endParaRPr/>
          </a:p>
        </p:txBody>
      </p:sp>
      <p:pic>
        <p:nvPicPr>
          <p:cNvPr id="22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74131"/>
            <a:ext cx="3016250" cy="575171"/>
          </a:xfrm>
          <a:prstGeom prst="rect">
            <a:avLst/>
          </a:prstGeom>
        </p:spPr>
      </p:pic>
      <p:sp>
        <p:nvSpPr>
          <p:cNvPr id="23" name="文字 23"/>
          <p:cNvSpPr txBox="1"/>
          <p:nvPr/>
        </p:nvSpPr>
        <p:spPr>
          <a:xfrm>
            <a:off x="457200" y="2663031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个人与社区发布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457200" y="2892822"/>
            <a:ext cx="260885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本土工具、Prompt 与 SOP，网页 / CLI 接入</a:t>
            </a:r>
            <a:endParaRPr/>
          </a:p>
        </p:txBody>
      </p:sp>
      <p:pic>
        <p:nvPicPr>
          <p:cNvPr id="25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49303"/>
            <a:ext cx="3016250" cy="780851"/>
          </a:xfrm>
          <a:prstGeom prst="rect">
            <a:avLst/>
          </a:prstGeom>
        </p:spPr>
      </p:pic>
      <p:sp>
        <p:nvSpPr>
          <p:cNvPr id="26" name="文字 26"/>
          <p:cNvSpPr txBox="1"/>
          <p:nvPr/>
        </p:nvSpPr>
        <p:spPr>
          <a:xfrm>
            <a:off x="457200" y="3238202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企业与产品团队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457200" y="3467993"/>
            <a:ext cx="158154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官方产品：腾讯文档、ima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457200" y="3673674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垂直领域：钢联问数、电子印章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457200" y="4019054"/>
            <a:ext cx="218241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平台自供给：技能查找、TRACE 评测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457200" y="4476750"/>
            <a:ext cx="151358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下载榜 Top50 来源条目占比</a:t>
            </a:r>
            <a:endParaRPr/>
          </a:p>
        </p:txBody>
      </p:sp>
      <p:sp>
        <p:nvSpPr>
          <p:cNvPr id="31" name="形状 31"/>
          <p:cNvSpPr/>
          <p:nvPr/>
        </p:nvSpPr>
        <p:spPr>
          <a:xfrm>
            <a:off x="457200" y="4679950"/>
            <a:ext cx="1387475" cy="101600"/>
          </a:xfrm>
          <a:prstGeom prst="rect">
            <a:avLst/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32" name="形状 32"/>
          <p:cNvSpPr/>
          <p:nvPr/>
        </p:nvSpPr>
        <p:spPr>
          <a:xfrm>
            <a:off x="1844675" y="4679950"/>
            <a:ext cx="844550" cy="10160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33" name="形状 33"/>
          <p:cNvSpPr/>
          <p:nvPr/>
        </p:nvSpPr>
        <p:spPr>
          <a:xfrm>
            <a:off x="2689225" y="4679950"/>
            <a:ext cx="784225" cy="101600"/>
          </a:xfrm>
          <a:prstGeom prst="rect">
            <a:avLst/>
          </a:prstGeom>
          <a:solidFill>
            <a:srgbClr val="A5ACB4">
              <a:alpha val="100000"/>
            </a:srgbClr>
          </a:solidFill>
          <a:ln>
            <a:noFill/>
          </a:ln>
        </p:spPr>
      </p:sp>
      <p:sp>
        <p:nvSpPr>
          <p:cNvPr id="34" name="文字 34"/>
          <p:cNvSpPr txBox="1"/>
          <p:nvPr/>
        </p:nvSpPr>
        <p:spPr>
          <a:xfrm>
            <a:off x="457200" y="4845050"/>
            <a:ext cx="52615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社区 46%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1573411" y="4845050"/>
            <a:ext cx="796528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ClawHub 28%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2959993" y="4845050"/>
            <a:ext cx="52615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 26%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457200" y="5048250"/>
            <a:ext cx="152400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供给渠道样本，不代表全量结构</a:t>
            </a:r>
            <a:endParaRPr/>
          </a:p>
        </p:txBody>
      </p:sp>
      <p:pic>
        <p:nvPicPr>
          <p:cNvPr id="38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2200" y="1744960"/>
            <a:ext cx="3873500" cy="3442593"/>
          </a:xfrm>
          <a:prstGeom prst="rect">
            <a:avLst/>
          </a:prstGeom>
        </p:spPr>
      </p:pic>
      <p:sp>
        <p:nvSpPr>
          <p:cNvPr id="39" name="文字 39"/>
          <p:cNvSpPr txBox="1"/>
          <p:nvPr/>
        </p:nvSpPr>
        <p:spPr>
          <a:xfrm>
            <a:off x="3797300" y="17703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分发安装：从平台到宿主</a:t>
            </a:r>
            <a:endParaRPr/>
          </a:p>
        </p:txBody>
      </p:sp>
      <p:sp>
        <p:nvSpPr>
          <p:cNvPr id="40" name="形状 40"/>
          <p:cNvSpPr/>
          <p:nvPr/>
        </p:nvSpPr>
        <p:spPr>
          <a:xfrm>
            <a:off x="3797300" y="2119610"/>
            <a:ext cx="241300" cy="2413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41" name="文字 41"/>
          <p:cNvSpPr txBox="1"/>
          <p:nvPr/>
        </p:nvSpPr>
        <p:spPr>
          <a:xfrm>
            <a:off x="3837881" y="2154535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4140200" y="2132310"/>
            <a:ext cx="1546523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发布：目录或 ZIP 入库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4140200" y="2362101"/>
            <a:ext cx="242232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网页 / CLI / Agent 发布，版本审核后可见</a:t>
            </a:r>
            <a:endParaRPr/>
          </a:p>
        </p:txBody>
      </p:sp>
      <p:sp>
        <p:nvSpPr>
          <p:cNvPr id="44" name="形状 44"/>
          <p:cNvSpPr/>
          <p:nvPr/>
        </p:nvSpPr>
        <p:spPr>
          <a:xfrm>
            <a:off x="3797300" y="2807891"/>
            <a:ext cx="241300" cy="2413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45" name="文字 45"/>
          <p:cNvSpPr txBox="1"/>
          <p:nvPr/>
        </p:nvSpPr>
        <p:spPr>
          <a:xfrm>
            <a:off x="3837881" y="2842816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140200" y="2820591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分发：检索后获取版本包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4140200" y="3050381"/>
            <a:ext cx="224403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榜单、搜索与 API；指定版本 ZIP 下载</a:t>
            </a:r>
            <a:endParaRPr/>
          </a:p>
        </p:txBody>
      </p:sp>
      <p:sp>
        <p:nvSpPr>
          <p:cNvPr id="48" name="形状 48"/>
          <p:cNvSpPr/>
          <p:nvPr/>
        </p:nvSpPr>
        <p:spPr>
          <a:xfrm>
            <a:off x="3797300" y="3496171"/>
            <a:ext cx="241300" cy="2413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49" name="文字 49"/>
          <p:cNvSpPr txBox="1"/>
          <p:nvPr/>
        </p:nvSpPr>
        <p:spPr>
          <a:xfrm>
            <a:off x="3837881" y="3531096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4140200" y="3508871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安装：文件落到宿主目录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4140200" y="3738662"/>
            <a:ext cx="241607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CLI 默认 ./skills；DSH 默认 ~/.dsh/skills</a:t>
            </a:r>
            <a:endParaRPr/>
          </a:p>
        </p:txBody>
      </p:sp>
      <p:sp>
        <p:nvSpPr>
          <p:cNvPr id="52" name="形状 52"/>
          <p:cNvSpPr/>
          <p:nvPr/>
        </p:nvSpPr>
        <p:spPr>
          <a:xfrm>
            <a:off x="3797300" y="4184452"/>
            <a:ext cx="241300" cy="2413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53" name="文字 53"/>
          <p:cNvSpPr txBox="1"/>
          <p:nvPr/>
        </p:nvSpPr>
        <p:spPr>
          <a:xfrm>
            <a:off x="3837881" y="4219377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4140200" y="4197152"/>
            <a:ext cx="1536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使用：宿主加载并执行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4140200" y="4426942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依赖与账号需就绪；云端案例未实跑</a:t>
            </a:r>
            <a:endParaRPr/>
          </a:p>
        </p:txBody>
      </p:sp>
      <p:pic>
        <p:nvPicPr>
          <p:cNvPr id="56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7300" y="4708823"/>
            <a:ext cx="3708400" cy="478730"/>
          </a:xfrm>
          <a:prstGeom prst="rect">
            <a:avLst/>
          </a:prstGeom>
        </p:spPr>
      </p:pic>
      <p:sp>
        <p:nvSpPr>
          <p:cNvPr id="57" name="文字 57"/>
          <p:cNvSpPr txBox="1"/>
          <p:nvPr/>
        </p:nvSpPr>
        <p:spPr>
          <a:xfrm>
            <a:off x="3797300" y="4791373"/>
            <a:ext cx="276354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install &lt;slug&gt; --dir ./skills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3797300" y="5013623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不自动装依赖，安装目录须被宿主发现。</a:t>
            </a:r>
            <a:endParaRPr/>
          </a:p>
        </p:txBody>
      </p:sp>
      <p:pic>
        <p:nvPicPr>
          <p:cNvPr id="59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4450" y="1744960"/>
            <a:ext cx="4070350" cy="3442593"/>
          </a:xfrm>
          <a:prstGeom prst="rect">
            <a:avLst/>
          </a:prstGeom>
        </p:spPr>
      </p:pic>
      <p:sp>
        <p:nvSpPr>
          <p:cNvPr id="60" name="文字 60"/>
          <p:cNvSpPr txBox="1"/>
          <p:nvPr/>
        </p:nvSpPr>
        <p:spPr>
          <a:xfrm>
            <a:off x="7829550" y="1770360"/>
            <a:ext cx="2413001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消费画像：通用任务与专业服务</a:t>
            </a:r>
            <a:endParaRPr/>
          </a:p>
        </p:txBody>
      </p:sp>
      <p:pic>
        <p:nvPicPr>
          <p:cNvPr id="61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9550" y="2043410"/>
            <a:ext cx="3905251" cy="345380"/>
          </a:xfrm>
          <a:prstGeom prst="rect">
            <a:avLst/>
          </a:prstGeom>
        </p:spPr>
      </p:pic>
      <p:sp>
        <p:nvSpPr>
          <p:cNvPr id="62" name="文字 62"/>
          <p:cNvSpPr txBox="1"/>
          <p:nvPr/>
        </p:nvSpPr>
        <p:spPr>
          <a:xfrm>
            <a:off x="7829550" y="2132310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研发任务</a:t>
            </a:r>
            <a:endParaRPr/>
          </a:p>
        </p:txBody>
      </p:sp>
      <p:sp>
        <p:nvSpPr>
          <p:cNvPr id="63" name="文字 63"/>
          <p:cNvSpPr txBox="1"/>
          <p:nvPr/>
        </p:nvSpPr>
        <p:spPr>
          <a:xfrm>
            <a:off x="8528050" y="2132310"/>
            <a:ext cx="22796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编程、浏览器操作、技能发现与自改进</a:t>
            </a:r>
            <a:endParaRPr/>
          </a:p>
        </p:txBody>
      </p:sp>
      <p:pic>
        <p:nvPicPr>
          <p:cNvPr id="64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29550" y="2388791"/>
            <a:ext cx="3905251" cy="345381"/>
          </a:xfrm>
          <a:prstGeom prst="rect">
            <a:avLst/>
          </a:prstGeom>
        </p:spPr>
      </p:pic>
      <p:sp>
        <p:nvSpPr>
          <p:cNvPr id="65" name="文字 65"/>
          <p:cNvSpPr txBox="1"/>
          <p:nvPr/>
        </p:nvSpPr>
        <p:spPr>
          <a:xfrm>
            <a:off x="7829550" y="2477691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知识办公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8528050" y="2477691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摘要、文档协作、数据与内容处理</a:t>
            </a:r>
            <a:endParaRPr/>
          </a:p>
        </p:txBody>
      </p:sp>
      <p:pic>
        <p:nvPicPr>
          <p:cNvPr id="67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29550" y="2734171"/>
            <a:ext cx="3905251" cy="345380"/>
          </a:xfrm>
          <a:prstGeom prst="rect">
            <a:avLst/>
          </a:prstGeom>
        </p:spPr>
      </p:pic>
      <p:sp>
        <p:nvSpPr>
          <p:cNvPr id="68" name="文字 68"/>
          <p:cNvSpPr txBox="1"/>
          <p:nvPr/>
        </p:nvSpPr>
        <p:spPr>
          <a:xfrm>
            <a:off x="7829550" y="2823071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行业业务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8528050" y="2823071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专业数据查询、业务接口与服务对接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7829550" y="3225601"/>
            <a:ext cx="217467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Top50 样本内，下载记录的类别占比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7829550" y="3517702"/>
            <a:ext cx="495301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开发编程</a:t>
            </a:r>
            <a:endParaRPr/>
          </a:p>
        </p:txBody>
      </p:sp>
      <p:sp>
        <p:nvSpPr>
          <p:cNvPr id="72" name="形状 72"/>
          <p:cNvSpPr/>
          <p:nvPr/>
        </p:nvSpPr>
        <p:spPr>
          <a:xfrm>
            <a:off x="8489950" y="3533577"/>
            <a:ext cx="2749550" cy="101600"/>
          </a:xfrm>
          <a:prstGeom prst="roundRect">
            <a:avLst>
              <a:gd name="adj" fmla="val 1875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73" name="形状 73"/>
          <p:cNvSpPr/>
          <p:nvPr/>
        </p:nvSpPr>
        <p:spPr>
          <a:xfrm>
            <a:off x="8489950" y="3533577"/>
            <a:ext cx="1015108" cy="101600"/>
          </a:xfrm>
          <a:prstGeom prst="roundRect">
            <a:avLst>
              <a:gd name="adj" fmla="val 18750"/>
            </a:avLst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74" name="文字 74"/>
          <p:cNvSpPr txBox="1"/>
          <p:nvPr/>
        </p:nvSpPr>
        <p:spPr>
          <a:xfrm>
            <a:off x="11372850" y="3505002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36.9%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7829550" y="3765352"/>
            <a:ext cx="47347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AI Agent</a:t>
            </a:r>
            <a:endParaRPr/>
          </a:p>
        </p:txBody>
      </p:sp>
      <p:sp>
        <p:nvSpPr>
          <p:cNvPr id="76" name="形状 76"/>
          <p:cNvSpPr/>
          <p:nvPr/>
        </p:nvSpPr>
        <p:spPr>
          <a:xfrm>
            <a:off x="8489950" y="3781227"/>
            <a:ext cx="2749550" cy="101600"/>
          </a:xfrm>
          <a:prstGeom prst="roundRect">
            <a:avLst>
              <a:gd name="adj" fmla="val 1875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77" name="形状 77"/>
          <p:cNvSpPr/>
          <p:nvPr/>
        </p:nvSpPr>
        <p:spPr>
          <a:xfrm>
            <a:off x="8489950" y="3781227"/>
            <a:ext cx="363736" cy="101600"/>
          </a:xfrm>
          <a:prstGeom prst="roundRect">
            <a:avLst>
              <a:gd name="adj" fmla="val 18750"/>
            </a:avLst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78" name="文字 78"/>
          <p:cNvSpPr txBox="1"/>
          <p:nvPr/>
        </p:nvSpPr>
        <p:spPr>
          <a:xfrm>
            <a:off x="11372850" y="3752652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13.2%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7829550" y="4013002"/>
            <a:ext cx="495301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知识管理</a:t>
            </a:r>
            <a:endParaRPr/>
          </a:p>
        </p:txBody>
      </p:sp>
      <p:sp>
        <p:nvSpPr>
          <p:cNvPr id="80" name="形状 80"/>
          <p:cNvSpPr/>
          <p:nvPr/>
        </p:nvSpPr>
        <p:spPr>
          <a:xfrm>
            <a:off x="8489950" y="4028877"/>
            <a:ext cx="2749550" cy="101600"/>
          </a:xfrm>
          <a:prstGeom prst="roundRect">
            <a:avLst>
              <a:gd name="adj" fmla="val 1875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81" name="形状 81"/>
          <p:cNvSpPr/>
          <p:nvPr/>
        </p:nvSpPr>
        <p:spPr>
          <a:xfrm>
            <a:off x="8489950" y="4028877"/>
            <a:ext cx="279599" cy="101600"/>
          </a:xfrm>
          <a:prstGeom prst="roundRect">
            <a:avLst>
              <a:gd name="adj" fmla="val 18750"/>
            </a:avLst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82" name="文字 82"/>
          <p:cNvSpPr txBox="1"/>
          <p:nvPr/>
        </p:nvSpPr>
        <p:spPr>
          <a:xfrm>
            <a:off x="11372850" y="4000302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10.2%</a:t>
            </a:r>
            <a:endParaRPr/>
          </a:p>
        </p:txBody>
      </p:sp>
      <p:sp>
        <p:nvSpPr>
          <p:cNvPr id="83" name="文字 83"/>
          <p:cNvSpPr txBox="1"/>
          <p:nvPr/>
        </p:nvSpPr>
        <p:spPr>
          <a:xfrm>
            <a:off x="7829550" y="4260652"/>
            <a:ext cx="2540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其他</a:t>
            </a:r>
            <a:endParaRPr/>
          </a:p>
        </p:txBody>
      </p:sp>
      <p:sp>
        <p:nvSpPr>
          <p:cNvPr id="84" name="形状 84"/>
          <p:cNvSpPr/>
          <p:nvPr/>
        </p:nvSpPr>
        <p:spPr>
          <a:xfrm>
            <a:off x="8489950" y="4276527"/>
            <a:ext cx="2749550" cy="101600"/>
          </a:xfrm>
          <a:prstGeom prst="roundRect">
            <a:avLst>
              <a:gd name="adj" fmla="val 1875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85" name="形状 85"/>
          <p:cNvSpPr/>
          <p:nvPr/>
        </p:nvSpPr>
        <p:spPr>
          <a:xfrm>
            <a:off x="8489950" y="4276527"/>
            <a:ext cx="1091010" cy="101600"/>
          </a:xfrm>
          <a:prstGeom prst="roundRect">
            <a:avLst>
              <a:gd name="adj" fmla="val 18750"/>
            </a:avLst>
          </a:prstGeom>
          <a:solidFill>
            <a:srgbClr val="A5ACB4">
              <a:alpha val="100000"/>
            </a:srgbClr>
          </a:solidFill>
          <a:ln>
            <a:noFill/>
          </a:ln>
        </p:spPr>
      </p:sp>
      <p:sp>
        <p:nvSpPr>
          <p:cNvPr id="86" name="文字 86"/>
          <p:cNvSpPr txBox="1"/>
          <p:nvPr/>
        </p:nvSpPr>
        <p:spPr>
          <a:xfrm>
            <a:off x="11372850" y="4247952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39.7%</a:t>
            </a:r>
            <a:endParaRPr/>
          </a:p>
        </p:txBody>
      </p:sp>
      <p:sp>
        <p:nvSpPr>
          <p:cNvPr id="87" name="文字 87"/>
          <p:cNvSpPr txBox="1"/>
          <p:nvPr/>
        </p:nvSpPr>
        <p:spPr>
          <a:xfrm>
            <a:off x="7829550" y="4521002"/>
            <a:ext cx="2388494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编程类 5 条贡献 36.9%，AI Agent 有 11 条。</a:t>
            </a:r>
            <a:endParaRPr/>
          </a:p>
        </p:txBody>
      </p:sp>
      <p:sp>
        <p:nvSpPr>
          <p:cNvPr id="88" name="文字 88"/>
          <p:cNvSpPr txBox="1"/>
          <p:nvPr/>
        </p:nvSpPr>
        <p:spPr>
          <a:xfrm>
            <a:off x="7829550" y="4689872"/>
            <a:ext cx="1822451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下载不代表活跃用户或任务成功。</a:t>
            </a:r>
            <a:endParaRPr/>
          </a:p>
        </p:txBody>
      </p:sp>
      <p:sp>
        <p:nvSpPr>
          <p:cNvPr id="89" name="文字 89"/>
          <p:cNvSpPr txBox="1"/>
          <p:nvPr/>
        </p:nvSpPr>
        <p:spPr>
          <a:xfrm>
            <a:off x="7829550" y="5048250"/>
            <a:ext cx="20637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消费需求按技能能力推断，非真实用户分群</a:t>
            </a:r>
            <a:endParaRPr/>
          </a:p>
        </p:txBody>
      </p:sp>
      <p:pic>
        <p:nvPicPr>
          <p:cNvPr id="90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5333603"/>
            <a:ext cx="11277600" cy="1181497"/>
          </a:xfrm>
          <a:prstGeom prst="rect">
            <a:avLst/>
          </a:prstGeom>
        </p:spPr>
      </p:pic>
      <p:sp>
        <p:nvSpPr>
          <p:cNvPr id="91" name="文字 91"/>
          <p:cNvSpPr txBox="1"/>
          <p:nvPr/>
        </p:nvSpPr>
        <p:spPr>
          <a:xfrm>
            <a:off x="457200" y="5479653"/>
            <a:ext cx="1482229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TRACE 五维质量评测 </a:t>
            </a:r>
            <a:endParaRPr/>
          </a:p>
        </p:txBody>
      </p:sp>
      <p:sp>
        <p:nvSpPr>
          <p:cNvPr id="92" name="文字 92"/>
          <p:cNvSpPr txBox="1"/>
          <p:nvPr/>
        </p:nvSpPr>
        <p:spPr>
          <a:xfrm>
            <a:off x="1926729" y="5511403"/>
            <a:ext cx="13398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维度内均分后，五维等权</a:t>
            </a:r>
            <a:endParaRPr/>
          </a:p>
        </p:txBody>
      </p:sp>
      <p:pic>
        <p:nvPicPr>
          <p:cNvPr id="93" name="slide-001-image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5759053"/>
            <a:ext cx="1337568" cy="435571"/>
          </a:xfrm>
          <a:prstGeom prst="rect">
            <a:avLst/>
          </a:prstGeom>
        </p:spPr>
      </p:pic>
      <p:sp>
        <p:nvSpPr>
          <p:cNvPr id="94" name="文字 94"/>
          <p:cNvSpPr txBox="1"/>
          <p:nvPr/>
        </p:nvSpPr>
        <p:spPr>
          <a:xfrm>
            <a:off x="457200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</a:t>
            </a:r>
            <a:endParaRPr/>
          </a:p>
        </p:txBody>
      </p:sp>
      <p:sp>
        <p:nvSpPr>
          <p:cNvPr id="95" name="文字 95"/>
          <p:cNvSpPr txBox="1"/>
          <p:nvPr/>
        </p:nvSpPr>
        <p:spPr>
          <a:xfrm>
            <a:off x="548680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可信度</a:t>
            </a:r>
            <a:endParaRPr/>
          </a:p>
        </p:txBody>
      </p:sp>
      <p:sp>
        <p:nvSpPr>
          <p:cNvPr id="96" name="文字 96"/>
          <p:cNvSpPr txBox="1"/>
          <p:nvPr/>
        </p:nvSpPr>
        <p:spPr>
          <a:xfrm>
            <a:off x="457200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安全与本土可用</a:t>
            </a:r>
            <a:endParaRPr/>
          </a:p>
        </p:txBody>
      </p:sp>
      <p:pic>
        <p:nvPicPr>
          <p:cNvPr id="97" name="slide-001-image-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70968" y="5759053"/>
            <a:ext cx="1337568" cy="435571"/>
          </a:xfrm>
          <a:prstGeom prst="rect">
            <a:avLst/>
          </a:prstGeom>
        </p:spPr>
      </p:pic>
      <p:sp>
        <p:nvSpPr>
          <p:cNvPr id="98" name="文字 98"/>
          <p:cNvSpPr txBox="1"/>
          <p:nvPr/>
        </p:nvSpPr>
        <p:spPr>
          <a:xfrm>
            <a:off x="1870968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R</a:t>
            </a:r>
            <a:endParaRPr/>
          </a:p>
        </p:txBody>
      </p:sp>
      <p:sp>
        <p:nvSpPr>
          <p:cNvPr id="99" name="文字 99"/>
          <p:cNvSpPr txBox="1"/>
          <p:nvPr/>
        </p:nvSpPr>
        <p:spPr>
          <a:xfrm>
            <a:off x="1962448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可靠性</a:t>
            </a:r>
            <a:endParaRPr/>
          </a:p>
        </p:txBody>
      </p:sp>
      <p:sp>
        <p:nvSpPr>
          <p:cNvPr id="100" name="文字 100"/>
          <p:cNvSpPr txBox="1"/>
          <p:nvPr/>
        </p:nvSpPr>
        <p:spPr>
          <a:xfrm>
            <a:off x="1870968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功能与异常处理</a:t>
            </a:r>
            <a:endParaRPr/>
          </a:p>
        </p:txBody>
      </p:sp>
      <p:pic>
        <p:nvPicPr>
          <p:cNvPr id="101" name="slide-001-image-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4736" y="5759053"/>
            <a:ext cx="1337568" cy="435571"/>
          </a:xfrm>
          <a:prstGeom prst="rect">
            <a:avLst/>
          </a:prstGeom>
        </p:spPr>
      </p:pic>
      <p:sp>
        <p:nvSpPr>
          <p:cNvPr id="102" name="文字 102"/>
          <p:cNvSpPr txBox="1"/>
          <p:nvPr/>
        </p:nvSpPr>
        <p:spPr>
          <a:xfrm>
            <a:off x="3284736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</a:t>
            </a:r>
            <a:endParaRPr/>
          </a:p>
        </p:txBody>
      </p:sp>
      <p:sp>
        <p:nvSpPr>
          <p:cNvPr id="103" name="文字 103"/>
          <p:cNvSpPr txBox="1"/>
          <p:nvPr/>
        </p:nvSpPr>
        <p:spPr>
          <a:xfrm>
            <a:off x="3376216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适应性</a:t>
            </a:r>
            <a:endParaRPr/>
          </a:p>
        </p:txBody>
      </p:sp>
      <p:sp>
        <p:nvSpPr>
          <p:cNvPr id="104" name="文字 104"/>
          <p:cNvSpPr txBox="1"/>
          <p:nvPr/>
        </p:nvSpPr>
        <p:spPr>
          <a:xfrm>
            <a:off x="3284736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触发条件与边界</a:t>
            </a:r>
            <a:endParaRPr/>
          </a:p>
        </p:txBody>
      </p:sp>
      <p:pic>
        <p:nvPicPr>
          <p:cNvPr id="105" name="slide-001-image-1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98504" y="5759053"/>
            <a:ext cx="1337568" cy="435571"/>
          </a:xfrm>
          <a:prstGeom prst="rect">
            <a:avLst/>
          </a:prstGeom>
        </p:spPr>
      </p:pic>
      <p:sp>
        <p:nvSpPr>
          <p:cNvPr id="106" name="文字 106"/>
          <p:cNvSpPr txBox="1"/>
          <p:nvPr/>
        </p:nvSpPr>
        <p:spPr>
          <a:xfrm>
            <a:off x="4698504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</a:t>
            </a:r>
            <a:endParaRPr/>
          </a:p>
        </p:txBody>
      </p:sp>
      <p:sp>
        <p:nvSpPr>
          <p:cNvPr id="107" name="文字 107"/>
          <p:cNvSpPr txBox="1"/>
          <p:nvPr/>
        </p:nvSpPr>
        <p:spPr>
          <a:xfrm>
            <a:off x="4789984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规范性</a:t>
            </a:r>
            <a:endParaRPr/>
          </a:p>
        </p:txBody>
      </p:sp>
      <p:sp>
        <p:nvSpPr>
          <p:cNvPr id="108" name="文字 108"/>
          <p:cNvSpPr txBox="1"/>
          <p:nvPr/>
        </p:nvSpPr>
        <p:spPr>
          <a:xfrm>
            <a:off x="4698504" y="6038453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结构与文档</a:t>
            </a:r>
            <a:endParaRPr/>
          </a:p>
        </p:txBody>
      </p:sp>
      <p:pic>
        <p:nvPicPr>
          <p:cNvPr id="109" name="slide-001-image-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12272" y="5759053"/>
            <a:ext cx="1337667" cy="435571"/>
          </a:xfrm>
          <a:prstGeom prst="rect">
            <a:avLst/>
          </a:prstGeom>
        </p:spPr>
      </p:pic>
      <p:sp>
        <p:nvSpPr>
          <p:cNvPr id="110" name="文字 110"/>
          <p:cNvSpPr txBox="1"/>
          <p:nvPr/>
        </p:nvSpPr>
        <p:spPr>
          <a:xfrm>
            <a:off x="6112272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E</a:t>
            </a:r>
            <a:endParaRPr/>
          </a:p>
        </p:txBody>
      </p:sp>
      <p:sp>
        <p:nvSpPr>
          <p:cNvPr id="111" name="文字 111"/>
          <p:cNvSpPr txBox="1"/>
          <p:nvPr/>
        </p:nvSpPr>
        <p:spPr>
          <a:xfrm>
            <a:off x="6203752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有效性</a:t>
            </a:r>
            <a:endParaRPr/>
          </a:p>
        </p:txBody>
      </p:sp>
      <p:sp>
        <p:nvSpPr>
          <p:cNvPr id="112" name="文字 112"/>
          <p:cNvSpPr txBox="1"/>
          <p:nvPr/>
        </p:nvSpPr>
        <p:spPr>
          <a:xfrm>
            <a:off x="6112272" y="6038453"/>
            <a:ext cx="9779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准确、完整、可用</a:t>
            </a:r>
            <a:endParaRPr/>
          </a:p>
        </p:txBody>
      </p:sp>
      <p:sp>
        <p:nvSpPr>
          <p:cNvPr id="113" name="文字 113"/>
          <p:cNvSpPr txBox="1"/>
          <p:nvPr/>
        </p:nvSpPr>
        <p:spPr>
          <a:xfrm>
            <a:off x="457200" y="6296223"/>
            <a:ext cx="338832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热度 score、TRACE 质量分与双路安全报告分别表达不同信号。</a:t>
            </a:r>
            <a:endParaRPr/>
          </a:p>
        </p:txBody>
      </p:sp>
      <p:pic>
        <p:nvPicPr>
          <p:cNvPr id="114" name="slide-001-image-1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1389" y="5454253"/>
            <a:ext cx="4113411" cy="1060846"/>
          </a:xfrm>
          <a:prstGeom prst="rect">
            <a:avLst/>
          </a:prstGeom>
        </p:spPr>
      </p:pic>
      <p:sp>
        <p:nvSpPr>
          <p:cNvPr id="115" name="文字 115"/>
          <p:cNvSpPr txBox="1"/>
          <p:nvPr/>
        </p:nvSpPr>
        <p:spPr>
          <a:xfrm>
            <a:off x="7773790" y="5479653"/>
            <a:ext cx="927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平台建设启示</a:t>
            </a:r>
            <a:endParaRPr/>
          </a:p>
        </p:txBody>
      </p:sp>
      <p:sp>
        <p:nvSpPr>
          <p:cNvPr id="116" name="文字 116"/>
          <p:cNvSpPr txBox="1"/>
          <p:nvPr/>
        </p:nvSpPr>
        <p:spPr>
          <a:xfrm>
            <a:off x="7773790" y="5746353"/>
            <a:ext cx="220483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以 Skill 为管理单元，贯通来源版本、</a:t>
            </a:r>
            <a:endParaRPr/>
          </a:p>
        </p:txBody>
      </p:sp>
      <p:sp>
        <p:nvSpPr>
          <p:cNvPr id="117" name="文字 117"/>
          <p:cNvSpPr txBox="1"/>
          <p:nvPr/>
        </p:nvSpPr>
        <p:spPr>
          <a:xfrm>
            <a:off x="7773790" y="5939631"/>
            <a:ext cx="227964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安装条件、质量证据和实际任务结果。</a:t>
            </a:r>
            <a:endParaRPr/>
          </a:p>
        </p:txBody>
      </p:sp>
      <p:sp>
        <p:nvSpPr>
          <p:cNvPr id="118" name="文字 118"/>
          <p:cNvSpPr txBox="1"/>
          <p:nvPr/>
        </p:nvSpPr>
        <p:spPr>
          <a:xfrm>
            <a:off x="7773790" y="6190060"/>
            <a:ext cx="20637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待核查：统计口径与评测版本一致性；</a:t>
            </a:r>
            <a:endParaRPr/>
          </a:p>
        </p:txBody>
      </p:sp>
      <p:sp>
        <p:nvSpPr>
          <p:cNvPr id="119" name="文字 119"/>
          <p:cNvSpPr txBox="1"/>
          <p:nvPr/>
        </p:nvSpPr>
        <p:spPr>
          <a:xfrm>
            <a:off x="7773790" y="6358930"/>
            <a:ext cx="2045989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开源 evaluator 不等于全量动态实测。</a:t>
            </a:r>
            <a:endParaRPr/>
          </a:p>
        </p:txBody>
      </p:sp>
      <p:sp>
        <p:nvSpPr>
          <p:cNvPr id="120" name="文字 120"/>
          <p:cNvSpPr txBox="1"/>
          <p:nvPr/>
        </p:nvSpPr>
        <p:spPr>
          <a:xfrm>
            <a:off x="457200" y="6597650"/>
            <a:ext cx="3730724" cy="1206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8B8E9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来源：腾讯官方仓库、官网及公开 API，本次只读核查；详细口径与链接见 PPT 备注和伴生调研文档。</a:t>
            </a:r>
            <a:endParaRPr/>
          </a:p>
        </p:txBody>
      </p:sp>
      <p:pic>
        <p:nvPicPr>
          <p:cNvPr id="121" name="slide-001-image-1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