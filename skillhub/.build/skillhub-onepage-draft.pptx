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autoCompressPictures="0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!-- 空白母版、版式与主题取自 python-pptx 1.0.2 的默认有效文稿；母版只保留空白版式。 --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!-- 空白母版、版式与主题取自 python-pptx 1.0.2 的默认有效文稿；母版只保留空白版式。 -->
<p:sldMaster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killHub洞察">
    <p:spTree>
      <p:nvGrpSpPr>
        <p:cNvPr id="1" name=""/>
        <p:cNvGrpSpPr/>
        <p:nvPr/>
      </p:nvGrpSpPr>
      <p:grpSpPr/>
      <p:sp>
        <p:nvSpPr>
          <p:cNvPr id="2" name="形状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3" name="形状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4" name="形状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5" name="文字 5"/>
          <p:cNvSpPr txBox="1"/>
          <p:nvPr/>
        </p:nvSpPr>
        <p:spPr>
          <a:xfrm>
            <a:off x="457200" y="298450"/>
            <a:ext cx="1383407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9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腾讯 SkillHub 平台洞察</a:t>
            </a:r>
            <a:endParaRPr/>
          </a:p>
        </p:txBody>
      </p:sp>
      <p:sp>
        <p:nvSpPr>
          <p:cNvPr id="6" name="文字 6"/>
          <p:cNvSpPr txBox="1"/>
          <p:nvPr/>
        </p:nvSpPr>
        <p:spPr>
          <a:xfrm>
            <a:off x="11049000" y="279400"/>
            <a:ext cx="698501" cy="1460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6C7078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2026.10.19</a:t>
            </a:r>
            <a:endParaRPr/>
          </a:p>
        </p:txBody>
      </p:sp>
      <p:sp>
        <p:nvSpPr>
          <p:cNvPr id="7" name="文字 7"/>
          <p:cNvSpPr txBox="1"/>
          <p:nvPr/>
        </p:nvSpPr>
        <p:spPr>
          <a:xfrm>
            <a:off x="457200" y="501650"/>
            <a:ext cx="5833765" cy="406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spc="-44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SkillHub 将技能分发扩展到场景组合与云端验证</a:t>
            </a:r>
            <a:endParaRPr/>
          </a:p>
        </p:txBody>
      </p:sp>
      <p:pic>
        <p:nvPicPr>
          <p:cNvPr id="8" name="slide-001-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32160"/>
            <a:ext cx="11277600" cy="660400"/>
          </a:xfrm>
          <a:prstGeom prst="rect">
            <a:avLst/>
          </a:prstGeom>
        </p:spPr>
      </p:pic>
      <p:sp>
        <p:nvSpPr>
          <p:cNvPr id="9" name="文字 9"/>
          <p:cNvSpPr txBox="1"/>
          <p:nvPr/>
        </p:nvSpPr>
        <p:spPr>
          <a:xfrm>
            <a:off x="457200" y="982960"/>
            <a:ext cx="812800" cy="355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19.95</a:t>
            </a:r>
            <a:endParaRPr/>
          </a:p>
        </p:txBody>
      </p:sp>
      <p:sp>
        <p:nvSpPr>
          <p:cNvPr id="10" name="文字 10"/>
          <p:cNvSpPr txBox="1"/>
          <p:nvPr/>
        </p:nvSpPr>
        <p:spPr>
          <a:xfrm>
            <a:off x="1257300" y="1097260"/>
            <a:ext cx="199727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 万</a:t>
            </a:r>
            <a:endParaRPr/>
          </a:p>
        </p:txBody>
      </p:sp>
      <p:sp>
        <p:nvSpPr>
          <p:cNvPr id="11" name="文字 11"/>
          <p:cNvSpPr txBox="1"/>
          <p:nvPr/>
        </p:nvSpPr>
        <p:spPr>
          <a:xfrm>
            <a:off x="457200" y="1344910"/>
            <a:ext cx="1317427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公开 API 条目数 199,511</a:t>
            </a:r>
            <a:endParaRPr/>
          </a:p>
        </p:txBody>
      </p:sp>
      <p:sp>
        <p:nvSpPr>
          <p:cNvPr id="12" name="文字 12"/>
          <p:cNvSpPr txBox="1"/>
          <p:nvPr/>
        </p:nvSpPr>
        <p:spPr>
          <a:xfrm>
            <a:off x="2489200" y="982960"/>
            <a:ext cx="332780" cy="355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13</a:t>
            </a:r>
            <a:endParaRPr/>
          </a:p>
        </p:txBody>
      </p:sp>
      <p:sp>
        <p:nvSpPr>
          <p:cNvPr id="13" name="文字 13"/>
          <p:cNvSpPr txBox="1"/>
          <p:nvPr/>
        </p:nvSpPr>
        <p:spPr>
          <a:xfrm>
            <a:off x="2809280" y="1097260"/>
            <a:ext cx="199727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 类</a:t>
            </a:r>
            <a:endParaRPr/>
          </a:p>
        </p:txBody>
      </p:sp>
      <p:sp>
        <p:nvSpPr>
          <p:cNvPr id="14" name="文字 14"/>
          <p:cNvSpPr txBox="1"/>
          <p:nvPr/>
        </p:nvSpPr>
        <p:spPr>
          <a:xfrm>
            <a:off x="2489200" y="1344910"/>
            <a:ext cx="146050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一级分类，覆盖通用与行业</a:t>
            </a:r>
            <a:endParaRPr/>
          </a:p>
        </p:txBody>
      </p:sp>
      <p:pic>
        <p:nvPicPr>
          <p:cNvPr id="15" name="slide-001-imag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200" y="1047651"/>
            <a:ext cx="7594600" cy="423069"/>
          </a:xfrm>
          <a:prstGeom prst="rect">
            <a:avLst/>
          </a:prstGeom>
        </p:spPr>
      </p:pic>
      <p:sp>
        <p:nvSpPr>
          <p:cNvPr id="16" name="文字 16"/>
          <p:cNvSpPr txBox="1"/>
          <p:nvPr/>
        </p:nvSpPr>
        <p:spPr>
          <a:xfrm>
            <a:off x="4305300" y="1060351"/>
            <a:ext cx="2498328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面向中国用户的 Agent 能力供给网络</a:t>
            </a:r>
            <a:endParaRPr/>
          </a:p>
        </p:txBody>
      </p:sp>
      <p:sp>
        <p:nvSpPr>
          <p:cNvPr id="17" name="文字 17"/>
          <p:cNvSpPr txBox="1"/>
          <p:nvPr/>
        </p:nvSpPr>
        <p:spPr>
          <a:xfrm>
            <a:off x="4305300" y="1296491"/>
            <a:ext cx="32131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全球同步扩大覆盖，本土共建与企业服务补充专业能力</a:t>
            </a:r>
            <a:endParaRPr/>
          </a:p>
        </p:txBody>
      </p:sp>
      <p:sp>
        <p:nvSpPr>
          <p:cNvPr id="18" name="文字 18"/>
          <p:cNvSpPr txBox="1"/>
          <p:nvPr/>
        </p:nvSpPr>
        <p:spPr>
          <a:xfrm>
            <a:off x="457200" y="1770360"/>
            <a:ext cx="1898650" cy="247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资产结构：四层分析视图</a:t>
            </a:r>
            <a:endParaRPr/>
          </a:p>
        </p:txBody>
      </p:sp>
      <p:sp>
        <p:nvSpPr>
          <p:cNvPr id="19" name="文字 19"/>
          <p:cNvSpPr txBox="1"/>
          <p:nvPr/>
        </p:nvSpPr>
        <p:spPr>
          <a:xfrm>
            <a:off x="457200" y="2043410"/>
            <a:ext cx="182245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职责可组合，非官方强制依赖层级</a:t>
            </a:r>
            <a:endParaRPr/>
          </a:p>
        </p:txBody>
      </p:sp>
      <p:sp>
        <p:nvSpPr>
          <p:cNvPr id="20" name="形状 20"/>
          <p:cNvSpPr/>
          <p:nvPr/>
        </p:nvSpPr>
        <p:spPr>
          <a:xfrm>
            <a:off x="457200" y="2297410"/>
            <a:ext cx="2794000" cy="598091"/>
          </a:xfrm>
          <a:prstGeom prst="roundRect">
            <a:avLst>
              <a:gd name="adj" fmla="val 8494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9DE">
                <a:alpha val="100000"/>
              </a:srgbClr>
            </a:solidFill>
            <a:prstDash val="solid"/>
          </a:ln>
        </p:spPr>
      </p:sp>
      <p:sp>
        <p:nvSpPr>
          <p:cNvPr id="21" name="形状 21"/>
          <p:cNvSpPr/>
          <p:nvPr/>
        </p:nvSpPr>
        <p:spPr>
          <a:xfrm>
            <a:off x="463550" y="2303760"/>
            <a:ext cx="482600" cy="585391"/>
          </a:xfrm>
          <a:prstGeom prst="rect">
            <a:avLst/>
          </a:prstGeom>
          <a:solidFill>
            <a:srgbClr val="566472">
              <a:alpha val="100000"/>
            </a:srgbClr>
          </a:solidFill>
          <a:ln>
            <a:noFill/>
          </a:ln>
        </p:spPr>
      </p:sp>
      <p:sp>
        <p:nvSpPr>
          <p:cNvPr id="22" name="文字 22"/>
          <p:cNvSpPr txBox="1"/>
          <p:nvPr/>
        </p:nvSpPr>
        <p:spPr>
          <a:xfrm>
            <a:off x="632420" y="2425006"/>
            <a:ext cx="157559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L4</a:t>
            </a:r>
            <a:endParaRPr/>
          </a:p>
        </p:txBody>
      </p:sp>
      <p:sp>
        <p:nvSpPr>
          <p:cNvPr id="23" name="文字 23"/>
          <p:cNvSpPr txBox="1"/>
          <p:nvPr/>
        </p:nvSpPr>
        <p:spPr>
          <a:xfrm>
            <a:off x="571500" y="2594471"/>
            <a:ext cx="2794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角色</a:t>
            </a:r>
            <a:endParaRPr/>
          </a:p>
        </p:txBody>
      </p:sp>
      <p:sp>
        <p:nvSpPr>
          <p:cNvPr id="24" name="文字 24"/>
          <p:cNvSpPr txBox="1"/>
          <p:nvPr/>
        </p:nvSpPr>
        <p:spPr>
          <a:xfrm>
            <a:off x="1041400" y="2400895"/>
            <a:ext cx="427236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SOUL</a:t>
            </a:r>
            <a:endParaRPr/>
          </a:p>
        </p:txBody>
      </p:sp>
      <p:sp>
        <p:nvSpPr>
          <p:cNvPr id="25" name="文字 25"/>
          <p:cNvSpPr txBox="1"/>
          <p:nvPr/>
        </p:nvSpPr>
        <p:spPr>
          <a:xfrm>
            <a:off x="1041400" y="2630686"/>
            <a:ext cx="13462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人格、表达与协作方式</a:t>
            </a:r>
            <a:endParaRPr/>
          </a:p>
        </p:txBody>
      </p:sp>
      <p:sp>
        <p:nvSpPr>
          <p:cNvPr id="26" name="形状 26"/>
          <p:cNvSpPr/>
          <p:nvPr/>
        </p:nvSpPr>
        <p:spPr>
          <a:xfrm>
            <a:off x="457200" y="2971701"/>
            <a:ext cx="2794000" cy="598091"/>
          </a:xfrm>
          <a:prstGeom prst="roundRect">
            <a:avLst>
              <a:gd name="adj" fmla="val 8494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9DE">
                <a:alpha val="100000"/>
              </a:srgbClr>
            </a:solidFill>
            <a:prstDash val="solid"/>
          </a:ln>
        </p:spPr>
      </p:sp>
      <p:sp>
        <p:nvSpPr>
          <p:cNvPr id="27" name="形状 27"/>
          <p:cNvSpPr/>
          <p:nvPr/>
        </p:nvSpPr>
        <p:spPr>
          <a:xfrm>
            <a:off x="463550" y="2978051"/>
            <a:ext cx="482600" cy="585391"/>
          </a:xfrm>
          <a:prstGeom prst="rect">
            <a:avLst/>
          </a:prstGeom>
          <a:solidFill>
            <a:srgbClr val="566472">
              <a:alpha val="100000"/>
            </a:srgbClr>
          </a:solidFill>
          <a:ln>
            <a:noFill/>
          </a:ln>
        </p:spPr>
      </p:sp>
      <p:sp>
        <p:nvSpPr>
          <p:cNvPr id="28" name="文字 28"/>
          <p:cNvSpPr txBox="1"/>
          <p:nvPr/>
        </p:nvSpPr>
        <p:spPr>
          <a:xfrm>
            <a:off x="632420" y="3099296"/>
            <a:ext cx="157559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L3</a:t>
            </a:r>
            <a:endParaRPr/>
          </a:p>
        </p:txBody>
      </p:sp>
      <p:sp>
        <p:nvSpPr>
          <p:cNvPr id="29" name="文字 29"/>
          <p:cNvSpPr txBox="1"/>
          <p:nvPr/>
        </p:nvSpPr>
        <p:spPr>
          <a:xfrm>
            <a:off x="571500" y="3268762"/>
            <a:ext cx="2794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组合</a:t>
            </a:r>
            <a:endParaRPr/>
          </a:p>
        </p:txBody>
      </p:sp>
      <p:sp>
        <p:nvSpPr>
          <p:cNvPr id="30" name="文字 30"/>
          <p:cNvSpPr txBox="1"/>
          <p:nvPr/>
        </p:nvSpPr>
        <p:spPr>
          <a:xfrm>
            <a:off x="1041400" y="3075186"/>
            <a:ext cx="4699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专家包</a:t>
            </a:r>
            <a:endParaRPr/>
          </a:p>
        </p:txBody>
      </p:sp>
      <p:sp>
        <p:nvSpPr>
          <p:cNvPr id="31" name="文字 31"/>
          <p:cNvSpPr txBox="1"/>
          <p:nvPr/>
        </p:nvSpPr>
        <p:spPr>
          <a:xfrm>
            <a:off x="1041400" y="3304977"/>
            <a:ext cx="1303933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按场景组织多个 Skills</a:t>
            </a:r>
            <a:endParaRPr/>
          </a:p>
        </p:txBody>
      </p:sp>
      <p:sp>
        <p:nvSpPr>
          <p:cNvPr id="32" name="形状 32"/>
          <p:cNvSpPr/>
          <p:nvPr/>
        </p:nvSpPr>
        <p:spPr>
          <a:xfrm>
            <a:off x="457200" y="3645992"/>
            <a:ext cx="2794000" cy="598091"/>
          </a:xfrm>
          <a:prstGeom prst="roundRect">
            <a:avLst>
              <a:gd name="adj" fmla="val 8494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9DE">
                <a:alpha val="100000"/>
              </a:srgbClr>
            </a:solidFill>
            <a:prstDash val="solid"/>
          </a:ln>
        </p:spPr>
      </p:sp>
      <p:sp>
        <p:nvSpPr>
          <p:cNvPr id="33" name="形状 33"/>
          <p:cNvSpPr/>
          <p:nvPr/>
        </p:nvSpPr>
        <p:spPr>
          <a:xfrm>
            <a:off x="463550" y="3652342"/>
            <a:ext cx="482600" cy="585391"/>
          </a:xfrm>
          <a:prstGeom prst="rect">
            <a:avLst/>
          </a:prstGeom>
          <a:solidFill>
            <a:srgbClr val="566472">
              <a:alpha val="100000"/>
            </a:srgbClr>
          </a:solidFill>
          <a:ln>
            <a:noFill/>
          </a:ln>
        </p:spPr>
      </p:sp>
      <p:sp>
        <p:nvSpPr>
          <p:cNvPr id="34" name="文字 34"/>
          <p:cNvSpPr txBox="1"/>
          <p:nvPr/>
        </p:nvSpPr>
        <p:spPr>
          <a:xfrm>
            <a:off x="632420" y="3773587"/>
            <a:ext cx="157559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L2</a:t>
            </a:r>
            <a:endParaRPr/>
          </a:p>
        </p:txBody>
      </p:sp>
      <p:sp>
        <p:nvSpPr>
          <p:cNvPr id="35" name="文字 35"/>
          <p:cNvSpPr txBox="1"/>
          <p:nvPr/>
        </p:nvSpPr>
        <p:spPr>
          <a:xfrm>
            <a:off x="571500" y="3943052"/>
            <a:ext cx="2794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方法</a:t>
            </a:r>
            <a:endParaRPr/>
          </a:p>
        </p:txBody>
      </p:sp>
      <p:sp>
        <p:nvSpPr>
          <p:cNvPr id="36" name="文字 36"/>
          <p:cNvSpPr txBox="1"/>
          <p:nvPr/>
        </p:nvSpPr>
        <p:spPr>
          <a:xfrm>
            <a:off x="1041400" y="3749477"/>
            <a:ext cx="342205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Skill</a:t>
            </a:r>
            <a:endParaRPr/>
          </a:p>
        </p:txBody>
      </p:sp>
      <p:sp>
        <p:nvSpPr>
          <p:cNvPr id="37" name="文字 37"/>
          <p:cNvSpPr txBox="1"/>
          <p:nvPr/>
        </p:nvSpPr>
        <p:spPr>
          <a:xfrm>
            <a:off x="1041400" y="3979267"/>
            <a:ext cx="14795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指令、脚本、参考与模板</a:t>
            </a:r>
            <a:endParaRPr/>
          </a:p>
        </p:txBody>
      </p:sp>
      <p:sp>
        <p:nvSpPr>
          <p:cNvPr id="38" name="形状 38"/>
          <p:cNvSpPr/>
          <p:nvPr/>
        </p:nvSpPr>
        <p:spPr>
          <a:xfrm>
            <a:off x="457200" y="4320282"/>
            <a:ext cx="2794000" cy="598091"/>
          </a:xfrm>
          <a:prstGeom prst="roundRect">
            <a:avLst>
              <a:gd name="adj" fmla="val 8494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9DE">
                <a:alpha val="100000"/>
              </a:srgbClr>
            </a:solidFill>
            <a:prstDash val="solid"/>
          </a:ln>
        </p:spPr>
      </p:sp>
      <p:sp>
        <p:nvSpPr>
          <p:cNvPr id="39" name="形状 39"/>
          <p:cNvSpPr/>
          <p:nvPr/>
        </p:nvSpPr>
        <p:spPr>
          <a:xfrm>
            <a:off x="463550" y="4326632"/>
            <a:ext cx="482600" cy="585391"/>
          </a:xfrm>
          <a:prstGeom prst="rect">
            <a:avLst/>
          </a:prstGeom>
          <a:solidFill>
            <a:srgbClr val="566472">
              <a:alpha val="100000"/>
            </a:srgbClr>
          </a:solidFill>
          <a:ln>
            <a:noFill/>
          </a:ln>
        </p:spPr>
      </p:sp>
      <p:sp>
        <p:nvSpPr>
          <p:cNvPr id="40" name="文字 40"/>
          <p:cNvSpPr txBox="1"/>
          <p:nvPr/>
        </p:nvSpPr>
        <p:spPr>
          <a:xfrm>
            <a:off x="632420" y="4447877"/>
            <a:ext cx="157559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L1</a:t>
            </a:r>
            <a:endParaRPr/>
          </a:p>
        </p:txBody>
      </p:sp>
      <p:sp>
        <p:nvSpPr>
          <p:cNvPr id="41" name="文字 41"/>
          <p:cNvSpPr txBox="1"/>
          <p:nvPr/>
        </p:nvSpPr>
        <p:spPr>
          <a:xfrm>
            <a:off x="571500" y="4617343"/>
            <a:ext cx="2794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工具</a:t>
            </a:r>
            <a:endParaRPr/>
          </a:p>
        </p:txBody>
      </p:sp>
      <p:sp>
        <p:nvSpPr>
          <p:cNvPr id="42" name="文字 42"/>
          <p:cNvSpPr txBox="1"/>
          <p:nvPr/>
        </p:nvSpPr>
        <p:spPr>
          <a:xfrm>
            <a:off x="1041400" y="4423767"/>
            <a:ext cx="344587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MCP</a:t>
            </a:r>
            <a:endParaRPr/>
          </a:p>
        </p:txBody>
      </p:sp>
      <p:sp>
        <p:nvSpPr>
          <p:cNvPr id="43" name="文字 43"/>
          <p:cNvSpPr txBox="1"/>
          <p:nvPr/>
        </p:nvSpPr>
        <p:spPr>
          <a:xfrm>
            <a:off x="1041400" y="4653558"/>
            <a:ext cx="14795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连接外部数据与受控动作</a:t>
            </a:r>
            <a:endParaRPr/>
          </a:p>
        </p:txBody>
      </p:sp>
      <p:sp>
        <p:nvSpPr>
          <p:cNvPr id="44" name="文字 44"/>
          <p:cNvSpPr txBox="1"/>
          <p:nvPr/>
        </p:nvSpPr>
        <p:spPr>
          <a:xfrm>
            <a:off x="457200" y="5013623"/>
            <a:ext cx="2705894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Plugin 可跨层交付，运行仍依赖宿主与授权。</a:t>
            </a:r>
            <a:endParaRPr/>
          </a:p>
        </p:txBody>
      </p:sp>
      <p:pic>
        <p:nvPicPr>
          <p:cNvPr id="45" name="slide-001-image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9950" y="1744960"/>
            <a:ext cx="3492500" cy="3442593"/>
          </a:xfrm>
          <a:prstGeom prst="rect">
            <a:avLst/>
          </a:prstGeom>
        </p:spPr>
      </p:pic>
      <p:sp>
        <p:nvSpPr>
          <p:cNvPr id="46" name="文字 46"/>
          <p:cNvSpPr txBox="1"/>
          <p:nvPr/>
        </p:nvSpPr>
        <p:spPr>
          <a:xfrm>
            <a:off x="3575050" y="1770360"/>
            <a:ext cx="1898650" cy="247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资产消费：从获取到验证</a:t>
            </a:r>
            <a:endParaRPr/>
          </a:p>
        </p:txBody>
      </p:sp>
      <p:sp>
        <p:nvSpPr>
          <p:cNvPr id="47" name="形状 47"/>
          <p:cNvSpPr/>
          <p:nvPr/>
        </p:nvSpPr>
        <p:spPr>
          <a:xfrm>
            <a:off x="3575050" y="2119610"/>
            <a:ext cx="254000" cy="254000"/>
          </a:xfrm>
          <a:prstGeom prst="ellipse">
            <a:avLst/>
          </a:prstGeom>
          <a:noFill/>
          <a:ln w="6350">
            <a:solidFill>
              <a:srgbClr val="C9CDD2">
                <a:alpha val="100000"/>
              </a:srgbClr>
            </a:solidFill>
            <a:prstDash val="solid"/>
          </a:ln>
        </p:spPr>
      </p:sp>
      <p:sp>
        <p:nvSpPr>
          <p:cNvPr id="48" name="文字 48"/>
          <p:cNvSpPr txBox="1"/>
          <p:nvPr/>
        </p:nvSpPr>
        <p:spPr>
          <a:xfrm>
            <a:off x="3621981" y="2160885"/>
            <a:ext cx="17274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01</a:t>
            </a:r>
            <a:endParaRPr/>
          </a:p>
        </p:txBody>
      </p:sp>
      <p:sp>
        <p:nvSpPr>
          <p:cNvPr id="49" name="文字 49"/>
          <p:cNvSpPr txBox="1"/>
          <p:nvPr/>
        </p:nvSpPr>
        <p:spPr>
          <a:xfrm>
            <a:off x="3937000" y="2132310"/>
            <a:ext cx="18415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来源：全球同步与本土共建</a:t>
            </a:r>
            <a:endParaRPr/>
          </a:p>
        </p:txBody>
      </p:sp>
      <p:sp>
        <p:nvSpPr>
          <p:cNvPr id="50" name="文字 50"/>
          <p:cNvSpPr txBox="1"/>
          <p:nvPr/>
        </p:nvSpPr>
        <p:spPr>
          <a:xfrm>
            <a:off x="3937000" y="2362101"/>
            <a:ext cx="1941612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ClawHub 同步，个人与企业发布</a:t>
            </a:r>
            <a:endParaRPr/>
          </a:p>
        </p:txBody>
      </p:sp>
      <p:sp>
        <p:nvSpPr>
          <p:cNvPr id="51" name="形状 51"/>
          <p:cNvSpPr/>
          <p:nvPr/>
        </p:nvSpPr>
        <p:spPr>
          <a:xfrm>
            <a:off x="3575050" y="2843014"/>
            <a:ext cx="254000" cy="254000"/>
          </a:xfrm>
          <a:prstGeom prst="ellipse">
            <a:avLst/>
          </a:prstGeom>
          <a:noFill/>
          <a:ln w="6350">
            <a:solidFill>
              <a:srgbClr val="C9CDD2">
                <a:alpha val="100000"/>
              </a:srgbClr>
            </a:solidFill>
            <a:prstDash val="solid"/>
          </a:ln>
        </p:spPr>
      </p:sp>
      <p:sp>
        <p:nvSpPr>
          <p:cNvPr id="52" name="文字 52"/>
          <p:cNvSpPr txBox="1"/>
          <p:nvPr/>
        </p:nvSpPr>
        <p:spPr>
          <a:xfrm>
            <a:off x="3621981" y="2884289"/>
            <a:ext cx="17274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02</a:t>
            </a:r>
            <a:endParaRPr/>
          </a:p>
        </p:txBody>
      </p:sp>
      <p:sp>
        <p:nvSpPr>
          <p:cNvPr id="53" name="文字 53"/>
          <p:cNvSpPr txBox="1"/>
          <p:nvPr/>
        </p:nvSpPr>
        <p:spPr>
          <a:xfrm>
            <a:off x="3937000" y="2855714"/>
            <a:ext cx="18415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发布：导入、版本与可见性</a:t>
            </a:r>
            <a:endParaRPr/>
          </a:p>
        </p:txBody>
      </p:sp>
      <p:sp>
        <p:nvSpPr>
          <p:cNvPr id="54" name="文字 54"/>
          <p:cNvSpPr txBox="1"/>
          <p:nvPr/>
        </p:nvSpPr>
        <p:spPr>
          <a:xfrm>
            <a:off x="3937000" y="3085505"/>
            <a:ext cx="2072382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文件 / GitHub / CLI，组织内技能库</a:t>
            </a:r>
            <a:endParaRPr/>
          </a:p>
        </p:txBody>
      </p:sp>
      <p:sp>
        <p:nvSpPr>
          <p:cNvPr id="55" name="形状 55"/>
          <p:cNvSpPr/>
          <p:nvPr/>
        </p:nvSpPr>
        <p:spPr>
          <a:xfrm>
            <a:off x="3575050" y="3566517"/>
            <a:ext cx="254000" cy="254000"/>
          </a:xfrm>
          <a:prstGeom prst="ellipse">
            <a:avLst/>
          </a:prstGeom>
          <a:noFill/>
          <a:ln w="6350">
            <a:solidFill>
              <a:srgbClr val="C9CDD2">
                <a:alpha val="100000"/>
              </a:srgbClr>
            </a:solidFill>
            <a:prstDash val="solid"/>
          </a:ln>
        </p:spPr>
      </p:sp>
      <p:sp>
        <p:nvSpPr>
          <p:cNvPr id="56" name="文字 56"/>
          <p:cNvSpPr txBox="1"/>
          <p:nvPr/>
        </p:nvSpPr>
        <p:spPr>
          <a:xfrm>
            <a:off x="3621981" y="3607792"/>
            <a:ext cx="17274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03</a:t>
            </a:r>
            <a:endParaRPr/>
          </a:p>
        </p:txBody>
      </p:sp>
      <p:sp>
        <p:nvSpPr>
          <p:cNvPr id="57" name="文字 57"/>
          <p:cNvSpPr txBox="1"/>
          <p:nvPr/>
        </p:nvSpPr>
        <p:spPr>
          <a:xfrm>
            <a:off x="3937000" y="3579217"/>
            <a:ext cx="18415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消费：发现后进入目标宿主</a:t>
            </a:r>
            <a:endParaRPr/>
          </a:p>
        </p:txBody>
      </p:sp>
      <p:sp>
        <p:nvSpPr>
          <p:cNvPr id="58" name="文字 58"/>
          <p:cNvSpPr txBox="1"/>
          <p:nvPr/>
        </p:nvSpPr>
        <p:spPr>
          <a:xfrm>
            <a:off x="3937000" y="3809008"/>
            <a:ext cx="2288183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中文搜索与榜单，ZIP / CLI / API / DSH</a:t>
            </a:r>
            <a:endParaRPr/>
          </a:p>
        </p:txBody>
      </p:sp>
      <p:sp>
        <p:nvSpPr>
          <p:cNvPr id="59" name="形状 59"/>
          <p:cNvSpPr/>
          <p:nvPr/>
        </p:nvSpPr>
        <p:spPr>
          <a:xfrm>
            <a:off x="3575050" y="4289921"/>
            <a:ext cx="254000" cy="254000"/>
          </a:xfrm>
          <a:prstGeom prst="ellipse">
            <a:avLst/>
          </a:prstGeom>
          <a:noFill/>
          <a:ln w="6350">
            <a:solidFill>
              <a:srgbClr val="C9CDD2">
                <a:alpha val="100000"/>
              </a:srgbClr>
            </a:solidFill>
            <a:prstDash val="solid"/>
          </a:ln>
        </p:spPr>
      </p:sp>
      <p:sp>
        <p:nvSpPr>
          <p:cNvPr id="60" name="文字 60"/>
          <p:cNvSpPr txBox="1"/>
          <p:nvPr/>
        </p:nvSpPr>
        <p:spPr>
          <a:xfrm>
            <a:off x="3621981" y="4331196"/>
            <a:ext cx="17274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04</a:t>
            </a:r>
            <a:endParaRPr/>
          </a:p>
        </p:txBody>
      </p:sp>
      <p:sp>
        <p:nvSpPr>
          <p:cNvPr id="61" name="文字 61"/>
          <p:cNvSpPr txBox="1"/>
          <p:nvPr/>
        </p:nvSpPr>
        <p:spPr>
          <a:xfrm>
            <a:off x="3937000" y="4302621"/>
            <a:ext cx="19939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试运行：云端会话与运行案例</a:t>
            </a:r>
            <a:endParaRPr/>
          </a:p>
        </p:txBody>
      </p:sp>
      <p:sp>
        <p:nvSpPr>
          <p:cNvPr id="62" name="文字 62"/>
          <p:cNvSpPr txBox="1"/>
          <p:nvPr/>
        </p:nvSpPr>
        <p:spPr>
          <a:xfrm>
            <a:off x="3937000" y="4532412"/>
            <a:ext cx="24130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流式结果与案例留存；代码已核，未实跑</a:t>
            </a:r>
            <a:endParaRPr/>
          </a:p>
        </p:txBody>
      </p:sp>
      <p:sp>
        <p:nvSpPr>
          <p:cNvPr id="63" name="文字 63"/>
          <p:cNvSpPr txBox="1"/>
          <p:nvPr/>
        </p:nvSpPr>
        <p:spPr>
          <a:xfrm>
            <a:off x="3575050" y="4826992"/>
            <a:ext cx="24130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体验重点：发现入口与宿主内消费衔接，</a:t>
            </a:r>
            <a:endParaRPr/>
          </a:p>
        </p:txBody>
      </p:sp>
      <p:sp>
        <p:nvSpPr>
          <p:cNvPr id="64" name="文字 64"/>
          <p:cNvSpPr txBox="1"/>
          <p:nvPr/>
        </p:nvSpPr>
        <p:spPr>
          <a:xfrm>
            <a:off x="3575050" y="5013623"/>
            <a:ext cx="14795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运行案例补充选用依据。</a:t>
            </a:r>
            <a:endParaRPr/>
          </a:p>
        </p:txBody>
      </p:sp>
      <p:pic>
        <p:nvPicPr>
          <p:cNvPr id="65" name="slide-001-image-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1200" y="1744960"/>
            <a:ext cx="4673601" cy="3442593"/>
          </a:xfrm>
          <a:prstGeom prst="rect">
            <a:avLst/>
          </a:prstGeom>
        </p:spPr>
      </p:pic>
      <p:sp>
        <p:nvSpPr>
          <p:cNvPr id="66" name="文字 66"/>
          <p:cNvSpPr txBox="1"/>
          <p:nvPr/>
        </p:nvSpPr>
        <p:spPr>
          <a:xfrm>
            <a:off x="7226300" y="1770360"/>
            <a:ext cx="1898650" cy="247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生态画像：三类供需并存</a:t>
            </a:r>
            <a:endParaRPr/>
          </a:p>
        </p:txBody>
      </p:sp>
      <p:pic>
        <p:nvPicPr>
          <p:cNvPr id="67" name="slide-001-image-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6300" y="2024360"/>
            <a:ext cx="4508501" cy="507901"/>
          </a:xfrm>
          <a:prstGeom prst="rect">
            <a:avLst/>
          </a:prstGeom>
        </p:spPr>
      </p:pic>
      <p:sp>
        <p:nvSpPr>
          <p:cNvPr id="68" name="文字 68"/>
          <p:cNvSpPr txBox="1"/>
          <p:nvPr/>
        </p:nvSpPr>
        <p:spPr>
          <a:xfrm>
            <a:off x="7226300" y="2106910"/>
            <a:ext cx="6794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官方与产品</a:t>
            </a:r>
            <a:endParaRPr/>
          </a:p>
        </p:txBody>
      </p:sp>
      <p:sp>
        <p:nvSpPr>
          <p:cNvPr id="69" name="文字 69"/>
          <p:cNvSpPr txBox="1"/>
          <p:nvPr/>
        </p:nvSpPr>
        <p:spPr>
          <a:xfrm>
            <a:off x="7988300" y="2106910"/>
            <a:ext cx="1848247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腾讯文档、ima、平台查找技能</a:t>
            </a:r>
            <a:endParaRPr/>
          </a:p>
        </p:txBody>
      </p:sp>
      <p:sp>
        <p:nvSpPr>
          <p:cNvPr id="70" name="文字 70"/>
          <p:cNvSpPr txBox="1"/>
          <p:nvPr/>
        </p:nvSpPr>
        <p:spPr>
          <a:xfrm>
            <a:off x="7988300" y="2305943"/>
            <a:ext cx="182245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需求：产品连接、办公与知识协作</a:t>
            </a:r>
            <a:endParaRPr/>
          </a:p>
        </p:txBody>
      </p:sp>
      <p:pic>
        <p:nvPicPr>
          <p:cNvPr id="71" name="slide-001-image-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6300" y="2532261"/>
            <a:ext cx="4508501" cy="507901"/>
          </a:xfrm>
          <a:prstGeom prst="rect">
            <a:avLst/>
          </a:prstGeom>
        </p:spPr>
      </p:pic>
      <p:sp>
        <p:nvSpPr>
          <p:cNvPr id="72" name="文字 72"/>
          <p:cNvSpPr txBox="1"/>
          <p:nvPr/>
        </p:nvSpPr>
        <p:spPr>
          <a:xfrm>
            <a:off x="7226300" y="2614811"/>
            <a:ext cx="5461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垂直专业</a:t>
            </a:r>
            <a:endParaRPr/>
          </a:p>
        </p:txBody>
      </p:sp>
      <p:sp>
        <p:nvSpPr>
          <p:cNvPr id="73" name="文字 73"/>
          <p:cNvSpPr txBox="1"/>
          <p:nvPr/>
        </p:nvSpPr>
        <p:spPr>
          <a:xfrm>
            <a:off x="7988300" y="2614811"/>
            <a:ext cx="17462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钢联智能问数、电子印章平台</a:t>
            </a:r>
            <a:endParaRPr/>
          </a:p>
        </p:txBody>
      </p:sp>
      <p:sp>
        <p:nvSpPr>
          <p:cNvPr id="74" name="文字 74"/>
          <p:cNvSpPr txBox="1"/>
          <p:nvPr/>
        </p:nvSpPr>
        <p:spPr>
          <a:xfrm>
            <a:off x="7988300" y="2813844"/>
            <a:ext cx="170180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需求：行业数据与专业业务流程</a:t>
            </a:r>
            <a:endParaRPr/>
          </a:p>
        </p:txBody>
      </p:sp>
      <p:pic>
        <p:nvPicPr>
          <p:cNvPr id="75" name="slide-001-image-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26300" y="3040162"/>
            <a:ext cx="4508501" cy="507901"/>
          </a:xfrm>
          <a:prstGeom prst="rect">
            <a:avLst/>
          </a:prstGeom>
        </p:spPr>
      </p:pic>
      <p:sp>
        <p:nvSpPr>
          <p:cNvPr id="76" name="文字 76"/>
          <p:cNvSpPr txBox="1"/>
          <p:nvPr/>
        </p:nvSpPr>
        <p:spPr>
          <a:xfrm>
            <a:off x="7226300" y="3122712"/>
            <a:ext cx="5461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社区泛用</a:t>
            </a:r>
            <a:endParaRPr/>
          </a:p>
        </p:txBody>
      </p:sp>
      <p:sp>
        <p:nvSpPr>
          <p:cNvPr id="77" name="文字 77"/>
          <p:cNvSpPr txBox="1"/>
          <p:nvPr/>
        </p:nvSpPr>
        <p:spPr>
          <a:xfrm>
            <a:off x="7988300" y="3122712"/>
            <a:ext cx="2079427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Find Skills、Agent Browser、摘要</a:t>
            </a:r>
            <a:endParaRPr/>
          </a:p>
        </p:txBody>
      </p:sp>
      <p:sp>
        <p:nvSpPr>
          <p:cNvPr id="78" name="文字 78"/>
          <p:cNvSpPr txBox="1"/>
          <p:nvPr/>
        </p:nvSpPr>
        <p:spPr>
          <a:xfrm>
            <a:off x="7988300" y="3321745"/>
            <a:ext cx="1933277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需求：Agent 研发、检索与通用效率</a:t>
            </a:r>
            <a:endParaRPr/>
          </a:p>
        </p:txBody>
      </p:sp>
      <p:sp>
        <p:nvSpPr>
          <p:cNvPr id="79" name="文字 79"/>
          <p:cNvSpPr txBox="1"/>
          <p:nvPr/>
        </p:nvSpPr>
        <p:spPr>
          <a:xfrm>
            <a:off x="7226300" y="3675063"/>
            <a:ext cx="2041326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下载榜 Top50：样本下载记录占比</a:t>
            </a:r>
            <a:endParaRPr/>
          </a:p>
        </p:txBody>
      </p:sp>
      <p:sp>
        <p:nvSpPr>
          <p:cNvPr id="80" name="文字 80"/>
          <p:cNvSpPr txBox="1"/>
          <p:nvPr/>
        </p:nvSpPr>
        <p:spPr>
          <a:xfrm>
            <a:off x="7226300" y="3941763"/>
            <a:ext cx="49530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开发编程</a:t>
            </a:r>
            <a:endParaRPr/>
          </a:p>
        </p:txBody>
      </p:sp>
      <p:sp>
        <p:nvSpPr>
          <p:cNvPr id="81" name="形状 81"/>
          <p:cNvSpPr/>
          <p:nvPr/>
        </p:nvSpPr>
        <p:spPr>
          <a:xfrm>
            <a:off x="7886700" y="3960813"/>
            <a:ext cx="3352800" cy="95250"/>
          </a:xfrm>
          <a:prstGeom prst="roundRect">
            <a:avLst>
              <a:gd name="adj" fmla="val 20000"/>
            </a:avLst>
          </a:prstGeom>
          <a:solidFill>
            <a:srgbClr val="F0F1F3">
              <a:alpha val="100000"/>
            </a:srgbClr>
          </a:solidFill>
          <a:ln>
            <a:noFill/>
          </a:ln>
        </p:spPr>
      </p:sp>
      <p:sp>
        <p:nvSpPr>
          <p:cNvPr id="82" name="形状 82"/>
          <p:cNvSpPr/>
          <p:nvPr/>
        </p:nvSpPr>
        <p:spPr>
          <a:xfrm>
            <a:off x="7886700" y="3960813"/>
            <a:ext cx="1237159" cy="95250"/>
          </a:xfrm>
          <a:prstGeom prst="roundRect">
            <a:avLst>
              <a:gd name="adj" fmla="val 20000"/>
            </a:avLst>
          </a:prstGeom>
          <a:solidFill>
            <a:srgbClr val="B5333B">
              <a:alpha val="100000"/>
            </a:srgbClr>
          </a:solidFill>
          <a:ln>
            <a:noFill/>
          </a:ln>
        </p:spPr>
      </p:sp>
      <p:sp>
        <p:nvSpPr>
          <p:cNvPr id="83" name="文字 83"/>
          <p:cNvSpPr txBox="1"/>
          <p:nvPr/>
        </p:nvSpPr>
        <p:spPr>
          <a:xfrm>
            <a:off x="11372850" y="3929062"/>
            <a:ext cx="374650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36.9%</a:t>
            </a:r>
            <a:endParaRPr/>
          </a:p>
        </p:txBody>
      </p:sp>
      <p:sp>
        <p:nvSpPr>
          <p:cNvPr id="84" name="文字 84"/>
          <p:cNvSpPr txBox="1"/>
          <p:nvPr/>
        </p:nvSpPr>
        <p:spPr>
          <a:xfrm>
            <a:off x="7226300" y="4170363"/>
            <a:ext cx="473472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AI Agent</a:t>
            </a:r>
            <a:endParaRPr/>
          </a:p>
        </p:txBody>
      </p:sp>
      <p:sp>
        <p:nvSpPr>
          <p:cNvPr id="85" name="形状 85"/>
          <p:cNvSpPr/>
          <p:nvPr/>
        </p:nvSpPr>
        <p:spPr>
          <a:xfrm>
            <a:off x="7886700" y="4189413"/>
            <a:ext cx="3352800" cy="95250"/>
          </a:xfrm>
          <a:prstGeom prst="roundRect">
            <a:avLst>
              <a:gd name="adj" fmla="val 20000"/>
            </a:avLst>
          </a:prstGeom>
          <a:solidFill>
            <a:srgbClr val="F0F1F3">
              <a:alpha val="100000"/>
            </a:srgbClr>
          </a:solidFill>
          <a:ln>
            <a:noFill/>
          </a:ln>
        </p:spPr>
      </p:sp>
      <p:sp>
        <p:nvSpPr>
          <p:cNvPr id="86" name="形状 86"/>
          <p:cNvSpPr/>
          <p:nvPr/>
        </p:nvSpPr>
        <p:spPr>
          <a:xfrm>
            <a:off x="7886700" y="4189413"/>
            <a:ext cx="442515" cy="95250"/>
          </a:xfrm>
          <a:prstGeom prst="roundRect">
            <a:avLst>
              <a:gd name="adj" fmla="val 20000"/>
            </a:avLst>
          </a:prstGeom>
          <a:solidFill>
            <a:srgbClr val="566472">
              <a:alpha val="100000"/>
            </a:srgbClr>
          </a:solidFill>
          <a:ln>
            <a:noFill/>
          </a:ln>
        </p:spPr>
      </p:sp>
      <p:sp>
        <p:nvSpPr>
          <p:cNvPr id="87" name="文字 87"/>
          <p:cNvSpPr txBox="1"/>
          <p:nvPr/>
        </p:nvSpPr>
        <p:spPr>
          <a:xfrm>
            <a:off x="11372850" y="4157663"/>
            <a:ext cx="374650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13.2%</a:t>
            </a:r>
            <a:endParaRPr/>
          </a:p>
        </p:txBody>
      </p:sp>
      <p:sp>
        <p:nvSpPr>
          <p:cNvPr id="88" name="文字 88"/>
          <p:cNvSpPr txBox="1"/>
          <p:nvPr/>
        </p:nvSpPr>
        <p:spPr>
          <a:xfrm>
            <a:off x="7226300" y="4398963"/>
            <a:ext cx="49530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知识管理</a:t>
            </a:r>
            <a:endParaRPr/>
          </a:p>
        </p:txBody>
      </p:sp>
      <p:sp>
        <p:nvSpPr>
          <p:cNvPr id="89" name="形状 89"/>
          <p:cNvSpPr/>
          <p:nvPr/>
        </p:nvSpPr>
        <p:spPr>
          <a:xfrm>
            <a:off x="7886700" y="4418013"/>
            <a:ext cx="3352800" cy="95250"/>
          </a:xfrm>
          <a:prstGeom prst="roundRect">
            <a:avLst>
              <a:gd name="adj" fmla="val 20000"/>
            </a:avLst>
          </a:prstGeom>
          <a:solidFill>
            <a:srgbClr val="F0F1F3">
              <a:alpha val="100000"/>
            </a:srgbClr>
          </a:solidFill>
          <a:ln>
            <a:noFill/>
          </a:ln>
        </p:spPr>
      </p:sp>
      <p:sp>
        <p:nvSpPr>
          <p:cNvPr id="90" name="形状 90"/>
          <p:cNvSpPr/>
          <p:nvPr/>
        </p:nvSpPr>
        <p:spPr>
          <a:xfrm>
            <a:off x="7886700" y="4418013"/>
            <a:ext cx="338534" cy="95250"/>
          </a:xfrm>
          <a:prstGeom prst="roundRect">
            <a:avLst>
              <a:gd name="adj" fmla="val 20000"/>
            </a:avLst>
          </a:prstGeom>
          <a:solidFill>
            <a:srgbClr val="566472">
              <a:alpha val="100000"/>
            </a:srgbClr>
          </a:solidFill>
          <a:ln>
            <a:noFill/>
          </a:ln>
        </p:spPr>
      </p:sp>
      <p:sp>
        <p:nvSpPr>
          <p:cNvPr id="91" name="文字 91"/>
          <p:cNvSpPr txBox="1"/>
          <p:nvPr/>
        </p:nvSpPr>
        <p:spPr>
          <a:xfrm>
            <a:off x="11372850" y="4386263"/>
            <a:ext cx="374650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10.1%</a:t>
            </a:r>
            <a:endParaRPr/>
          </a:p>
        </p:txBody>
      </p:sp>
      <p:sp>
        <p:nvSpPr>
          <p:cNvPr id="92" name="文字 92"/>
          <p:cNvSpPr txBox="1"/>
          <p:nvPr/>
        </p:nvSpPr>
        <p:spPr>
          <a:xfrm>
            <a:off x="7226300" y="4627563"/>
            <a:ext cx="25400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其他</a:t>
            </a:r>
            <a:endParaRPr/>
          </a:p>
        </p:txBody>
      </p:sp>
      <p:sp>
        <p:nvSpPr>
          <p:cNvPr id="93" name="形状 93"/>
          <p:cNvSpPr/>
          <p:nvPr/>
        </p:nvSpPr>
        <p:spPr>
          <a:xfrm>
            <a:off x="7886700" y="4646612"/>
            <a:ext cx="3352800" cy="95250"/>
          </a:xfrm>
          <a:prstGeom prst="roundRect">
            <a:avLst>
              <a:gd name="adj" fmla="val 20000"/>
            </a:avLst>
          </a:prstGeom>
          <a:solidFill>
            <a:srgbClr val="F0F1F3">
              <a:alpha val="100000"/>
            </a:srgbClr>
          </a:solidFill>
          <a:ln>
            <a:noFill/>
          </a:ln>
        </p:spPr>
      </p:sp>
      <p:sp>
        <p:nvSpPr>
          <p:cNvPr id="94" name="形状 94"/>
          <p:cNvSpPr/>
          <p:nvPr/>
        </p:nvSpPr>
        <p:spPr>
          <a:xfrm>
            <a:off x="7886700" y="4646612"/>
            <a:ext cx="1331019" cy="95250"/>
          </a:xfrm>
          <a:prstGeom prst="roundRect">
            <a:avLst>
              <a:gd name="adj" fmla="val 20000"/>
            </a:avLst>
          </a:prstGeom>
          <a:solidFill>
            <a:srgbClr val="A5ACB4">
              <a:alpha val="100000"/>
            </a:srgbClr>
          </a:solidFill>
          <a:ln>
            <a:noFill/>
          </a:ln>
        </p:spPr>
      </p:sp>
      <p:sp>
        <p:nvSpPr>
          <p:cNvPr id="95" name="文字 95"/>
          <p:cNvSpPr txBox="1"/>
          <p:nvPr/>
        </p:nvSpPr>
        <p:spPr>
          <a:xfrm>
            <a:off x="11372850" y="4614863"/>
            <a:ext cx="374650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39.7%</a:t>
            </a:r>
            <a:endParaRPr/>
          </a:p>
        </p:txBody>
      </p:sp>
      <p:sp>
        <p:nvSpPr>
          <p:cNvPr id="96" name="文字 96"/>
          <p:cNvSpPr txBox="1"/>
          <p:nvPr/>
        </p:nvSpPr>
        <p:spPr>
          <a:xfrm>
            <a:off x="7226300" y="4862513"/>
            <a:ext cx="2557363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编程类 5 条贡献 36.9%；消费画像按任务推断，</a:t>
            </a:r>
            <a:endParaRPr/>
          </a:p>
        </p:txBody>
      </p:sp>
      <p:sp>
        <p:nvSpPr>
          <p:cNvPr id="97" name="文字 97"/>
          <p:cNvSpPr txBox="1"/>
          <p:nvPr/>
        </p:nvSpPr>
        <p:spPr>
          <a:xfrm>
            <a:off x="7226300" y="5031383"/>
            <a:ext cx="206375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下载记录不代表活跃用户或任务成功。</a:t>
            </a:r>
            <a:endParaRPr/>
          </a:p>
        </p:txBody>
      </p:sp>
      <p:pic>
        <p:nvPicPr>
          <p:cNvPr id="98" name="slide-001-image-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5333603"/>
            <a:ext cx="11277600" cy="1181497"/>
          </a:xfrm>
          <a:prstGeom prst="rect">
            <a:avLst/>
          </a:prstGeom>
        </p:spPr>
      </p:pic>
      <p:sp>
        <p:nvSpPr>
          <p:cNvPr id="99" name="文字 99"/>
          <p:cNvSpPr txBox="1"/>
          <p:nvPr/>
        </p:nvSpPr>
        <p:spPr>
          <a:xfrm>
            <a:off x="457200" y="5479653"/>
            <a:ext cx="1482229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TRACE 五维质量评测 </a:t>
            </a:r>
            <a:endParaRPr/>
          </a:p>
        </p:txBody>
      </p:sp>
      <p:sp>
        <p:nvSpPr>
          <p:cNvPr id="100" name="文字 100"/>
          <p:cNvSpPr txBox="1"/>
          <p:nvPr/>
        </p:nvSpPr>
        <p:spPr>
          <a:xfrm>
            <a:off x="1926729" y="5511403"/>
            <a:ext cx="133985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维度内均分后，五维等权</a:t>
            </a:r>
            <a:endParaRPr/>
          </a:p>
        </p:txBody>
      </p:sp>
      <p:pic>
        <p:nvPicPr>
          <p:cNvPr id="101" name="slide-001-image-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5759053"/>
            <a:ext cx="1337568" cy="435571"/>
          </a:xfrm>
          <a:prstGeom prst="rect">
            <a:avLst/>
          </a:prstGeom>
        </p:spPr>
      </p:pic>
      <p:sp>
        <p:nvSpPr>
          <p:cNvPr id="102" name="文字 102"/>
          <p:cNvSpPr txBox="1"/>
          <p:nvPr/>
        </p:nvSpPr>
        <p:spPr>
          <a:xfrm>
            <a:off x="457200" y="5784453"/>
            <a:ext cx="104180" cy="1968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T</a:t>
            </a:r>
            <a:endParaRPr/>
          </a:p>
        </p:txBody>
      </p:sp>
      <p:sp>
        <p:nvSpPr>
          <p:cNvPr id="103" name="文字 103"/>
          <p:cNvSpPr txBox="1"/>
          <p:nvPr/>
        </p:nvSpPr>
        <p:spPr>
          <a:xfrm>
            <a:off x="548680" y="5784453"/>
            <a:ext cx="504527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 可信度</a:t>
            </a:r>
            <a:endParaRPr/>
          </a:p>
        </p:txBody>
      </p:sp>
      <p:sp>
        <p:nvSpPr>
          <p:cNvPr id="104" name="文字 104"/>
          <p:cNvSpPr txBox="1"/>
          <p:nvPr/>
        </p:nvSpPr>
        <p:spPr>
          <a:xfrm>
            <a:off x="457200" y="6038453"/>
            <a:ext cx="85725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安全与本土可用</a:t>
            </a:r>
            <a:endParaRPr/>
          </a:p>
        </p:txBody>
      </p:sp>
      <p:pic>
        <p:nvPicPr>
          <p:cNvPr id="105" name="slide-001-image-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70968" y="5759053"/>
            <a:ext cx="1337568" cy="435571"/>
          </a:xfrm>
          <a:prstGeom prst="rect">
            <a:avLst/>
          </a:prstGeom>
        </p:spPr>
      </p:pic>
      <p:sp>
        <p:nvSpPr>
          <p:cNvPr id="106" name="文字 106"/>
          <p:cNvSpPr txBox="1"/>
          <p:nvPr/>
        </p:nvSpPr>
        <p:spPr>
          <a:xfrm>
            <a:off x="1870968" y="5784453"/>
            <a:ext cx="104180" cy="1968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R</a:t>
            </a:r>
            <a:endParaRPr/>
          </a:p>
        </p:txBody>
      </p:sp>
      <p:sp>
        <p:nvSpPr>
          <p:cNvPr id="107" name="文字 107"/>
          <p:cNvSpPr txBox="1"/>
          <p:nvPr/>
        </p:nvSpPr>
        <p:spPr>
          <a:xfrm>
            <a:off x="1962448" y="5784453"/>
            <a:ext cx="504527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 可靠性</a:t>
            </a:r>
            <a:endParaRPr/>
          </a:p>
        </p:txBody>
      </p:sp>
      <p:sp>
        <p:nvSpPr>
          <p:cNvPr id="108" name="文字 108"/>
          <p:cNvSpPr txBox="1"/>
          <p:nvPr/>
        </p:nvSpPr>
        <p:spPr>
          <a:xfrm>
            <a:off x="1870968" y="6038453"/>
            <a:ext cx="85725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功能与异常处理</a:t>
            </a:r>
            <a:endParaRPr/>
          </a:p>
        </p:txBody>
      </p:sp>
      <p:pic>
        <p:nvPicPr>
          <p:cNvPr id="109" name="slide-001-image-1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84736" y="5759053"/>
            <a:ext cx="1337568" cy="435571"/>
          </a:xfrm>
          <a:prstGeom prst="rect">
            <a:avLst/>
          </a:prstGeom>
        </p:spPr>
      </p:pic>
      <p:sp>
        <p:nvSpPr>
          <p:cNvPr id="110" name="文字 110"/>
          <p:cNvSpPr txBox="1"/>
          <p:nvPr/>
        </p:nvSpPr>
        <p:spPr>
          <a:xfrm>
            <a:off x="3284736" y="5784453"/>
            <a:ext cx="104180" cy="1968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A</a:t>
            </a:r>
            <a:endParaRPr/>
          </a:p>
        </p:txBody>
      </p:sp>
      <p:sp>
        <p:nvSpPr>
          <p:cNvPr id="111" name="文字 111"/>
          <p:cNvSpPr txBox="1"/>
          <p:nvPr/>
        </p:nvSpPr>
        <p:spPr>
          <a:xfrm>
            <a:off x="3376216" y="5784453"/>
            <a:ext cx="504527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 适应性</a:t>
            </a:r>
            <a:endParaRPr/>
          </a:p>
        </p:txBody>
      </p:sp>
      <p:sp>
        <p:nvSpPr>
          <p:cNvPr id="112" name="文字 112"/>
          <p:cNvSpPr txBox="1"/>
          <p:nvPr/>
        </p:nvSpPr>
        <p:spPr>
          <a:xfrm>
            <a:off x="3284736" y="6038453"/>
            <a:ext cx="85725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触发条件与边界</a:t>
            </a:r>
            <a:endParaRPr/>
          </a:p>
        </p:txBody>
      </p:sp>
      <p:pic>
        <p:nvPicPr>
          <p:cNvPr id="113" name="slide-001-image-1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98504" y="5759053"/>
            <a:ext cx="1337568" cy="435571"/>
          </a:xfrm>
          <a:prstGeom prst="rect">
            <a:avLst/>
          </a:prstGeom>
        </p:spPr>
      </p:pic>
      <p:sp>
        <p:nvSpPr>
          <p:cNvPr id="114" name="文字 114"/>
          <p:cNvSpPr txBox="1"/>
          <p:nvPr/>
        </p:nvSpPr>
        <p:spPr>
          <a:xfrm>
            <a:off x="4698504" y="5784453"/>
            <a:ext cx="104180" cy="1968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C</a:t>
            </a:r>
            <a:endParaRPr/>
          </a:p>
        </p:txBody>
      </p:sp>
      <p:sp>
        <p:nvSpPr>
          <p:cNvPr id="115" name="文字 115"/>
          <p:cNvSpPr txBox="1"/>
          <p:nvPr/>
        </p:nvSpPr>
        <p:spPr>
          <a:xfrm>
            <a:off x="4789984" y="5784453"/>
            <a:ext cx="504527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 规范性</a:t>
            </a:r>
            <a:endParaRPr/>
          </a:p>
        </p:txBody>
      </p:sp>
      <p:sp>
        <p:nvSpPr>
          <p:cNvPr id="116" name="文字 116"/>
          <p:cNvSpPr txBox="1"/>
          <p:nvPr/>
        </p:nvSpPr>
        <p:spPr>
          <a:xfrm>
            <a:off x="4698504" y="6038453"/>
            <a:ext cx="61595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结构与文档</a:t>
            </a:r>
            <a:endParaRPr/>
          </a:p>
        </p:txBody>
      </p:sp>
      <p:pic>
        <p:nvPicPr>
          <p:cNvPr id="117" name="slide-001-image-13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12272" y="5759053"/>
            <a:ext cx="1337667" cy="435571"/>
          </a:xfrm>
          <a:prstGeom prst="rect">
            <a:avLst/>
          </a:prstGeom>
        </p:spPr>
      </p:pic>
      <p:sp>
        <p:nvSpPr>
          <p:cNvPr id="118" name="文字 118"/>
          <p:cNvSpPr txBox="1"/>
          <p:nvPr/>
        </p:nvSpPr>
        <p:spPr>
          <a:xfrm>
            <a:off x="6112272" y="5784453"/>
            <a:ext cx="104180" cy="1968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E</a:t>
            </a:r>
            <a:endParaRPr/>
          </a:p>
        </p:txBody>
      </p:sp>
      <p:sp>
        <p:nvSpPr>
          <p:cNvPr id="119" name="文字 119"/>
          <p:cNvSpPr txBox="1"/>
          <p:nvPr/>
        </p:nvSpPr>
        <p:spPr>
          <a:xfrm>
            <a:off x="6203752" y="5784453"/>
            <a:ext cx="504527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 有效性</a:t>
            </a:r>
            <a:endParaRPr/>
          </a:p>
        </p:txBody>
      </p:sp>
      <p:sp>
        <p:nvSpPr>
          <p:cNvPr id="120" name="文字 120"/>
          <p:cNvSpPr txBox="1"/>
          <p:nvPr/>
        </p:nvSpPr>
        <p:spPr>
          <a:xfrm>
            <a:off x="6112272" y="6038453"/>
            <a:ext cx="97790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准确、完整、可用</a:t>
            </a:r>
            <a:endParaRPr/>
          </a:p>
        </p:txBody>
      </p:sp>
      <p:sp>
        <p:nvSpPr>
          <p:cNvPr id="121" name="文字 121"/>
          <p:cNvSpPr txBox="1"/>
          <p:nvPr/>
        </p:nvSpPr>
        <p:spPr>
          <a:xfrm>
            <a:off x="457200" y="6296223"/>
            <a:ext cx="338832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热度 score、TRACE 质量分与双路安全报告分别表达不同信号。</a:t>
            </a:r>
            <a:endParaRPr/>
          </a:p>
        </p:txBody>
      </p:sp>
      <p:pic>
        <p:nvPicPr>
          <p:cNvPr id="122" name="slide-001-image-14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21389" y="5454253"/>
            <a:ext cx="4113411" cy="1060846"/>
          </a:xfrm>
          <a:prstGeom prst="rect">
            <a:avLst/>
          </a:prstGeom>
        </p:spPr>
      </p:pic>
      <p:sp>
        <p:nvSpPr>
          <p:cNvPr id="123" name="文字 123"/>
          <p:cNvSpPr txBox="1"/>
          <p:nvPr/>
        </p:nvSpPr>
        <p:spPr>
          <a:xfrm>
            <a:off x="7773790" y="5479653"/>
            <a:ext cx="9271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平台建设启示</a:t>
            </a:r>
            <a:endParaRPr/>
          </a:p>
        </p:txBody>
      </p:sp>
      <p:sp>
        <p:nvSpPr>
          <p:cNvPr id="124" name="文字 124"/>
          <p:cNvSpPr txBox="1"/>
          <p:nvPr/>
        </p:nvSpPr>
        <p:spPr>
          <a:xfrm>
            <a:off x="7773790" y="5746353"/>
            <a:ext cx="18796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多类资产与宿主消费共同建设，</a:t>
            </a:r>
            <a:endParaRPr/>
          </a:p>
        </p:txBody>
      </p:sp>
      <p:sp>
        <p:nvSpPr>
          <p:cNvPr id="125" name="文字 125"/>
          <p:cNvSpPr txBox="1"/>
          <p:nvPr/>
        </p:nvSpPr>
        <p:spPr>
          <a:xfrm>
            <a:off x="7773790" y="5939631"/>
            <a:ext cx="24130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把版本、质量证据和实际任务结果关联。</a:t>
            </a:r>
            <a:endParaRPr/>
          </a:p>
        </p:txBody>
      </p:sp>
      <p:sp>
        <p:nvSpPr>
          <p:cNvPr id="126" name="文字 126"/>
          <p:cNvSpPr txBox="1"/>
          <p:nvPr/>
        </p:nvSpPr>
        <p:spPr>
          <a:xfrm>
            <a:off x="7773790" y="6190060"/>
            <a:ext cx="206375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待核查：统计口径与评测版本一致性；</a:t>
            </a:r>
            <a:endParaRPr/>
          </a:p>
        </p:txBody>
      </p:sp>
      <p:sp>
        <p:nvSpPr>
          <p:cNvPr id="127" name="文字 127"/>
          <p:cNvSpPr txBox="1"/>
          <p:nvPr/>
        </p:nvSpPr>
        <p:spPr>
          <a:xfrm>
            <a:off x="7773790" y="6358930"/>
            <a:ext cx="2045989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开源 evaluator 不等于全量动态实测。</a:t>
            </a:r>
            <a:endParaRPr/>
          </a:p>
        </p:txBody>
      </p:sp>
      <p:sp>
        <p:nvSpPr>
          <p:cNvPr id="128" name="文字 128"/>
          <p:cNvSpPr txBox="1"/>
          <p:nvPr/>
        </p:nvSpPr>
        <p:spPr>
          <a:xfrm>
            <a:off x="457200" y="6597650"/>
            <a:ext cx="3730724" cy="120651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u="none" spc="0">
                <a:solidFill>
                  <a:srgbClr val="8B8E9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来源：腾讯官方仓库、官网及公开 API，本次只读核查；详细口径与链接见 PPT 备注和伴生调研文档。</a:t>
            </a:r>
            <a:endParaRPr/>
          </a:p>
        </p:txBody>
      </p:sp>
      <p:pic>
        <p:nvPicPr>
          <p:cNvPr id="129" name="slide-001-image-15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498678" y="6590135"/>
            <a:ext cx="680240" cy="1534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!-- 空白母版、版式与主题取自 python-pptx 1.0.2 的默认有效文稿；母版只保留空白版式。 --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