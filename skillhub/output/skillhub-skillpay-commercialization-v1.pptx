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腾讯 SkillHub / SkillPay 商业化洞察</a:t>
            </a:r>
          </a:p>
          <a:p/>
          <a:p>
            <a:r>
              <a:t>调研时间：2026-10-20，北京时间。聚焦 Skill 资产和微信接入。证据来自 SkillHub 当前官网与生产前端、公开 API、腾讯官方商户 Demo、真实上架 Skill 契约及微信支付官方文档。未登录、安装 Skill、创建订单或付款。</a:t>
            </a:r>
          </a:p>
          <a:p/>
          <a:p>
            <a:r>
              <a:t>## 结论</a:t>
            </a:r>
          </a:p>
          <a:p/>
          <a:p>
            <a:r>
              <a:t>SkillHub 已提供按次收费的资产发布和交易接入能力，腾讯自营与第三方服务均有真实上架实例。典型模式是免费获取技能文件，再购买技能所调用的远程服务。官网明确平台当前暂不收技术服务费，交易款由用户直接付给创作者。平台目前可确认的作用是组织服务供给、认证身份、展示价格、审核分发和协同支付接入，不能把商户收入记为 SkillHub 平台收入。[SkillPay 介绍与 FAQ](https://skillhub.cn/skillpay)、[当前官网代码](https://cloudcache.tencent-cloud.com/qcloud/tea/app/skillhub/assets/skill-hub.cpdwg332.js?max_age=31536000)。</a:t>
            </a:r>
          </a:p>
          <a:p/>
          <a:p>
            <a:r>
              <a:t>本次公开条目快照中，两种付费标签合计约 **10.0%**，标记需 API Key 的条目约 **19.3%**。这说明供给结构已包含商业服务，不能说明付费转化或真实收入成熟度。未找到全站 GMV、交易用户、复购或平台净收入的公开可核验数据。</a:t>
            </a:r>
          </a:p>
          <a:p/>
          <a:p>
            <a:r>
              <a:t>## 商业化程度：统计口径与计算</a:t>
            </a:r>
          </a:p>
          <a:p/>
          <a:p>
            <a:r>
              <a:t>主统计在北京时间 00:09:45–00:09:51 取得，统一使用 `pageSize=100&amp;sortBy=downloads&amp;order=desc`。每次请求的 URL、服务端响应头、UTC 时间和 total 保存于 [statistics-snapshot.json](statistics-snapshot.json)，原始响应保存于 `sources/snapshot-*.json`。</a:t>
            </a:r>
          </a:p>
          <a:p/>
          <a:p>
            <a:r>
              <a:t>| 统计维度 | 查询条件 | 返回条目数 | 占全站比例 | 含义 |</a:t>
            </a:r>
          </a:p>
          <a:p>
            <a:r>
              <a:t>|---|---|---:|---:|---|</a:t>
            </a:r>
          </a:p>
          <a:p>
            <a:r>
              <a:t>| 全部公开 Skill | 无标签过滤 | 199,545 | 100% | 本轮分母，按条目而非作者、商户或交易计 |</a:t>
            </a:r>
          </a:p>
          <a:p>
            <a:r>
              <a:t>| 通用付费标签 | `pricing_type:paid` | 17,061 | 8.55% | 官网付费识别的一支，不等于微信已开户或已成交 |</a:t>
            </a:r>
          </a:p>
          <a:p>
            <a:r>
              <a:t>| 支付宝标签 | `pricing_type:alipay` | 2,901 | 1.45% | 官网也按付费资产识别，不能漏算 |</a:t>
            </a:r>
          </a:p>
          <a:p>
            <a:r>
              <a:t>| 两种付费标签合计 | 上两行相加 | 19,962 | **10.00%** | 本报告付费标签口径，两值属于同一标量字段 |</a:t>
            </a:r>
          </a:p>
          <a:p>
            <a:r>
              <a:t>| Pay Skill 目录 | `category=pay-skill` | 19,974 | 10.01% | 目录口径，与付费标签合计相差 12，不再相加 |</a:t>
            </a:r>
          </a:p>
          <a:p>
            <a:r>
              <a:t>| 需要 API Key | `requires_api_key:true` | 38,568 | **19.33%** | 外部凭证依赖，不等于付费 |</a:t>
            </a:r>
          </a:p>
          <a:p>
            <a:r>
              <a:t>| 不需要 API Key | `requires_api_key:false` | 160,951 | 80.66% | 显式 false；不自动代表免费 |</a:t>
            </a:r>
          </a:p>
          <a:p>
            <a:r>
              <a:t>| paid 且需 Key | 两标签 AND | 204 | — | 两个维度可以交叉 |</a:t>
            </a:r>
          </a:p>
          <a:p>
            <a:r>
              <a:t>| alipay 且需 Key | 两标签 AND | 128 | — | 合计约 332，约为付费标签的 1.7% |</a:t>
            </a:r>
          </a:p>
          <a:p/>
          <a:p>
            <a:r>
              <a:t>数据不是一次数据库事务内取得。全量与子查询可能更新或采用不同索引/缓存，不能用差额构造精确的“未标记”人口，也不能绘制声称严格闭合的付费×Key 四象限。较早参数组出现 all=199,553、paid=17,006、Key=true=38,563，统一参数后采用上表，PPT 只展示一位小数近似占比。Key 的 true/false 两值合计与总量相差 26，也不把这 26 条确认为某个业务类型。</a:t>
            </a:r>
          </a:p>
          <a:p/>
          <a:p>
            <a:r>
              <a:t>官网 `isPaidSkill` 除 paid/alipay 外，还识别部分对象中的 `billingType=per_call` / `model=pay_per_call`。公开列表 API 没有给出这些分支去重后的独立全集，故 **19,962 是可复算的两标签口径，不宣称穷尽所有可能付费服务**。官网列表“付费”筛选本身只发 `pricing_type:paid`，因此直接读取该筛选会遗漏 alipay 分支。标签 API 的 AND、否定和字段定义见 [官方 API 文档](https://github.com/Tencent/skillhub/blob/main/docs/api/skills.md)。</a:t>
            </a:r>
          </a:p>
          <a:p/>
          <a:p>
            <a:r>
              <a:t>这里的“API Key 类型占比”指 `requires_api_key=true` 资产占比。公开标签没有可直接汇总的 Key 厂商、OAuth/Token 等认证子类型全集，本次不编造供应商结构或外部订阅收入。Key 依赖可能对应免费额度、付费订阅或按量 API，需逐个读服务条款。</a:t>
            </a:r>
          </a:p>
          <a:p/>
          <a:p>
            <a:r>
              <a:t>主查询可复算入口：</a:t>
            </a:r>
          </a:p>
          <a:p/>
          <a:p>
            <a:r>
              <a:t>- [全站列表](https://api.skillhub.cn/api/skills?pageSize=100&amp;sortBy=downloads&amp;order=desc)</a:t>
            </a:r>
          </a:p>
          <a:p>
            <a:r>
              <a:t>- [paid 标签](https://api.skillhub.cn/api/skills?pageSize=100&amp;sortBy=downloads&amp;order=desc&amp;labels=pricing_type%3Apaid)</a:t>
            </a:r>
          </a:p>
          <a:p>
            <a:r>
              <a:t>- [alipay 标签](https://api.skillhub.cn/api/skills?pageSize=100&amp;sortBy=downloads&amp;order=desc&amp;labels=pricing_type%3Aalipay)</a:t>
            </a:r>
          </a:p>
          <a:p>
            <a:r>
              <a:t>- [需 API Key](https://api.skillhub.cn/api/skills?pageSize=100&amp;sortBy=downloads&amp;order=desc&amp;labels=requires_api_key%3Atrue)</a:t>
            </a:r>
          </a:p>
          <a:p>
            <a:r>
              <a:t>- [不需 API Key](https://api.skillhub.cn/api/skills?pageSize=100&amp;sortBy=downloads&amp;order=desc&amp;labels=requires_api_key%3Afalse)</a:t>
            </a:r>
          </a:p>
          <a:p>
            <a:r>
              <a:t>- [Pay Skill 目录](https://api.skillhub.cn/api/skills?pageSize=100&amp;sortBy=downloads&amp;order=desc&amp;category=pay-skill)</a:t>
            </a:r>
          </a:p>
          <a:p/>
          <a:p>
            <a:r>
              <a:t>## 收费与资金：服务商如何赚钱，平台做什么</a:t>
            </a:r>
          </a:p>
          <a:p/>
          <a:p>
            <a:r>
              <a:t>| 问题 | 本次核实结果 |</a:t>
            </a:r>
          </a:p>
          <a:p>
            <a:r>
              <a:t>|---|---|</a:t>
            </a:r>
          </a:p>
          <a:p>
            <a:r>
              <a:t>| 收费对象 | 典型模式是远程 API / 专业服务调用；不是通过加密 SKILL.md 收取安装许可 |</a:t>
            </a:r>
          </a:p>
          <a:p>
            <a:r>
              <a:t>| 价格制定 | 商家自主设置按次价格，发布时配置计费与服务说明；实际微信扣款金额由商户传统下单传入 |</a:t>
            </a:r>
          </a:p>
          <a:p>
            <a:r>
              <a:t>| 平台费用 | 官网明确当前暂不收技术服务费，不承诺永久免费，也不代表支付渠道成本为零 |</a:t>
            </a:r>
          </a:p>
          <a:p>
            <a:r>
              <a:t>| 资金归属 | 用户直接付款给创作者；平台详情明确 SkillHub 不是该笔交易收款方或实际服务提供方 |</a:t>
            </a:r>
          </a:p>
          <a:p>
            <a:r>
              <a:t>| 结算 | 按微信/支付宝渠道规则结算到绑定账户，无需在 SkillHub 手动提现；不能泛化为所有银行卡 T+0 |</a:t>
            </a:r>
          </a:p>
          <a:p>
            <a:r>
              <a:t>| 退款 | 用户在对应支付账单发起咨询/退款，平台协助；商户处理服务履约与退款接口，微信沿用传统退款能力 |</a:t>
            </a:r>
          </a:p>
          <a:p>
            <a:r>
              <a:t>| 平台收入与未来抽成 | 未找到可核验的平台收入或未来抽成比例，不能据此声称腾讯正在按每笔交易抽佣 |</a:t>
            </a:r>
          </a:p>
          <a:p/>
          <a:p>
            <a:r>
              <a:t>来源：[官网 FAQ](https://skillhub.cn/skillpay)、[生产前端责任条款](https://cloudcache.tencent-cloud.com/qcloud/tea/app/skillhub/assets/skill-hub.cpdwg332.js?max_age=31536000)、[微信 FAQ](https://pay.wechatpay.cn/doc/v3/merchant/4035576771)。</a:t>
            </a:r>
          </a:p>
          <a:p/>
          <a:p>
            <a:r>
              <a:t>SkillHub 的具体工作：</a:t>
            </a:r>
          </a:p>
          <a:p/>
          <a:p>
            <a:r>
              <a:t>1. **组织与认证供给**：企业/团队注册、企业认证及服务主体展示，个人有支付宝接入路径。微信企业路径绑定微信商户身份。</a:t>
            </a:r>
          </a:p>
          <a:p>
            <a:r>
              <a:t>2. **提供支付身份**：在商户中心管理开发者身份及 RSA 密钥，商户保管私钥，x402 预下单使用 SkillHub 身份签名。</a:t>
            </a:r>
          </a:p>
          <a:p>
            <a:r>
              <a:t>3. **将服务变成可发布资产**：上传包含 SKILL.md 的包，管理 slug、版本、定价、费用/退款/开票说明及效果案例；发布前检查计费与支付链路。</a:t>
            </a:r>
          </a:p>
          <a:p>
            <a:r>
              <a:t>4. **发现与分发**：官网、榜单、CLI/API 和宿主接入把技能送到 Agent；支持支付工具仍是消费端前置条件。</a:t>
            </a:r>
          </a:p>
          <a:p>
            <a:r>
              <a:t>5. **协同售后与责任告知**：展示实际创作者、收款主体和计费单元，按渠道规则协助投诉和退款。</a:t>
            </a:r>
          </a:p>
          <a:p/>
          <a:p>
            <a:r>
              <a:t>来源：[企业准入](https://skillhub.cn/tutorials#agent-pay-onboard)、[企业改造](https://skillhub.cn/tutorials#enterprise-upgrade)、[发布定价](https://skillhub.cn/tutorials#agent-pay-publish-pricing)、[微信准备指引](https://pay.wechatpay.cn/doc/v3/merchant/4035576711)、[微信 FAQ](https://pay.wechatpay.cn/doc/v3/merchant/4035576771)。</a:t>
            </a:r>
          </a:p>
          <a:p/>
          <a:p>
            <a:r>
              <a:t>## 真实供给，而非营销示例</a:t>
            </a:r>
          </a:p>
          <a:p/>
          <a:p>
            <a:r>
              <a:t>| 案例 | 平台认证主体 | 当前展示价 | 用户 API Key | 已核查范围 |</a:t>
            </a:r>
          </a:p>
          <a:p>
            <a:r>
              <a:t>|---|---|---:|---|---|</a:t>
            </a:r>
          </a:p>
          <a:p>
            <a:r>
              <a:t>| WorkRally 图片生成 | 腾讯科技（深圳）有限公司 | ¥0.36 / 次 | 不需要 | 详情、36 分计费配置、调用后端及支付恢复契约、公开 ZIP 下载 |</a:t>
            </a:r>
          </a:p>
          <a:p>
            <a:r>
              <a:t>| 喜鹊标书解读 | 北京喜鹊云智科技有限公司 | ¥1 / 次 | 不需要 | 详情、摘要和三份 Word 的交付约定、支付/查询/人工售后、公开 ZIP 下载 |</a:t>
            </a:r>
          </a:p>
          <a:p/>
          <a:p>
            <a:r>
              <a:t>来源：[WorkRally 详情](https://api.skillhub.cn/api/v1/skills/workrally-image)、[Skill 契约](https://api.skillhub.cn/api/v1/skills/workrally-image/file?path=SKILL.md)、[喜鹊详情](https://api.skillhub.cn/api/v1/skills/xique-tender-pay)、[Skill 契约](https://api.skillhub.cn/api/v1/skills/xique-tender-pay/file?path=SKILL.md)。只读下载检查见 `sources/business-public-download-check.json`。核实公开文件和调用契约，不代表本次付费调用成功；两例不能泛化全部资产。</a:t>
            </a:r>
          </a:p>
          <a:p/>
          <a:p>
            <a:r>
              <a:t>官网的“本月调用 12.8 万次”“本月收益 3.19 万”在生产代码里为固定演示值，页面明确标注“示例数据”，因此没有进入商业规模统计。下载量同样不能代替付费调用数。官方仓库的历史公告规模与实时 API 快照没有混用。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微信 SkillPay：交易机制与责任边界</a:t>
            </a:r>
          </a:p>
          <a:p/>
          <a:p/>
          <a:p>
            <a:r>
              <a:t>支付使用既有微信人民币订单。x402 在这里负责把既有订单转为 Agent 能拉起的支付请求。当前公开产品需要用户逐笔确认，不能概括为 Agent 无需授权自动扣款。[产品介绍](https://pay.wechatpay.cn/doc/v3/merchant/4035576700)、[开发指引](https://pay.wechatpay.cn/doc/v3/merchant/4035576716)。</a:t>
            </a:r>
          </a:p>
          <a:p/>
          <a:p>
            <a:r>
              <a:t>1. Agent 按 Skill 指令请求商户业务接口。</a:t>
            </a:r>
          </a:p>
          <a:p>
            <a:r>
              <a:t>2. 商户先通过 Native/JSAPI 等传统接口创建微信订单，传入金额、订单号和 notify_url，得到 code_url/prepay_id 等。</a:t>
            </a:r>
          </a:p>
          <a:p>
            <a:r>
              <a:t>3. 商户使用 SkillHub 开发者 RSA 密钥签名，向微信 AI 支付发起 x402 预下单，得到 payment_code。</a:t>
            </a:r>
          </a:p>
          <a:p>
            <a:r>
              <a:t>4. 商户将支付码经 `402 + WeixinPay-Required` 返回给 Agent，支持 HTTP 200 兼容模式。支付码必须保持原文；部分工具链只读 Body，可按微信指引双投递。</a:t>
            </a:r>
          </a:p>
          <a:p>
            <a:r>
              <a:t>5. 宿主支付工具展示卡片，用户扫码到微信 Liteapp 逐笔确认，以 AI 专属卡余额付款；专属卡与用户微信主账户资金隔离。</a:t>
            </a:r>
          </a:p>
          <a:p>
            <a:r>
              <a:t>6. 商户沿用微信 notify_url 或主动查单确认支付状态，回调验签并解密。payment_code 是拉起凭据，不能证明已经付钱。</a:t>
            </a:r>
          </a:p>
          <a:p>
            <a:r>
              <a:t>7. 商户确认订单归属、金额和 SUCCESS 状态后履约。原订单关联的业务结果可以恢复获取；具体重试 Header/字段由服务接口约定。</a:t>
            </a:r>
          </a:p>
          <a:p>
            <a:r>
              <a:t>8. 商户负责订单持久化、业务幂等和失败补偿，退款沿用微信能力。</a:t>
            </a:r>
          </a:p>
          <a:p/>
          <a:p>
            <a:r>
              <a:t>上述稳定机制依据 [微信 FAQ](https://pay.wechatpay.cn/doc/v3/merchant/4035576771)、[微信 x402 API](https://pay.wechatpay.cn/doc/v3/merchant/4035576740)、[Native 下单](https://pay.wechatpay.cn/doc/v3/merchant/4012791877)、[支付回调](https://pay.wechatpay.cn/doc/v3/merchant/4012791882)。具体 `X-Out-Trade-No` 重试和缓存范式来自 [SkillHub 商户 Demo](https://skillhub-1388575217.cos.ap-guangzhou.myqcloud.com/mch-demo/mch-demo.zip)，不是所有微信商户必须采用的通用付款证明协议。</a:t>
            </a:r>
          </a:p>
          <a:p/>
          <a:p>
            <a:r>
              <a:t>### 三类凭证不能混淆</a:t>
            </a:r>
          </a:p>
          <a:p/>
          <a:p>
            <a:r>
              <a:t>| 凭证 | 用途 | 所在位置 |</a:t>
            </a:r>
          </a:p>
          <a:p>
            <a:r>
              <a:t>|---|---|---|</a:t>
            </a:r>
          </a:p>
          <a:p>
            <a:r>
              <a:t>| 业务 API Key | 访问外部业务服务；资产标签统计所指的凭证依赖 | 依服务要求配置，不能默认等于收费 |</a:t>
            </a:r>
          </a:p>
          <a:p>
            <a:r>
              <a:t>| SkillHub 开发者 RSA 密钥 | 以开发者平台身份签名微信 AI 预下单 | 商户后端保管私钥 |</a:t>
            </a:r>
          </a:p>
          <a:p>
            <a:r>
              <a:t>| 微信商户证书、APIv3 密钥及微信验签公钥 | 传统支付请求签名、回调验签与资源解密 | 商户支付后端 |</a:t>
            </a:r>
          </a:p>
          <a:p/>
          <a:p>
            <a:r>
              <a:t>### 官方接口存在版本差异</a:t>
            </a:r>
          </a:p>
          <a:p/>
          <a:p>
            <a:r>
              <a:t>| 项目 | 微信当前 API（2026-09-01 更新） | SkillHub 当前教程 / Demo |</a:t>
            </a:r>
          </a:p>
          <a:p>
            <a:r>
              <a:t>|---|---|---|</a:t>
            </a:r>
          </a:p>
          <a:p>
            <a:r>
              <a:t>| 预下单端点 | `aipay.wxpapp.weixin.qq.com/aipay/preorder` | `payapp.weixin.qq.com/palmpayminiapp/clawagentpay/preorder` |</a:t>
            </a:r>
          </a:p>
          <a:p>
            <a:r>
              <a:t>| 鉴权位置 | Authorization 头 | Body 内身份及签名字段 |</a:t>
            </a:r>
          </a:p>
          <a:p>
            <a:r>
              <a:t>| payment_required | JSON 对象 | Base64 字符串 |</a:t>
            </a:r>
          </a:p>
          <a:p>
            <a:r>
              <a:t>| pay_type | GOODS_PAY | SKILL_PAY |</a:t>
            </a:r>
          </a:p>
          <a:p>
            <a:r>
              <a:t>| 签名覆盖 | 完整 HTTP Body | payment_required 字符串 |</a:t>
            </a:r>
          </a:p>
          <a:p/>
          <a:p>
            <a:r>
              <a:t>两份均为官方材料，不能将旧端点与新报文拼成可执行请求，也没有证据断言旧端点已停用。PPT采用两方稳定共识机制，详细差异记录在 [微信机制报告](research-wechat-mechanism.md)。当前 product_id 的商品注册/价格绑定机制未被公开文档充分说明，故没有把它画为平台统一计费主键。</a:t>
            </a:r>
          </a:p>
          <a:p/>
          <a:p>
            <a:r>
              <a:t>### 生产边界</a:t>
            </a:r>
          </a:p>
          <a:p/>
          <a:p>
            <a:r>
              <a:t>官方 Demo 有微信 SDK 回调验签/解密、主动查单、结果缓存和退款实现，但使用内存状态，不能据此承诺生产并发下绝不重复履约。商户需自建持久化与业务事务保障。未实际验证支付成功、旧网关可用性、到账时效或退款。这限制的是运行验证范围，不影响对公开商业模式与协议职责的梳理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png" /><ns0:Relationship Id="rId5" Type="http://schemas.openxmlformats.org/officeDocument/2006/relationships/image" Target="../media/image4.png" /><ns0:Relationship Id="rId6" Type="http://schemas.openxmlformats.org/officeDocument/2006/relationships/image" Target="../media/image5.png" /><ns0:Relationship Id="rId7" Type="http://schemas.openxmlformats.org/officeDocument/2006/relationships/image" Target="../media/image6.png" /><ns0:Relationship Id="rId8" Type="http://schemas.openxmlformats.org/officeDocument/2006/relationships/image" Target="../media/image7.png" /><ns0:Relationship Id="rId9" Type="http://schemas.openxmlformats.org/officeDocument/2006/relationships/image" Target="../media/image8.png" /><ns0:Relationship Id="rId10" Type="http://schemas.openxmlformats.org/officeDocument/2006/relationships/image" Target="../media/image9.png" /><ns0:Relationship Id="rId11" Type="http://schemas.openxmlformats.org/officeDocument/2006/relationships/image" Target="../media/image10.png" /><ns0:Relationship Id="rId12" Type="http://schemas.openxmlformats.org/officeDocument/2006/relationships/image" Target="../media/image11.png" /><ns0:Relationship Id="rId13" Type="http://schemas.openxmlformats.org/officeDocument/2006/relationships/image" Target="../media/image12.png" /><ns0:Relationship Id="rId14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3.png" /><ns0:Relationship Id="rId3" Type="http://schemas.openxmlformats.org/officeDocument/2006/relationships/image" Target="../media/image14.png" /><ns0:Relationship Id="rId4" Type="http://schemas.openxmlformats.org/officeDocument/2006/relationships/image" Target="../media/image15.png" /><ns0:Relationship Id="rId5" Type="http://schemas.openxmlformats.org/officeDocument/2006/relationships/image" Target="../media/image16.png" /><ns0:Relationship Id="rId6" Type="http://schemas.openxmlformats.org/officeDocument/2006/relationships/image" Target="../media/image17.png" /><ns0:Relationship Id="rId7" Type="http://schemas.openxmlformats.org/officeDocument/2006/relationships/image" Target="../media/image18.png" /><ns0:Relationship Id="rId8" Type="http://schemas.openxmlformats.org/officeDocument/2006/relationships/image" Target="../media/image19.png" /><ns0:Relationship Id="rId9" Type="http://schemas.openxmlformats.org/officeDocument/2006/relationships/image" Target="../media/image12.png" /><ns0:Relationship Id="rId10" Type="http://schemas.openxmlformats.org/officeDocument/2006/relationships/notesSlide" Target="../notesSlides/notesSlide2.xml" /></ns0: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商业化程度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381353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已有按次收费供给，平台暂不收技术服务费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758428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327150" y="1141710"/>
            <a:ext cx="31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万条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17538"/>
            <a:ext cx="13825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条目 199,545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290417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10.0%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290417" y="1417538"/>
            <a:ext cx="11463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付费标签 19,962 条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123734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19.3%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8123734" y="1417538"/>
            <a:ext cx="15355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 API Key 标签 38,568 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1862038"/>
            <a:ext cx="13843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付费供给约占一成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186484"/>
            <a:ext cx="2170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付费标签 10.0%，其余条目约 90.0%</a:t>
            </a:r>
            <a:endParaRPr/>
          </a:p>
        </p:txBody>
      </p:sp>
      <p:sp>
        <p:nvSpPr>
          <p:cNvPr id="18" name="形状 18"/>
          <p:cNvSpPr/>
          <p:nvPr/>
        </p:nvSpPr>
        <p:spPr>
          <a:xfrm>
            <a:off x="457200" y="2455664"/>
            <a:ext cx="282277" cy="1651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19" name="形状 19"/>
          <p:cNvSpPr/>
          <p:nvPr/>
        </p:nvSpPr>
        <p:spPr>
          <a:xfrm>
            <a:off x="739477" y="2455664"/>
            <a:ext cx="47823" cy="1651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0" name="形状 20"/>
          <p:cNvSpPr/>
          <p:nvPr/>
        </p:nvSpPr>
        <p:spPr>
          <a:xfrm>
            <a:off x="787301" y="2455664"/>
            <a:ext cx="2971800" cy="165100"/>
          </a:xfrm>
          <a:prstGeom prst="rect">
            <a:avLst/>
          </a:prstGeom>
          <a:solidFill>
            <a:srgbClr val="E9EBEE">
              <a:alpha val="100000"/>
            </a:srgbClr>
          </a:solidFill>
          <a:ln>
            <a:noFill/>
          </a:ln>
        </p:spPr>
      </p:sp>
      <p:pic>
        <p:nvPicPr>
          <p:cNvPr id="21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6014"/>
            <a:ext cx="3302000" cy="361950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457200" y="2817614"/>
            <a:ext cx="59809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paid 标签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2641600" y="2817614"/>
            <a:ext cx="420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17,061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3263900" y="281761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8.5%</a:t>
            </a:r>
            <a:endParaRPr/>
          </a:p>
        </p:txBody>
      </p:sp>
      <p:pic>
        <p:nvPicPr>
          <p:cNvPr id="2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7964"/>
            <a:ext cx="3302000" cy="361950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457200" y="3179564"/>
            <a:ext cx="7095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alipay 标签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2641600" y="3179564"/>
            <a:ext cx="3459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2,901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3263900" y="317956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1.5%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354786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两标签是官网付费识别的两种取值。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3747889"/>
            <a:ext cx="249386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 Skill 目录另计 19,974 条，口径不同。</a:t>
            </a:r>
            <a:endParaRPr/>
          </a:p>
        </p:txBody>
      </p:sp>
      <p:pic>
        <p:nvPicPr>
          <p:cNvPr id="3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74914"/>
            <a:ext cx="3302000" cy="323850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4201914"/>
            <a:ext cx="197911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API Key 依赖与付费分别统计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57200" y="4474964"/>
            <a:ext cx="231298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 Key 占 19.3%，表示外部凭证依赖。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57200" y="4674989"/>
            <a:ext cx="189468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与付费标签交叉的仅约 332 条，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4875014"/>
            <a:ext cx="21678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不能将需 Key 的条目全部算成付费。</a:t>
            </a:r>
            <a:endParaRPr/>
          </a:p>
        </p:txBody>
      </p:sp>
      <p:pic>
        <p:nvPicPr>
          <p:cNvPr id="36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650" y="1849338"/>
            <a:ext cx="3619500" cy="3282255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4108450" y="1862038"/>
            <a:ext cx="17272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主要收费点在远程服务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108450" y="2199184"/>
            <a:ext cx="213826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典型模式：Skill 包免费获取，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4108450" y="2429371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商户后端按服务调用收费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108450" y="2723059"/>
            <a:ext cx="34365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商家自主设定单次价格。Agent 按技能指令调用 API，用户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4108450" y="292308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在支付工具中授权。</a:t>
            </a:r>
            <a:endParaRPr/>
          </a:p>
        </p:txBody>
      </p:sp>
      <p:pic>
        <p:nvPicPr>
          <p:cNvPr id="42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50" y="3250108"/>
            <a:ext cx="3441700" cy="7874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4108450" y="3389809"/>
            <a:ext cx="142557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图片生成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6860580" y="3389809"/>
            <a:ext cx="70227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¥0.36 / 次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108450" y="36565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腾讯科技（深圳）有限公司认证供给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108450" y="3856534"/>
            <a:ext cx="237232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无需用户 API Key，远程生成并交付图片</a:t>
            </a:r>
            <a:endParaRPr/>
          </a:p>
        </p:txBody>
      </p:sp>
      <p:pic>
        <p:nvPicPr>
          <p:cNvPr id="47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8450" y="4164509"/>
            <a:ext cx="3441700" cy="78740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4108450" y="4304209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喜鹊标书解读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7089775" y="4304209"/>
            <a:ext cx="47307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¥1 / 次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108450" y="45709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北京喜鹊云智科技有限公司认证供给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108450" y="4770934"/>
            <a:ext cx="24657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无需用户 API Key，交付摘要和三份 Word</a:t>
            </a:r>
            <a:endParaRPr/>
          </a:p>
        </p:txBody>
      </p:sp>
      <p:pic>
        <p:nvPicPr>
          <p:cNvPr id="52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1600" y="1849338"/>
            <a:ext cx="4013201" cy="3282255"/>
          </a:xfrm>
          <a:prstGeom prst="rect">
            <a:avLst/>
          </a:prstGeom>
        </p:spPr>
      </p:pic>
      <p:sp>
        <p:nvSpPr>
          <p:cNvPr id="53" name="文字 53"/>
          <p:cNvSpPr txBox="1"/>
          <p:nvPr/>
        </p:nvSpPr>
        <p:spPr>
          <a:xfrm>
            <a:off x="7899400" y="1862038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服务商变现，平台暂免服务费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7899400" y="2122984"/>
            <a:ext cx="229890" cy="476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8205490" y="2326184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当前平台技术服务费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899400" y="264368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官网明确暂不收取技术服务费。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899400" y="28437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支付渠道费用及结算仍按渠道规则。</a:t>
            </a:r>
            <a:endParaRPr/>
          </a:p>
        </p:txBody>
      </p:sp>
      <p:pic>
        <p:nvPicPr>
          <p:cNvPr id="58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9400" y="3164384"/>
            <a:ext cx="3835401" cy="349250"/>
          </a:xfrm>
          <a:prstGeom prst="rect">
            <a:avLst/>
          </a:prstGeom>
        </p:spPr>
      </p:pic>
      <p:sp>
        <p:nvSpPr>
          <p:cNvPr id="59" name="文字 59"/>
          <p:cNvSpPr txBox="1"/>
          <p:nvPr/>
        </p:nvSpPr>
        <p:spPr>
          <a:xfrm>
            <a:off x="7899400" y="331043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用户直接付款给创作者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899400" y="3589834"/>
            <a:ext cx="376892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提供展示、投诉处理及平台服务；交易款按渠道规则结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899400" y="3789859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算至绑定账户。</a:t>
            </a:r>
            <a:endParaRPr/>
          </a:p>
        </p:txBody>
      </p:sp>
      <p:pic>
        <p:nvPicPr>
          <p:cNvPr id="62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9400" y="4116884"/>
            <a:ext cx="3835401" cy="3492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7899400" y="4262934"/>
            <a:ext cx="2235201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已证实供给，成交规模仍待披露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899400" y="4542334"/>
            <a:ext cx="231963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全站 GMV、付费转化、复购和平台收入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7899400" y="4742359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未见公开可核验数据。</a:t>
            </a:r>
            <a:endParaRPr/>
          </a:p>
        </p:txBody>
      </p:sp>
      <p:pic>
        <p:nvPicPr>
          <p:cNvPr id="66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258594"/>
            <a:ext cx="11277600" cy="1072356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385594"/>
            <a:ext cx="271581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将服务供给接入 Agent 的工作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5696744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身份与支付准入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5963444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企业认证、绑定微信商户号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个人提供支付宝接入路径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3319463" y="5696744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资产商品化与审核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3319463" y="596344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版本包、按次定价和费用说明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3319463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校验支付链路后审核上架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6181725" y="5696744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发现、分发与宿主接入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6181725" y="5963444"/>
            <a:ext cx="15175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官网、CLI / API 获取 Skill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6181725" y="6156722"/>
            <a:ext cx="14985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向支持支付的 Agent 分发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9043988" y="5696744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支付身份与售后协同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9043988" y="5963444"/>
            <a:ext cx="16128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提供开发者密钥和接入指南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9043988" y="6156722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展示交易边界、协助投诉退款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457200" y="6445250"/>
            <a:ext cx="6668096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口径：2026-10-20 同参数公开 API 的非原子快照，按条目计数，比例为近似值。付费标签不代表已开通微信收款或已成交；paid 标签不能直接等同微信份额。来源及查询链接见备注。</a:t>
            </a:r>
            <a:endParaRPr/>
          </a:p>
        </p:txBody>
      </p:sp>
      <p:pic>
        <p:nvPicPr>
          <p:cNvPr id="81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微信支付机制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632873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 SkillPay 将微信订单接入 Agent，商户验付后履约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682625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71860"/>
            <a:ext cx="246181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在交易前完成接入与分发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38560"/>
            <a:ext cx="81648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企业认证及微信商户绑定，提供开发者密钥，配置按次价格，审核并发布 Skill，接入支持支付的 Agent。实际服务与订单由商户后端承接。</a:t>
            </a:r>
            <a:endParaRPr/>
          </a:p>
        </p:txBody>
      </p:sp>
      <p:pic>
        <p:nvPicPr>
          <p:cNvPr id="11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1785"/>
            <a:ext cx="11277600" cy="393700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1536700" y="1830685"/>
            <a:ext cx="1016992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与用户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457700" y="1830685"/>
            <a:ext cx="10033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商户业务后端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204200" y="1830685"/>
            <a:ext cx="6731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微信支付</a:t>
            </a:r>
            <a:endParaRPr/>
          </a:p>
        </p:txBody>
      </p:sp>
      <p:pic>
        <p:nvPicPr>
          <p:cNvPr id="15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5485"/>
            <a:ext cx="11277600" cy="858937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57200" y="225613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548235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创建订单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536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调用付费业务接口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1536700" y="2512616"/>
            <a:ext cx="22048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读取 Skill 指令，向商户发起业务请求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457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先下传统微信订单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457700" y="2512616"/>
            <a:ext cx="1817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金额、商户订单号、notify_url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457700" y="2705894"/>
            <a:ext cx="18416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Native / JSAPI 等现有支付接口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8204200" y="2256135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返回微信预支付标识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8204200" y="2512616"/>
            <a:ext cx="129599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code_url / prepay_id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8204200" y="2705894"/>
            <a:ext cx="17462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保留原有微信订单及收款主体</a:t>
            </a:r>
            <a:endParaRPr/>
          </a:p>
        </p:txBody>
      </p:sp>
      <p:pic>
        <p:nvPicPr>
          <p:cNvPr id="26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4422"/>
            <a:ext cx="11277600" cy="858937"/>
          </a:xfrm>
          <a:prstGeom prst="rect">
            <a:avLst/>
          </a:prstGeom>
        </p:spPr>
      </p:pic>
      <p:sp>
        <p:nvSpPr>
          <p:cNvPr id="27" name="文字 27"/>
          <p:cNvSpPr txBox="1"/>
          <p:nvPr/>
        </p:nvSpPr>
        <p:spPr>
          <a:xfrm>
            <a:off x="457200" y="3115072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57200" y="340717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申请支付码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1536700" y="3115072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等待商户返回支付请求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536700" y="3371552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商户的签名私钥保留在后端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36700" y="3564831"/>
            <a:ext cx="15569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不下发给 Agent 或 Skill 包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457700" y="3115072"/>
            <a:ext cx="119915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再做 x402 预下单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457700" y="3371552"/>
            <a:ext cx="19676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 SkillHub 开发者 RSA 密钥签名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457700" y="3564831"/>
            <a:ext cx="219273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将既有微信预支付标识登记到 AI 支付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204200" y="3115072"/>
            <a:ext cx="268456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校验开发者身份，返回 payment_code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204200" y="3371552"/>
            <a:ext cx="235406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此码用于拉起支付，有效期最长 15 分钟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204200" y="356483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它本身不证明付款成功</a:t>
            </a:r>
            <a:endParaRPr/>
          </a:p>
        </p:txBody>
      </p:sp>
      <p:pic>
        <p:nvPicPr>
          <p:cNvPr id="38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53359"/>
            <a:ext cx="11277600" cy="858937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457200" y="3974009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57200" y="4266109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用户授权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1536700" y="3974009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支付工具拉起卡片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536700" y="4230489"/>
            <a:ext cx="170596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宿主须支持 weixinpay_ 工具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536700" y="4423767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保留支付码原文，避免模型改写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457700" y="3974009"/>
            <a:ext cx="168027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 HTTP 402 + 支付码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457700" y="4230489"/>
            <a:ext cx="225325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WeixinPay-Required: payment_code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457700" y="4423767"/>
            <a:ext cx="15990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也支持 HTTP 200 兼容投递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8204200" y="3974009"/>
            <a:ext cx="232489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用户扫码到微信 Liteapp 逐笔确认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8204200" y="4230489"/>
            <a:ext cx="12592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 AI 专属卡余额支付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204200" y="4423767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与用户微信主账户资金隔离</a:t>
            </a:r>
            <a:endParaRPr/>
          </a:p>
        </p:txBody>
      </p:sp>
      <p:pic>
        <p:nvPicPr>
          <p:cNvPr id="50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12295"/>
            <a:ext cx="11277600" cy="858937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457200" y="483294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57200" y="5125046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验付交付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536700" y="4832945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继续原任务，获取业务结果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1536700" y="5089426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可沿用原订单关联取回结果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1536700" y="528270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具体重试方式由服务接口约定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457700" y="4832945"/>
            <a:ext cx="18173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以微信回调 / 查单结果验付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457700" y="5089426"/>
            <a:ext cx="2085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验证签名、订单、金额及 SUCCESS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44577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履约并幂等保存结果，失败按需退款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8204200" y="483294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通知商户支付结果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8204200" y="5089426"/>
            <a:ext cx="195867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 notify_url / 微信查单与退款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2042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资金按渠道规则结算至商户绑定账户</a:t>
            </a:r>
            <a:endParaRPr/>
          </a:p>
        </p:txBody>
      </p:sp>
      <p:pic>
        <p:nvPicPr>
          <p:cNvPr id="62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568950"/>
            <a:ext cx="11277600" cy="7683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457200" y="569595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三类凭证用途不同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57200" y="5956300"/>
            <a:ext cx="568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业务 API Key 用于外部服务接入；SkillHub RSA 密钥签名 AI 预下单；微信商户证书与 APIv3 密钥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457200" y="6156325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处理支付请求和回调。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6416675" y="569595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落地需对齐官方接口版本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6416675" y="5956300"/>
            <a:ext cx="524113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微信当前 API 与 SkillHub 教程 / Demo 的端点、鉴权位置和报文结构不同。不能混接；本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416675" y="6156325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次依据官方文档和源码，未真实交易。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6445250"/>
            <a:ext cx="642223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来源：微信 AI 支付接入准备、开发指引、x402 API、FAQ；SkillHub 接入教程、官方商户 Demo 及 WorkRally Skill。详细链接、版本差异与可核验范围见备注和伴生研究文档。</a:t>
            </a:r>
            <a:endParaRPr/>
          </a:p>
        </p:txBody>
      </p:sp>
      <p:pic>
        <p:nvPicPr>
          <p:cNvPr id="70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