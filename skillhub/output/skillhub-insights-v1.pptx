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腾讯 SkillHub 平台洞察 v1，2026-10-19，聚焦 Skill 资产供给、分发、安装与使用。</a:t>
            </a:r>
          </a:p>
          <a:p/>
          <a:p>
            <a:r>
              <a:t>定位：全球开源同步、本土个人/团队共建、企业和产品团队发布共同构成Skill供给。平台提供中文发现、版本文件、安全与质量信号，并通过CLI/API及宿主插件交付到使用环境。此处为基于官方能力的分析。</a:t>
            </a:r>
          </a:p>
          <a:p/>
          <a:p>
            <a:r>
              <a:t>供给：ClawHub等来源贡献全球通用长尾；个人/团队发布本土工具、Prompt和SOP；企业产品包括腾讯文档、ima，垂直样例包括钢联问数、电子印章。平台自身维护查找Skill和TRACE evaluator。来源标签不等于原创身份或质量认证。</a:t>
            </a:r>
          </a:p>
          <a:p/>
          <a:p>
            <a:r>
              <a:t>规模：本次实际API total=199514，分类count=13。下载榜前50条来源：community23（46%）、clawhub14（28%）、enterprise13（26%）。这是下载头部的来源样本，不是全量供给占比。来源筛选总数口径不可相加，未据此作全量推断。</a:t>
            </a:r>
          </a:p>
          <a:p/>
          <a:p>
            <a:r>
              <a:t>消费图：Top50 downloads合计53342548；编程5条19695718（36.92%）；AI Agent11条7057027（13.23%）；知识4条5424014（10.17%）；其他39.68%。四组显示一位小数36.9%、13.2%、10.2%、39.7%。下载不是用户数、活跃度或任务成功率。需求画像按技能能力推断，非真实用户调查。</a:t>
            </a:r>
          </a:p>
          <a:p/>
          <a:p>
            <a:r>
              <a:t>发布：网页、CLI或Agent提交目录/ZIP，成功请求先进入pending_review。GitHub导入是纳入平台发布管理的路径，不等同自动同步所有仓库。平台发布字段与开放Skill内容字段需区分，详见官方发布指引。</a:t>
            </a:r>
          </a:p>
          <a:p/>
          <a:p>
            <a:r>
              <a:t>分发：SkillHub管理版本文件；下载API GET /api/v1/download支持version/tag，302至对象存储。同步来源与下载来源不是同一概念。网页、CLI、Open API和DSH提供不同发现/获取入口。</a:t>
            </a:r>
          </a:p>
          <a:p/>
          <a:p>
            <a:r>
              <a:t>安装：从官网分发包只读核查的CLI版本2026.8.5。命令示例skillhub install &lt;slug&gt; --dir ./skills。默认当前目录./skills，记录.skills_store_lock.json。DSH默认$DSH_HOME/skills，通常~/.dsh/skills，可配置。目标仍须为宿主可发现目录。两者Skill安装流程不执行包内脚本、不自动pip/npm安装依赖。连接与凭据另行准备。</a:t>
            </a:r>
          </a:p>
          <a:p/>
          <a:p>
            <a:r>
              <a:t>版本边界：下载API和DSH支持指定Skill版本。当前CLI install没有--version参数；裸slug版本调用链未统一传递版本，不作所有入口均可固定版本的承诺。CLI更新命令upgrade，依赖包中config更新配置，当前没有uninstall；不在页面泛化这些管理能力。没有发现普通CLI安装自动回退ClawHub原站的链路。</a:t>
            </a:r>
          </a:p>
          <a:p/>
          <a:p>
            <a:r>
              <a:t>使用和试运行：Agent在安装可见后按需加载指令并完成任务。官网云端沙箱/案例流程有实现，本次未执行会话、Skill或上传文件。未安装外部技能、未发布或登录。</a:t>
            </a:r>
          </a:p>
          <a:p/>
          <a:p>
            <a:r>
              <a:t>TRACE：五维质量按维度内均分后五维等权；榜单score、TRACE和安全报告分开。开源evaluator跳过trust.scan，不代表平台完整动态实测。旧样本find-skill-skillhub的评测解释与功能有不一致，原因尚未查明，不推广全站结论。</a:t>
            </a:r>
          </a:p>
          <a:p/>
          <a:p>
            <a:r>
              <a:t>主要来源：</a:t>
            </a:r>
          </a:p>
          <a:p>
            <a:r>
              <a:t>https://github.com/Tencent/skillhub</a:t>
            </a:r>
          </a:p>
          <a:p>
            <a:r>
              <a:t>https://skillhub.cn/tutorials</a:t>
            </a:r>
          </a:p>
          <a:p>
            <a:r>
              <a:t>https://skillhub.cn/ai/release.md</a:t>
            </a:r>
          </a:p>
          <a:p>
            <a:r>
              <a:t>https://skillhub.cn/install/install.sh</a:t>
            </a:r>
          </a:p>
          <a:p>
            <a:r>
              <a:t>https://skillhub-1388575217.cos.ap-guangzhou.myqcloud.com/install/latest.tar.gz</a:t>
            </a:r>
          </a:p>
          <a:p>
            <a:r>
              <a:t>https://github.com/Tencent/skillhub/blob/main/docs/api/skills.md</a:t>
            </a:r>
          </a:p>
          <a:p>
            <a:r>
              <a:t>https://github.com/Tencent/skillhub/blob/main/docs/api/files.md</a:t>
            </a:r>
          </a:p>
          <a:p>
            <a:r>
              <a:t>https://github.com/Tencent/skillhub/blob/main/docs/api/evaluation.md</a:t>
            </a:r>
          </a:p>
          <a:p>
            <a:r>
              <a:t>https://github.com/Tencent/skillhub/blob/main/dsh-plugin/README.md</a:t>
            </a:r>
          </a:p>
          <a:p>
            <a:r>
              <a:t>https://github.com/Tencent/skillhub/blob/main/dsh-plugin/src/install.ts</a:t>
            </a:r>
          </a:p>
          <a:p>
            <a:r>
              <a:t>https://github.com/Tencent/skillhub/blob/main/dsh-plugin/src/config-store.ts</a:t>
            </a:r>
          </a:p>
          <a:p>
            <a:r>
              <a:t>https://api.skillhub.cn/api/skills?sortBy=downloads&amp;order=desc&amp;pageSize=50</a:t>
            </a:r>
          </a:p>
          <a:p>
            <a:r>
              <a:t>https://api.skillhub.cn/api/v1/categories</a:t>
            </a:r>
          </a:p>
          <a:p/>
          <a:p>
            <a:r>
              <a:t>本地证据：research-supply-distribution-install-v1.md、statistics-v1.json、sources/v1/。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image" Target="../media/image3.png" /><ns0:Relationship Id="rId5" Type="http://schemas.openxmlformats.org/officeDocument/2006/relationships/image" Target="../media/image4.png" /><ns0:Relationship Id="rId6" Type="http://schemas.openxmlformats.org/officeDocument/2006/relationships/image" Target="../media/image5.png" /><ns0:Relationship Id="rId7" Type="http://schemas.openxmlformats.org/officeDocument/2006/relationships/image" Target="../media/image6.png" /><ns0:Relationship Id="rId8" Type="http://schemas.openxmlformats.org/officeDocument/2006/relationships/image" Target="../media/image7.png" /><ns0:Relationship Id="rId9" Type="http://schemas.openxmlformats.org/officeDocument/2006/relationships/image" Target="../media/image8.png" /><ns0:Relationship Id="rId10" Type="http://schemas.openxmlformats.org/officeDocument/2006/relationships/image" Target="../media/image9.png" /><ns0:Relationship Id="rId11" Type="http://schemas.openxmlformats.org/officeDocument/2006/relationships/image" Target="../media/image10.png" /><ns0:Relationship Id="rId12" Type="http://schemas.openxmlformats.org/officeDocument/2006/relationships/image" Target="../media/image11.png" /><ns0:Relationship Id="rId13" Type="http://schemas.openxmlformats.org/officeDocument/2006/relationships/image" Target="../media/image12.png" /><ns0:Relationship Id="rId14" Type="http://schemas.openxmlformats.org/officeDocument/2006/relationships/image" Target="../media/image13.png" /><ns0:Relationship Id="rId15" Type="http://schemas.openxmlformats.org/officeDocument/2006/relationships/image" Target="../media/image14.png" /><ns0:Relationship Id="rId16" Type="http://schemas.openxmlformats.org/officeDocument/2006/relationships/image" Target="../media/image15.png" /><ns0:Relationship Id="rId17" Type="http://schemas.openxmlformats.org/officeDocument/2006/relationships/image" Target="../media/image16.png" /><ns0:Relationship Id="rId18" Type="http://schemas.openxmlformats.org/officeDocument/2006/relationships/image" Target="../media/image17.png" /><ns0:Relationship Id="rId19" Type="http://schemas.openxmlformats.org/officeDocument/2006/relationships/image" Target="../media/image18.png" /><ns0:Relationship Id="rId20" Type="http://schemas.openxmlformats.org/officeDocument/2006/relationships/image" Target="../media/image19.png" /><ns0:Relationship Id="rId21" Type="http://schemas.openxmlformats.org/officeDocument/2006/relationships/notesSlide" Target="../notesSlides/notesSlide1.xml" /></ns0: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洞察V1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38340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平台洞察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85372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围绕 Skill 打通生态供给、可信分发与宿主安装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2160"/>
            <a:ext cx="11277600" cy="6604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982960"/>
            <a:ext cx="81280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25730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万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344910"/>
            <a:ext cx="13174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条目数 199,514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2489200" y="982960"/>
            <a:ext cx="33278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80928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489200" y="1344910"/>
            <a:ext cx="14605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一级分类，覆盖通用与行业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047651"/>
            <a:ext cx="7594600" cy="42306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305300" y="1060351"/>
            <a:ext cx="254506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面向中国用户的 Skill 发现与分发平台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05300" y="1296491"/>
            <a:ext cx="3213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全球同步补齐长尾，本土原创与企业供给扩展任务覆盖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1770360"/>
            <a:ext cx="22415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生态供给：同步、原创与企业</a:t>
            </a:r>
            <a:endParaRPr/>
          </a:p>
        </p:txBody>
      </p:sp>
      <p:pic>
        <p:nvPicPr>
          <p:cNvPr id="19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60"/>
            <a:ext cx="3016250" cy="562471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457200" y="2100560"/>
            <a:ext cx="145484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全球同步：ClawHub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57200" y="2317651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中文描述与国内下载，补齐长尾覆盖</a:t>
            </a:r>
            <a:endParaRPr/>
          </a:p>
        </p:txBody>
      </p:sp>
      <p:pic>
        <p:nvPicPr>
          <p:cNvPr id="22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74131"/>
            <a:ext cx="3016250" cy="575171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457200" y="2663031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个人与社区发布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57200" y="2892822"/>
            <a:ext cx="260885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本土工具、Prompt 与 SOP，网页 / CLI 接入</a:t>
            </a:r>
            <a:endParaRPr/>
          </a:p>
        </p:txBody>
      </p:sp>
      <p:pic>
        <p:nvPicPr>
          <p:cNvPr id="25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49303"/>
            <a:ext cx="3016250" cy="780851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457200" y="3238202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企业与产品团队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57200" y="3467993"/>
            <a:ext cx="158154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官方产品：腾讯文档、ima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57200" y="367367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垂直领域：钢联问数、电子印章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4019054"/>
            <a:ext cx="218241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平台自供给：技能查找、TRACE 评测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57200" y="4476750"/>
            <a:ext cx="151358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下载榜 Top50 来源条目占比</a:t>
            </a:r>
            <a:endParaRPr/>
          </a:p>
        </p:txBody>
      </p:sp>
      <p:sp>
        <p:nvSpPr>
          <p:cNvPr id="31" name="形状 31"/>
          <p:cNvSpPr/>
          <p:nvPr/>
        </p:nvSpPr>
        <p:spPr>
          <a:xfrm>
            <a:off x="457200" y="4679950"/>
            <a:ext cx="1387475" cy="1016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32" name="形状 32"/>
          <p:cNvSpPr/>
          <p:nvPr/>
        </p:nvSpPr>
        <p:spPr>
          <a:xfrm>
            <a:off x="1844675" y="4679950"/>
            <a:ext cx="844550" cy="1016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3" name="形状 33"/>
          <p:cNvSpPr/>
          <p:nvPr/>
        </p:nvSpPr>
        <p:spPr>
          <a:xfrm>
            <a:off x="2689225" y="4679950"/>
            <a:ext cx="784225" cy="101600"/>
          </a:xfrm>
          <a:prstGeom prst="rect">
            <a:avLst/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457200" y="4845050"/>
            <a:ext cx="52615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 46%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1573411" y="4845050"/>
            <a:ext cx="79652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28%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2959993" y="4845050"/>
            <a:ext cx="52615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 26%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457200" y="5048250"/>
            <a:ext cx="15240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供给渠道样本，不代表全量结构</a:t>
            </a:r>
            <a:endParaRPr/>
          </a:p>
        </p:txBody>
      </p:sp>
      <p:pic>
        <p:nvPicPr>
          <p:cNvPr id="38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1744960"/>
            <a:ext cx="3873500" cy="3442593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37973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分发安装：从平台到宿主</a:t>
            </a:r>
            <a:endParaRPr/>
          </a:p>
        </p:txBody>
      </p:sp>
      <p:sp>
        <p:nvSpPr>
          <p:cNvPr id="40" name="形状 40"/>
          <p:cNvSpPr/>
          <p:nvPr/>
        </p:nvSpPr>
        <p:spPr>
          <a:xfrm>
            <a:off x="3797300" y="2119610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1" name="文字 41"/>
          <p:cNvSpPr txBox="1"/>
          <p:nvPr/>
        </p:nvSpPr>
        <p:spPr>
          <a:xfrm>
            <a:off x="3837881" y="2154535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4140200" y="2132310"/>
            <a:ext cx="154652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发布：目录或 ZIP 入库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4140200" y="2362101"/>
            <a:ext cx="24223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网页 / CLI / Agent 发布，版本审核后可见</a:t>
            </a:r>
            <a:endParaRPr/>
          </a:p>
        </p:txBody>
      </p:sp>
      <p:sp>
        <p:nvSpPr>
          <p:cNvPr id="44" name="形状 44"/>
          <p:cNvSpPr/>
          <p:nvPr/>
        </p:nvSpPr>
        <p:spPr>
          <a:xfrm>
            <a:off x="3797300" y="2807891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5" name="文字 45"/>
          <p:cNvSpPr txBox="1"/>
          <p:nvPr/>
        </p:nvSpPr>
        <p:spPr>
          <a:xfrm>
            <a:off x="3837881" y="284281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140200" y="2820591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分发：检索后获取版本包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4140200" y="3050381"/>
            <a:ext cx="224403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榜单、搜索与 API；指定版本 ZIP 下载</a:t>
            </a:r>
            <a:endParaRPr/>
          </a:p>
        </p:txBody>
      </p:sp>
      <p:sp>
        <p:nvSpPr>
          <p:cNvPr id="48" name="形状 48"/>
          <p:cNvSpPr/>
          <p:nvPr/>
        </p:nvSpPr>
        <p:spPr>
          <a:xfrm>
            <a:off x="3797300" y="3496171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9" name="文字 49"/>
          <p:cNvSpPr txBox="1"/>
          <p:nvPr/>
        </p:nvSpPr>
        <p:spPr>
          <a:xfrm>
            <a:off x="3837881" y="353109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140200" y="3508871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安装：文件落到宿主目录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140200" y="3738662"/>
            <a:ext cx="241607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CLI 默认 ./skills；DSH 默认 ~/.dsh/skills</a:t>
            </a:r>
            <a:endParaRPr/>
          </a:p>
        </p:txBody>
      </p:sp>
      <p:sp>
        <p:nvSpPr>
          <p:cNvPr id="52" name="形状 52"/>
          <p:cNvSpPr/>
          <p:nvPr/>
        </p:nvSpPr>
        <p:spPr>
          <a:xfrm>
            <a:off x="3797300" y="4184452"/>
            <a:ext cx="241300" cy="2413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3" name="文字 53"/>
          <p:cNvSpPr txBox="1"/>
          <p:nvPr/>
        </p:nvSpPr>
        <p:spPr>
          <a:xfrm>
            <a:off x="3837881" y="4219377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4140200" y="4197152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使用：宿主加载并执行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4140200" y="4426942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依赖与账号需就绪；云端案例未实跑</a:t>
            </a:r>
            <a:endParaRPr/>
          </a:p>
        </p:txBody>
      </p:sp>
      <p:pic>
        <p:nvPicPr>
          <p:cNvPr id="56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300" y="4708823"/>
            <a:ext cx="3708400" cy="478730"/>
          </a:xfrm>
          <a:prstGeom prst="rect">
            <a:avLst/>
          </a:prstGeom>
        </p:spPr>
      </p:pic>
      <p:sp>
        <p:nvSpPr>
          <p:cNvPr id="57" name="文字 57"/>
          <p:cNvSpPr txBox="1"/>
          <p:nvPr/>
        </p:nvSpPr>
        <p:spPr>
          <a:xfrm>
            <a:off x="3797300" y="4791373"/>
            <a:ext cx="276354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install &lt;slug&gt; --dir ./skills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797300" y="5013623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不自动装依赖，安装目录须被宿主发现。</a:t>
            </a:r>
            <a:endParaRPr/>
          </a:p>
        </p:txBody>
      </p:sp>
      <p:pic>
        <p:nvPicPr>
          <p:cNvPr id="59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4450" y="1744960"/>
            <a:ext cx="4070350" cy="3442593"/>
          </a:xfrm>
          <a:prstGeom prst="rect">
            <a:avLst/>
          </a:prstGeom>
        </p:spPr>
      </p:pic>
      <p:sp>
        <p:nvSpPr>
          <p:cNvPr id="60" name="文字 60"/>
          <p:cNvSpPr txBox="1"/>
          <p:nvPr/>
        </p:nvSpPr>
        <p:spPr>
          <a:xfrm>
            <a:off x="7829550" y="1770360"/>
            <a:ext cx="2413001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消费画像：通用任务与专业服务</a:t>
            </a:r>
            <a:endParaRPr/>
          </a:p>
        </p:txBody>
      </p:sp>
      <p:pic>
        <p:nvPicPr>
          <p:cNvPr id="61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9550" y="2043410"/>
            <a:ext cx="3905251" cy="345380"/>
          </a:xfrm>
          <a:prstGeom prst="rect">
            <a:avLst/>
          </a:prstGeom>
        </p:spPr>
      </p:pic>
      <p:sp>
        <p:nvSpPr>
          <p:cNvPr id="62" name="文字 62"/>
          <p:cNvSpPr txBox="1"/>
          <p:nvPr/>
        </p:nvSpPr>
        <p:spPr>
          <a:xfrm>
            <a:off x="7829550" y="2132310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研发任务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8528050" y="2132310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编程、浏览器操作、技能发现与自改进</a:t>
            </a:r>
            <a:endParaRPr/>
          </a:p>
        </p:txBody>
      </p:sp>
      <p:pic>
        <p:nvPicPr>
          <p:cNvPr id="64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9550" y="2388791"/>
            <a:ext cx="3905251" cy="345381"/>
          </a:xfrm>
          <a:prstGeom prst="rect">
            <a:avLst/>
          </a:prstGeom>
        </p:spPr>
      </p:pic>
      <p:sp>
        <p:nvSpPr>
          <p:cNvPr id="65" name="文字 65"/>
          <p:cNvSpPr txBox="1"/>
          <p:nvPr/>
        </p:nvSpPr>
        <p:spPr>
          <a:xfrm>
            <a:off x="7829550" y="247769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知识办公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8528050" y="247769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摘要、文档协作、数据与内容处理</a:t>
            </a:r>
            <a:endParaRPr/>
          </a:p>
        </p:txBody>
      </p:sp>
      <p:pic>
        <p:nvPicPr>
          <p:cNvPr id="67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9550" y="2734171"/>
            <a:ext cx="3905251" cy="345380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7829550" y="282307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行业业务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8528050" y="2823071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专业数据查询、业务接口与服务对接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7829550" y="3225601"/>
            <a:ext cx="2174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Top50 样本内，下载记录的类别占比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7829550" y="3517702"/>
            <a:ext cx="4953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72" name="形状 72"/>
          <p:cNvSpPr/>
          <p:nvPr/>
        </p:nvSpPr>
        <p:spPr>
          <a:xfrm>
            <a:off x="8489950" y="353357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3" name="形状 73"/>
          <p:cNvSpPr/>
          <p:nvPr/>
        </p:nvSpPr>
        <p:spPr>
          <a:xfrm>
            <a:off x="8489950" y="3533577"/>
            <a:ext cx="1015108" cy="101600"/>
          </a:xfrm>
          <a:prstGeom prst="roundRect">
            <a:avLst>
              <a:gd name="adj" fmla="val 18750"/>
            </a:avLst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74" name="文字 74"/>
          <p:cNvSpPr txBox="1"/>
          <p:nvPr/>
        </p:nvSpPr>
        <p:spPr>
          <a:xfrm>
            <a:off x="11372850" y="350500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7829550" y="3765352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76" name="形状 76"/>
          <p:cNvSpPr/>
          <p:nvPr/>
        </p:nvSpPr>
        <p:spPr>
          <a:xfrm>
            <a:off x="8489950" y="378122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7" name="形状 77"/>
          <p:cNvSpPr/>
          <p:nvPr/>
        </p:nvSpPr>
        <p:spPr>
          <a:xfrm>
            <a:off x="8489950" y="3781227"/>
            <a:ext cx="363736" cy="101600"/>
          </a:xfrm>
          <a:prstGeom prst="roundRect">
            <a:avLst>
              <a:gd name="adj" fmla="val 1875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78" name="文字 78"/>
          <p:cNvSpPr txBox="1"/>
          <p:nvPr/>
        </p:nvSpPr>
        <p:spPr>
          <a:xfrm>
            <a:off x="11372850" y="375265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829550" y="4013002"/>
            <a:ext cx="4953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80" name="形状 80"/>
          <p:cNvSpPr/>
          <p:nvPr/>
        </p:nvSpPr>
        <p:spPr>
          <a:xfrm>
            <a:off x="8489950" y="402887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1" name="形状 81"/>
          <p:cNvSpPr/>
          <p:nvPr/>
        </p:nvSpPr>
        <p:spPr>
          <a:xfrm>
            <a:off x="8489950" y="4028877"/>
            <a:ext cx="279599" cy="101600"/>
          </a:xfrm>
          <a:prstGeom prst="roundRect">
            <a:avLst>
              <a:gd name="adj" fmla="val 1875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2" name="文字 82"/>
          <p:cNvSpPr txBox="1"/>
          <p:nvPr/>
        </p:nvSpPr>
        <p:spPr>
          <a:xfrm>
            <a:off x="11372850" y="400030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10.2%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7829550" y="4260652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84" name="形状 84"/>
          <p:cNvSpPr/>
          <p:nvPr/>
        </p:nvSpPr>
        <p:spPr>
          <a:xfrm>
            <a:off x="8489950" y="4276527"/>
            <a:ext cx="2749550" cy="101600"/>
          </a:xfrm>
          <a:prstGeom prst="roundRect">
            <a:avLst>
              <a:gd name="adj" fmla="val 1875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5" name="形状 85"/>
          <p:cNvSpPr/>
          <p:nvPr/>
        </p:nvSpPr>
        <p:spPr>
          <a:xfrm>
            <a:off x="8489950" y="4276527"/>
            <a:ext cx="1091010" cy="101600"/>
          </a:xfrm>
          <a:prstGeom prst="roundRect">
            <a:avLst>
              <a:gd name="adj" fmla="val 18750"/>
            </a:avLst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86" name="文字 86"/>
          <p:cNvSpPr txBox="1"/>
          <p:nvPr/>
        </p:nvSpPr>
        <p:spPr>
          <a:xfrm>
            <a:off x="11372850" y="424795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7829550" y="4521002"/>
            <a:ext cx="238849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编程类 5 条贡献 36.9%，AI Agent 有 11 条。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829550" y="4689872"/>
            <a:ext cx="182245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下载不代表活跃用户或任务成功。</a:t>
            </a:r>
            <a:endParaRPr/>
          </a:p>
        </p:txBody>
      </p:sp>
      <p:sp>
        <p:nvSpPr>
          <p:cNvPr id="89" name="文字 89"/>
          <p:cNvSpPr txBox="1"/>
          <p:nvPr/>
        </p:nvSpPr>
        <p:spPr>
          <a:xfrm>
            <a:off x="7829550" y="5048250"/>
            <a:ext cx="20637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消费需求按技能能力推断，非真实用户分群</a:t>
            </a:r>
            <a:endParaRPr/>
          </a:p>
        </p:txBody>
      </p:sp>
      <p:pic>
        <p:nvPicPr>
          <p:cNvPr id="90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333603"/>
            <a:ext cx="11277600" cy="1181497"/>
          </a:xfrm>
          <a:prstGeom prst="rect">
            <a:avLst/>
          </a:prstGeom>
        </p:spPr>
      </p:pic>
      <p:sp>
        <p:nvSpPr>
          <p:cNvPr id="91" name="文字 91"/>
          <p:cNvSpPr txBox="1"/>
          <p:nvPr/>
        </p:nvSpPr>
        <p:spPr>
          <a:xfrm>
            <a:off x="457200" y="5479653"/>
            <a:ext cx="148222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五维质量评测 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1926729" y="5511403"/>
            <a:ext cx="13398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维度内均分后，五维等权</a:t>
            </a:r>
            <a:endParaRPr/>
          </a:p>
        </p:txBody>
      </p:sp>
      <p:pic>
        <p:nvPicPr>
          <p:cNvPr id="93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759053"/>
            <a:ext cx="1337568" cy="435571"/>
          </a:xfrm>
          <a:prstGeom prst="rect">
            <a:avLst/>
          </a:prstGeom>
        </p:spPr>
      </p:pic>
      <p:sp>
        <p:nvSpPr>
          <p:cNvPr id="94" name="文字 94"/>
          <p:cNvSpPr txBox="1"/>
          <p:nvPr/>
        </p:nvSpPr>
        <p:spPr>
          <a:xfrm>
            <a:off x="457200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95" name="文字 95"/>
          <p:cNvSpPr txBox="1"/>
          <p:nvPr/>
        </p:nvSpPr>
        <p:spPr>
          <a:xfrm>
            <a:off x="548680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可信度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457200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安全与本土可用</a:t>
            </a:r>
            <a:endParaRPr/>
          </a:p>
        </p:txBody>
      </p:sp>
      <p:pic>
        <p:nvPicPr>
          <p:cNvPr id="97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0968" y="5759053"/>
            <a:ext cx="1337568" cy="435571"/>
          </a:xfrm>
          <a:prstGeom prst="rect">
            <a:avLst/>
          </a:prstGeom>
        </p:spPr>
      </p:pic>
      <p:sp>
        <p:nvSpPr>
          <p:cNvPr id="98" name="文字 98"/>
          <p:cNvSpPr txBox="1"/>
          <p:nvPr/>
        </p:nvSpPr>
        <p:spPr>
          <a:xfrm>
            <a:off x="1870968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99" name="文字 99"/>
          <p:cNvSpPr txBox="1"/>
          <p:nvPr/>
        </p:nvSpPr>
        <p:spPr>
          <a:xfrm>
            <a:off x="1962448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1870968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功能与异常处理</a:t>
            </a:r>
            <a:endParaRPr/>
          </a:p>
        </p:txBody>
      </p:sp>
      <p:pic>
        <p:nvPicPr>
          <p:cNvPr id="101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736" y="5759053"/>
            <a:ext cx="1337568" cy="435571"/>
          </a:xfrm>
          <a:prstGeom prst="rect">
            <a:avLst/>
          </a:prstGeom>
        </p:spPr>
      </p:pic>
      <p:sp>
        <p:nvSpPr>
          <p:cNvPr id="102" name="文字 102"/>
          <p:cNvSpPr txBox="1"/>
          <p:nvPr/>
        </p:nvSpPr>
        <p:spPr>
          <a:xfrm>
            <a:off x="3284736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3376216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104" name="文字 104"/>
          <p:cNvSpPr txBox="1"/>
          <p:nvPr/>
        </p:nvSpPr>
        <p:spPr>
          <a:xfrm>
            <a:off x="3284736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触发条件与边界</a:t>
            </a:r>
            <a:endParaRPr/>
          </a:p>
        </p:txBody>
      </p:sp>
      <p:pic>
        <p:nvPicPr>
          <p:cNvPr id="105" name="slide-001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98504" y="5759053"/>
            <a:ext cx="1337568" cy="435571"/>
          </a:xfrm>
          <a:prstGeom prst="rect">
            <a:avLst/>
          </a:prstGeom>
        </p:spPr>
      </p:pic>
      <p:sp>
        <p:nvSpPr>
          <p:cNvPr id="106" name="文字 106"/>
          <p:cNvSpPr txBox="1"/>
          <p:nvPr/>
        </p:nvSpPr>
        <p:spPr>
          <a:xfrm>
            <a:off x="4698504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107" name="文字 107"/>
          <p:cNvSpPr txBox="1"/>
          <p:nvPr/>
        </p:nvSpPr>
        <p:spPr>
          <a:xfrm>
            <a:off x="4789984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4698504" y="603845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结构与文档</a:t>
            </a:r>
            <a:endParaRPr/>
          </a:p>
        </p:txBody>
      </p:sp>
      <p:pic>
        <p:nvPicPr>
          <p:cNvPr id="109" name="slide-001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12272" y="5759053"/>
            <a:ext cx="1337667" cy="435571"/>
          </a:xfrm>
          <a:prstGeom prst="rect">
            <a:avLst/>
          </a:prstGeom>
        </p:spPr>
      </p:pic>
      <p:sp>
        <p:nvSpPr>
          <p:cNvPr id="110" name="文字 110"/>
          <p:cNvSpPr txBox="1"/>
          <p:nvPr/>
        </p:nvSpPr>
        <p:spPr>
          <a:xfrm>
            <a:off x="6112272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111" name="文字 111"/>
          <p:cNvSpPr txBox="1"/>
          <p:nvPr/>
        </p:nvSpPr>
        <p:spPr>
          <a:xfrm>
            <a:off x="6203752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6112272" y="6038453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准确、完整、可用</a:t>
            </a:r>
            <a:endParaRPr/>
          </a:p>
        </p:txBody>
      </p:sp>
      <p:sp>
        <p:nvSpPr>
          <p:cNvPr id="113" name="文字 113"/>
          <p:cNvSpPr txBox="1"/>
          <p:nvPr/>
        </p:nvSpPr>
        <p:spPr>
          <a:xfrm>
            <a:off x="457200" y="6296223"/>
            <a:ext cx="338832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热度 score、TRACE 质量分与双路安全报告分别表达不同信号。</a:t>
            </a:r>
            <a:endParaRPr/>
          </a:p>
        </p:txBody>
      </p:sp>
      <p:pic>
        <p:nvPicPr>
          <p:cNvPr id="114" name="slide-001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1389" y="5454253"/>
            <a:ext cx="4113411" cy="1060846"/>
          </a:xfrm>
          <a:prstGeom prst="rect">
            <a:avLst/>
          </a:prstGeom>
        </p:spPr>
      </p:pic>
      <p:sp>
        <p:nvSpPr>
          <p:cNvPr id="115" name="文字 115"/>
          <p:cNvSpPr txBox="1"/>
          <p:nvPr/>
        </p:nvSpPr>
        <p:spPr>
          <a:xfrm>
            <a:off x="7773790" y="5479653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平台建设启示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7773790" y="5746353"/>
            <a:ext cx="22048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以 Skill 为管理单元，贯通来源版本、</a:t>
            </a:r>
            <a:endParaRPr/>
          </a:p>
        </p:txBody>
      </p:sp>
      <p:sp>
        <p:nvSpPr>
          <p:cNvPr id="117" name="文字 117"/>
          <p:cNvSpPr txBox="1"/>
          <p:nvPr/>
        </p:nvSpPr>
        <p:spPr>
          <a:xfrm>
            <a:off x="7773790" y="5939631"/>
            <a:ext cx="227964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安装条件、质量证据和实际任务结果。</a:t>
            </a:r>
            <a:endParaRPr/>
          </a:p>
        </p:txBody>
      </p:sp>
      <p:sp>
        <p:nvSpPr>
          <p:cNvPr id="118" name="文字 118"/>
          <p:cNvSpPr txBox="1"/>
          <p:nvPr/>
        </p:nvSpPr>
        <p:spPr>
          <a:xfrm>
            <a:off x="7773790" y="6190060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待核查：统计口径与评测版本一致性；</a:t>
            </a:r>
            <a:endParaRPr/>
          </a:p>
        </p:txBody>
      </p:sp>
      <p:sp>
        <p:nvSpPr>
          <p:cNvPr id="119" name="文字 119"/>
          <p:cNvSpPr txBox="1"/>
          <p:nvPr/>
        </p:nvSpPr>
        <p:spPr>
          <a:xfrm>
            <a:off x="7773790" y="6358930"/>
            <a:ext cx="204598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开源 evaluator 不等于全量动态实测。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457200" y="6597650"/>
            <a:ext cx="3730724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来源：腾讯官方仓库、官网及公开 API，本次只读核查；详细口径与链接见 PPT 备注和伴生调研文档。</a:t>
            </a:r>
            <a:endParaRPr/>
          </a:p>
        </p:txBody>
      </p:sp>
      <p:pic>
        <p:nvPicPr>
          <p:cNvPr id="121" name="slide-001-image-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