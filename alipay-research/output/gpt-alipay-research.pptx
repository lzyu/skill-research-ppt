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r="http://schemas.openxmlformats.org/officeDocument/2006/relationships"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presentation>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slide" Target="slides/slide1.xml" /><ns0:Relationship Id="rId3" Type="http://schemas.openxmlformats.org/officeDocument/2006/relationships/slide" Target="slides/slide2.xml" /><ns0:Relationship Id="rId4" Type="http://schemas.openxmlformats.org/officeDocument/2006/relationships/slide" Target="slides/slide3.xml" /><ns0:Relationship Id="rId5" Type="http://schemas.openxmlformats.org/officeDocument/2006/relationships/slide" Target="slides/slide4.xml" /><ns0:Relationship Id="rId6" Type="http://schemas.openxmlformats.org/officeDocument/2006/relationships/notesMaster" Target="notesMasters/notesMaster1.xml"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xml" /></ns0:Relationships>
</file>

<file path=ppt/notesSlides/_rels/notesSlide2.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xml" /></ns0:Relationships>
</file>

<file path=ppt/notesSlides/_rels/notesSlide3.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3.xml" /></ns0:Relationships>
</file>

<file path=ppt/notesSlides/_rels/notesSlide4.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4.xml" /></ns0: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结论先行</a:t>
            </a:r>
          </a:p>
          <a:p/>
          <a:p>
            <a:r>
              <a:t>SkillPay 当前官网所讨论的对象是 **Skill 商品化**：作者上传完整 Skill，由平台接住审核、定价、试用、订单、支付恢复、权益、交付和版本经营。它将两种截然不同的商品放在同一支付入口后面：</a:t>
            </a:r>
          </a:p>
          <a:p/>
          <a:p>
            <a:r>
              <a:t>1. **买断制：交付完整 Skill 源文件。** 用户取得可本地使用的文件；2026-09-29 起一次购买可下载同一 Skill 的全部版本。</a:t>
            </a:r>
          </a:p>
          <a:p>
            <a:r>
              <a:t>2. **周期订阅：交付一段期限内的使用权益。** 完整原文保留云端，每次根据当前任务生成有限的执行指导，再由用户的本地 Agent 完成执行和回答。它不是把整份 Skill 加密下载，也不是默认由云端代运行脚本。</a:t>
            </a:r>
          </a:p>
          <a:p/>
          <a:p>
            <a:r>
              <a:t>402 是“现在缺少付费权益，请先完成交易再恢复这个请求”的握手。**付款成功、权益可用、资源交付、本地执行完成，是四件不同的事情。** 不能把收银台出现、用户口头表示已付款、CLI 返回支付成功，等同于 Skill 已安装或任务已完成。</a:t>
            </a:r>
          </a:p>
          <a:p/>
          <a:p>
            <a:r>
              <a:t>来源：[商业化技术博客](https://skillpay.alipay.com/blog/good-world-skills-get-paid)、[更新日志](https://skillpay.alipay.com/changelog)、[402 官方 Agent 接入规则](https://github.com/alipay/payment-skills/blob/main/alipay-payment-skill/references/402-payment.md)。</a:t>
            </a:r>
          </a:p>
          <a:p/>
          <a:p/>
          <a:p>
            <a:r>
              <a:t>## 一、先把几个相似名字分开</a:t>
            </a:r>
          </a:p>
          <a:p/>
          <a:p>
            <a:r>
              <a:t>| 对象 | 实际职责 | 本次证据边界 |</a:t>
            </a:r>
          </a:p>
          <a:p>
            <a:r>
              <a:t>|---|---|---|</a:t>
            </a:r>
          </a:p>
          <a:p>
            <a:r>
              <a:t>| SkillPay 商品平台 `skillpay.alipay.com` | 已做好的 Skill 上传、售卖、周期权益、原文保护、版本交付和作者经营 | 当前官网、三篇博客、公开页面和其公开前端代码可核实 |</a:t>
            </a:r>
          </a:p>
          <a:p>
            <a:r>
              <a:t>| 支付宝 AI 付 / Agent 支付 | 让 Agent 调用支付宝完成钱包开通、授权、支付、查询与支付后的恢复 | 官方 `alipay/payment-skills` 是 Agent 侧操作编排，不是 SkillPay 服务端源码 |</a:t>
            </a:r>
          </a:p>
          <a:p>
            <a:r>
              <a:t>| 402 / Payment-Needed 协议链路 | 在 HTTP 请求里表达付费要求，完成支付后重试原资源请求 | 官方 CLI 文档能核实消费侧契约；不等于公开了全部支付后端实现 |</a:t>
            </a:r>
          </a:p>
          <a:p>
            <a:r>
              <a:t>| AI 付文档中的传统“SkillPay”供给接入 | 可能泛指已有生活服务/商品供给的 Skill 接入 | 需要结合 `aipay.alipay.com` 文档单独辨识，不能和这里的 Skill 文件商品强行合并 |</a:t>
            </a:r>
          </a:p>
          <a:p>
            <a:r>
              <a:t>| 本机 `skillpay-onboarding` | 这台设备安装的某个工作流技能 | 不能当作当前官网服务端实现依据，本研究未用其推导线上协议 |</a:t>
            </a:r>
          </a:p>
          <a:p/>
          <a:p>
            <a:r>
              <a:t>补充：截至本次读取，`https://skillpay.alipay.com/llms.txt` 仍列旧版 AI 付产品索引；它指向的 `/docs/overview.md`、`/docs/llms.txt`、`/.well-known/api-catalog`、`/.well-known/skills/index.json` 均返回 404。这说明索引存在失配，**不能把它当成当前商品平台的完整 API 规范**。原响应存于 `sources/skillpay/llms.txt`。</a:t>
            </a:r>
          </a:p>
          <a:p/>
          <a:p/>
          <a:p>
            <a:r>
              <a:t>## 二、商品化之前，作者实际交给平台什么</a:t>
            </a:r>
          </a:p>
          <a:p/>
          <a:p>
            <a:r>
              <a:t>公开上架页支持 `.zip`、`.md`、文件夹，单文件最大 20 MB；作者填写名称、描述、买断/订阅模式、周期价格、免费试用次数，提交扫描审核。收费模式一旦选定不可更改。当前可见周期为周、月、季度；月为 30 天，且不自动续费。订阅商品默认使用最新版本。</a:t>
            </a:r>
          </a:p>
          <a:p/>
          <a:p>
            <a:r>
              <a:t>来源：[官方商品上架页](https://skillpay.alipay.com/creator/product-new)。此页的成功/失败占位状态同时存在于 SSR HTML，不代表任何具体商品的真实审核结果。</a:t>
            </a:r>
          </a:p>
          <a:p/>
          <a:p>
            <a:r>
              <a:t>公开前端的对象模型还揭示了平台把上传文件转成商品的方式（仅是客户端契约观察，不宣称后端一定逐字段照做）：</a:t>
            </a:r>
          </a:p>
          <a:p/>
          <a:p>
            <a:r>
              <a:t>```text</a:t>
            </a:r>
          </a:p>
          <a:p>
            <a:r>
              <a:t>上传源 Skill</a:t>
            </a:r>
          </a:p>
          <a:p>
            <a:r>
              <a:t>  → 文件检查 `/skillpay/skillfile/check.json`</a:t>
            </a:r>
          </a:p>
          <a:p>
            <a:r>
              <a:t>  → 响应 originUrl</a:t>
            </a:r>
          </a:p>
          <a:p>
            <a:r>
              <a:t>  → 创建 productType=SKILL 商品</a:t>
            </a:r>
          </a:p>
          <a:p>
            <a:r>
              <a:t>       profile.extraParams.source_skills = 源文件地址</a:t>
            </a:r>
          </a:p>
          <a:p>
            <a:r>
              <a:t>       profile.extraParams.desc_skills   = 后续支付集成/描述包地址</a:t>
            </a:r>
          </a:p>
          <a:p>
            <a:r>
              <a:t>       specifications / options          = 套餐规格</a:t>
            </a:r>
          </a:p>
          <a:p>
            <a:r>
              <a:t>       pricingPlans                      = 定价方案</a:t>
            </a:r>
          </a:p>
          <a:p>
            <a:r>
              <a:t>       skus                              = 可售 SKU</a:t>
            </a:r>
          </a:p>
          <a:p>
            <a:r>
              <a:t>  → 提交审核</a:t>
            </a:r>
          </a:p>
          <a:p>
            <a:r>
              <a:t>  → 审核通过后服务端生成 latestPurchaseCommand</a:t>
            </a:r>
          </a:p>
          <a:p>
            <a:r>
              <a:t>  → 作者分享购买指令、二维码、公开货架</a:t>
            </a:r>
          </a:p>
          <a:p>
            <a:r>
              <a:t>```</a:t>
            </a:r>
          </a:p>
          <a:p/>
          <a:p>
            <a:r>
              <a:t>源代码：[ProductListingForm](https://gw.alipayobjects.com/render/p/yuyan/180020010001296536/_astro/ProductListingForm.astro_astro_type_script_index_0_lang.DP7r4ow0.js) 中 `Vr/Jr`、`Hr`、提交函数；[商品 API 适配代码](https://gw.alipayobjects.com/render/p/yuyan/180020010001296536/_astro/ais-admin-api.BOG1XLQg.js) 中 `V/te/se`。</a:t>
            </a:r>
          </a:p>
          <a:p/>
          <a:p>
            <a:r>
              <a:t>**容易误解：** `desc_skills` 的名称并不证明它一定含哪些文件；公开管理页面把它作为“下载已集成支付能力的 Skill”的地址，结合官方云端架构才能推断订阅消费侧获得的是入口/影子 Skill 与公开文件。未下载任何实际商品包，所以具体包结构、签名布局不能据此下定论。</a:t>
            </a:r>
          </a:p>
          <a:p/>
          <a:p>
            <a:r>
              <a:t>作者须完成三项签约：SkillPay 产品协议、AI 按量付费协议、即刻收产品协议。这个“按量付费协议”的名字是底层接入协议，不能据此说当前 Skill 商品全部按次收费。上架 UI 当前明确提供的是买断制、订阅制。</a:t>
            </a:r>
          </a:p>
          <a:p/>
          <a:p>
            <a:r>
              <a:t>来源：[授权管理](https://skillpay.alipay.com/creator/authorizations)、[上架页](https://skillpay.alipay.com/creator/product-new)。</a:t>
            </a:r>
          </a:p>
          <a:p/>
          <a:p/>
          <a:p>
            <a:r>
              <a:t>## 三、协议对象：商品、支付、权益、履约不能混为一个 ID</a:t>
            </a:r>
          </a:p>
          <a:p/>
          <a:p>
            <a:r>
              <a:t>| 对象 | 哪个问题由它回答 | 已核实来源 | 不应作出的推断 |</a:t>
            </a:r>
          </a:p>
          <a:p>
            <a:r>
              <a:t>|---|---|---|---|</a:t>
            </a:r>
          </a:p>
          <a:p>
            <a:r>
              <a:t>| `merchantId` | 是谁的商品/货架 | 分享前端和公开商品详情请求参数 | 它不是买家身份，也不是支付凭证 |</a:t>
            </a:r>
          </a:p>
          <a:p>
            <a:r>
              <a:t>| `productId` | 买哪一个 Skill 商品 | 商品创建结果、购买分享参数 | 不自动代表某个版本、某次交易或已付款 |</a:t>
            </a:r>
          </a:p>
          <a:p>
            <a:r>
              <a:t>| `skuId` / `planId` | 买哪种可售规格与价格方案 | 商品创建客户端对象 | 前端存在字段不代表所有组合都已开放 |</a:t>
            </a:r>
          </a:p>
          <a:p>
            <a:r>
              <a:t>| `latestPurchaseCommand` / `purchaseCommand` | 把消费者引到哪个受控购买入口 | 服务端下发后由分享前端复制 | 不能靠拼接 merchant/product ID 替代服务端购买口令 |</a:t>
            </a:r>
          </a:p>
          <a:p>
            <a:r>
              <a:t>| HTTP `Payment-Needed` | 当前原始请求的收款要求 | 官方 402 Agent 文档 | 不是可随意修改或跨请求复用的普通价格说明 |</a:t>
            </a:r>
          </a:p>
          <a:p>
            <a:r>
              <a:t>| `tradeNo` | 这轮支付交易查询/履约确认 | 官方 CLI 规则 | 不可伪造、不可从旧轮次挪用 |</a:t>
            </a:r>
          </a:p>
          <a:p>
            <a:r>
              <a:t>| `outShakeNo` | “支付中开通”阶段的查询句柄 | 官方 CLI 规则 | 它不是 `tradeNo`，不能用于履约 ack |</a:t>
            </a:r>
          </a:p>
          <a:p>
            <a:r>
              <a:t>| `paymentProof` | 支付后恢复资源请求所需支付凭据 | 官方 402 文档提及防止复用 | 未公开其完整编码/签名/有效期，不臆测为 JWT 或某种链上票据 |</a:t>
            </a:r>
          </a:p>
          <a:p>
            <a:r>
              <a:t>| entitlement / `usable` / `validUntil` | 当前消费者此刻有没有使用权 | 消费者前端状态模型、更新日志 | 订单支付成功不保证权益已经发放成功 |</a:t>
            </a:r>
          </a:p>
          <a:p>
            <a:r>
              <a:t>| fulfillment acknowledgement | 资源已返回之后的消费侧回执 | 官方 `402-buyer-fulfillment-ack` 规则 | ack 不证明本地脚本已成功运行或最终答案质量合格 |</a:t>
            </a:r>
          </a:p>
          <a:p/>
          <a:p>
            <a:r>
              <a:t>代码依据：[分享卡片](https://gw.alipayobjects.com/render/p/yuyan/180020010001296536/_astro/product-share-card.BwTd9cPe.js)、[购买口令读取](https://gw.alipayobjects.com/render/p/yuyan/180020010001296536/_astro/product-purchase-command.C8MHVPbR.js)、[消费者接口](https://gw.alipayobjects.com/render/p/yuyan/180020010001296536/_astro/consumer-api.gLakm1y9.js)、[402 官方 Agent 规则](https://github.com/alipay/payment-skills/blob/main/alipay-payment-skill/references/402-payment.md)。</a:t>
            </a:r>
          </a:p>
          <a:p/>
          <a:p/>
          <a:p>
            <a:r>
              <a:t>## 四、402 握手：为什么必须记住“原始请求”</a:t>
            </a:r>
          </a:p>
          <a:p/>
          <a:p>
            <a:r>
              <a:t>下图把博客的产品流程与官方消费侧 CLI 恢复规则合在一起。支付处理器是 Agent 侧工具，不能误画为 Skill 作者自己提供的钱包。</a:t>
            </a:r>
          </a:p>
          <a:p/>
          <a:p>
            <a:r>
              <a:t>原理图见演示页与伴生文档。</a:t>
            </a:r>
          </a:p>
          <a:p/>
          <a:p>
            <a:r>
              <a:t>必须保存原 URL、方法、请求体和自定义头，是因为“付哪笔款”之外还要知道“恢复哪一次任务”。支付后若丢了 POST 的业务输入，只知道 `tradeNo`，最多能确认钱付过，无法可靠恢复原请求。**支付恢复依赖应用请求上下文，HTTP 402 状态码本身不携带整套业务记忆。** 这是基于官方恢复参数的解释性推论。</a:t>
            </a:r>
          </a:p>
          <a:p/>
          <a:p>
            <a:r>
              <a:t>官方操作规则还区分：</a:t>
            </a:r>
          </a:p>
          <a:p/>
          <a:p>
            <a:r>
              <a:t>- legacy 402 可用当前 `tradeNo` 查询；“支付中开通”可用当前 `outShakeNo` 查询。</a:t>
            </a:r>
          </a:p>
          <a:p>
            <a:r>
              <a:t>- `shortenUrl` 只是给人完成支付的入口，不能作为查询凭证。</a:t>
            </a:r>
          </a:p>
          <a:p>
            <a:r>
              <a:t>- 资源响应体为空时，不可把“支付成功”包装成“交付成功”。</a:t>
            </a:r>
          </a:p>
          <a:p>
            <a:r>
              <a:t>- 履约 ack 只接受本次工具返回的 `tradeNo`，不接受 `outShakeNo`。</a:t>
            </a:r>
          </a:p>
          <a:p>
            <a:r>
              <a:t>- 新的 402 到来必须建立本轮上下文，不复用旧 `Payment-Needed`、旧凭据。</a:t>
            </a:r>
          </a:p>
          <a:p/>
          <a:p>
            <a:r>
              <a:t>来源：[402 官方 Agent 规则](https://github.com/alipay/payment-skills/blob/main/alipay-payment-skill/references/402-payment.md)。这是当前 Agent 操作编排契约，**不代表后端完整的幂等键设计、数据库事务、证明验签算法已经公开**。</a:t>
            </a:r>
          </a:p>
          <a:p/>
          <a:p/>
          <a:p>
            <a:r>
              <a:t>## 五、买断与订阅：真正的技术分叉发生在“支付后交付”</a:t>
            </a:r>
          </a:p>
          <a:p/>
          <a:p>
            <a:r>
              <a:t>| 维度 | 一次性买断 | 周期订阅 |</a:t>
            </a:r>
          </a:p>
          <a:p>
            <a:r>
              <a:t>|---|---|---|</a:t>
            </a:r>
          </a:p>
          <a:p>
            <a:r>
              <a:t>| 交易换来什么 | Skill 完整源文件与长期本地使用 | 有效期内持续使用受保护能力 |</a:t>
            </a:r>
          </a:p>
          <a:p>
            <a:r>
              <a:t>| 核心原文在哪里 | 完整文件交付消费者 | 云端隔离保管 |</a:t>
            </a:r>
          </a:p>
          <a:p>
            <a:r>
              <a:t>| 本地有什么 | 完整 Skill、附属脚本/资源 | 官方图称“影子 Skill + public-files” |</a:t>
            </a:r>
          </a:p>
          <a:p>
            <a:r>
              <a:t>| 后续任务如何执行 | 本地 Agent 读取完整流程执行 | 云端按任务返回有限执行文本，本地校验执行 |</a:t>
            </a:r>
          </a:p>
          <a:p>
            <a:r>
              <a:t>| 更新 | 9/29 起买一次可下载所有版本 | 官方 UI 默认使用最新版本 |</a:t>
            </a:r>
          </a:p>
          <a:p>
            <a:r>
              <a:t>| 到期 | 一次买断无周期到期前提 | 平台校验期限，到期失效并引导续费 |</a:t>
            </a:r>
          </a:p>
          <a:p>
            <a:r>
              <a:t>| 自动续费 | 不适用 | 当前明确不自动续费 |</a:t>
            </a:r>
          </a:p>
          <a:p>
            <a:r>
              <a:t>| 防复制边界 | 文件交付后不能假设可远程收回已复制文件 | 提高原文复制/套取成本，不能承诺绝对不可泄露 |</a:t>
            </a:r>
          </a:p>
          <a:p/>
          <a:p>
            <a:r>
              <a:t>来源：[官方技术博客](https://skillpay.alipay.com/blog/good-world-skills-get-paid)、[官方架构 SVG](https://gw.alipayobjects.com/render/p/yuyan/180020010001296536/assets/skillpay-technical-report/03-cloud-protection.svg)、[更新日志](https://skillpay.alipay.com/changelog)、[上架页](https://skillpay.alipay.com/creator/product-new)。最后一行买断撤回限制是文件交付模型下的技术推论，官方没有宣称文件 DRM 或远程销毁。</a:t>
            </a:r>
          </a:p>
          <a:p/>
          <a:p>
            <a:r>
              <a:t>### 云端保护不是“远程执行整个 Skill”</a:t>
            </a:r>
          </a:p>
          <a:p/>
          <a:p>
            <a:r>
              <a:t>原理图见演示页与伴生文档。</a:t>
            </a:r>
          </a:p>
          <a:p/>
          <a:p>
            <a:r>
              <a:t>官方图明确写出云端保护“不运行脚本、不计算答案”。这意味着平台提供的是**受控的知识/工作方法披露**，本地 Agent 仍保留工具执行、上下文检查和最终输出的职责。不能画成 SkillPay 帮用户跑完代码、只吐一个结果的典型 SaaS API。</a:t>
            </a:r>
          </a:p>
          <a:p/>
          <a:p>
            <a:r>
              <a:t>云端生成的指导仍可能被消费者看到。因此防护目标是避免整份原文直接落地，并提高跨多轮复原的成本；它没有消除知识输出本身的可观察性。平台公开的防护输入包括 Query、会话历史、当前权益和 Skill 能力边界；正常任务、原文套取、边界请求走不同处理，持续评估套取风险与正常任务可用性。**不能从“云端保护”推导出使用了某个特定大模型、TEE、同态加密、零知识证明或不可破解 DRM。**</a:t>
            </a:r>
          </a:p>
          <a:p/>
          <a:p>
            <a:r>
              <a:t>来源：[官方云端架构图](https://gw.alipayobjects.com/render/p/yuyan/180020010001296536/assets/skillpay-technical-report/03-cloud-protection.svg)、[官方防御图](https://gw.alipayobjects.com/render/p/yuyan/180020010001296536/assets/skillpay-technical-report/04-defense.svg)。</a:t>
            </a:r>
          </a:p>
          <a:p/>
          <a:p/>
          <a:p>
            <a:r>
              <a:t>## 七、钱包授权与商品订阅是两种不同的权限</a:t>
            </a:r>
          </a:p>
          <a:p/>
          <a:p>
            <a:r>
              <a:t>- 商品订阅决定 SkillPay 是否给这个消费者开放该商品能力。</a:t>
            </a:r>
          </a:p>
          <a:p>
            <a:r>
              <a:t>- 钱包开通/授权决定 Agent 能否通过支付宝支付工具发起符合条件的支付。</a:t>
            </a:r>
          </a:p>
          <a:p>
            <a:r>
              <a:t>- 支付凭证证明一笔交易的支付结果；它不应该自动变成另一个商品的长期访问权。</a:t>
            </a:r>
          </a:p>
          <a:p>
            <a:r>
              <a:t>- 第一次购买可把钱包绑定和付款放在一次流程里；不等于后续所有消费都不需要任何确认，更不等于订阅会自动续费。</a:t>
            </a:r>
          </a:p>
          <a:p/>
          <a:p>
            <a:r>
              <a:t>9/10 更新日志只证明首次支付流程合并绑定、扫码后能自动确认继续安装。具体哪些金额或风控条件下可后续直接扣款、是否有额度策略，应由 Agent 支付/MachinePay 文档单独说明；**不能只凭 SkillPay 博客推断“首次扫码后无限免密”。**</a:t>
            </a:r>
          </a:p>
          <a:p/>
          <a:p>
            <a:r>
              <a:t>来源：[更新日志](https://skillpay.alipay.com/changelog)、[官方钱包认证 Skill](https://github.com/alipay/payment-skills/blob/main/alipay-authenticate-wallet/SKILL.md)。</a:t>
            </a:r>
          </a:p>
          <a:p/>
          <a:p/>
          <a:p>
            <a:r>
              <a:t>## 八、SkillPay 平台做什么，作者和支付底座做什么</a:t>
            </a:r>
          </a:p>
          <a:p/>
          <a:p>
            <a:r>
              <a:t>原理图见演示页与伴生文档。</a:t>
            </a:r>
          </a:p>
          <a:p/>
          <a:p>
            <a:r>
              <a:t>官网 FAQ 明确：支付成功款项实时进入作者支付宝账户，不经 SkillPay 中转，不等待结算。退款先与作者协商，由作者在商品页面手动发起；周期订单整单全额退款。9/29 新上传商品须补即刻收协议以支持网页支付兜底。这些是资金/操作事实，**不意味着平台免费，也不意味着没有支付通道手续费、技术服务费或未来抽佣**；本次公开证据没有统一费率与合同条款正文。</a:t>
            </a:r>
          </a:p>
          <a:p/>
          <a:p>
            <a:r>
              <a:t>公开 JS 还出现消费者退款申请、作者退款审核的路由，这是客户端能力线索；没有登录操作，不能据此保证所有用户当前都开放该入口或与 FAQ 完全一致。流程呈现应以官网可见说明为主，细节差异留在备注。</a:t>
            </a:r>
          </a:p>
          <a:p/>
          <a:p>
            <a:r>
              <a:t>来源：[官网 FAQ](https://skillpay.alipay.com/)、[官方商业循环图](https://gw.alipayobjects.com/render/p/yuyan/180020010001296536/assets/skillpay-technical-report/05-business-model.svg)、[更新日志](https://skillpay.alipay.com/changelog)、[退款前端代码](https://gw.alipayobjects.com/render/p/yuyan/180020010001296536/_astro/skillpay-refund-api.BxuNVKw_.js)。</a:t>
            </a:r>
          </a:p>
          <a:p/>
          <a:p/>
          <a:p>
            <a:r>
              <a:t>## 九、公开证据尚未回答的问题</a:t>
            </a:r>
          </a:p>
          <a:p/>
          <a:p>
            <a:r>
              <a:t>| 问题 | 当前能说到哪里 | 不宜写进 PPT 的确定性说法 |</a:t>
            </a:r>
          </a:p>
          <a:p>
            <a:r>
              <a:t>|---|---|---|</a:t>
            </a:r>
          </a:p>
          <a:p>
            <a:r>
              <a:t>| paymentProof 如何编码和验签 | 官方消费侧要求不得复用，支付后用于恢复请求 | “必定是 JWT/买家私钥签名/链上收据” |</a:t>
            </a:r>
          </a:p>
          <a:p>
            <a:r>
              <a:t>| 权益绑定用户、设备还是 Agent | 前端有消费者可用状态，官方 CLI 有买家不匹配错误 | “授权只绑定设备”“换 Agent 必须重买” |</a:t>
            </a:r>
          </a:p>
          <a:p>
            <a:r>
              <a:t>| 下载 URL TTL、防盗链 | 管理端有源包/支付集成包地址，未读取具体受控包 | “永久地址”“一次性地址”“自动加密解密” |</a:t>
            </a:r>
          </a:p>
          <a:p>
            <a:r>
              <a:t>| 到期时已输出内容怎么收回 | 后续云调用可受权益校验 | “能收回已下载文件/已披露文本” |</a:t>
            </a:r>
          </a:p>
          <a:p>
            <a:r>
              <a:t>| 退款与已交付买断文件 | 作者可退款，文件已交付 | “退款自动删除用户本地文件” |</a:t>
            </a:r>
          </a:p>
          <a:p>
            <a:r>
              <a:t>| 免费试用的精确计数点 | 官方说至少 5 次、多轮体验、不因更新重置 | “每一个完整任务只计一次” |</a:t>
            </a:r>
          </a:p>
          <a:p>
            <a:r>
              <a:t>| 云保护所用模型/后端/沙箱 | 官方只披露输入/执行文本/本地执行架构 | “平台在专属容器执行用户全部脚本” |</a:t>
            </a:r>
          </a:p>
          <a:p>
            <a:r>
              <a:t>| 服务端幂等与崩溃恢复 | CLI 保留原请求与本轮句柄，可查询恢复 | “网络重试绝不重复扣款/端到端 exactly once” |</a:t>
            </a:r>
          </a:p>
          <a:p>
            <a:r>
              <a:t>| 手续费/抽佣/GMV/付费用户 | 未找到统一公开费率/经营大盘 | “零费率”“全额无手续费到账”“已成熟高渗透” |</a:t>
            </a:r>
          </a:p>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五、买断与订阅：真正的技术分叉发生在“支付后交付”</a:t>
            </a:r>
          </a:p>
          <a:p/>
          <a:p>
            <a:r>
              <a:t>| 维度 | 一次性买断 | 周期订阅 |</a:t>
            </a:r>
          </a:p>
          <a:p>
            <a:r>
              <a:t>|---|---|---|</a:t>
            </a:r>
          </a:p>
          <a:p>
            <a:r>
              <a:t>| 交易换来什么 | Skill 完整源文件与长期本地使用 | 有效期内持续使用受保护能力 |</a:t>
            </a:r>
          </a:p>
          <a:p>
            <a:r>
              <a:t>| 核心原文在哪里 | 完整文件交付消费者 | 云端隔离保管 |</a:t>
            </a:r>
          </a:p>
          <a:p>
            <a:r>
              <a:t>| 本地有什么 | 完整 Skill、附属脚本/资源 | 官方图称“影子 Skill + public-files” |</a:t>
            </a:r>
          </a:p>
          <a:p>
            <a:r>
              <a:t>| 后续任务如何执行 | 本地 Agent 读取完整流程执行 | 云端按任务返回有限执行文本，本地校验执行 |</a:t>
            </a:r>
          </a:p>
          <a:p>
            <a:r>
              <a:t>| 更新 | 9/29 起买一次可下载所有版本 | 官方 UI 默认使用最新版本 |</a:t>
            </a:r>
          </a:p>
          <a:p>
            <a:r>
              <a:t>| 到期 | 一次买断无周期到期前提 | 平台校验期限，到期失效并引导续费 |</a:t>
            </a:r>
          </a:p>
          <a:p>
            <a:r>
              <a:t>| 自动续费 | 不适用 | 当前明确不自动续费 |</a:t>
            </a:r>
          </a:p>
          <a:p>
            <a:r>
              <a:t>| 防复制边界 | 文件交付后不能假设可远程收回已复制文件 | 提高原文复制/套取成本，不能承诺绝对不可泄露 |</a:t>
            </a:r>
          </a:p>
          <a:p/>
          <a:p>
            <a:r>
              <a:t>来源：[官方技术博客](https://skillpay.alipay.com/blog/good-world-skills-get-paid)、[官方架构 SVG](https://gw.alipayobjects.com/render/p/yuyan/180020010001296536/assets/skillpay-technical-report/03-cloud-protection.svg)、[更新日志](https://skillpay.alipay.com/changelog)、[上架页](https://skillpay.alipay.com/creator/product-new)。最后一行买断撤回限制是文件交付模型下的技术推论，官方没有宣称文件 DRM 或远程销毁。</a:t>
            </a:r>
          </a:p>
          <a:p/>
          <a:p>
            <a:r>
              <a:t>### 云端保护不是“远程执行整个 Skill”</a:t>
            </a:r>
          </a:p>
          <a:p/>
          <a:p>
            <a:r>
              <a:t>原理图见演示页与伴生文档。</a:t>
            </a:r>
          </a:p>
          <a:p/>
          <a:p>
            <a:r>
              <a:t>官方图明确写出云端保护“不运行脚本、不计算答案”。这意味着平台提供的是**受控的知识/工作方法披露**，本地 Agent 仍保留工具执行、上下文检查和最终输出的职责。不能画成 SkillPay 帮用户跑完代码、只吐一个结果的典型 SaaS API。</a:t>
            </a:r>
          </a:p>
          <a:p/>
          <a:p>
            <a:r>
              <a:t>云端生成的指导仍可能被消费者看到。因此防护目标是避免整份原文直接落地，并提高跨多轮复原的成本；它没有消除知识输出本身的可观察性。平台公开的防护输入包括 Query、会话历史、当前权益和 Skill 能力边界；正常任务、原文套取、边界请求走不同处理，持续评估套取风险与正常任务可用性。**不能从“云端保护”推导出使用了某个特定大模型、TEE、同态加密、零知识证明或不可破解 DRM。**</a:t>
            </a:r>
          </a:p>
          <a:p/>
          <a:p>
            <a:r>
              <a:t>来源：[官方云端架构图](https://gw.alipayobjects.com/render/p/yuyan/180020010001296536/assets/skillpay-technical-report/03-cloud-protection.svg)、[官方防御图](https://gw.alipayobjects.com/render/p/yuyan/180020010001296536/assets/skillpay-technical-report/04-defense.svg)。</a:t>
            </a:r>
          </a:p>
          <a:p/>
          <a:p/>
          <a:p>
            <a:r>
              <a:t>## 六、权益状态为什么比一个“已支付”标签更重要</a:t>
            </a:r>
          </a:p>
          <a:p/>
          <a:p>
            <a:r>
              <a:t>2026-08-10 更新日志明确上线订阅权益校验、到期失效、续费引导和权益状态管理。消费者前端也显示 `usable`、`validUntil`、`longTermValid`，以及剩余/总额度；它列出的不可用原因不只有“过期”，还包括退款、额度耗尽、冻结、撤销、退款中、发放失败和发放中。</a:t>
            </a:r>
          </a:p>
          <a:p/>
          <a:p>
            <a:r>
              <a:t>原理图见演示页与伴生文档。</a:t>
            </a:r>
          </a:p>
          <a:p/>
          <a:p>
            <a:r>
              <a:t>这是根据官方产品能力和前端枚举重建的**概念状态图**，不宣称数据库里完全采用这些状态或所有迁移均可由消费者发起。</a:t>
            </a:r>
          </a:p>
          <a:p/>
          <a:p>
            <a:r>
              <a:t>另外：免费试用如开启至少 5 次，以支持多轮完成一次完整体验；更新商品不重置剩余试用次数。因此“5 次试用”不能简单宣传成“5 个完整任务”，对话轮次/保护调用次数和最终业务任务不是一一对应的。</a:t>
            </a:r>
          </a:p>
          <a:p/>
          <a:p>
            <a:r>
              <a:t>前端创建对象可见 `includedQuota` 默认值（买断 1、月 1000、其他周期 12000），但没有得到公开后端约束和完整套餐说明支持，**不能把这些默认值写成面向用户承诺的每月调用上限，也不能写订阅不限次数**。消费者枚举包含按量付费只是兼容状态模型，不能据此宣布当前 Skill 上架已全面支持次数包。</a:t>
            </a:r>
          </a:p>
          <a:p/>
          <a:p>
            <a:r>
              <a:t>来源：[更新日志](https://skillpay.alipay.com/changelog)、[上架页](https://skillpay.alipay.com/creator/product-new)、[消费者界面代码](https://gw.alipayobjects.com/render/p/yuyan/180020010001296536/_astro/skills.astro_astro_type_script_index_0_lang.BOVz05QN.js)、[创建对象代码](https://gw.alipayobjects.com/render/p/yuyan/180020010001296536/_astro/ProductListingForm.astro_astro_type_script_index_0_lang.DP7r4ow0.js)。</a:t>
            </a:r>
          </a:p>
          <a:p/>
          <a:p/>
          <a:p>
            <a:r>
              <a:t>## 七、钱包授权与商品订阅是两种不同的权限</a:t>
            </a:r>
          </a:p>
          <a:p/>
          <a:p>
            <a:r>
              <a:t>- 商品订阅决定 SkillPay 是否给这个消费者开放该商品能力。</a:t>
            </a:r>
          </a:p>
          <a:p>
            <a:r>
              <a:t>- 钱包开通/授权决定 Agent 能否通过支付宝支付工具发起符合条件的支付。</a:t>
            </a:r>
          </a:p>
          <a:p>
            <a:r>
              <a:t>- 支付凭证证明一笔交易的支付结果；它不应该自动变成另一个商品的长期访问权。</a:t>
            </a:r>
          </a:p>
          <a:p>
            <a:r>
              <a:t>- 第一次购买可把钱包绑定和付款放在一次流程里；不等于后续所有消费都不需要任何确认，更不等于订阅会自动续费。</a:t>
            </a:r>
          </a:p>
          <a:p/>
          <a:p>
            <a:r>
              <a:t>9/10 更新日志只证明首次支付流程合并绑定、扫码后能自动确认继续安装。具体哪些金额或风控条件下可后续直接扣款、是否有额度策略，应由 Agent 支付/MachinePay 文档单独说明；**不能只凭 SkillPay 博客推断“首次扫码后无限免密”。**</a:t>
            </a:r>
          </a:p>
          <a:p/>
          <a:p>
            <a:r>
              <a:t>来源：[更新日志](https://skillpay.alipay.com/changelog)、[官方钱包认证 Skill](https://github.com/alipay/payment-skills/blob/main/alipay-authenticate-wallet/SKILL.md)。</a:t>
            </a:r>
          </a:p>
          <a:p/>
          <a:p/>
          <a:p>
            <a:r>
              <a:t>## 九、公开证据尚未回答的问题</a:t>
            </a:r>
          </a:p>
          <a:p/>
          <a:p>
            <a:r>
              <a:t>| 问题 | 当前能说到哪里 | 不宜写进 PPT 的确定性说法 |</a:t>
            </a:r>
          </a:p>
          <a:p>
            <a:r>
              <a:t>|---|---|---|</a:t>
            </a:r>
          </a:p>
          <a:p>
            <a:r>
              <a:t>| paymentProof 如何编码和验签 | 官方消费侧要求不得复用，支付后用于恢复请求 | “必定是 JWT/买家私钥签名/链上收据” |</a:t>
            </a:r>
          </a:p>
          <a:p>
            <a:r>
              <a:t>| 权益绑定用户、设备还是 Agent | 前端有消费者可用状态，官方 CLI 有买家不匹配错误 | “授权只绑定设备”“换 Agent 必须重买” |</a:t>
            </a:r>
          </a:p>
          <a:p>
            <a:r>
              <a:t>| 下载 URL TTL、防盗链 | 管理端有源包/支付集成包地址，未读取具体受控包 | “永久地址”“一次性地址”“自动加密解密” |</a:t>
            </a:r>
          </a:p>
          <a:p>
            <a:r>
              <a:t>| 到期时已输出内容怎么收回 | 后续云调用可受权益校验 | “能收回已下载文件/已披露文本” |</a:t>
            </a:r>
          </a:p>
          <a:p>
            <a:r>
              <a:t>| 退款与已交付买断文件 | 作者可退款，文件已交付 | “退款自动删除用户本地文件” |</a:t>
            </a:r>
          </a:p>
          <a:p>
            <a:r>
              <a:t>| 免费试用的精确计数点 | 官方说至少 5 次、多轮体验、不因更新重置 | “每一个完整任务只计一次” |</a:t>
            </a:r>
          </a:p>
          <a:p>
            <a:r>
              <a:t>| 云保护所用模型/后端/沙箱 | 官方只披露输入/执行文本/本地执行架构 | “平台在专属容器执行用户全部脚本” |</a:t>
            </a:r>
          </a:p>
          <a:p>
            <a:r>
              <a:t>| 服务端幂等与崩溃恢复 | CLI 保留原请求与本轮句柄，可查询恢复 | “网络重试绝不重复扣款/端到端 exactly once” |</a:t>
            </a:r>
          </a:p>
          <a:p>
            <a:r>
              <a:t>| 手续费/抽佣/GMV/付费用户 | 未找到统一公开费率/经营大盘 | “零费率”“全额无手续费到账”“已成熟高渗透” |</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核心判断</a:t>
            </a:r>
          </a:p>
          <a:p/>
          <a:p>
            <a:r>
              <a:t>**它给 HTTP API 加上一层“可机器读取的报价 → 支付 → 验票交付”机制。商户并不把一个普通签名当作钱；需要拿付款凭证去支付宝在线验证，再把验得的金额、订单和资源与本地业务订单对齐。**</a:t>
            </a:r>
          </a:p>
          <a:p/>
          <a:p>
            <a:r>
              <a:t>官方接入指南的三项商户工作是：无有效凭证时返回 402/Payment-Needed；读取 Payment-Proof 后调用 `alipay.aipay.agent.payment.verify`；履约后调用 `alipay.aipay.agent.fulfillment.confirm`。流程是先支付取得证明再重试资源，不是客户端只授权、等资源算完后才通过 `/settle` 扣款。[接入指南](https://aipay.alipay.com/docs/ai-receive/MACHINE_PAY.html)</a:t>
            </a:r>
          </a:p>
          <a:p/>
          <a:p>
            <a:r>
              <a:t>**产品页图示与人民币实现存在实质差异。** 产品页嵌入 Mermaid 使用“支付载荷 → /verify → 执行业务 → /settle → 交易哈希”的通用支付辅助方图。人民币开发契约明确限定的是上述两个支付宝 OpenAPI，没有 `/settle` 或交易哈希字段，不能混写。[产品页](https://aipay.alipay.com/products/machine-pay)；[官方实现契约第 11–25 行](https://github.com/alipay/ai/blob/c4a6d8d58b906bc77e2d88a0adbc0b64e34560a5/skills/alipay-aipay/references/integration/modules/interface-contract/aipay-interface-contract.md#L11)</a:t>
            </a:r>
          </a:p>
          <a:p/>
          <a:p/>
          <a:p>
            <a:r>
              <a:t>## 2. 接入前究竟注册了什么</a:t>
            </a:r>
          </a:p>
          <a:p/>
          <a:p>
            <a:r>
              <a:t>1. 商家/服务商开通相应产品，创建自研应用；平台代商家调用可用第三方应用并传 `app_auth_token`。这里的应用私钥属于应用持有人，不交给买方 Agent。正式可用还取决于签约、应用与服务各自状态，提交申请不等于已生效。[官方接入指南](https://aipay.alipay.com/docs/ai-receive/MACHINE_PAY.html)；[官方签约模块](https://github.com/alipay/ai/blob/c4a6d8d58b906bc77e2d88a0adbc0b64e34560a5/skills/alipay-aipay/references/onboarding/modules/product-sign.md)</a:t>
            </a:r>
          </a:p>
          <a:p>
            <a:r>
              <a:t>2. 注册服务信息得到 `service_id`。官方服务登记工具保存五项：名称、描述、资源 URL、元/次单价、请求示例 JSON。其中 `schemaUrl` 在当前实现承载 JSON 示例，不是 schema 网页地址。服务登记通过 `a2a-pay-service.saveBazaarServiceForMcp`，查询通过 `discoverBazaarServicesForMcp`。当前脚本创建上限 10 个、最低单价 0.01 元是**该版本接入工具的约束**，不宜泛化为所有渠道永恒产品限制。[服务登记语义第 13–40 行](https://github.com/alipay/ai/blob/c4a6d8d58b906bc77e2d88a0adbc0b64e34560a5/skills/alipay-aipay/references/onboarding/modules/service-registration.md#L13)；[服务登记实现](https://github.com/alipay/ai/blob/c4a6d8d58b906bc77e2d88a0adbc0b64e34560a5/skills/alipay-aipay/references/onboarding/modules/scripts/service.sh)</a:t>
            </a:r>
          </a:p>
          <a:p>
            <a:r>
              <a:t>3. `service_id` 在资料审核成功后生效。它识别“哪项已登记服务”，不等于每次交易订单、资源实例、用户权益，也不是密钥。[官方 FAQ Q2](https://ideservice.alipay.com/cms/site/0j7uos)</a:t>
            </a:r>
          </a:p>
          <a:p/>
          <a:p>
            <a:r>
              <a:t>**三个 ID 必须分清：** `service_id` 是登记的服务；`out_trade_no` 是商户为本次业务生成的外部订单/幂等号；`trade_no` 是支付后支付宝侧的交易流水。`resource_id` 是商户定义的具体收费资源绑定键。[账单及验付接口](https://ideservice.alipay.com/cms/site/0j7uot)；[官方示例 Controller 第 140–180 行](https://github.com/alipay/ai/blob/c4a6d8d58b906bc77e2d88a0adbc0b64e34560a5/code_example/aipay-402-example/A2MPaymentDemoController.java#L140)</a:t>
            </a:r>
          </a:p>
          <a:p/>
          <a:p>
            <a:r>
              <a:t>**未披露的边界：** 可以证明登记保存了 URL 与价格，可以证明每单签名也包含价格、service_id 和 resource_id；公开代码不能证明支付宝支付服务在每笔交易中如何强制校验登记价格与动态报价一致，或把 HTTP 方法/body 全量绑定到服务。不要把“登记过”画成平台对任意业务参数的自动担保。</a:t>
            </a:r>
          </a:p>
          <a:p/>
          <a:p/>
          <a:p>
            <a:r>
              <a:t>## 3. 逐跳解释一次交易</a:t>
            </a:r>
          </a:p>
          <a:p/>
          <a:p>
            <a:r>
              <a:t>原理图见演示页与伴生文档。</a:t>
            </a:r>
          </a:p>
          <a:p/>
          <a:p>
            <a:r>
              <a:t>图中采用在线指南的“交付后异步回执”主流程。当前官方代码生成模板另有更严格顺序：先持久化资源结果为 `PENDING_CONFIRM` → 回执成功 → 标记 `FULFILLED` → 返回资源。两者都先支付后商户执行；**回执不是第二次扣款 API**。应在 PPT 主图标“履约 + 回执”，旁注两种交付时序，以免混成一个承诺。[在线指南](https://aipay.alipay.com/docs/ai-receive/MACHINE_PAY.html)；[当前 Node 模板第 378–416 行](https://github.com/alipay/ai/blob/c4a6d8d58b906bc77e2d88a0adbc0b64e34560a5/skills/alipay-aipay/references/integration/modules/code-examples/nodejs/4-%E6%8C%89%E9%87%8F%E4%BB%98%E8%B4%B9/A2MPaymentDemo.md#L378)</a:t>
            </a:r>
          </a:p>
          <a:p/>
          <a:p>
            <a:r>
              <a:t>### 第一次 402 不是“已经扣款”</a:t>
            </a:r>
          </a:p>
          <a:p/>
          <a:p>
            <a:r>
              <a:t>商户构造本地订单和签名报价，**签名环节不调用支付宝 OpenAPI**。因此拿到 Payment-Needed 本身不能证明用户已付款。字段分两层：</a:t>
            </a:r>
          </a:p>
          <a:p/>
          <a:p>
            <a:r>
              <a:t>- `protocol`：外部订单、金额、CNY、资源 ID、付款截止、签名与算法、卖家唯一 ID。</a:t>
            </a:r>
          </a:p>
          <a:p>
            <a:r>
              <a:t>- `method`：卖家名称、2088 卖家 ID、应用 ID、商品名、`service_id` 等支付宝方法信息。</a:t>
            </a:r>
          </a:p>
          <a:p/>
          <a:p>
            <a:r>
              <a:t>Base64URL 只负责 Header 可传输编码，不是加密，更不是支付凭证。[官方账单实现](https://github.com/alipay/ai/blob/c4a6d8d58b906bc77e2d88a0adbc0b64e34560a5/code_example/aipay-402-example/A2MPaymentDemoController.java#L174)</a:t>
            </a:r>
          </a:p>
          <a:p/>
          <a:p>
            <a:r>
              <a:t>### 第二次请求才有可在线验的票</a:t>
            </a:r>
          </a:p>
          <a:p/>
          <a:p>
            <a:r>
              <a:t>Payment-Proof Header 解码得到 `protocol.payment_proof`、`protocol.trade_no` 和可选 `method.client_session`。payment_proof 在公开接口是 64 字符不透明凭证；没有公开协议可证明它是用户能本地合成的 JWT、链上 hash，或商户只用支付宝公钥离线验一下即可放行。商户调用 verify，将证明和交易号交给支付宝，验证支付状态、商户归属等。[verify 完整接口](https://ideservice.alipay.com/cms/site/0j7uot)</a:t>
            </a:r>
          </a:p>
          <a:p/>
          <a:p/>
          <a:p>
            <a:r>
              <a:t>## 4. 两条信任链，而不是一个“万能签名”</a:t>
            </a:r>
          </a:p>
          <a:p/>
          <a:p>
            <a:r>
              <a:t>原理图见演示页与伴生文档。</a:t>
            </a:r>
          </a:p>
          <a:p/>
          <a:p>
            <a:r>
              <a:t>商户账单签名的 8 项为 `amount,currency,goods_name,out_trade_no,pay_before,resource_id,seller_id,service_id`，按 key 字典序拼成 `key=value&amp;...` 后 RSA2 签名。签名使这些报价字段成为一个不可随意拆改的整体；它不自动绑定请求 body，也不保证业务结果质量。签名校验在支付通道内部的细节、具体验签公钥查找策略，公开买方/PSP 实现未完全披露，不能猜成 Agent 本地验签。[签名源码](https://github.com/alipay/ai/blob/c4a6d8d58b906bc77e2d88a0adbc0b64e34560a5/code_example/aipay-402-example/A2MPaymentDemoController.java#L535)</a:t>
            </a:r>
          </a:p>
          <a:p/>
          <a:p>
            <a:r>
              <a:t>调用 verify 又是另一套 OpenAPI 请求签名：商户应用凭私钥证明调用身份，SDK 配置支付宝公钥核验响应。第三方模式应用私钥来自服务商，且代调用需要商户授权；不是买家把商户私钥拿去付款。[官方指南](https://aipay.alipay.com/docs/ai-receive/MACHINE_PAY.html)；[Controller SDK 初始化](https://github.com/alipay/ai/blob/c4a6d8d58b906bc77e2d88a0adbc0b64e34560a5/code_example/aipay-402-example/A2MPaymentDemoController.java#L90)</a:t>
            </a:r>
          </a:p>
          <a:p/>
          <a:p>
            <a:r>
              <a:t>**支付宝确认“这票真付了”，商户还要确认“这票买的是此单此物，而且没有重复交付”。** verify 响应含 `active`、金额、外部订单、资源、交易号；官方要求全部对齐本地账。`active=true` 不是跨资源访问授权，也不能替代数据库并发控制。错误码表有未支付、已关闭、买家不符、商户不符、交易号不符、凭证过期/不存在、凭证已使用/失效等；它没有公开每一步内部消耗凭证的精确状态转移，不能声称 verify 一次就必然消耗，或 confirm 才消耗。[verify 业务响应及错误码](https://ideservice.alipay.com/cms/site/0j7uot)</a:t>
            </a:r>
          </a:p>
          <a:p/>
          <a:p/>
          <a:p>
            <a:r>
              <a:t>## 6. 最容易讲错的六处</a:t>
            </a:r>
          </a:p>
          <a:p/>
          <a:p>
            <a:r>
              <a:t>| 问题 | 结论 | 依据/限制 |</a:t>
            </a:r>
          </a:p>
          <a:p>
            <a:r>
              <a:t>|---|---|---|</a:t>
            </a:r>
          </a:p>
          <a:p>
            <a:r>
              <a:t>| amount 是分还是元？ | 当前官方源码和接入文档明确 **元**，`0.01 CNY=0.01 元` | 在线网页字段表写“最小货币单位”有矛盾；不得据此把 0.01 当分。Controller 第 141 行、A2M 文档第 138/339 行、服务单价校验都证实元 |</a:t>
            </a:r>
          </a:p>
          <a:p>
            <a:r>
              <a:t>| client_session 是否永远必填？ | verify 参数表和最新契约标**可选**；存在时原样透传；某 CLI 通道可能要求 | 接口同时列 CLIENT_SESSION_IS_EMPTY；不能简化成所有模式可忽略或所有模式绝对必填 |</a:t>
            </a:r>
          </a:p>
          <a:p>
            <a:r>
              <a:t>| pay_before 是付款截止还是票失效？ | 网页定义付款截止；当前模板还将首次进入履约前未过期作为本地订单条件 | 已 PENDING_CONFIRM/FULFILLED 允许重试同一结果；不能推导到账自动退款、付款之后平台凭证立刻失效 |</a:t>
            </a:r>
          </a:p>
          <a:p>
            <a:r>
              <a:t>| fulfillment.confirm 就是扣款/结算吗？ | 公共 API 定义是商家履约回执，业务参数只有 trade_no | 未公开资金释放条件、结算账期；不等同 /settle、不证明托管/担保交付 |</a:t>
            </a:r>
          </a:p>
          <a:p>
            <a:r>
              <a:t>| active=true 能省略本地账吗？ | 不能；还须金额、订单、资源、交易号一致及防重复履约 | 当前代码模板显式要求数据库持久化 |</a:t>
            </a:r>
          </a:p>
          <a:p>
            <a:r>
              <a:t>| 商户执行失败自动退款吗？ | 没有查到 MachinePay 专用自动退款契约 | 支付已成功、业务失败是分布式一致性问题；应保存订单恢复/售后，不能直接画自动回滚或自动重付 |</a:t>
            </a:r>
          </a:p>
          <a:p/>
          <a:p>
            <a:r>
              <a:t>单位来源：[官方 Java 示例第 141 行](https://github.com/alipay/ai/blob/c4a6d8d58b906bc77e2d88a0adbc0b64e34560a5/code_example/aipay-402-example/A2MPaymentDemoController.java#L141)；[官方 A2M 文档](https://github.com/alipay/ai/blob/c4a6d8d58b906bc77e2d88a0adbc0b64e34560a5/code_example/aipay-402-example/A2M%E6%99%BA%E8%83%BD%E6%94%B6%E4%BA%A7%E5%93%81%E5%AF%B9%E6%8E%A5%E6%96%87%E6%A1%A3.md)；[最新实现契约](https://github.com/alipay/ai/blob/c4a6d8d58b906bc77e2d88a0adbc0b64e34560a5/skills/alipay-aipay/references/integration/modules/interface-contract/aipay-interface-contract.md#L27)</a:t>
            </a:r>
          </a:p>
          <a:p/>
          <a:p/>
          <a:p>
            <a:r>
              <a:t>## 8. 与其他 Header / 协议的边界</a:t>
            </a:r>
          </a:p>
          <a:p/>
          <a:p>
            <a:r>
              <a:t>- **Payment-Needed**：当前人民币卖方标准主链路的机器账单。**Payment-Proof**：付款后买方重试时的凭证。**Payment-Validation**：部分官方示例 200 响应的验付结果说明，不是另一次付款凭证。</a:t>
            </a:r>
          </a:p>
          <a:p>
            <a:r>
              <a:t>- `amtPaymentLink`：买方 CLI 兼容的支付宝支付链接路径；不是当前卖方 A402 接入契约要求的账单字段。其后端机制需另查买方 CLI，不能仅凭参数名当成另一种支付协议。</a:t>
            </a:r>
          </a:p>
          <a:p>
            <a:r>
              <a:t>- `Payment-Authorization`：当前 MachinePay 公开人民币契约与官方示例没有把该 Header 作为主流程。不要把它替换为 Payment-Proof，也不要与 MPP 的 `Authorization: Payment` 混用。</a:t>
            </a:r>
          </a:p>
          <a:p>
            <a:r>
              <a:t>- ACT 2.1 的 A402 是更通用的买方、卖方、支付服务方交互规范；支付宝的 protocol/method JSON、service_id、verify/confirm 是具体实现。ACT 还区分实时确认、委托授权、限定自主支付；A402 本身不授予无限支付授权。[ACT 官方接入说明](https://github.com/antgroup/ACT/blob/main/integrations/alipay/a402.md)</a:t>
            </a:r>
          </a:p>
          <a:p/>
          <a:p/>
          <a:p>
            <a:r>
              <a:t>## 10. 证据版本与未解决问题</a:t>
            </a:r>
          </a:p>
          <a:p/>
          <a:p>
            <a:r>
              <a:t>官方源码快照：`alipay/ai` commit `c4a6d8d58b906bc77e2d88a0adbc0b64e34560a5`，commit 日期 2026-09-23，标题 alipay-aipay v1.7.0。网页接入指南显示更新时间 2026-10-09 23:11:32。不能简单按“网页晚于 commit”就把源码具体安全要求否定；本报告分别说明网页业务主流程与模板实现策略。</a:t>
            </a:r>
          </a:p>
          <a:p/>
          <a:p>
            <a:r>
              <a:t>未解决/未公开：生产买方实际扣款 API 的完整验签与风控内部流程；service_id 登记价格是否逐笔强校验；payment_proof 的完整签发、吊销与消耗状态机；各接入渠道的个人主体资格与完整审核要求；正式费率、资金释放/结算周期、自动退款/争议保障契约。产品页的“自动结算/无需人工干预”只能表示其产品主张，不能代替交易授权与结算合同细节。</a:t>
            </a:r>
          </a:p>
          <a:p/>
          <a:p>
            <a:r>
              <a:t>原始材料位于 `sources/machinepay/`；`product.html` 是当前完整网页，`integration.md/verify.md/faq.md` 为官方文档原文，`alipay-ai/` 是只读检索用公开仓库快照。</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 两条信任链，而不是一个“万能签名”</a:t>
            </a:r>
          </a:p>
          <a:p/>
          <a:p>
            <a:r>
              <a:t>原理图见演示页与伴生文档。</a:t>
            </a:r>
          </a:p>
          <a:p/>
          <a:p>
            <a:r>
              <a:t>商户账单签名的 8 项为 `amount,currency,goods_name,out_trade_no,pay_before,resource_id,seller_id,service_id`，按 key 字典序拼成 `key=value&amp;...` 后 RSA2 签名。签名使这些报价字段成为一个不可随意拆改的整体；它不自动绑定请求 body，也不保证业务结果质量。签名校验在支付通道内部的细节、具体验签公钥查找策略，公开买方/PSP 实现未完全披露，不能猜成 Agent 本地验签。[签名源码](https://github.com/alipay/ai/blob/c4a6d8d58b906bc77e2d88a0adbc0b64e34560a5/code_example/aipay-402-example/A2MPaymentDemoController.java#L535)</a:t>
            </a:r>
          </a:p>
          <a:p/>
          <a:p>
            <a:r>
              <a:t>调用 verify 又是另一套 OpenAPI 请求签名：商户应用凭私钥证明调用身份，SDK 配置支付宝公钥核验响应。第三方模式应用私钥来自服务商，且代调用需要商户授权；不是买家把商户私钥拿去付款。[官方指南](https://aipay.alipay.com/docs/ai-receive/MACHINE_PAY.html)；[Controller SDK 初始化](https://github.com/alipay/ai/blob/c4a6d8d58b906bc77e2d88a0adbc0b64e34560a5/code_example/aipay-402-example/A2MPaymentDemoController.java#L90)</a:t>
            </a:r>
          </a:p>
          <a:p/>
          <a:p>
            <a:r>
              <a:t>**支付宝确认“这票真付了”，商户还要确认“这票买的是此单此物，而且没有重复交付”。** verify 响应含 `active`、金额、外部订单、资源、交易号；官方要求全部对齐本地账。`active=true` 不是跨资源访问授权，也不能替代数据库并发控制。错误码表有未支付、已关闭、买家不符、商户不符、交易号不符、凭证过期/不存在、凭证已使用/失效等；它没有公开每一步内部消耗凭证的精确状态转移，不能声称 verify 一次就必然消耗，或 confirm 才消耗。[verify 业务响应及错误码](https://ideservice.alipay.com/cms/site/0j7uot)</a:t>
            </a:r>
          </a:p>
          <a:p/>
          <a:p/>
          <a:p>
            <a:r>
              <a:t>## 5. 为什么平台有验票，商户还得做幂等</a:t>
            </a:r>
          </a:p>
          <a:p/>
          <a:p>
            <a:r>
              <a:t>原理图见演示页与伴生文档。</a:t>
            </a:r>
          </a:p>
          <a:p/>
          <a:p>
            <a:r>
              <a:t>这是**当前官方模板预期、由商户补齐持久化端口**的状态机，不是支付宝后台内部状态机。Node 模板要求真实数据库实现 `createPending/findByOutTradeNo/prepareFulfillment/markFulfilled`；未配置直接失败，明确不回退内存订单。旧 Controller 中订单保存、防串、防重放大段只是注释示意。不能拿旧样例宣称复制即有生产安全。[Node 持久化端口第 50–66 行](https://github.com/alipay/ai/blob/c4a6d8d58b906bc77e2d88a0adbc0b64e34560a5/skills/alipay-aipay/references/integration/modules/code-examples/nodejs/4-%E6%8C%89%E9%87%8F%E4%BB%98%E8%B4%B9/A2MPaymentDemo.md#L50)</a:t>
            </a:r>
          </a:p>
          <a:p/>
          <a:p>
            <a:r>
              <a:t>两个 Agent 同时持同一票请求，在线验付都可能在商户落库前成功。为避免启动两次图像生成/第三方付费调用，商户必须使用唯一约束、事务或等价并发机制，让一次订单只产生一个结果，并在重试时返该结果。**这是由接口与模板责任边界推导的工程要求**；支付宝没公开其 verify 对并发的完整保证，不能依赖一次状态字段替代本地原子性。</a:t>
            </a:r>
          </a:p>
          <a:p/>
          <a:p>
            <a:r>
              <a:t>资源绑定也需要商户补齐：示例 `resource_id=/demo/a2m/resource` 只是路径。如果同一路径接不同提示词、文档、模型或计算量，单凭路径不能证明“此票购买了当前 body”。建议本地订单固化规范化方法/URL/请求体摘要/数量/版本并核对；该摘要不是当前公开 A402 自动替商户生成的字段。</a:t>
            </a:r>
          </a:p>
          <a:p/>
          <a:p/>
          <a:p>
            <a:r>
              <a:t>## 6. 最容易讲错的六处</a:t>
            </a:r>
          </a:p>
          <a:p/>
          <a:p>
            <a:r>
              <a:t>| 问题 | 结论 | 依据/限制 |</a:t>
            </a:r>
          </a:p>
          <a:p>
            <a:r>
              <a:t>|---|---|---|</a:t>
            </a:r>
          </a:p>
          <a:p>
            <a:r>
              <a:t>| amount 是分还是元？ | 当前官方源码和接入文档明确 **元**，`0.01 CNY=0.01 元` | 在线网页字段表写“最小货币单位”有矛盾；不得据此把 0.01 当分。Controller 第 141 行、A2M 文档第 138/339 行、服务单价校验都证实元 |</a:t>
            </a:r>
          </a:p>
          <a:p>
            <a:r>
              <a:t>| client_session 是否永远必填？ | verify 参数表和最新契约标**可选**；存在时原样透传；某 CLI 通道可能要求 | 接口同时列 CLIENT_SESSION_IS_EMPTY；不能简化成所有模式可忽略或所有模式绝对必填 |</a:t>
            </a:r>
          </a:p>
          <a:p>
            <a:r>
              <a:t>| pay_before 是付款截止还是票失效？ | 网页定义付款截止；当前模板还将首次进入履约前未过期作为本地订单条件 | 已 PENDING_CONFIRM/FULFILLED 允许重试同一结果；不能推导到账自动退款、付款之后平台凭证立刻失效 |</a:t>
            </a:r>
          </a:p>
          <a:p>
            <a:r>
              <a:t>| fulfillment.confirm 就是扣款/结算吗？ | 公共 API 定义是商家履约回执，业务参数只有 trade_no | 未公开资金释放条件、结算账期；不等同 /settle、不证明托管/担保交付 |</a:t>
            </a:r>
          </a:p>
          <a:p>
            <a:r>
              <a:t>| active=true 能省略本地账吗？ | 不能；还须金额、订单、资源、交易号一致及防重复履约 | 当前代码模板显式要求数据库持久化 |</a:t>
            </a:r>
          </a:p>
          <a:p>
            <a:r>
              <a:t>| 商户执行失败自动退款吗？ | 没有查到 MachinePay 专用自动退款契约 | 支付已成功、业务失败是分布式一致性问题；应保存订单恢复/售后，不能直接画自动回滚或自动重付 |</a:t>
            </a:r>
          </a:p>
          <a:p/>
          <a:p>
            <a:r>
              <a:t>单位来源：[官方 Java 示例第 141 行](https://github.com/alipay/ai/blob/c4a6d8d58b906bc77e2d88a0adbc0b64e34560a5/code_example/aipay-402-example/A2MPaymentDemoController.java#L141)；[官方 A2M 文档](https://github.com/alipay/ai/blob/c4a6d8d58b906bc77e2d88a0adbc0b64e34560a5/code_example/aipay-402-example/A2M%E6%99%BA%E8%83%BD%E6%94%B6%E4%BA%A7%E5%93%81%E5%AF%B9%E6%8E%A5%E6%96%87%E6%A1%A3.md)；[最新实现契约](https://github.com/alipay/ai/blob/c4a6d8d58b906bc77e2d88a0adbc0b64e34560a5/skills/alipay-aipay/references/integration/modules/interface-contract/aipay-interface-contract.md#L27)</a:t>
            </a:r>
          </a:p>
          <a:p/>
          <a:p/>
          <a:p>
            <a:r>
              <a:t>## 7. 异常恢复该怎样理解</a:t>
            </a:r>
          </a:p>
          <a:p/>
          <a:p>
            <a:r>
              <a:t>- **未付/账单过期**：没有可交付凭证，应重新取得有效报价或查询订单。不能把旧签名改个时间续期。</a:t>
            </a:r>
          </a:p>
          <a:p>
            <a:r>
              <a:t>- **已付，原资源请求超时**：先使用同一交易与本地订单恢复或查结果，不能直接再生新订单要求付一次。</a:t>
            </a:r>
          </a:p>
          <a:p>
            <a:r>
              <a:t>- **业务已生成，confirm 失败**：当前模板保存 PENDING_CONFIRM，返回 502 `FULFILLMENT_CONFIRM_FAILED`；允许同一 Payment-Proof 重试确认，不再生成资源。</a:t>
            </a:r>
          </a:p>
          <a:p>
            <a:r>
              <a:t>- **confirm 成功、客户端没收到 200**：当前模板记录 FULFILLED，重复请求应返回已存结果。它仍会走线上验票；平台凭证状态如何影响后续重复访问没有完整公开，因此商户应设计可核验的订单恢复通道。</a:t>
            </a:r>
          </a:p>
          <a:p>
            <a:r>
              <a:t>- **业务确实失败**：需要补偿、恢复或售后处理。公开资料不足以给出专用自动退款算法、交易原子回滚或资金保管承诺。</a:t>
            </a:r>
          </a:p>
          <a:p/>
          <a:p>
            <a:r>
              <a:t>以上是读取官方模板后的行为与工程推论；不是本次真实交易测试。当前模板的首次履约截止检查也意味着“支付完成但首次请求晚到”可能被本地拒绝，应在商户方案中明确恢复/售后政策。[Node 模板](https://github.com/alipay/ai/blob/c4a6d8d58b906bc77e2d88a0adbc0b64e34560a5/skills/alipay-aipay/references/integration/modules/code-examples/nodejs/4-%E6%8C%89%E9%87%8F%E4%BB%98%E8%B4%B9/A2MPaymentDemo.md#L370)</a:t>
            </a:r>
          </a:p>
          <a:p/>
          <a:p>
            <a:r>
              <a:t>补充接口事实：`fulfillment.confirm` 的 `TRADE_STATUS_INVALID` 错误解释含“用户已经先行履约完成或交易已关闭”。这说明不能将“同单重试确认”讲成后端必定无条件返回成功；买方先行回执、商户回执与关闭状态如何仲裁，需要按真实响应处理。公开文档没有说明所有重复确认何时被视为幂等成功，模板的确认失败恢复路径也不能替代生产核验。[最新确认接口](https://aipay.alipay.com/docs/ai-receive/api-list/alipay-aipay-agent-fulfillment-confirm.md)</a:t>
            </a:r>
          </a:p>
          <a:p/>
          <a:p>
            <a:r>
              <a:t>### 另一份官方组织示例为何会不同</a:t>
            </a:r>
          </a:p>
          <a:p/>
          <a:p>
            <a:r>
              <a:t>`antgroup/ACT` 的支付宝卖方映射示例明确：相同未支付请求复用账单；只在 verify 明确 inactive 才发新 402；关联不一致先返回冲突并对账；已验有效且关联一致的付款不因原付款截止已过拒绝交付；交付后异步 confirm。这与 `alipay/ai` 接入模板的首次履约截止检查、确认后再返回结果不同。其定位是 ACT 到支付宝的集成示例，使用内存存储，作者明确不能称生产实现。**因此 PPT 应解释稳定的支付协议与业务安全原则，把截止/重试/回执顺序标为实现政策，不能把任何一套模板说成支付宝支付后台强制协议。** [ACT 卖方 Java 官方组织示例](https://github.com/antgroup/ACT/blob/main/integrations/alipay/seller-java/README.md#L246)</a:t>
            </a:r>
          </a:p>
          <a:p/>
          <a:p>
            <a:r>
              <a:t>该 ACT 示例要求价格 0.01–50.00 CNY、最多两位小数，与后台登记 service_id 单价一致，同时承认本地代码无法核验后台登记。它提供的是集成边界提示，并不足以独立证明所有 MachinePay 接入渠道的额度、定价或 PSP 后端执行规则。</a:t>
            </a:r>
          </a:p>
          <a:p/>
          <a:p/>
          <a:p>
            <a:r>
              <a:t>## 10. 证据版本与未解决问题</a:t>
            </a:r>
          </a:p>
          <a:p/>
          <a:p>
            <a:r>
              <a:t>官方源码快照：`alipay/ai` commit `c4a6d8d58b906bc77e2d88a0adbc0b64e34560a5`，commit 日期 2026-09-23，标题 alipay-aipay v1.7.0。网页接入指南显示更新时间 2026-10-09 23:11:32。不能简单按“网页晚于 commit”就把源码具体安全要求否定；本报告分别说明网页业务主流程与模板实现策略。</a:t>
            </a:r>
          </a:p>
          <a:p/>
          <a:p>
            <a:r>
              <a:t>未解决/未公开：生产买方实际扣款 API 的完整验签与风控内部流程；service_id 登记价格是否逐笔强校验；payment_proof 的完整签发、吊销与消耗状态机；各接入渠道的个人主体资格与完整审核要求；正式费率、资金释放/结算周期、自动退款/争议保障契约。产品页的“自动结算/无需人工干预”只能表示其产品主张，不能代替交易授权与结算合同细节。</a:t>
            </a:r>
          </a:p>
          <a:p/>
          <a:p>
            <a:r>
              <a:t>原始材料位于 `sources/machinepay/`；`product.html` 是当前完整网页，`integration.md/verify.md/faq.md` 为官方文档原文，`alipay-ai/` 是只读检索用公开仓库快照。</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 空白母版、版式与主题取自 python-pptx 1.0.2 的默认有效文稿；母版只保留空白版式。 -->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 空白母版、版式与主题取自 python-pptx 1.0.2 的默认有效文稿；母版只保留空白版式。 -->
<p:sldMaster xmlns:a="http://schemas.openxmlformats.org/drawingml/2006/main" xmlns:ns2="http://schemas.microsoft.com/office/powerpoint/2010/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ns2:creationId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image" Target="../media/image1.png" /><ns0:Relationship Id="rId3" Type="http://schemas.openxmlformats.org/officeDocument/2006/relationships/image" Target="../media/image2.png" /><ns0:Relationship Id="rId4" Type="http://schemas.openxmlformats.org/officeDocument/2006/relationships/image" Target="../media/image3.png" /><ns0:Relationship Id="rId5" Type="http://schemas.openxmlformats.org/officeDocument/2006/relationships/image" Target="../media/image4.png" /><ns0:Relationship Id="rId6" Type="http://schemas.openxmlformats.org/officeDocument/2006/relationships/image" Target="../media/image5.png" /><ns0:Relationship Id="rId7" Type="http://schemas.openxmlformats.org/officeDocument/2006/relationships/image" Target="../media/image6.png" /><ns0:Relationship Id="rId8" Type="http://schemas.openxmlformats.org/officeDocument/2006/relationships/image" Target="../media/image7.png" /><ns0:Relationship Id="rId9" Type="http://schemas.openxmlformats.org/officeDocument/2006/relationships/image" Target="../media/image8.png" /><ns0:Relationship Id="rId10" Type="http://schemas.openxmlformats.org/officeDocument/2006/relationships/image" Target="../media/image9.png" /><ns0:Relationship Id="rId11" Type="http://schemas.openxmlformats.org/officeDocument/2006/relationships/image" Target="../media/image10.png" /><ns0:Relationship Id="rId12" Type="http://schemas.openxmlformats.org/officeDocument/2006/relationships/image" Target="../media/image11.png" /><ns0:Relationship Id="rId13" Type="http://schemas.openxmlformats.org/officeDocument/2006/relationships/image" Target="../media/image12.png" /><ns0:Relationship Id="rId14" Type="http://schemas.openxmlformats.org/officeDocument/2006/relationships/notesSlide" Target="../notesSlides/notesSlide1.xml" /></ns0:Relationships>
</file>

<file path=ppt/slides/_rels/slide2.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image" Target="../media/image13.png" /><ns0:Relationship Id="rId3" Type="http://schemas.openxmlformats.org/officeDocument/2006/relationships/image" Target="../media/image14.png" /><ns0:Relationship Id="rId4" Type="http://schemas.openxmlformats.org/officeDocument/2006/relationships/image" Target="../media/image15.png" /><ns0:Relationship Id="rId5" Type="http://schemas.openxmlformats.org/officeDocument/2006/relationships/image" Target="../media/image16.png" /><ns0:Relationship Id="rId6" Type="http://schemas.openxmlformats.org/officeDocument/2006/relationships/image" Target="../media/image17.png" /><ns0:Relationship Id="rId7" Type="http://schemas.openxmlformats.org/officeDocument/2006/relationships/image" Target="../media/image18.png" /><ns0:Relationship Id="rId8" Type="http://schemas.openxmlformats.org/officeDocument/2006/relationships/image" Target="../media/image19.png" /><ns0:Relationship Id="rId9" Type="http://schemas.openxmlformats.org/officeDocument/2006/relationships/image" Target="../media/image20.png" /><ns0:Relationship Id="rId10" Type="http://schemas.openxmlformats.org/officeDocument/2006/relationships/image" Target="../media/image21.png" /><ns0:Relationship Id="rId11" Type="http://schemas.openxmlformats.org/officeDocument/2006/relationships/image" Target="../media/image12.png" /><ns0:Relationship Id="rId12" Type="http://schemas.openxmlformats.org/officeDocument/2006/relationships/notesSlide" Target="../notesSlides/notesSlide2.xml" /></ns0:Relationships>
</file>

<file path=ppt/slides/_rels/slide3.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image" Target="../media/image22.png" /><ns0:Relationship Id="rId3" Type="http://schemas.openxmlformats.org/officeDocument/2006/relationships/image" Target="../media/image23.png" /><ns0:Relationship Id="rId4" Type="http://schemas.openxmlformats.org/officeDocument/2006/relationships/image" Target="../media/image24.png" /><ns0:Relationship Id="rId5" Type="http://schemas.openxmlformats.org/officeDocument/2006/relationships/image" Target="../media/image25.png" /><ns0:Relationship Id="rId6" Type="http://schemas.openxmlformats.org/officeDocument/2006/relationships/image" Target="../media/image26.png" /><ns0:Relationship Id="rId7" Type="http://schemas.openxmlformats.org/officeDocument/2006/relationships/image" Target="../media/image27.png" /><ns0:Relationship Id="rId8" Type="http://schemas.openxmlformats.org/officeDocument/2006/relationships/image" Target="../media/image28.png" /><ns0:Relationship Id="rId9" Type="http://schemas.openxmlformats.org/officeDocument/2006/relationships/image" Target="../media/image29.png" /><ns0:Relationship Id="rId10" Type="http://schemas.openxmlformats.org/officeDocument/2006/relationships/image" Target="../media/image30.png" /><ns0:Relationship Id="rId11" Type="http://schemas.openxmlformats.org/officeDocument/2006/relationships/image" Target="../media/image31.png" /><ns0:Relationship Id="rId12" Type="http://schemas.openxmlformats.org/officeDocument/2006/relationships/image" Target="../media/image32.png" /><ns0:Relationship Id="rId13" Type="http://schemas.openxmlformats.org/officeDocument/2006/relationships/image" Target="../media/image33.png" /><ns0:Relationship Id="rId14" Type="http://schemas.openxmlformats.org/officeDocument/2006/relationships/image" Target="../media/image34.png" /><ns0:Relationship Id="rId15" Type="http://schemas.openxmlformats.org/officeDocument/2006/relationships/image" Target="../media/image35.png" /><ns0:Relationship Id="rId16" Type="http://schemas.openxmlformats.org/officeDocument/2006/relationships/image" Target="../media/image36.png" /><ns0:Relationship Id="rId17" Type="http://schemas.openxmlformats.org/officeDocument/2006/relationships/image" Target="../media/image37.png" /><ns0:Relationship Id="rId18" Type="http://schemas.openxmlformats.org/officeDocument/2006/relationships/image" Target="../media/image38.png" /><ns0:Relationship Id="rId19" Type="http://schemas.openxmlformats.org/officeDocument/2006/relationships/image" Target="../media/image39.png" /><ns0:Relationship Id="rId20" Type="http://schemas.openxmlformats.org/officeDocument/2006/relationships/image" Target="../media/image12.png" /><ns0:Relationship Id="rId21" Type="http://schemas.openxmlformats.org/officeDocument/2006/relationships/notesSlide" Target="../notesSlides/notesSlide3.xml" /></ns0:Relationships>
</file>

<file path=ppt/slides/_rels/slide4.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image" Target="../media/image40.png" /><ns0:Relationship Id="rId3" Type="http://schemas.openxmlformats.org/officeDocument/2006/relationships/image" Target="../media/image41.png" /><ns0:Relationship Id="rId4" Type="http://schemas.openxmlformats.org/officeDocument/2006/relationships/image" Target="../media/image42.png" /><ns0:Relationship Id="rId5" Type="http://schemas.openxmlformats.org/officeDocument/2006/relationships/image" Target="../media/image43.png" /><ns0:Relationship Id="rId6" Type="http://schemas.openxmlformats.org/officeDocument/2006/relationships/image" Target="../media/image44.png" /><ns0:Relationship Id="rId7" Type="http://schemas.openxmlformats.org/officeDocument/2006/relationships/image" Target="../media/image45.png" /><ns0:Relationship Id="rId8" Type="http://schemas.openxmlformats.org/officeDocument/2006/relationships/image" Target="../media/image46.png" /><ns0:Relationship Id="rId9" Type="http://schemas.openxmlformats.org/officeDocument/2006/relationships/image" Target="../media/image21.png" /><ns0:Relationship Id="rId10" Type="http://schemas.openxmlformats.org/officeDocument/2006/relationships/image" Target="../media/image12.png" /><ns0:Relationship Id="rId11" Type="http://schemas.openxmlformats.org/officeDocument/2006/relationships/notesSlide" Target="../notesSlides/notesSlide4.xml" /></ns0:Relationships>
</file>

<file path=ppt/slides/slide1.xml><?xml version="1.0" encoding="utf-8"?>
<p:sld xmlns:a="http://schemas.openxmlformats.org/drawingml/2006/main" xmlns:p="http://schemas.openxmlformats.org/presentationml/2006/main" xmlns:r="http://schemas.openxmlformats.org/officeDocument/2006/relationships">
  <p:cSld name="Skill商品与交付">
    <p:spTree>
      <p:nvGrpSpPr>
        <p:cNvPr id="1" name=""/>
        <p:cNvGrpSpPr/>
        <p:nvPr/>
      </p:nvGrpSpPr>
      <p:grpSpPr/>
      <p:sp>
        <p:nvSpPr>
          <p:cNvPr id="2" name="形状 2"/>
          <p:cNvSpPr/>
          <p:nvPr/>
        </p:nvSpPr>
        <p:spPr>
          <a:xfrm>
            <a:off x="0" y="0"/>
            <a:ext cx="12192000" cy="6858000"/>
          </a:xfrm>
          <a:prstGeom prst="rect">
            <a:avLst/>
          </a:prstGeom>
          <a:solidFill>
            <a:srgbClr val="FFFFFF">
              <a:alpha val="100000"/>
            </a:srgbClr>
          </a:solidFill>
          <a:ln>
            <a:noFill/>
          </a:ln>
        </p:spPr>
      </p:sp>
      <p:sp>
        <p:nvSpPr>
          <p:cNvPr id="3" name="形状 3"/>
          <p:cNvSpPr/>
          <p:nvPr/>
        </p:nvSpPr>
        <p:spPr>
          <a:xfrm>
            <a:off x="0" y="0"/>
            <a:ext cx="12192000" cy="6858000"/>
          </a:xfrm>
          <a:prstGeom prst="rect">
            <a:avLst/>
          </a:prstGeom>
          <a:solidFill>
            <a:srgbClr val="FFFFFF">
              <a:alpha val="100000"/>
            </a:srgbClr>
          </a:solidFill>
          <a:ln>
            <a:noFill/>
          </a:ln>
        </p:spPr>
      </p:sp>
      <p:sp>
        <p:nvSpPr>
          <p:cNvPr id="4" name="形状 4"/>
          <p:cNvSpPr/>
          <p:nvPr/>
        </p:nvSpPr>
        <p:spPr>
          <a:xfrm>
            <a:off x="0" y="0"/>
            <a:ext cx="12192000" cy="6858000"/>
          </a:xfrm>
          <a:prstGeom prst="rect">
            <a:avLst/>
          </a:prstGeom>
          <a:solidFill>
            <a:srgbClr val="FFFFFF">
              <a:alpha val="100000"/>
            </a:srgbClr>
          </a:solidFill>
          <a:ln>
            <a:noFill/>
          </a:ln>
        </p:spPr>
      </p:sp>
      <p:sp>
        <p:nvSpPr>
          <p:cNvPr id="5" name="文字 5"/>
          <p:cNvSpPr txBox="1"/>
          <p:nvPr/>
        </p:nvSpPr>
        <p:spPr>
          <a:xfrm>
            <a:off x="457200" y="298450"/>
            <a:ext cx="2327176"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63">
                <a:solidFill>
                  <a:srgbClr val="B5333B">
                    <a:alpha val="100000"/>
                  </a:srgbClr>
                </a:solidFill>
                <a:latin typeface="Microsoft YaHei"/>
                <a:ea typeface="Microsoft YaHei"/>
                <a:cs typeface="Microsoft YaHei"/>
              </a:rPr>
              <a:t xml:space="preserve">支付宝 SkillPay 与 MachinePay 原理研究</a:t>
            </a:r>
            <a:endParaRPr/>
          </a:p>
        </p:txBody>
      </p:sp>
      <p:sp>
        <p:nvSpPr>
          <p:cNvPr id="6" name="文字 6"/>
          <p:cNvSpPr txBox="1"/>
          <p:nvPr/>
        </p:nvSpPr>
        <p:spPr>
          <a:xfrm>
            <a:off x="10826353" y="298450"/>
            <a:ext cx="921147"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0">
                <a:solidFill>
                  <a:srgbClr val="6C7078">
                    <a:alpha val="100000"/>
                  </a:srgbClr>
                </a:solidFill>
                <a:latin typeface="Microsoft YaHei"/>
                <a:ea typeface="Microsoft YaHei"/>
                <a:cs typeface="Microsoft YaHei"/>
              </a:rPr>
              <a:t xml:space="preserve">2026.10.20 · 1/4</a:t>
            </a:r>
            <a:endParaRPr/>
          </a:p>
        </p:txBody>
      </p:sp>
      <p:sp>
        <p:nvSpPr>
          <p:cNvPr id="7" name="文字 7"/>
          <p:cNvSpPr txBox="1"/>
          <p:nvPr/>
        </p:nvSpPr>
        <p:spPr>
          <a:xfrm>
            <a:off x="457200" y="501650"/>
            <a:ext cx="7533581" cy="406400"/>
          </a:xfrm>
          <a:prstGeom prst="rect">
            <a:avLst/>
          </a:prstGeom>
          <a:noFill/>
          <a:ln>
            <a:noFill/>
          </a:ln>
        </p:spPr>
        <p:txBody>
          <a:bodyPr wrap="none" anchor="t" lIns="0" tIns="0" rIns="0" bIns="0">
            <a:noAutofit/>
          </a:bodyPr>
          <a:lstStyle/>
          <a:p>
            <a:pPr algn="l" marL="0" marR="0" indent="0">
              <a:spcBef>
                <a:spcPts val="0"/>
              </a:spcBef>
              <a:spcAft>
                <a:spcPts val="0"/>
              </a:spcAft>
              <a:buNone/>
            </a:pPr>
            <a:r>
              <a:rPr sz="2200" b="1" i="0" u="none" spc="-44">
                <a:solidFill>
                  <a:srgbClr val="1A1A1C">
                    <a:alpha val="100000"/>
                  </a:srgbClr>
                </a:solidFill>
                <a:latin typeface="Microsoft YaHei"/>
                <a:ea typeface="Microsoft YaHei"/>
                <a:cs typeface="Microsoft YaHei"/>
              </a:rPr>
              <a:t xml:space="preserve">SkillPay 经营 Skill 商品，付款后分为源文件与使用权两种交付</a:t>
            </a:r>
            <a:endParaRPr/>
          </a:p>
        </p:txBody>
      </p:sp>
      <p:pic>
        <p:nvPicPr>
          <p:cNvPr id="8" name="slide-001-image-1.png"/>
          <p:cNvPicPr>
            <a:picLocks noChangeAspect="1"/>
          </p:cNvPicPr>
          <p:nvPr/>
        </p:nvPicPr>
        <p:blipFill>
          <a:blip r:embed="rId2"/>
          <a:stretch>
            <a:fillRect/>
          </a:stretch>
        </p:blipFill>
        <p:spPr>
          <a:xfrm>
            <a:off x="457200" y="944860"/>
            <a:ext cx="11277600" cy="781050"/>
          </a:xfrm>
          <a:prstGeom prst="rect">
            <a:avLst/>
          </a:prstGeom>
        </p:spPr>
      </p:pic>
      <p:sp>
        <p:nvSpPr>
          <p:cNvPr id="9" name="形状 9"/>
          <p:cNvSpPr/>
          <p:nvPr/>
        </p:nvSpPr>
        <p:spPr>
          <a:xfrm>
            <a:off x="457200" y="1129010"/>
            <a:ext cx="2476500" cy="666750"/>
          </a:xfrm>
          <a:prstGeom prst="roundRect">
            <a:avLst>
              <a:gd name="adj" fmla="val 13333"/>
            </a:avLst>
          </a:prstGeom>
          <a:solidFill>
            <a:srgbClr val="FFFFFF">
              <a:alpha val="100000"/>
            </a:srgbClr>
          </a:solidFill>
          <a:ln w="6350">
            <a:solidFill>
              <a:srgbClr val="D9DDE2">
                <a:alpha val="100000"/>
              </a:srgbClr>
            </a:solidFill>
            <a:prstDash val="solid"/>
          </a:ln>
        </p:spPr>
      </p:sp>
      <p:sp>
        <p:nvSpPr>
          <p:cNvPr id="10" name="文字 10"/>
          <p:cNvSpPr txBox="1"/>
          <p:nvPr/>
        </p:nvSpPr>
        <p:spPr>
          <a:xfrm>
            <a:off x="1132384" y="1243310"/>
            <a:ext cx="1138833"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作者提交源 Skill</a:t>
            </a:r>
            <a:endParaRPr/>
          </a:p>
        </p:txBody>
      </p:sp>
      <p:sp>
        <p:nvSpPr>
          <p:cNvPr id="11" name="文字 11"/>
          <p:cNvSpPr txBox="1"/>
          <p:nvPr/>
        </p:nvSpPr>
        <p:spPr>
          <a:xfrm>
            <a:off x="828675" y="1492151"/>
            <a:ext cx="17462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名称、文件、价格与收费模式</a:t>
            </a:r>
            <a:endParaRPr/>
          </a:p>
        </p:txBody>
      </p:sp>
      <p:sp>
        <p:nvSpPr>
          <p:cNvPr id="12" name="形状 12"/>
          <p:cNvSpPr/>
          <p:nvPr/>
        </p:nvSpPr>
        <p:spPr>
          <a:xfrm>
            <a:off x="3441700" y="1129010"/>
            <a:ext cx="2476500" cy="666750"/>
          </a:xfrm>
          <a:prstGeom prst="roundRect">
            <a:avLst>
              <a:gd name="adj" fmla="val 13333"/>
            </a:avLst>
          </a:prstGeom>
          <a:solidFill>
            <a:srgbClr val="FFFFFF">
              <a:alpha val="100000"/>
            </a:srgbClr>
          </a:solidFill>
          <a:ln w="6350">
            <a:solidFill>
              <a:srgbClr val="D9DDE2">
                <a:alpha val="100000"/>
              </a:srgbClr>
            </a:solidFill>
            <a:prstDash val="solid"/>
          </a:ln>
        </p:spPr>
      </p:sp>
      <p:sp>
        <p:nvSpPr>
          <p:cNvPr id="13" name="文字 13"/>
          <p:cNvSpPr txBox="1"/>
          <p:nvPr/>
        </p:nvSpPr>
        <p:spPr>
          <a:xfrm>
            <a:off x="4133155" y="1243310"/>
            <a:ext cx="110619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SkillPay 商品化</a:t>
            </a:r>
            <a:endParaRPr/>
          </a:p>
        </p:txBody>
      </p:sp>
      <p:sp>
        <p:nvSpPr>
          <p:cNvPr id="14" name="文字 14"/>
          <p:cNvSpPr txBox="1"/>
          <p:nvPr/>
        </p:nvSpPr>
        <p:spPr>
          <a:xfrm>
            <a:off x="3813175" y="1492151"/>
            <a:ext cx="17462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扫描审核、版本、试用和权益</a:t>
            </a:r>
            <a:endParaRPr/>
          </a:p>
        </p:txBody>
      </p:sp>
      <p:sp>
        <p:nvSpPr>
          <p:cNvPr id="15" name="形状 15"/>
          <p:cNvSpPr/>
          <p:nvPr/>
        </p:nvSpPr>
        <p:spPr>
          <a:xfrm>
            <a:off x="6426200" y="1129010"/>
            <a:ext cx="2476500" cy="666750"/>
          </a:xfrm>
          <a:prstGeom prst="roundRect">
            <a:avLst>
              <a:gd name="adj" fmla="val 13333"/>
            </a:avLst>
          </a:prstGeom>
          <a:solidFill>
            <a:srgbClr val="FFFFFF">
              <a:alpha val="100000"/>
            </a:srgbClr>
          </a:solidFill>
          <a:ln w="6350">
            <a:solidFill>
              <a:srgbClr val="D9DDE2">
                <a:alpha val="100000"/>
              </a:srgbClr>
            </a:solidFill>
            <a:prstDash val="solid"/>
          </a:ln>
        </p:spPr>
      </p:sp>
      <p:sp>
        <p:nvSpPr>
          <p:cNvPr id="16" name="文字 16"/>
          <p:cNvSpPr txBox="1"/>
          <p:nvPr/>
        </p:nvSpPr>
        <p:spPr>
          <a:xfrm>
            <a:off x="7207250" y="1243310"/>
            <a:ext cx="9271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作者自主分发</a:t>
            </a:r>
            <a:endParaRPr/>
          </a:p>
        </p:txBody>
      </p:sp>
      <p:sp>
        <p:nvSpPr>
          <p:cNvPr id="17" name="文字 17"/>
          <p:cNvSpPr txBox="1"/>
          <p:nvPr/>
        </p:nvSpPr>
        <p:spPr>
          <a:xfrm>
            <a:off x="6864350" y="1492151"/>
            <a:ext cx="16129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购买指令、二维码或商品页</a:t>
            </a:r>
            <a:endParaRPr/>
          </a:p>
        </p:txBody>
      </p:sp>
      <p:pic>
        <p:nvPicPr>
          <p:cNvPr id="18" name="slide-001-image-2.png"/>
          <p:cNvPicPr>
            <a:picLocks noChangeAspect="1"/>
          </p:cNvPicPr>
          <p:nvPr/>
        </p:nvPicPr>
        <p:blipFill>
          <a:blip r:embed="rId3"/>
          <a:stretch>
            <a:fillRect/>
          </a:stretch>
        </p:blipFill>
        <p:spPr>
          <a:xfrm>
            <a:off x="2933700" y="1465560"/>
            <a:ext cx="508000" cy="12700"/>
          </a:xfrm>
          <a:prstGeom prst="rect">
            <a:avLst/>
          </a:prstGeom>
        </p:spPr>
      </p:pic>
      <p:sp>
        <p:nvSpPr>
          <p:cNvPr id="19" name="文字 19"/>
          <p:cNvSpPr/>
          <p:nvPr/>
        </p:nvSpPr>
        <p:spPr>
          <a:xfrm rot="5400000">
            <a:off x="3352800" y="1433810"/>
            <a:ext cx="88900" cy="88900"/>
          </a:xfrm>
          <a:prstGeom prst="triangle">
            <a:avLst/>
          </a:prstGeom>
          <a:solidFill>
            <a:srgbClr val="566472"/>
          </a:solidFill>
          <a:ln>
            <a:noFill/>
          </a:ln>
        </p:spPr>
      </p:sp>
      <p:pic>
        <p:nvPicPr>
          <p:cNvPr id="20" name="slide-001-image-3.png"/>
          <p:cNvPicPr>
            <a:picLocks noChangeAspect="1"/>
          </p:cNvPicPr>
          <p:nvPr/>
        </p:nvPicPr>
        <p:blipFill>
          <a:blip r:embed="rId4"/>
          <a:stretch>
            <a:fillRect/>
          </a:stretch>
        </p:blipFill>
        <p:spPr>
          <a:xfrm>
            <a:off x="5918200" y="1465560"/>
            <a:ext cx="508000" cy="12700"/>
          </a:xfrm>
          <a:prstGeom prst="rect">
            <a:avLst/>
          </a:prstGeom>
        </p:spPr>
      </p:pic>
      <p:sp>
        <p:nvSpPr>
          <p:cNvPr id="21" name="文字 21"/>
          <p:cNvSpPr/>
          <p:nvPr/>
        </p:nvSpPr>
        <p:spPr>
          <a:xfrm rot="5400000">
            <a:off x="6337300" y="1433810"/>
            <a:ext cx="88900" cy="88900"/>
          </a:xfrm>
          <a:prstGeom prst="triangle">
            <a:avLst/>
          </a:prstGeom>
          <a:solidFill>
            <a:srgbClr val="566472"/>
          </a:solidFill>
          <a:ln>
            <a:noFill/>
          </a:ln>
        </p:spPr>
      </p:sp>
      <p:sp>
        <p:nvSpPr>
          <p:cNvPr id="22" name="文字 22"/>
          <p:cNvSpPr txBox="1"/>
          <p:nvPr/>
        </p:nvSpPr>
        <p:spPr>
          <a:xfrm>
            <a:off x="9112250" y="1217910"/>
            <a:ext cx="25463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作者负责创造与维护，平台承接付款之后的</a:t>
            </a:r>
            <a:endParaRPr/>
          </a:p>
        </p:txBody>
      </p:sp>
      <p:sp>
        <p:nvSpPr>
          <p:cNvPr id="23" name="文字 23"/>
          <p:cNvSpPr txBox="1"/>
          <p:nvPr/>
        </p:nvSpPr>
        <p:spPr>
          <a:xfrm>
            <a:off x="9112250" y="1404541"/>
            <a:ext cx="10795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交付和持续经营。</a:t>
            </a:r>
            <a:endParaRPr/>
          </a:p>
        </p:txBody>
      </p:sp>
      <p:sp>
        <p:nvSpPr>
          <p:cNvPr id="24" name="文字 24"/>
          <p:cNvSpPr txBox="1"/>
          <p:nvPr/>
        </p:nvSpPr>
        <p:spPr>
          <a:xfrm>
            <a:off x="457200" y="1954510"/>
            <a:ext cx="2584450" cy="247650"/>
          </a:xfrm>
          <a:prstGeom prst="rect">
            <a:avLst/>
          </a:prstGeom>
          <a:noFill/>
          <a:ln>
            <a:noFill/>
          </a:ln>
        </p:spPr>
        <p:txBody>
          <a:bodyPr wrap="none" anchor="t" lIns="0" tIns="0" rIns="0" bIns="0">
            <a:noAutofit/>
          </a:bodyPr>
          <a:lstStyle/>
          <a:p>
            <a:pPr algn="l" marL="0" marR="0" indent="0">
              <a:spcBef>
                <a:spcPts val="0"/>
              </a:spcBef>
              <a:spcAft>
                <a:spcPts val="0"/>
              </a:spcAft>
              <a:buNone/>
            </a:pPr>
            <a:r>
              <a:rPr sz="1350" b="1" i="0" u="none" spc="0">
                <a:solidFill>
                  <a:srgbClr val="1A1A1C">
                    <a:alpha val="100000"/>
                  </a:srgbClr>
                </a:solidFill>
                <a:latin typeface="Microsoft YaHei"/>
                <a:ea typeface="Microsoft YaHei"/>
                <a:cs typeface="Microsoft YaHei"/>
              </a:rPr>
              <a:t xml:space="preserve">同一购买握手，取得不同商品权益</a:t>
            </a:r>
            <a:endParaRPr/>
          </a:p>
        </p:txBody>
      </p:sp>
      <p:sp>
        <p:nvSpPr>
          <p:cNvPr id="25" name="形状 25"/>
          <p:cNvSpPr/>
          <p:nvPr/>
        </p:nvSpPr>
        <p:spPr>
          <a:xfrm>
            <a:off x="457200" y="2341860"/>
            <a:ext cx="1460500" cy="647700"/>
          </a:xfrm>
          <a:prstGeom prst="roundRect">
            <a:avLst>
              <a:gd name="adj" fmla="val 13725"/>
            </a:avLst>
          </a:prstGeom>
          <a:solidFill>
            <a:srgbClr val="FFFFFF">
              <a:alpha val="100000"/>
            </a:srgbClr>
          </a:solidFill>
          <a:ln w="6350">
            <a:solidFill>
              <a:srgbClr val="D9DDE2">
                <a:alpha val="100000"/>
              </a:srgbClr>
            </a:solidFill>
            <a:prstDash val="solid"/>
          </a:ln>
        </p:spPr>
      </p:sp>
      <p:sp>
        <p:nvSpPr>
          <p:cNvPr id="26" name="文字 26"/>
          <p:cNvSpPr txBox="1"/>
          <p:nvPr/>
        </p:nvSpPr>
        <p:spPr>
          <a:xfrm>
            <a:off x="647700" y="2456160"/>
            <a:ext cx="1092101"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Agent 请求资源</a:t>
            </a:r>
            <a:endParaRPr/>
          </a:p>
        </p:txBody>
      </p:sp>
      <p:sp>
        <p:nvSpPr>
          <p:cNvPr id="27" name="文字 27"/>
          <p:cNvSpPr txBox="1"/>
          <p:nvPr/>
        </p:nvSpPr>
        <p:spPr>
          <a:xfrm>
            <a:off x="787400" y="2705001"/>
            <a:ext cx="8128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没有有效权益</a:t>
            </a:r>
            <a:endParaRPr/>
          </a:p>
        </p:txBody>
      </p:sp>
      <p:pic>
        <p:nvPicPr>
          <p:cNvPr id="28" name="slide-001-image-4.png"/>
          <p:cNvPicPr>
            <a:picLocks noChangeAspect="1"/>
          </p:cNvPicPr>
          <p:nvPr/>
        </p:nvPicPr>
        <p:blipFill>
          <a:blip r:embed="rId5"/>
          <a:stretch>
            <a:fillRect/>
          </a:stretch>
        </p:blipFill>
        <p:spPr>
          <a:xfrm>
            <a:off x="1917700" y="2665710"/>
            <a:ext cx="584200" cy="12700"/>
          </a:xfrm>
          <a:prstGeom prst="rect">
            <a:avLst/>
          </a:prstGeom>
        </p:spPr>
      </p:pic>
      <p:sp>
        <p:nvSpPr>
          <p:cNvPr id="29" name="文字 29"/>
          <p:cNvSpPr/>
          <p:nvPr/>
        </p:nvSpPr>
        <p:spPr>
          <a:xfrm rot="5400000">
            <a:off x="2413000" y="2633960"/>
            <a:ext cx="88900" cy="88900"/>
          </a:xfrm>
          <a:prstGeom prst="triangle">
            <a:avLst/>
          </a:prstGeom>
          <a:solidFill>
            <a:srgbClr val="566472"/>
          </a:solidFill>
          <a:ln>
            <a:noFill/>
          </a:ln>
        </p:spPr>
      </p:sp>
      <p:sp>
        <p:nvSpPr>
          <p:cNvPr id="30" name="形状 30"/>
          <p:cNvSpPr/>
          <p:nvPr/>
        </p:nvSpPr>
        <p:spPr>
          <a:xfrm>
            <a:off x="2501900" y="2341860"/>
            <a:ext cx="1765300" cy="647700"/>
          </a:xfrm>
          <a:prstGeom prst="roundRect">
            <a:avLst>
              <a:gd name="adj" fmla="val 13725"/>
            </a:avLst>
          </a:prstGeom>
          <a:solidFill>
            <a:srgbClr val="FFFFFF">
              <a:alpha val="100000"/>
            </a:srgbClr>
          </a:solidFill>
          <a:ln w="6350">
            <a:solidFill>
              <a:srgbClr val="D9DDE2">
                <a:alpha val="100000"/>
              </a:srgbClr>
            </a:solidFill>
            <a:prstDash val="solid"/>
          </a:ln>
        </p:spPr>
      </p:sp>
      <p:sp>
        <p:nvSpPr>
          <p:cNvPr id="31" name="文字 31"/>
          <p:cNvSpPr txBox="1"/>
          <p:nvPr/>
        </p:nvSpPr>
        <p:spPr>
          <a:xfrm>
            <a:off x="2865338" y="2456160"/>
            <a:ext cx="1051024"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402 + 付款要求</a:t>
            </a:r>
            <a:endParaRPr/>
          </a:p>
        </p:txBody>
      </p:sp>
      <p:sp>
        <p:nvSpPr>
          <p:cNvPr id="32" name="文字 32"/>
          <p:cNvSpPr txBox="1"/>
          <p:nvPr/>
        </p:nvSpPr>
        <p:spPr>
          <a:xfrm>
            <a:off x="2851150" y="2705001"/>
            <a:ext cx="10795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保留原请求上下文</a:t>
            </a:r>
            <a:endParaRPr/>
          </a:p>
        </p:txBody>
      </p:sp>
      <p:pic>
        <p:nvPicPr>
          <p:cNvPr id="33" name="slide-001-image-5.png"/>
          <p:cNvPicPr>
            <a:picLocks noChangeAspect="1"/>
          </p:cNvPicPr>
          <p:nvPr/>
        </p:nvPicPr>
        <p:blipFill>
          <a:blip r:embed="rId6"/>
          <a:stretch>
            <a:fillRect/>
          </a:stretch>
        </p:blipFill>
        <p:spPr>
          <a:xfrm>
            <a:off x="4267200" y="2665710"/>
            <a:ext cx="571500" cy="12700"/>
          </a:xfrm>
          <a:prstGeom prst="rect">
            <a:avLst/>
          </a:prstGeom>
        </p:spPr>
      </p:pic>
      <p:sp>
        <p:nvSpPr>
          <p:cNvPr id="34" name="文字 34"/>
          <p:cNvSpPr/>
          <p:nvPr/>
        </p:nvSpPr>
        <p:spPr>
          <a:xfrm rot="5400000">
            <a:off x="4749800" y="2633960"/>
            <a:ext cx="88900" cy="88900"/>
          </a:xfrm>
          <a:prstGeom prst="triangle">
            <a:avLst/>
          </a:prstGeom>
          <a:solidFill>
            <a:srgbClr val="566472"/>
          </a:solidFill>
          <a:ln>
            <a:noFill/>
          </a:ln>
        </p:spPr>
      </p:sp>
      <p:sp>
        <p:nvSpPr>
          <p:cNvPr id="35" name="形状 35"/>
          <p:cNvSpPr/>
          <p:nvPr/>
        </p:nvSpPr>
        <p:spPr>
          <a:xfrm>
            <a:off x="4838700" y="2341860"/>
            <a:ext cx="2603500" cy="647700"/>
          </a:xfrm>
          <a:prstGeom prst="roundRect">
            <a:avLst>
              <a:gd name="adj" fmla="val 13725"/>
            </a:avLst>
          </a:prstGeom>
          <a:solidFill>
            <a:srgbClr val="FFFFFF">
              <a:alpha val="100000"/>
            </a:srgbClr>
          </a:solidFill>
          <a:ln w="6350">
            <a:solidFill>
              <a:srgbClr val="D9DDE2">
                <a:alpha val="100000"/>
              </a:srgbClr>
            </a:solidFill>
            <a:prstDash val="solid"/>
          </a:ln>
        </p:spPr>
      </p:sp>
      <p:sp>
        <p:nvSpPr>
          <p:cNvPr id="36" name="文字 36"/>
          <p:cNvSpPr txBox="1"/>
          <p:nvPr/>
        </p:nvSpPr>
        <p:spPr>
          <a:xfrm>
            <a:off x="5302250" y="2456160"/>
            <a:ext cx="16891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支付宝付款后恢复原请求</a:t>
            </a:r>
            <a:endParaRPr/>
          </a:p>
        </p:txBody>
      </p:sp>
      <p:sp>
        <p:nvSpPr>
          <p:cNvPr id="37" name="文字 37"/>
          <p:cNvSpPr txBox="1"/>
          <p:nvPr/>
        </p:nvSpPr>
        <p:spPr>
          <a:xfrm>
            <a:off x="5414863" y="2705001"/>
            <a:ext cx="146377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SkillPay 验付并建立权益</a:t>
            </a:r>
            <a:endParaRPr/>
          </a:p>
        </p:txBody>
      </p:sp>
      <p:pic>
        <p:nvPicPr>
          <p:cNvPr id="38" name="slide-001-image-6.png"/>
          <p:cNvPicPr>
            <a:picLocks noChangeAspect="1"/>
          </p:cNvPicPr>
          <p:nvPr/>
        </p:nvPicPr>
        <p:blipFill>
          <a:blip r:embed="rId7"/>
          <a:stretch>
            <a:fillRect/>
          </a:stretch>
        </p:blipFill>
        <p:spPr>
          <a:xfrm>
            <a:off x="6140450" y="2989560"/>
            <a:ext cx="12700" cy="355600"/>
          </a:xfrm>
          <a:prstGeom prst="rect">
            <a:avLst/>
          </a:prstGeom>
        </p:spPr>
      </p:pic>
      <p:pic>
        <p:nvPicPr>
          <p:cNvPr id="39" name="slide-001-image-7.png"/>
          <p:cNvPicPr>
            <a:picLocks noChangeAspect="1"/>
          </p:cNvPicPr>
          <p:nvPr/>
        </p:nvPicPr>
        <p:blipFill>
          <a:blip r:embed="rId8"/>
          <a:stretch>
            <a:fillRect/>
          </a:stretch>
        </p:blipFill>
        <p:spPr>
          <a:xfrm>
            <a:off x="2139950" y="3345160"/>
            <a:ext cx="4000500" cy="12700"/>
          </a:xfrm>
          <a:prstGeom prst="rect">
            <a:avLst/>
          </a:prstGeom>
        </p:spPr>
      </p:pic>
      <p:pic>
        <p:nvPicPr>
          <p:cNvPr id="40" name="slide-001-image-8.png"/>
          <p:cNvPicPr>
            <a:picLocks noChangeAspect="1"/>
          </p:cNvPicPr>
          <p:nvPr/>
        </p:nvPicPr>
        <p:blipFill>
          <a:blip r:embed="rId9"/>
          <a:stretch>
            <a:fillRect/>
          </a:stretch>
        </p:blipFill>
        <p:spPr>
          <a:xfrm>
            <a:off x="2139950" y="3345160"/>
            <a:ext cx="12700" cy="241300"/>
          </a:xfrm>
          <a:prstGeom prst="rect">
            <a:avLst/>
          </a:prstGeom>
        </p:spPr>
      </p:pic>
      <p:sp>
        <p:nvSpPr>
          <p:cNvPr id="41" name="文字 41"/>
          <p:cNvSpPr/>
          <p:nvPr/>
        </p:nvSpPr>
        <p:spPr>
          <a:xfrm rot="10800000">
            <a:off x="2101850" y="3510260"/>
            <a:ext cx="88900" cy="88900"/>
          </a:xfrm>
          <a:prstGeom prst="triangle">
            <a:avLst/>
          </a:prstGeom>
          <a:solidFill>
            <a:srgbClr val="566472"/>
          </a:solidFill>
          <a:ln>
            <a:noFill/>
          </a:ln>
        </p:spPr>
      </p:sp>
      <p:pic>
        <p:nvPicPr>
          <p:cNvPr id="42" name="slide-001-image-9.png"/>
          <p:cNvPicPr>
            <a:picLocks noChangeAspect="1"/>
          </p:cNvPicPr>
          <p:nvPr/>
        </p:nvPicPr>
        <p:blipFill>
          <a:blip r:embed="rId10"/>
          <a:stretch>
            <a:fillRect/>
          </a:stretch>
        </p:blipFill>
        <p:spPr>
          <a:xfrm>
            <a:off x="5759450" y="3345160"/>
            <a:ext cx="12700" cy="241300"/>
          </a:xfrm>
          <a:prstGeom prst="rect">
            <a:avLst/>
          </a:prstGeom>
        </p:spPr>
      </p:pic>
      <p:sp>
        <p:nvSpPr>
          <p:cNvPr id="43" name="文字 43"/>
          <p:cNvSpPr/>
          <p:nvPr/>
        </p:nvSpPr>
        <p:spPr>
          <a:xfrm rot="10800000">
            <a:off x="5721350" y="3510260"/>
            <a:ext cx="88900" cy="88900"/>
          </a:xfrm>
          <a:prstGeom prst="triangle">
            <a:avLst/>
          </a:prstGeom>
          <a:solidFill>
            <a:srgbClr val="566472"/>
          </a:solidFill>
          <a:ln>
            <a:noFill/>
          </a:ln>
        </p:spPr>
      </p:sp>
      <p:sp>
        <p:nvSpPr>
          <p:cNvPr id="44" name="形状 44"/>
          <p:cNvSpPr/>
          <p:nvPr/>
        </p:nvSpPr>
        <p:spPr>
          <a:xfrm>
            <a:off x="457200" y="3586460"/>
            <a:ext cx="3365500" cy="1365250"/>
          </a:xfrm>
          <a:prstGeom prst="roundRect">
            <a:avLst>
              <a:gd name="adj" fmla="val 6512"/>
            </a:avLst>
          </a:prstGeom>
          <a:solidFill>
            <a:srgbClr val="FFFFFF">
              <a:alpha val="100000"/>
            </a:srgbClr>
          </a:solidFill>
          <a:ln w="6350">
            <a:solidFill>
              <a:srgbClr val="D9DDE2">
                <a:alpha val="100000"/>
              </a:srgbClr>
            </a:solidFill>
            <a:prstDash val="solid"/>
          </a:ln>
        </p:spPr>
      </p:sp>
      <p:sp>
        <p:nvSpPr>
          <p:cNvPr id="45" name="文字 45"/>
          <p:cNvSpPr txBox="1"/>
          <p:nvPr/>
        </p:nvSpPr>
        <p:spPr>
          <a:xfrm>
            <a:off x="1377950" y="3700760"/>
            <a:ext cx="15367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买断：交付完整源文件</a:t>
            </a:r>
            <a:endParaRPr/>
          </a:p>
        </p:txBody>
      </p:sp>
      <p:sp>
        <p:nvSpPr>
          <p:cNvPr id="46" name="文字 46"/>
          <p:cNvSpPr txBox="1"/>
          <p:nvPr/>
        </p:nvSpPr>
        <p:spPr>
          <a:xfrm>
            <a:off x="1382713" y="3949601"/>
            <a:ext cx="152717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完整 Skill 进入本地 Agent</a:t>
            </a:r>
            <a:endParaRPr/>
          </a:p>
        </p:txBody>
      </p:sp>
      <p:sp>
        <p:nvSpPr>
          <p:cNvPr id="47" name="文字 47"/>
          <p:cNvSpPr txBox="1"/>
          <p:nvPr/>
        </p:nvSpPr>
        <p:spPr>
          <a:xfrm>
            <a:off x="1177230" y="4136231"/>
            <a:ext cx="193813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一次购买可下载该 Skill 全部版本</a:t>
            </a:r>
            <a:endParaRPr/>
          </a:p>
        </p:txBody>
      </p:sp>
      <p:sp>
        <p:nvSpPr>
          <p:cNvPr id="48" name="文字 48"/>
          <p:cNvSpPr txBox="1"/>
          <p:nvPr/>
        </p:nvSpPr>
        <p:spPr>
          <a:xfrm>
            <a:off x="1273175" y="4322862"/>
            <a:ext cx="17462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后续由本地读取、执行和保存</a:t>
            </a:r>
            <a:endParaRPr/>
          </a:p>
        </p:txBody>
      </p:sp>
      <p:sp>
        <p:nvSpPr>
          <p:cNvPr id="49" name="形状 49"/>
          <p:cNvSpPr/>
          <p:nvPr/>
        </p:nvSpPr>
        <p:spPr>
          <a:xfrm>
            <a:off x="4076700" y="3586460"/>
            <a:ext cx="3365500" cy="1365250"/>
          </a:xfrm>
          <a:prstGeom prst="roundRect">
            <a:avLst>
              <a:gd name="adj" fmla="val 6512"/>
            </a:avLst>
          </a:prstGeom>
          <a:solidFill>
            <a:srgbClr val="FFFFFF">
              <a:alpha val="100000"/>
            </a:srgbClr>
          </a:solidFill>
          <a:ln w="6350">
            <a:solidFill>
              <a:srgbClr val="D9DDE2">
                <a:alpha val="100000"/>
              </a:srgbClr>
            </a:solidFill>
            <a:prstDash val="solid"/>
          </a:ln>
        </p:spPr>
      </p:sp>
      <p:sp>
        <p:nvSpPr>
          <p:cNvPr id="50" name="文字 50"/>
          <p:cNvSpPr txBox="1"/>
          <p:nvPr/>
        </p:nvSpPr>
        <p:spPr>
          <a:xfrm>
            <a:off x="4921250" y="3700760"/>
            <a:ext cx="16891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订阅：交付期限内使用权</a:t>
            </a:r>
            <a:endParaRPr/>
          </a:p>
        </p:txBody>
      </p:sp>
      <p:sp>
        <p:nvSpPr>
          <p:cNvPr id="51" name="文字 51"/>
          <p:cNvSpPr txBox="1"/>
          <p:nvPr/>
        </p:nvSpPr>
        <p:spPr>
          <a:xfrm>
            <a:off x="5026025" y="3949601"/>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本地保留入口与公开资源</a:t>
            </a:r>
            <a:endParaRPr/>
          </a:p>
        </p:txBody>
      </p:sp>
      <p:sp>
        <p:nvSpPr>
          <p:cNvPr id="52" name="文字 52"/>
          <p:cNvSpPr txBox="1"/>
          <p:nvPr/>
        </p:nvSpPr>
        <p:spPr>
          <a:xfrm>
            <a:off x="4759325" y="4136231"/>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完整原文留云端，按任务提供指导</a:t>
            </a:r>
            <a:endParaRPr/>
          </a:p>
        </p:txBody>
      </p:sp>
      <p:sp>
        <p:nvSpPr>
          <p:cNvPr id="53" name="文字 53"/>
          <p:cNvSpPr txBox="1"/>
          <p:nvPr/>
        </p:nvSpPr>
        <p:spPr>
          <a:xfrm>
            <a:off x="4692650" y="4322862"/>
            <a:ext cx="21463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当前不自动续费，到期重新取得权益</a:t>
            </a:r>
            <a:endParaRPr/>
          </a:p>
        </p:txBody>
      </p:sp>
      <p:sp>
        <p:nvSpPr>
          <p:cNvPr id="54" name="文字 54"/>
          <p:cNvSpPr txBox="1"/>
          <p:nvPr/>
        </p:nvSpPr>
        <p:spPr>
          <a:xfrm>
            <a:off x="457200" y="5104110"/>
            <a:ext cx="34798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支付后按商品模式分叉，订阅并不等于每次任务重新扣款。</a:t>
            </a:r>
            <a:endParaRPr/>
          </a:p>
        </p:txBody>
      </p:sp>
      <p:pic>
        <p:nvPicPr>
          <p:cNvPr id="55" name="slide-001-image-10.png"/>
          <p:cNvPicPr>
            <a:picLocks noChangeAspect="1"/>
          </p:cNvPicPr>
          <p:nvPr/>
        </p:nvPicPr>
        <p:blipFill>
          <a:blip r:embed="rId11"/>
          <a:stretch>
            <a:fillRect/>
          </a:stretch>
        </p:blipFill>
        <p:spPr>
          <a:xfrm>
            <a:off x="7670800" y="1852910"/>
            <a:ext cx="4064000" cy="3549650"/>
          </a:xfrm>
          <a:prstGeom prst="rect">
            <a:avLst/>
          </a:prstGeom>
        </p:spPr>
      </p:pic>
      <p:sp>
        <p:nvSpPr>
          <p:cNvPr id="56" name="文字 56"/>
          <p:cNvSpPr txBox="1"/>
          <p:nvPr/>
        </p:nvSpPr>
        <p:spPr>
          <a:xfrm>
            <a:off x="7854950" y="1941810"/>
            <a:ext cx="2790527"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商品 ID 定位售卖对象，交易号追踪付款</a:t>
            </a:r>
            <a:endParaRPr/>
          </a:p>
        </p:txBody>
      </p:sp>
      <p:sp>
        <p:nvSpPr>
          <p:cNvPr id="57" name="文字 57"/>
          <p:cNvSpPr txBox="1"/>
          <p:nvPr/>
        </p:nvSpPr>
        <p:spPr>
          <a:xfrm>
            <a:off x="7854950" y="2213273"/>
            <a:ext cx="3760986"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merchantId / productId 说明“谁的哪个商品”；支付凭据用于</a:t>
            </a:r>
            <a:endParaRPr/>
          </a:p>
        </p:txBody>
      </p:sp>
      <p:sp>
        <p:nvSpPr>
          <p:cNvPr id="58" name="文字 58"/>
          <p:cNvSpPr txBox="1"/>
          <p:nvPr/>
        </p:nvSpPr>
        <p:spPr>
          <a:xfrm>
            <a:off x="7854950" y="2410619"/>
            <a:ext cx="26797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恢复本轮请求，后续还要判断权益是否可用。</a:t>
            </a:r>
            <a:endParaRPr/>
          </a:p>
        </p:txBody>
      </p:sp>
      <p:sp>
        <p:nvSpPr>
          <p:cNvPr id="59" name="文字 59"/>
          <p:cNvSpPr txBox="1"/>
          <p:nvPr/>
        </p:nvSpPr>
        <p:spPr>
          <a:xfrm>
            <a:off x="7854950" y="2754015"/>
            <a:ext cx="2393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平台管理交付，而非只弹出收银台</a:t>
            </a:r>
            <a:endParaRPr/>
          </a:p>
        </p:txBody>
      </p:sp>
      <p:sp>
        <p:nvSpPr>
          <p:cNvPr id="60" name="文字 60"/>
          <p:cNvSpPr txBox="1"/>
          <p:nvPr/>
        </p:nvSpPr>
        <p:spPr>
          <a:xfrm>
            <a:off x="7854950" y="3025477"/>
            <a:ext cx="3879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商品模式、试用、版本和可用期决定后续交付。付费成功后仍可能</a:t>
            </a:r>
            <a:endParaRPr/>
          </a:p>
        </p:txBody>
      </p:sp>
      <p:sp>
        <p:nvSpPr>
          <p:cNvPr id="61" name="文字 61"/>
          <p:cNvSpPr txBox="1"/>
          <p:nvPr/>
        </p:nvSpPr>
        <p:spPr>
          <a:xfrm>
            <a:off x="7854950" y="3222824"/>
            <a:ext cx="17462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处于权益发放中或发放失败。</a:t>
            </a:r>
            <a:endParaRPr/>
          </a:p>
        </p:txBody>
      </p:sp>
      <p:sp>
        <p:nvSpPr>
          <p:cNvPr id="62" name="文字 62"/>
          <p:cNvSpPr txBox="1"/>
          <p:nvPr/>
        </p:nvSpPr>
        <p:spPr>
          <a:xfrm>
            <a:off x="7854950" y="3566220"/>
            <a:ext cx="2393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资金直达作者，费率不能据此推断</a:t>
            </a:r>
            <a:endParaRPr/>
          </a:p>
        </p:txBody>
      </p:sp>
      <p:sp>
        <p:nvSpPr>
          <p:cNvPr id="63" name="文字 63"/>
          <p:cNvSpPr txBox="1"/>
          <p:nvPr/>
        </p:nvSpPr>
        <p:spPr>
          <a:xfrm>
            <a:off x="7854950" y="3837682"/>
            <a:ext cx="3879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官网称款项实时到作者支付宝账户。退款由作者处理，周期订单整</a:t>
            </a:r>
            <a:endParaRPr/>
          </a:p>
        </p:txBody>
      </p:sp>
      <p:sp>
        <p:nvSpPr>
          <p:cNvPr id="64" name="文字 64"/>
          <p:cNvSpPr txBox="1"/>
          <p:nvPr/>
        </p:nvSpPr>
        <p:spPr>
          <a:xfrm>
            <a:off x="7854950" y="4035028"/>
            <a:ext cx="21463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单全退；未查到统一公开抽佣费率。</a:t>
            </a:r>
            <a:endParaRPr/>
          </a:p>
        </p:txBody>
      </p:sp>
      <p:pic>
        <p:nvPicPr>
          <p:cNvPr id="65" name="slide-001-image-11.png"/>
          <p:cNvPicPr>
            <a:picLocks noChangeAspect="1"/>
          </p:cNvPicPr>
          <p:nvPr/>
        </p:nvPicPr>
        <p:blipFill>
          <a:blip r:embed="rId12"/>
          <a:stretch>
            <a:fillRect/>
          </a:stretch>
        </p:blipFill>
        <p:spPr>
          <a:xfrm>
            <a:off x="457200" y="5384800"/>
            <a:ext cx="11277600" cy="958850"/>
          </a:xfrm>
          <a:prstGeom prst="rect">
            <a:avLst/>
          </a:prstGeom>
        </p:spPr>
      </p:pic>
      <p:sp>
        <p:nvSpPr>
          <p:cNvPr id="66" name="文字 66"/>
          <p:cNvSpPr txBox="1"/>
          <p:nvPr/>
        </p:nvSpPr>
        <p:spPr>
          <a:xfrm>
            <a:off x="457200" y="5511800"/>
            <a:ext cx="16891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沿四个判断点恢复原任务</a:t>
            </a:r>
            <a:endParaRPr/>
          </a:p>
        </p:txBody>
      </p:sp>
      <p:sp>
        <p:nvSpPr>
          <p:cNvPr id="67" name="文字 67"/>
          <p:cNvSpPr txBox="1"/>
          <p:nvPr/>
        </p:nvSpPr>
        <p:spPr>
          <a:xfrm>
            <a:off x="457200" y="5822950"/>
            <a:ext cx="6223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支付确认</a:t>
            </a:r>
            <a:endParaRPr/>
          </a:p>
        </p:txBody>
      </p:sp>
      <p:sp>
        <p:nvSpPr>
          <p:cNvPr id="68" name="文字 68"/>
          <p:cNvSpPr txBox="1"/>
          <p:nvPr/>
        </p:nvSpPr>
        <p:spPr>
          <a:xfrm>
            <a:off x="457200" y="6070600"/>
            <a:ext cx="1212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钱是否付给对应交易</a:t>
            </a:r>
            <a:endParaRPr/>
          </a:p>
        </p:txBody>
      </p:sp>
      <p:sp>
        <p:nvSpPr>
          <p:cNvPr id="69" name="文字 69"/>
          <p:cNvSpPr txBox="1"/>
          <p:nvPr/>
        </p:nvSpPr>
        <p:spPr>
          <a:xfrm>
            <a:off x="3340100" y="5822950"/>
            <a:ext cx="6223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权益可用</a:t>
            </a:r>
            <a:endParaRPr/>
          </a:p>
        </p:txBody>
      </p:sp>
      <p:sp>
        <p:nvSpPr>
          <p:cNvPr id="70" name="文字 70"/>
          <p:cNvSpPr txBox="1"/>
          <p:nvPr/>
        </p:nvSpPr>
        <p:spPr>
          <a:xfrm>
            <a:off x="3340100" y="6070600"/>
            <a:ext cx="13462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当前买家是否仍可使用</a:t>
            </a:r>
            <a:endParaRPr/>
          </a:p>
        </p:txBody>
      </p:sp>
      <p:sp>
        <p:nvSpPr>
          <p:cNvPr id="71" name="文字 71"/>
          <p:cNvSpPr txBox="1"/>
          <p:nvPr/>
        </p:nvSpPr>
        <p:spPr>
          <a:xfrm>
            <a:off x="6223000" y="5822950"/>
            <a:ext cx="6223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资源交付</a:t>
            </a:r>
            <a:endParaRPr/>
          </a:p>
        </p:txBody>
      </p:sp>
      <p:sp>
        <p:nvSpPr>
          <p:cNvPr id="72" name="文字 72"/>
          <p:cNvSpPr txBox="1"/>
          <p:nvPr/>
        </p:nvSpPr>
        <p:spPr>
          <a:xfrm>
            <a:off x="6223000" y="6070600"/>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文件或执行指导是否取得</a:t>
            </a:r>
            <a:endParaRPr/>
          </a:p>
        </p:txBody>
      </p:sp>
      <p:sp>
        <p:nvSpPr>
          <p:cNvPr id="73" name="文字 73"/>
          <p:cNvSpPr txBox="1"/>
          <p:nvPr/>
        </p:nvSpPr>
        <p:spPr>
          <a:xfrm>
            <a:off x="9105900" y="5822950"/>
            <a:ext cx="6223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任务完成</a:t>
            </a:r>
            <a:endParaRPr/>
          </a:p>
        </p:txBody>
      </p:sp>
      <p:sp>
        <p:nvSpPr>
          <p:cNvPr id="74" name="文字 74"/>
          <p:cNvSpPr txBox="1"/>
          <p:nvPr/>
        </p:nvSpPr>
        <p:spPr>
          <a:xfrm>
            <a:off x="9105900" y="6070600"/>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本地执行与产物是否合格</a:t>
            </a:r>
            <a:endParaRPr/>
          </a:p>
        </p:txBody>
      </p:sp>
      <p:sp>
        <p:nvSpPr>
          <p:cNvPr id="75" name="文字 75"/>
          <p:cNvSpPr txBox="1"/>
          <p:nvPr/>
        </p:nvSpPr>
        <p:spPr>
          <a:xfrm>
            <a:off x="457200" y="6445250"/>
            <a:ext cx="6265565" cy="120650"/>
          </a:xfrm>
          <a:prstGeom prst="rect">
            <a:avLst/>
          </a:prstGeom>
          <a:noFill/>
          <a:ln>
            <a:noFill/>
          </a:ln>
        </p:spPr>
        <p:txBody>
          <a:bodyPr wrap="none" anchor="t" lIns="0" tIns="0" rIns="0" bIns="0">
            <a:noAutofit/>
          </a:bodyPr>
          <a:lstStyle/>
          <a:p>
            <a:pPr algn="l" marL="0" marR="0" indent="0">
              <a:spcBef>
                <a:spcPts val="0"/>
              </a:spcBef>
              <a:spcAft>
                <a:spcPts val="0"/>
              </a:spcAft>
              <a:buNone/>
            </a:pPr>
            <a:r>
              <a:rPr sz="650" b="0" i="0" u="none" spc="0">
                <a:solidFill>
                  <a:srgbClr val="6C7078">
                    <a:alpha val="100000"/>
                  </a:srgbClr>
                </a:solidFill>
                <a:latin typeface="Microsoft YaHei"/>
                <a:ea typeface="Microsoft YaHei"/>
                <a:cs typeface="Microsoft YaHei"/>
              </a:rPr>
              <a:t xml:space="preserve">来源：SkillPay 官方博客、FAQ、上架页、2026-09-29 更新日志和官方消费侧支付规则。此处聚焦 Skill 商品平台。 详细来源、代码版本与证据边界见备注及伴生研究文档。</a:t>
            </a:r>
            <a:endParaRPr/>
          </a:p>
        </p:txBody>
      </p:sp>
      <p:pic>
        <p:nvPicPr>
          <p:cNvPr id="76" name="slide-001-image-12.png"/>
          <p:cNvPicPr>
            <a:picLocks noChangeAspect="1"/>
          </p:cNvPicPr>
          <p:nvPr/>
        </p:nvPicPr>
        <p:blipFill>
          <a:blip r:embed="rId13"/>
          <a:stretch>
            <a:fillRect/>
          </a:stretch>
        </p:blipFill>
        <p:spPr>
          <a:xfrm>
            <a:off x="11498678" y="6590135"/>
            <a:ext cx="680240" cy="15340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云端保护与执行">
    <p:spTree>
      <p:nvGrpSpPr>
        <p:cNvPr id="1" name=""/>
        <p:cNvGrpSpPr/>
        <p:nvPr/>
      </p:nvGrpSpPr>
      <p:grpSpPr/>
      <p:sp>
        <p:nvSpPr>
          <p:cNvPr id="2" name="形状 2"/>
          <p:cNvSpPr/>
          <p:nvPr/>
        </p:nvSpPr>
        <p:spPr>
          <a:xfrm>
            <a:off x="0" y="0"/>
            <a:ext cx="12192000" cy="6858000"/>
          </a:xfrm>
          <a:prstGeom prst="rect">
            <a:avLst/>
          </a:prstGeom>
          <a:solidFill>
            <a:srgbClr val="FFFFFF">
              <a:alpha val="100000"/>
            </a:srgbClr>
          </a:solidFill>
          <a:ln>
            <a:noFill/>
          </a:ln>
        </p:spPr>
      </p:sp>
      <p:sp>
        <p:nvSpPr>
          <p:cNvPr id="3" name="形状 3"/>
          <p:cNvSpPr/>
          <p:nvPr/>
        </p:nvSpPr>
        <p:spPr>
          <a:xfrm>
            <a:off x="0" y="0"/>
            <a:ext cx="12192000" cy="6858000"/>
          </a:xfrm>
          <a:prstGeom prst="rect">
            <a:avLst/>
          </a:prstGeom>
          <a:solidFill>
            <a:srgbClr val="FFFFFF">
              <a:alpha val="100000"/>
            </a:srgbClr>
          </a:solidFill>
          <a:ln>
            <a:noFill/>
          </a:ln>
        </p:spPr>
      </p:sp>
      <p:sp>
        <p:nvSpPr>
          <p:cNvPr id="4" name="形状 4"/>
          <p:cNvSpPr/>
          <p:nvPr/>
        </p:nvSpPr>
        <p:spPr>
          <a:xfrm>
            <a:off x="0" y="0"/>
            <a:ext cx="12192000" cy="6858000"/>
          </a:xfrm>
          <a:prstGeom prst="rect">
            <a:avLst/>
          </a:prstGeom>
          <a:solidFill>
            <a:srgbClr val="FFFFFF">
              <a:alpha val="100000"/>
            </a:srgbClr>
          </a:solidFill>
          <a:ln>
            <a:noFill/>
          </a:ln>
        </p:spPr>
      </p:sp>
      <p:sp>
        <p:nvSpPr>
          <p:cNvPr id="5" name="文字 5"/>
          <p:cNvSpPr txBox="1"/>
          <p:nvPr/>
        </p:nvSpPr>
        <p:spPr>
          <a:xfrm>
            <a:off x="457200" y="298450"/>
            <a:ext cx="2327176"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63">
                <a:solidFill>
                  <a:srgbClr val="B5333B">
                    <a:alpha val="100000"/>
                  </a:srgbClr>
                </a:solidFill>
                <a:latin typeface="Microsoft YaHei"/>
                <a:ea typeface="Microsoft YaHei"/>
                <a:cs typeface="Microsoft YaHei"/>
              </a:rPr>
              <a:t xml:space="preserve">支付宝 SkillPay 与 MachinePay 原理研究</a:t>
            </a:r>
            <a:endParaRPr/>
          </a:p>
        </p:txBody>
      </p:sp>
      <p:sp>
        <p:nvSpPr>
          <p:cNvPr id="6" name="文字 6"/>
          <p:cNvSpPr txBox="1"/>
          <p:nvPr/>
        </p:nvSpPr>
        <p:spPr>
          <a:xfrm>
            <a:off x="10826353" y="298450"/>
            <a:ext cx="921147"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0">
                <a:solidFill>
                  <a:srgbClr val="6C7078">
                    <a:alpha val="100000"/>
                  </a:srgbClr>
                </a:solidFill>
                <a:latin typeface="Microsoft YaHei"/>
                <a:ea typeface="Microsoft YaHei"/>
                <a:cs typeface="Microsoft YaHei"/>
              </a:rPr>
              <a:t xml:space="preserve">2026.10.20 · 2/4</a:t>
            </a:r>
            <a:endParaRPr/>
          </a:p>
        </p:txBody>
      </p:sp>
      <p:sp>
        <p:nvSpPr>
          <p:cNvPr id="7" name="文字 7"/>
          <p:cNvSpPr txBox="1"/>
          <p:nvPr/>
        </p:nvSpPr>
        <p:spPr>
          <a:xfrm>
            <a:off x="457200" y="501650"/>
            <a:ext cx="6908900" cy="406400"/>
          </a:xfrm>
          <a:prstGeom prst="rect">
            <a:avLst/>
          </a:prstGeom>
          <a:noFill/>
          <a:ln>
            <a:noFill/>
          </a:ln>
        </p:spPr>
        <p:txBody>
          <a:bodyPr wrap="none" anchor="t" lIns="0" tIns="0" rIns="0" bIns="0">
            <a:noAutofit/>
          </a:bodyPr>
          <a:lstStyle/>
          <a:p>
            <a:pPr algn="l" marL="0" marR="0" indent="0">
              <a:spcBef>
                <a:spcPts val="0"/>
              </a:spcBef>
              <a:spcAft>
                <a:spcPts val="0"/>
              </a:spcAft>
              <a:buNone/>
            </a:pPr>
            <a:r>
              <a:rPr sz="2200" b="1" i="0" u="none" spc="-44">
                <a:solidFill>
                  <a:srgbClr val="1A1A1C">
                    <a:alpha val="100000"/>
                  </a:srgbClr>
                </a:solidFill>
                <a:latin typeface="Microsoft YaHei"/>
                <a:ea typeface="Microsoft YaHei"/>
                <a:cs typeface="Microsoft YaHei"/>
              </a:rPr>
              <a:t xml:space="preserve">订阅原文留云端，云端给任务指导，本地 Agent 继续执行</a:t>
            </a:r>
            <a:endParaRPr/>
          </a:p>
        </p:txBody>
      </p:sp>
      <p:pic>
        <p:nvPicPr>
          <p:cNvPr id="8" name="slide-002-image-1.png"/>
          <p:cNvPicPr>
            <a:picLocks noChangeAspect="1"/>
          </p:cNvPicPr>
          <p:nvPr/>
        </p:nvPicPr>
        <p:blipFill>
          <a:blip r:embed="rId2"/>
          <a:stretch>
            <a:fillRect/>
          </a:stretch>
        </p:blipFill>
        <p:spPr>
          <a:xfrm>
            <a:off x="457200" y="944860"/>
            <a:ext cx="11277600" cy="299641"/>
          </a:xfrm>
          <a:prstGeom prst="rect">
            <a:avLst/>
          </a:prstGeom>
        </p:spPr>
      </p:pic>
      <p:sp>
        <p:nvSpPr>
          <p:cNvPr id="9" name="文字 9"/>
          <p:cNvSpPr txBox="1"/>
          <p:nvPr/>
        </p:nvSpPr>
        <p:spPr>
          <a:xfrm>
            <a:off x="457200" y="1059160"/>
            <a:ext cx="4853087"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0" i="0" u="none" spc="0">
                <a:solidFill>
                  <a:srgbClr val="1A1A1C">
                    <a:alpha val="100000"/>
                  </a:srgbClr>
                </a:solidFill>
                <a:latin typeface="Microsoft YaHei"/>
                <a:ea typeface="Microsoft YaHei"/>
                <a:cs typeface="Microsoft YaHei"/>
              </a:rPr>
              <a:t xml:space="preserve">云端保护控制知识披露；用户的 Agent 仍负责校验、脚本执行和最终输出。</a:t>
            </a:r>
            <a:endParaRPr/>
          </a:p>
        </p:txBody>
      </p:sp>
      <p:sp>
        <p:nvSpPr>
          <p:cNvPr id="10" name="形状 10"/>
          <p:cNvSpPr/>
          <p:nvPr/>
        </p:nvSpPr>
        <p:spPr>
          <a:xfrm>
            <a:off x="457200" y="1384201"/>
            <a:ext cx="7112000" cy="4216400"/>
          </a:xfrm>
          <a:prstGeom prst="roundRect">
            <a:avLst>
              <a:gd name="adj" fmla="val 2108"/>
            </a:avLst>
          </a:prstGeom>
          <a:noFill/>
          <a:ln w="6350">
            <a:solidFill>
              <a:srgbClr val="D9DDE2">
                <a:alpha val="100000"/>
              </a:srgbClr>
            </a:solidFill>
            <a:prstDash val="solid"/>
          </a:ln>
        </p:spPr>
      </p:sp>
      <p:pic>
        <p:nvPicPr>
          <p:cNvPr id="11" name="slide-002-image-2.png"/>
          <p:cNvPicPr>
            <a:picLocks noChangeAspect="1"/>
          </p:cNvPicPr>
          <p:nvPr/>
        </p:nvPicPr>
        <p:blipFill>
          <a:blip r:embed="rId3"/>
          <a:stretch>
            <a:fillRect/>
          </a:stretch>
        </p:blipFill>
        <p:spPr>
          <a:xfrm>
            <a:off x="3981450" y="1669951"/>
            <a:ext cx="12700" cy="3778250"/>
          </a:xfrm>
          <a:prstGeom prst="rect">
            <a:avLst/>
          </a:prstGeom>
        </p:spPr>
      </p:pic>
      <p:sp>
        <p:nvSpPr>
          <p:cNvPr id="12" name="文字 12"/>
          <p:cNvSpPr txBox="1"/>
          <p:nvPr/>
        </p:nvSpPr>
        <p:spPr>
          <a:xfrm>
            <a:off x="1735931" y="1498501"/>
            <a:ext cx="884138" cy="247650"/>
          </a:xfrm>
          <a:prstGeom prst="rect">
            <a:avLst/>
          </a:prstGeom>
          <a:noFill/>
          <a:ln>
            <a:noFill/>
          </a:ln>
        </p:spPr>
        <p:txBody>
          <a:bodyPr wrap="none" anchor="t" lIns="0" tIns="0" rIns="0" bIns="0">
            <a:noAutofit/>
          </a:bodyPr>
          <a:lstStyle/>
          <a:p>
            <a:pPr algn="l" marL="0" marR="0" indent="0">
              <a:spcBef>
                <a:spcPts val="0"/>
              </a:spcBef>
              <a:spcAft>
                <a:spcPts val="0"/>
              </a:spcAft>
              <a:buNone/>
            </a:pPr>
            <a:r>
              <a:rPr sz="1350" b="1" i="0" u="none" spc="0">
                <a:solidFill>
                  <a:srgbClr val="1A1A1C">
                    <a:alpha val="100000"/>
                  </a:srgbClr>
                </a:solidFill>
                <a:latin typeface="Microsoft YaHei"/>
                <a:ea typeface="Microsoft YaHei"/>
                <a:cs typeface="Microsoft YaHei"/>
              </a:rPr>
              <a:t xml:space="preserve">本地 Agent</a:t>
            </a:r>
            <a:endParaRPr/>
          </a:p>
        </p:txBody>
      </p:sp>
      <p:sp>
        <p:nvSpPr>
          <p:cNvPr id="13" name="文字 13"/>
          <p:cNvSpPr txBox="1"/>
          <p:nvPr/>
        </p:nvSpPr>
        <p:spPr>
          <a:xfrm>
            <a:off x="5090418" y="1498501"/>
            <a:ext cx="1414264" cy="247650"/>
          </a:xfrm>
          <a:prstGeom prst="rect">
            <a:avLst/>
          </a:prstGeom>
          <a:noFill/>
          <a:ln>
            <a:noFill/>
          </a:ln>
        </p:spPr>
        <p:txBody>
          <a:bodyPr wrap="none" anchor="t" lIns="0" tIns="0" rIns="0" bIns="0">
            <a:noAutofit/>
          </a:bodyPr>
          <a:lstStyle/>
          <a:p>
            <a:pPr algn="l" marL="0" marR="0" indent="0">
              <a:spcBef>
                <a:spcPts val="0"/>
              </a:spcBef>
              <a:spcAft>
                <a:spcPts val="0"/>
              </a:spcAft>
              <a:buNone/>
            </a:pPr>
            <a:r>
              <a:rPr sz="1350" b="1" i="0" u="none" spc="0">
                <a:solidFill>
                  <a:srgbClr val="1A1A1C">
                    <a:alpha val="100000"/>
                  </a:srgbClr>
                </a:solidFill>
                <a:latin typeface="Microsoft YaHei"/>
                <a:ea typeface="Microsoft YaHei"/>
                <a:cs typeface="Microsoft YaHei"/>
              </a:rPr>
              <a:t xml:space="preserve">SkillPay 云端保护</a:t>
            </a:r>
            <a:endParaRPr/>
          </a:p>
        </p:txBody>
      </p:sp>
      <p:sp>
        <p:nvSpPr>
          <p:cNvPr id="14" name="形状 14"/>
          <p:cNvSpPr/>
          <p:nvPr/>
        </p:nvSpPr>
        <p:spPr>
          <a:xfrm>
            <a:off x="679450" y="1847751"/>
            <a:ext cx="2889250" cy="730250"/>
          </a:xfrm>
          <a:prstGeom prst="roundRect">
            <a:avLst>
              <a:gd name="adj" fmla="val 12174"/>
            </a:avLst>
          </a:prstGeom>
          <a:solidFill>
            <a:srgbClr val="FFFFFF">
              <a:alpha val="100000"/>
            </a:srgbClr>
          </a:solidFill>
          <a:ln w="6350">
            <a:solidFill>
              <a:srgbClr val="D9DDE2">
                <a:alpha val="100000"/>
              </a:srgbClr>
            </a:solidFill>
            <a:prstDash val="solid"/>
          </a:ln>
        </p:spPr>
      </p:sp>
      <p:sp>
        <p:nvSpPr>
          <p:cNvPr id="15" name="文字 15"/>
          <p:cNvSpPr txBox="1"/>
          <p:nvPr/>
        </p:nvSpPr>
        <p:spPr>
          <a:xfrm>
            <a:off x="1405235" y="1962051"/>
            <a:ext cx="1450281"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用户任务 + 影子 Skill</a:t>
            </a:r>
            <a:endParaRPr/>
          </a:p>
        </p:txBody>
      </p:sp>
      <p:sp>
        <p:nvSpPr>
          <p:cNvPr id="16" name="文字 16"/>
          <p:cNvSpPr txBox="1"/>
          <p:nvPr/>
        </p:nvSpPr>
        <p:spPr>
          <a:xfrm>
            <a:off x="1123950" y="2210891"/>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本地入口、公开资源与必要上下文</a:t>
            </a:r>
            <a:endParaRPr/>
          </a:p>
        </p:txBody>
      </p:sp>
      <p:pic>
        <p:nvPicPr>
          <p:cNvPr id="17" name="slide-002-image-3.png"/>
          <p:cNvPicPr>
            <a:picLocks noChangeAspect="1"/>
          </p:cNvPicPr>
          <p:nvPr/>
        </p:nvPicPr>
        <p:blipFill>
          <a:blip r:embed="rId4"/>
          <a:stretch>
            <a:fillRect/>
          </a:stretch>
        </p:blipFill>
        <p:spPr>
          <a:xfrm>
            <a:off x="2120900" y="2578001"/>
            <a:ext cx="12700" cy="304800"/>
          </a:xfrm>
          <a:prstGeom prst="rect">
            <a:avLst/>
          </a:prstGeom>
        </p:spPr>
      </p:pic>
      <p:sp>
        <p:nvSpPr>
          <p:cNvPr id="18" name="文字 18"/>
          <p:cNvSpPr/>
          <p:nvPr/>
        </p:nvSpPr>
        <p:spPr>
          <a:xfrm rot="10800000">
            <a:off x="2082800" y="2806601"/>
            <a:ext cx="88900" cy="88900"/>
          </a:xfrm>
          <a:prstGeom prst="triangle">
            <a:avLst/>
          </a:prstGeom>
          <a:solidFill>
            <a:srgbClr val="566472"/>
          </a:solidFill>
          <a:ln>
            <a:noFill/>
          </a:ln>
        </p:spPr>
      </p:sp>
      <p:pic>
        <p:nvPicPr>
          <p:cNvPr id="19" name="slide-002-image-4.png"/>
          <p:cNvPicPr>
            <a:picLocks noChangeAspect="1"/>
          </p:cNvPicPr>
          <p:nvPr/>
        </p:nvPicPr>
        <p:blipFill>
          <a:blip r:embed="rId5"/>
          <a:stretch>
            <a:fillRect/>
          </a:stretch>
        </p:blipFill>
        <p:spPr>
          <a:xfrm>
            <a:off x="2120900" y="2882801"/>
            <a:ext cx="2559050" cy="12700"/>
          </a:xfrm>
          <a:prstGeom prst="rect">
            <a:avLst/>
          </a:prstGeom>
        </p:spPr>
      </p:pic>
      <p:sp>
        <p:nvSpPr>
          <p:cNvPr id="20" name="文字 20"/>
          <p:cNvSpPr/>
          <p:nvPr/>
        </p:nvSpPr>
        <p:spPr>
          <a:xfrm rot="5400000">
            <a:off x="4591050" y="2851051"/>
            <a:ext cx="88900" cy="88900"/>
          </a:xfrm>
          <a:prstGeom prst="triangle">
            <a:avLst/>
          </a:prstGeom>
          <a:solidFill>
            <a:srgbClr val="566472"/>
          </a:solidFill>
          <a:ln>
            <a:noFill/>
          </a:ln>
        </p:spPr>
      </p:sp>
      <p:sp>
        <p:nvSpPr>
          <p:cNvPr id="21" name="形状 21"/>
          <p:cNvSpPr/>
          <p:nvPr/>
        </p:nvSpPr>
        <p:spPr>
          <a:xfrm>
            <a:off x="2184400" y="2666901"/>
            <a:ext cx="2432050" cy="168870"/>
          </a:xfrm>
          <a:prstGeom prst="rect">
            <a:avLst/>
          </a:prstGeom>
          <a:solidFill>
            <a:srgbClr val="FFFFFF">
              <a:alpha val="100000"/>
            </a:srgbClr>
          </a:solidFill>
          <a:ln>
            <a:noFill/>
          </a:ln>
        </p:spPr>
      </p:sp>
      <p:sp>
        <p:nvSpPr>
          <p:cNvPr id="22" name="文字 22"/>
          <p:cNvSpPr txBox="1"/>
          <p:nvPr/>
        </p:nvSpPr>
        <p:spPr>
          <a:xfrm>
            <a:off x="2675235" y="2679601"/>
            <a:ext cx="146298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66472">
                    <a:alpha val="100000"/>
                  </a:srgbClr>
                </a:solidFill>
                <a:latin typeface="Microsoft YaHei"/>
                <a:ea typeface="Microsoft YaHei"/>
                <a:cs typeface="Microsoft YaHei"/>
              </a:rPr>
              <a:t xml:space="preserve">当前任务请求 + 有效上下文</a:t>
            </a:r>
            <a:endParaRPr/>
          </a:p>
        </p:txBody>
      </p:sp>
      <p:sp>
        <p:nvSpPr>
          <p:cNvPr id="23" name="形状 23"/>
          <p:cNvSpPr/>
          <p:nvPr/>
        </p:nvSpPr>
        <p:spPr>
          <a:xfrm>
            <a:off x="4679950" y="2565301"/>
            <a:ext cx="2667000" cy="647700"/>
          </a:xfrm>
          <a:prstGeom prst="roundRect">
            <a:avLst>
              <a:gd name="adj" fmla="val 13725"/>
            </a:avLst>
          </a:prstGeom>
          <a:solidFill>
            <a:srgbClr val="FFFFFF">
              <a:alpha val="100000"/>
            </a:srgbClr>
          </a:solidFill>
          <a:ln w="6350">
            <a:solidFill>
              <a:srgbClr val="D9DDE2">
                <a:alpha val="100000"/>
              </a:srgbClr>
            </a:solidFill>
            <a:prstDash val="solid"/>
          </a:ln>
        </p:spPr>
      </p:sp>
      <p:sp>
        <p:nvSpPr>
          <p:cNvPr id="24" name="文字 24"/>
          <p:cNvSpPr txBox="1"/>
          <p:nvPr/>
        </p:nvSpPr>
        <p:spPr>
          <a:xfrm>
            <a:off x="5480050" y="2679601"/>
            <a:ext cx="10795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权益与请求判断</a:t>
            </a:r>
            <a:endParaRPr/>
          </a:p>
        </p:txBody>
      </p:sp>
      <p:sp>
        <p:nvSpPr>
          <p:cNvPr id="25" name="文字 25"/>
          <p:cNvSpPr txBox="1"/>
          <p:nvPr/>
        </p:nvSpPr>
        <p:spPr>
          <a:xfrm>
            <a:off x="5280025" y="2928441"/>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有效期、试用及能力边界</a:t>
            </a:r>
            <a:endParaRPr/>
          </a:p>
        </p:txBody>
      </p:sp>
      <p:pic>
        <p:nvPicPr>
          <p:cNvPr id="26" name="slide-002-image-5.png"/>
          <p:cNvPicPr>
            <a:picLocks noChangeAspect="1"/>
          </p:cNvPicPr>
          <p:nvPr/>
        </p:nvPicPr>
        <p:blipFill>
          <a:blip r:embed="rId6"/>
          <a:stretch>
            <a:fillRect/>
          </a:stretch>
        </p:blipFill>
        <p:spPr>
          <a:xfrm>
            <a:off x="6013450" y="3213001"/>
            <a:ext cx="12700" cy="273050"/>
          </a:xfrm>
          <a:prstGeom prst="rect">
            <a:avLst/>
          </a:prstGeom>
        </p:spPr>
      </p:pic>
      <p:sp>
        <p:nvSpPr>
          <p:cNvPr id="27" name="文字 27"/>
          <p:cNvSpPr/>
          <p:nvPr/>
        </p:nvSpPr>
        <p:spPr>
          <a:xfrm rot="10800000">
            <a:off x="5975350" y="3409851"/>
            <a:ext cx="88900" cy="88900"/>
          </a:xfrm>
          <a:prstGeom prst="triangle">
            <a:avLst/>
          </a:prstGeom>
          <a:solidFill>
            <a:srgbClr val="566472"/>
          </a:solidFill>
          <a:ln>
            <a:noFill/>
          </a:ln>
        </p:spPr>
      </p:sp>
      <p:sp>
        <p:nvSpPr>
          <p:cNvPr id="28" name="形状 28"/>
          <p:cNvSpPr/>
          <p:nvPr/>
        </p:nvSpPr>
        <p:spPr>
          <a:xfrm>
            <a:off x="4679950" y="3486051"/>
            <a:ext cx="2667000" cy="787400"/>
          </a:xfrm>
          <a:prstGeom prst="roundRect">
            <a:avLst>
              <a:gd name="adj" fmla="val 11290"/>
            </a:avLst>
          </a:prstGeom>
          <a:solidFill>
            <a:srgbClr val="FFFFFF">
              <a:alpha val="100000"/>
            </a:srgbClr>
          </a:solidFill>
          <a:ln w="6350">
            <a:solidFill>
              <a:srgbClr val="D9DDE2">
                <a:alpha val="100000"/>
              </a:srgbClr>
            </a:solidFill>
            <a:prstDash val="solid"/>
          </a:ln>
        </p:spPr>
      </p:sp>
      <p:sp>
        <p:nvSpPr>
          <p:cNvPr id="29" name="文字 29"/>
          <p:cNvSpPr txBox="1"/>
          <p:nvPr/>
        </p:nvSpPr>
        <p:spPr>
          <a:xfrm>
            <a:off x="5403850" y="3600351"/>
            <a:ext cx="12319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完整原文隔离保存</a:t>
            </a:r>
            <a:endParaRPr/>
          </a:p>
        </p:txBody>
      </p:sp>
      <p:sp>
        <p:nvSpPr>
          <p:cNvPr id="30" name="文字 30"/>
          <p:cNvSpPr txBox="1"/>
          <p:nvPr/>
        </p:nvSpPr>
        <p:spPr>
          <a:xfrm>
            <a:off x="5080000" y="3849192"/>
            <a:ext cx="18796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根据当前任务生成有限执行文本</a:t>
            </a:r>
            <a:endParaRPr/>
          </a:p>
        </p:txBody>
      </p:sp>
      <p:sp>
        <p:nvSpPr>
          <p:cNvPr id="31" name="文字 31"/>
          <p:cNvSpPr txBox="1"/>
          <p:nvPr/>
        </p:nvSpPr>
        <p:spPr>
          <a:xfrm>
            <a:off x="5280025" y="4035822"/>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拒绝套取，裁剪无关知识</a:t>
            </a:r>
            <a:endParaRPr/>
          </a:p>
        </p:txBody>
      </p:sp>
      <p:pic>
        <p:nvPicPr>
          <p:cNvPr id="32" name="slide-002-image-6.png"/>
          <p:cNvPicPr>
            <a:picLocks noChangeAspect="1"/>
          </p:cNvPicPr>
          <p:nvPr/>
        </p:nvPicPr>
        <p:blipFill>
          <a:blip r:embed="rId7"/>
          <a:stretch>
            <a:fillRect/>
          </a:stretch>
        </p:blipFill>
        <p:spPr>
          <a:xfrm>
            <a:off x="3568700" y="3898801"/>
            <a:ext cx="1111250" cy="12700"/>
          </a:xfrm>
          <a:prstGeom prst="rect">
            <a:avLst/>
          </a:prstGeom>
        </p:spPr>
      </p:pic>
      <p:sp>
        <p:nvSpPr>
          <p:cNvPr id="33" name="文字 33"/>
          <p:cNvSpPr/>
          <p:nvPr/>
        </p:nvSpPr>
        <p:spPr>
          <a:xfrm rot="16200000">
            <a:off x="3568700" y="3867051"/>
            <a:ext cx="88900" cy="88900"/>
          </a:xfrm>
          <a:prstGeom prst="triangle">
            <a:avLst/>
          </a:prstGeom>
          <a:solidFill>
            <a:srgbClr val="B5333B"/>
          </a:solidFill>
          <a:ln>
            <a:noFill/>
          </a:ln>
        </p:spPr>
      </p:sp>
      <p:sp>
        <p:nvSpPr>
          <p:cNvPr id="34" name="形状 34"/>
          <p:cNvSpPr/>
          <p:nvPr/>
        </p:nvSpPr>
        <p:spPr>
          <a:xfrm>
            <a:off x="3632200" y="3682901"/>
            <a:ext cx="984250" cy="168870"/>
          </a:xfrm>
          <a:prstGeom prst="rect">
            <a:avLst/>
          </a:prstGeom>
          <a:solidFill>
            <a:srgbClr val="FFFFFF">
              <a:alpha val="100000"/>
            </a:srgbClr>
          </a:solidFill>
          <a:ln>
            <a:noFill/>
          </a:ln>
        </p:spPr>
      </p:sp>
      <p:sp>
        <p:nvSpPr>
          <p:cNvPr id="35" name="文字 35"/>
          <p:cNvSpPr txBox="1"/>
          <p:nvPr/>
        </p:nvSpPr>
        <p:spPr>
          <a:xfrm>
            <a:off x="3762375" y="3695601"/>
            <a:ext cx="73660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B5333B">
                    <a:alpha val="100000"/>
                  </a:srgbClr>
                </a:solidFill>
                <a:latin typeface="Microsoft YaHei"/>
                <a:ea typeface="Microsoft YaHei"/>
                <a:cs typeface="Microsoft YaHei"/>
              </a:rPr>
              <a:t xml:space="preserve">任务专用指导</a:t>
            </a:r>
            <a:endParaRPr/>
          </a:p>
        </p:txBody>
      </p:sp>
      <p:sp>
        <p:nvSpPr>
          <p:cNvPr id="36" name="形状 36"/>
          <p:cNvSpPr/>
          <p:nvPr/>
        </p:nvSpPr>
        <p:spPr>
          <a:xfrm>
            <a:off x="679450" y="3536851"/>
            <a:ext cx="2889250" cy="730250"/>
          </a:xfrm>
          <a:prstGeom prst="roundRect">
            <a:avLst>
              <a:gd name="adj" fmla="val 12174"/>
            </a:avLst>
          </a:prstGeom>
          <a:solidFill>
            <a:srgbClr val="FFFFFF">
              <a:alpha val="100000"/>
            </a:srgbClr>
          </a:solidFill>
          <a:ln w="6350">
            <a:solidFill>
              <a:srgbClr val="D9DDE2">
                <a:alpha val="100000"/>
              </a:srgbClr>
            </a:solidFill>
            <a:prstDash val="solid"/>
          </a:ln>
        </p:spPr>
      </p:sp>
      <p:sp>
        <p:nvSpPr>
          <p:cNvPr id="37" name="文字 37"/>
          <p:cNvSpPr txBox="1"/>
          <p:nvPr/>
        </p:nvSpPr>
        <p:spPr>
          <a:xfrm>
            <a:off x="1438275" y="3651151"/>
            <a:ext cx="13843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本地校验指导与输入</a:t>
            </a:r>
            <a:endParaRPr/>
          </a:p>
        </p:txBody>
      </p:sp>
      <p:sp>
        <p:nvSpPr>
          <p:cNvPr id="38" name="文字 38"/>
          <p:cNvSpPr txBox="1"/>
          <p:nvPr/>
        </p:nvSpPr>
        <p:spPr>
          <a:xfrm>
            <a:off x="1123950" y="3899992"/>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信息不足先追问，信息充分再执行</a:t>
            </a:r>
            <a:endParaRPr/>
          </a:p>
        </p:txBody>
      </p:sp>
      <p:pic>
        <p:nvPicPr>
          <p:cNvPr id="39" name="slide-002-image-7.png"/>
          <p:cNvPicPr>
            <a:picLocks noChangeAspect="1"/>
          </p:cNvPicPr>
          <p:nvPr/>
        </p:nvPicPr>
        <p:blipFill>
          <a:blip r:embed="rId8"/>
          <a:stretch>
            <a:fillRect/>
          </a:stretch>
        </p:blipFill>
        <p:spPr>
          <a:xfrm>
            <a:off x="2120900" y="4267101"/>
            <a:ext cx="12700" cy="323850"/>
          </a:xfrm>
          <a:prstGeom prst="rect">
            <a:avLst/>
          </a:prstGeom>
        </p:spPr>
      </p:pic>
      <p:sp>
        <p:nvSpPr>
          <p:cNvPr id="40" name="文字 40"/>
          <p:cNvSpPr/>
          <p:nvPr/>
        </p:nvSpPr>
        <p:spPr>
          <a:xfrm rot="10800000">
            <a:off x="2082800" y="4514751"/>
            <a:ext cx="88900" cy="88900"/>
          </a:xfrm>
          <a:prstGeom prst="triangle">
            <a:avLst/>
          </a:prstGeom>
          <a:solidFill>
            <a:srgbClr val="566472"/>
          </a:solidFill>
          <a:ln>
            <a:noFill/>
          </a:ln>
        </p:spPr>
      </p:sp>
      <p:sp>
        <p:nvSpPr>
          <p:cNvPr id="41" name="形状 41"/>
          <p:cNvSpPr/>
          <p:nvPr/>
        </p:nvSpPr>
        <p:spPr>
          <a:xfrm>
            <a:off x="679450" y="4590951"/>
            <a:ext cx="2889250" cy="711200"/>
          </a:xfrm>
          <a:prstGeom prst="roundRect">
            <a:avLst>
              <a:gd name="adj" fmla="val 12500"/>
            </a:avLst>
          </a:prstGeom>
          <a:solidFill>
            <a:srgbClr val="FFFFFF">
              <a:alpha val="100000"/>
            </a:srgbClr>
          </a:solidFill>
          <a:ln w="6350">
            <a:solidFill>
              <a:srgbClr val="D9DDE2">
                <a:alpha val="100000"/>
              </a:srgbClr>
            </a:solidFill>
            <a:prstDash val="solid"/>
          </a:ln>
        </p:spPr>
      </p:sp>
      <p:sp>
        <p:nvSpPr>
          <p:cNvPr id="42" name="文字 42"/>
          <p:cNvSpPr txBox="1"/>
          <p:nvPr/>
        </p:nvSpPr>
        <p:spPr>
          <a:xfrm>
            <a:off x="1285875" y="4705251"/>
            <a:ext cx="16891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运行工具并形成最终结果</a:t>
            </a:r>
            <a:endParaRPr/>
          </a:p>
        </p:txBody>
      </p:sp>
      <p:sp>
        <p:nvSpPr>
          <p:cNvPr id="43" name="文字 43"/>
          <p:cNvSpPr txBox="1"/>
          <p:nvPr/>
        </p:nvSpPr>
        <p:spPr>
          <a:xfrm>
            <a:off x="990600" y="4954092"/>
            <a:ext cx="22796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脚本、数据处理、文件产物由本地完成</a:t>
            </a:r>
            <a:endParaRPr/>
          </a:p>
        </p:txBody>
      </p:sp>
      <p:sp>
        <p:nvSpPr>
          <p:cNvPr id="44" name="文字 44"/>
          <p:cNvSpPr txBox="1"/>
          <p:nvPr/>
        </p:nvSpPr>
        <p:spPr>
          <a:xfrm>
            <a:off x="5454650" y="4533801"/>
            <a:ext cx="1123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B5333B">
                    <a:alpha val="100000"/>
                  </a:srgbClr>
                </a:solidFill>
                <a:latin typeface="Microsoft YaHei"/>
                <a:ea typeface="Microsoft YaHei"/>
                <a:cs typeface="Microsoft YaHei"/>
              </a:rPr>
              <a:t xml:space="preserve">云端不运行脚本</a:t>
            </a:r>
            <a:endParaRPr/>
          </a:p>
        </p:txBody>
      </p:sp>
      <p:sp>
        <p:nvSpPr>
          <p:cNvPr id="45" name="文字 45"/>
          <p:cNvSpPr txBox="1"/>
          <p:nvPr/>
        </p:nvSpPr>
        <p:spPr>
          <a:xfrm>
            <a:off x="5375275" y="4756051"/>
            <a:ext cx="1282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B5333B">
                    <a:alpha val="100000"/>
                  </a:srgbClr>
                </a:solidFill>
                <a:latin typeface="Microsoft YaHei"/>
                <a:ea typeface="Microsoft YaHei"/>
                <a:cs typeface="Microsoft YaHei"/>
              </a:rPr>
              <a:t xml:space="preserve">也不计算最终答案</a:t>
            </a:r>
            <a:endParaRPr/>
          </a:p>
        </p:txBody>
      </p:sp>
      <p:sp>
        <p:nvSpPr>
          <p:cNvPr id="46" name="文字 46"/>
          <p:cNvSpPr txBox="1"/>
          <p:nvPr/>
        </p:nvSpPr>
        <p:spPr>
          <a:xfrm>
            <a:off x="4419600" y="5086251"/>
            <a:ext cx="29464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云端输出的是执行方法，本地仍承担工具权限和产</a:t>
            </a:r>
            <a:endParaRPr/>
          </a:p>
        </p:txBody>
      </p:sp>
      <p:sp>
        <p:nvSpPr>
          <p:cNvPr id="47" name="文字 47"/>
          <p:cNvSpPr txBox="1"/>
          <p:nvPr/>
        </p:nvSpPr>
        <p:spPr>
          <a:xfrm>
            <a:off x="5619750" y="5272881"/>
            <a:ext cx="5461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物检查。</a:t>
            </a:r>
            <a:endParaRPr/>
          </a:p>
        </p:txBody>
      </p:sp>
      <p:pic>
        <p:nvPicPr>
          <p:cNvPr id="48" name="slide-002-image-8.png"/>
          <p:cNvPicPr>
            <a:picLocks noChangeAspect="1"/>
          </p:cNvPicPr>
          <p:nvPr/>
        </p:nvPicPr>
        <p:blipFill>
          <a:blip r:embed="rId9"/>
          <a:stretch>
            <a:fillRect/>
          </a:stretch>
        </p:blipFill>
        <p:spPr>
          <a:xfrm>
            <a:off x="7797800" y="1384201"/>
            <a:ext cx="3937001" cy="4216400"/>
          </a:xfrm>
          <a:prstGeom prst="rect">
            <a:avLst/>
          </a:prstGeom>
        </p:spPr>
      </p:pic>
      <p:sp>
        <p:nvSpPr>
          <p:cNvPr id="49" name="文字 49"/>
          <p:cNvSpPr txBox="1"/>
          <p:nvPr/>
        </p:nvSpPr>
        <p:spPr>
          <a:xfrm>
            <a:off x="7981950" y="1396901"/>
            <a:ext cx="1758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正常任务：返回必要指导</a:t>
            </a:r>
            <a:endParaRPr/>
          </a:p>
        </p:txBody>
      </p:sp>
      <p:sp>
        <p:nvSpPr>
          <p:cNvPr id="50" name="文字 50"/>
          <p:cNvSpPr txBox="1"/>
          <p:nvPr/>
        </p:nvSpPr>
        <p:spPr>
          <a:xfrm>
            <a:off x="7981950" y="1668363"/>
            <a:ext cx="367168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围绕当前问题，只披露完成任务所需的方法，不把完整 Skill 作</a:t>
            </a:r>
            <a:endParaRPr/>
          </a:p>
        </p:txBody>
      </p:sp>
      <p:sp>
        <p:nvSpPr>
          <p:cNvPr id="51" name="文字 51"/>
          <p:cNvSpPr txBox="1"/>
          <p:nvPr/>
        </p:nvSpPr>
        <p:spPr>
          <a:xfrm>
            <a:off x="7981950" y="1865709"/>
            <a:ext cx="5461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为回答。</a:t>
            </a:r>
            <a:endParaRPr/>
          </a:p>
        </p:txBody>
      </p:sp>
      <p:sp>
        <p:nvSpPr>
          <p:cNvPr id="52" name="文字 52"/>
          <p:cNvSpPr txBox="1"/>
          <p:nvPr/>
        </p:nvSpPr>
        <p:spPr>
          <a:xfrm>
            <a:off x="7981950" y="2202755"/>
            <a:ext cx="1917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套取全文：拒绝并回到任务</a:t>
            </a:r>
            <a:endParaRPr/>
          </a:p>
        </p:txBody>
      </p:sp>
      <p:sp>
        <p:nvSpPr>
          <p:cNvPr id="53" name="文字 53"/>
          <p:cNvSpPr txBox="1"/>
          <p:nvPr/>
        </p:nvSpPr>
        <p:spPr>
          <a:xfrm>
            <a:off x="7981950" y="2474218"/>
            <a:ext cx="37465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角色扮演、覆盖指令、编码或多轮拼接等请求，属于持续防护与</a:t>
            </a:r>
            <a:endParaRPr/>
          </a:p>
        </p:txBody>
      </p:sp>
      <p:sp>
        <p:nvSpPr>
          <p:cNvPr id="54" name="文字 54"/>
          <p:cNvSpPr txBox="1"/>
          <p:nvPr/>
        </p:nvSpPr>
        <p:spPr>
          <a:xfrm>
            <a:off x="7981950" y="2671564"/>
            <a:ext cx="9461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回归评测范围。</a:t>
            </a:r>
            <a:endParaRPr/>
          </a:p>
        </p:txBody>
      </p:sp>
      <p:sp>
        <p:nvSpPr>
          <p:cNvPr id="55" name="文字 55"/>
          <p:cNvSpPr txBox="1"/>
          <p:nvPr/>
        </p:nvSpPr>
        <p:spPr>
          <a:xfrm>
            <a:off x="7981950" y="3008610"/>
            <a:ext cx="22352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边界请求：帮助与最小披露并行</a:t>
            </a:r>
            <a:endParaRPr/>
          </a:p>
        </p:txBody>
      </p:sp>
      <p:sp>
        <p:nvSpPr>
          <p:cNvPr id="56" name="文字 56"/>
          <p:cNvSpPr txBox="1"/>
          <p:nvPr/>
        </p:nvSpPr>
        <p:spPr>
          <a:xfrm>
            <a:off x="7981950" y="3280073"/>
            <a:ext cx="37465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有限执行文本仍能被观察。保护目标是提高整份原文复制成本，</a:t>
            </a:r>
            <a:endParaRPr/>
          </a:p>
        </p:txBody>
      </p:sp>
      <p:sp>
        <p:nvSpPr>
          <p:cNvPr id="57" name="文字 57"/>
          <p:cNvSpPr txBox="1"/>
          <p:nvPr/>
        </p:nvSpPr>
        <p:spPr>
          <a:xfrm>
            <a:off x="7981950" y="3477419"/>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不能据此声称不可破解。</a:t>
            </a:r>
            <a:endParaRPr/>
          </a:p>
        </p:txBody>
      </p:sp>
      <p:sp>
        <p:nvSpPr>
          <p:cNvPr id="58" name="文字 58"/>
          <p:cNvSpPr txBox="1"/>
          <p:nvPr/>
        </p:nvSpPr>
        <p:spPr>
          <a:xfrm>
            <a:off x="7981950" y="3814465"/>
            <a:ext cx="2076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原文保护与数据传输分别判断</a:t>
            </a:r>
            <a:endParaRPr/>
          </a:p>
        </p:txBody>
      </p:sp>
      <p:sp>
        <p:nvSpPr>
          <p:cNvPr id="59" name="文字 59"/>
          <p:cNvSpPr txBox="1"/>
          <p:nvPr/>
        </p:nvSpPr>
        <p:spPr>
          <a:xfrm>
            <a:off x="7981950" y="4085927"/>
            <a:ext cx="36131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云端会接收任务和有效上下文。具体资料传输依实现，不能从</a:t>
            </a:r>
            <a:endParaRPr/>
          </a:p>
        </p:txBody>
      </p:sp>
      <p:sp>
        <p:nvSpPr>
          <p:cNvPr id="60" name="文字 60"/>
          <p:cNvSpPr txBox="1"/>
          <p:nvPr/>
        </p:nvSpPr>
        <p:spPr>
          <a:xfrm>
            <a:off x="7981950" y="4283274"/>
            <a:ext cx="26797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“原文不落地”推出“用户资料绝不出云”。</a:t>
            </a:r>
            <a:endParaRPr/>
          </a:p>
        </p:txBody>
      </p:sp>
      <p:pic>
        <p:nvPicPr>
          <p:cNvPr id="61" name="slide-002-image-9.png"/>
          <p:cNvPicPr>
            <a:picLocks noChangeAspect="1"/>
          </p:cNvPicPr>
          <p:nvPr/>
        </p:nvPicPr>
        <p:blipFill>
          <a:blip r:embed="rId10"/>
          <a:stretch>
            <a:fillRect/>
          </a:stretch>
        </p:blipFill>
        <p:spPr>
          <a:xfrm>
            <a:off x="457200" y="5588595"/>
            <a:ext cx="11277600" cy="755055"/>
          </a:xfrm>
          <a:prstGeom prst="rect">
            <a:avLst/>
          </a:prstGeom>
        </p:spPr>
      </p:pic>
      <p:sp>
        <p:nvSpPr>
          <p:cNvPr id="62" name="文字 62"/>
          <p:cNvSpPr txBox="1"/>
          <p:nvPr/>
        </p:nvSpPr>
        <p:spPr>
          <a:xfrm>
            <a:off x="457200" y="5696546"/>
            <a:ext cx="1758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访问门槛：权益仍需有效</a:t>
            </a:r>
            <a:endParaRPr/>
          </a:p>
        </p:txBody>
      </p:sp>
      <p:sp>
        <p:nvSpPr>
          <p:cNvPr id="63" name="文字 63"/>
          <p:cNvSpPr txBox="1"/>
          <p:nvPr/>
        </p:nvSpPr>
        <p:spPr>
          <a:xfrm>
            <a:off x="457200" y="5968008"/>
            <a:ext cx="5480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到期、退款、冻结或额度等状态可能影响可用性。订阅不代表不限次数，试用次数不等于完整</a:t>
            </a:r>
            <a:endParaRPr/>
          </a:p>
        </p:txBody>
      </p:sp>
      <p:sp>
        <p:nvSpPr>
          <p:cNvPr id="64" name="文字 64"/>
          <p:cNvSpPr txBox="1"/>
          <p:nvPr/>
        </p:nvSpPr>
        <p:spPr>
          <a:xfrm>
            <a:off x="457200" y="6165354"/>
            <a:ext cx="5461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任务数。</a:t>
            </a:r>
            <a:endParaRPr/>
          </a:p>
        </p:txBody>
      </p:sp>
      <p:sp>
        <p:nvSpPr>
          <p:cNvPr id="65" name="文字 65"/>
          <p:cNvSpPr txBox="1"/>
          <p:nvPr/>
        </p:nvSpPr>
        <p:spPr>
          <a:xfrm>
            <a:off x="6207125" y="5696546"/>
            <a:ext cx="2552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执行门槛：拿到指导后还要完成任务</a:t>
            </a:r>
            <a:endParaRPr/>
          </a:p>
        </p:txBody>
      </p:sp>
      <p:sp>
        <p:nvSpPr>
          <p:cNvPr id="66" name="文字 66"/>
          <p:cNvSpPr txBox="1"/>
          <p:nvPr/>
        </p:nvSpPr>
        <p:spPr>
          <a:xfrm>
            <a:off x="6207125" y="5968008"/>
            <a:ext cx="5480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平台只返回必要指导。本地仍需检查输入、工具权限和产物，拿到指导不等于任务已经完成。</a:t>
            </a:r>
            <a:endParaRPr/>
          </a:p>
        </p:txBody>
      </p:sp>
      <p:sp>
        <p:nvSpPr>
          <p:cNvPr id="67" name="文字 67"/>
          <p:cNvSpPr txBox="1"/>
          <p:nvPr/>
        </p:nvSpPr>
        <p:spPr>
          <a:xfrm>
            <a:off x="457200" y="6445250"/>
            <a:ext cx="6667996" cy="120650"/>
          </a:xfrm>
          <a:prstGeom prst="rect">
            <a:avLst/>
          </a:prstGeom>
          <a:noFill/>
          <a:ln>
            <a:noFill/>
          </a:ln>
        </p:spPr>
        <p:txBody>
          <a:bodyPr wrap="none" anchor="t" lIns="0" tIns="0" rIns="0" bIns="0">
            <a:noAutofit/>
          </a:bodyPr>
          <a:lstStyle/>
          <a:p>
            <a:pPr algn="l" marL="0" marR="0" indent="0">
              <a:spcBef>
                <a:spcPts val="0"/>
              </a:spcBef>
              <a:spcAft>
                <a:spcPts val="0"/>
              </a:spcAft>
              <a:buNone/>
            </a:pPr>
            <a:r>
              <a:rPr sz="650" b="0" i="0" u="none" spc="0">
                <a:solidFill>
                  <a:srgbClr val="6C7078">
                    <a:alpha val="100000"/>
                  </a:srgbClr>
                </a:solidFill>
                <a:latin typeface="Microsoft YaHei"/>
                <a:ea typeface="Microsoft YaHei"/>
                <a:cs typeface="Microsoft YaHei"/>
              </a:rPr>
              <a:t xml:space="preserve">依据官方云端保护/防御架构图和消费者前端状态重绘；图中的任务与上下文为架构语义，不是已公开的生产 HTTP 字段规范。 详细来源、代码版本与证据边界见备注及伴生研究文档。</a:t>
            </a:r>
            <a:endParaRPr/>
          </a:p>
        </p:txBody>
      </p:sp>
      <p:pic>
        <p:nvPicPr>
          <p:cNvPr id="68" name="slide-002-image-10.png"/>
          <p:cNvPicPr>
            <a:picLocks noChangeAspect="1"/>
          </p:cNvPicPr>
          <p:nvPr/>
        </p:nvPicPr>
        <p:blipFill>
          <a:blip r:embed="rId11"/>
          <a:stretch>
            <a:fillRect/>
          </a:stretch>
        </p:blipFill>
        <p:spPr>
          <a:xfrm>
            <a:off x="11498678" y="6691517"/>
            <a:ext cx="680240" cy="15340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MachinePay支付协议">
    <p:spTree>
      <p:nvGrpSpPr>
        <p:cNvPr id="1" name=""/>
        <p:cNvGrpSpPr/>
        <p:nvPr/>
      </p:nvGrpSpPr>
      <p:grpSpPr/>
      <p:sp>
        <p:nvSpPr>
          <p:cNvPr id="2" name="形状 2"/>
          <p:cNvSpPr/>
          <p:nvPr/>
        </p:nvSpPr>
        <p:spPr>
          <a:xfrm>
            <a:off x="0" y="0"/>
            <a:ext cx="12192000" cy="6858000"/>
          </a:xfrm>
          <a:prstGeom prst="rect">
            <a:avLst/>
          </a:prstGeom>
          <a:solidFill>
            <a:srgbClr val="FFFFFF">
              <a:alpha val="100000"/>
            </a:srgbClr>
          </a:solidFill>
          <a:ln>
            <a:noFill/>
          </a:ln>
        </p:spPr>
      </p:sp>
      <p:sp>
        <p:nvSpPr>
          <p:cNvPr id="3" name="形状 3"/>
          <p:cNvSpPr/>
          <p:nvPr/>
        </p:nvSpPr>
        <p:spPr>
          <a:xfrm>
            <a:off x="0" y="0"/>
            <a:ext cx="12192000" cy="6858000"/>
          </a:xfrm>
          <a:prstGeom prst="rect">
            <a:avLst/>
          </a:prstGeom>
          <a:solidFill>
            <a:srgbClr val="FFFFFF">
              <a:alpha val="100000"/>
            </a:srgbClr>
          </a:solidFill>
          <a:ln>
            <a:noFill/>
          </a:ln>
        </p:spPr>
      </p:sp>
      <p:sp>
        <p:nvSpPr>
          <p:cNvPr id="4" name="形状 4"/>
          <p:cNvSpPr/>
          <p:nvPr/>
        </p:nvSpPr>
        <p:spPr>
          <a:xfrm>
            <a:off x="0" y="0"/>
            <a:ext cx="12192000" cy="6858000"/>
          </a:xfrm>
          <a:prstGeom prst="rect">
            <a:avLst/>
          </a:prstGeom>
          <a:solidFill>
            <a:srgbClr val="FFFFFF">
              <a:alpha val="100000"/>
            </a:srgbClr>
          </a:solidFill>
          <a:ln>
            <a:noFill/>
          </a:ln>
        </p:spPr>
      </p:sp>
      <p:sp>
        <p:nvSpPr>
          <p:cNvPr id="5" name="文字 5"/>
          <p:cNvSpPr txBox="1"/>
          <p:nvPr/>
        </p:nvSpPr>
        <p:spPr>
          <a:xfrm>
            <a:off x="457200" y="298450"/>
            <a:ext cx="2327176"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63">
                <a:solidFill>
                  <a:srgbClr val="B5333B">
                    <a:alpha val="100000"/>
                  </a:srgbClr>
                </a:solidFill>
                <a:latin typeface="Microsoft YaHei"/>
                <a:ea typeface="Microsoft YaHei"/>
                <a:cs typeface="Microsoft YaHei"/>
              </a:rPr>
              <a:t xml:space="preserve">支付宝 SkillPay 与 MachinePay 原理研究</a:t>
            </a:r>
            <a:endParaRPr/>
          </a:p>
        </p:txBody>
      </p:sp>
      <p:sp>
        <p:nvSpPr>
          <p:cNvPr id="6" name="文字 6"/>
          <p:cNvSpPr txBox="1"/>
          <p:nvPr/>
        </p:nvSpPr>
        <p:spPr>
          <a:xfrm>
            <a:off x="10826353" y="298450"/>
            <a:ext cx="921147"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0">
                <a:solidFill>
                  <a:srgbClr val="6C7078">
                    <a:alpha val="100000"/>
                  </a:srgbClr>
                </a:solidFill>
                <a:latin typeface="Microsoft YaHei"/>
                <a:ea typeface="Microsoft YaHei"/>
                <a:cs typeface="Microsoft YaHei"/>
              </a:rPr>
              <a:t xml:space="preserve">2026.10.20 · 3/4</a:t>
            </a:r>
            <a:endParaRPr/>
          </a:p>
        </p:txBody>
      </p:sp>
      <p:sp>
        <p:nvSpPr>
          <p:cNvPr id="7" name="文字 7"/>
          <p:cNvSpPr txBox="1"/>
          <p:nvPr/>
        </p:nvSpPr>
        <p:spPr>
          <a:xfrm>
            <a:off x="457200" y="501650"/>
            <a:ext cx="6845995" cy="406400"/>
          </a:xfrm>
          <a:prstGeom prst="rect">
            <a:avLst/>
          </a:prstGeom>
          <a:noFill/>
          <a:ln>
            <a:noFill/>
          </a:ln>
        </p:spPr>
        <p:txBody>
          <a:bodyPr wrap="none" anchor="t" lIns="0" tIns="0" rIns="0" bIns="0">
            <a:noAutofit/>
          </a:bodyPr>
          <a:lstStyle/>
          <a:p>
            <a:pPr algn="l" marL="0" marR="0" indent="0">
              <a:spcBef>
                <a:spcPts val="0"/>
              </a:spcBef>
              <a:spcAft>
                <a:spcPts val="0"/>
              </a:spcAft>
              <a:buNone/>
            </a:pPr>
            <a:r>
              <a:rPr sz="2200" b="1" i="0" u="none" spc="-44">
                <a:solidFill>
                  <a:srgbClr val="1A1A1C">
                    <a:alpha val="100000"/>
                  </a:srgbClr>
                </a:solidFill>
                <a:latin typeface="Microsoft YaHei"/>
                <a:ea typeface="Microsoft YaHei"/>
                <a:cs typeface="Microsoft YaHei"/>
              </a:rPr>
              <a:t xml:space="preserve">MachinePay 先签报价，付款后带票重试，商户在线验付</a:t>
            </a:r>
            <a:endParaRPr/>
          </a:p>
        </p:txBody>
      </p:sp>
      <p:pic>
        <p:nvPicPr>
          <p:cNvPr id="8" name="slide-003-image-1.png"/>
          <p:cNvPicPr>
            <a:picLocks noChangeAspect="1"/>
          </p:cNvPicPr>
          <p:nvPr/>
        </p:nvPicPr>
        <p:blipFill>
          <a:blip r:embed="rId2"/>
          <a:stretch>
            <a:fillRect/>
          </a:stretch>
        </p:blipFill>
        <p:spPr>
          <a:xfrm>
            <a:off x="457200" y="944860"/>
            <a:ext cx="11277600" cy="299641"/>
          </a:xfrm>
          <a:prstGeom prst="rect">
            <a:avLst/>
          </a:prstGeom>
        </p:spPr>
      </p:pic>
      <p:sp>
        <p:nvSpPr>
          <p:cNvPr id="9" name="文字 9"/>
          <p:cNvSpPr txBox="1"/>
          <p:nvPr/>
        </p:nvSpPr>
        <p:spPr>
          <a:xfrm>
            <a:off x="457200" y="1059160"/>
            <a:ext cx="6302673"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0" i="0" u="none" spc="0">
                <a:solidFill>
                  <a:srgbClr val="1A1A1C">
                    <a:alpha val="100000"/>
                  </a:srgbClr>
                </a:solidFill>
                <a:latin typeface="Microsoft YaHei"/>
                <a:ea typeface="Microsoft YaHei"/>
                <a:cs typeface="Microsoft YaHei"/>
              </a:rPr>
              <a:t xml:space="preserve">接入前注册商户应用与服务：service_id 关联服务 URL、单价及说明；一次调用再生成本地订单。</a:t>
            </a:r>
            <a:endParaRPr/>
          </a:p>
        </p:txBody>
      </p:sp>
      <p:sp>
        <p:nvSpPr>
          <p:cNvPr id="10" name="文字 10"/>
          <p:cNvSpPr txBox="1"/>
          <p:nvPr/>
        </p:nvSpPr>
        <p:spPr>
          <a:xfrm>
            <a:off x="657027" y="1390551"/>
            <a:ext cx="819547"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买家 Agent</a:t>
            </a:r>
            <a:endParaRPr/>
          </a:p>
        </p:txBody>
      </p:sp>
      <p:pic>
        <p:nvPicPr>
          <p:cNvPr id="11" name="slide-003-image-2.png"/>
          <p:cNvPicPr>
            <a:picLocks noChangeAspect="1"/>
          </p:cNvPicPr>
          <p:nvPr/>
        </p:nvPicPr>
        <p:blipFill>
          <a:blip r:embed="rId3"/>
          <a:stretch>
            <a:fillRect/>
          </a:stretch>
        </p:blipFill>
        <p:spPr>
          <a:xfrm>
            <a:off x="1060450" y="1657251"/>
            <a:ext cx="12700" cy="3778250"/>
          </a:xfrm>
          <a:prstGeom prst="rect">
            <a:avLst/>
          </a:prstGeom>
        </p:spPr>
      </p:pic>
      <p:sp>
        <p:nvSpPr>
          <p:cNvPr id="12" name="文字 12"/>
          <p:cNvSpPr txBox="1"/>
          <p:nvPr/>
        </p:nvSpPr>
        <p:spPr>
          <a:xfrm>
            <a:off x="3103066" y="1390551"/>
            <a:ext cx="626368"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商户 API</a:t>
            </a:r>
            <a:endParaRPr/>
          </a:p>
        </p:txBody>
      </p:sp>
      <p:pic>
        <p:nvPicPr>
          <p:cNvPr id="13" name="slide-003-image-3.png"/>
          <p:cNvPicPr>
            <a:picLocks noChangeAspect="1"/>
          </p:cNvPicPr>
          <p:nvPr/>
        </p:nvPicPr>
        <p:blipFill>
          <a:blip r:embed="rId4"/>
          <a:stretch>
            <a:fillRect/>
          </a:stretch>
        </p:blipFill>
        <p:spPr>
          <a:xfrm>
            <a:off x="3409950" y="1657251"/>
            <a:ext cx="12700" cy="3778250"/>
          </a:xfrm>
          <a:prstGeom prst="rect">
            <a:avLst/>
          </a:prstGeom>
        </p:spPr>
      </p:pic>
      <p:sp>
        <p:nvSpPr>
          <p:cNvPr id="14" name="文字 14"/>
          <p:cNvSpPr txBox="1"/>
          <p:nvPr/>
        </p:nvSpPr>
        <p:spPr>
          <a:xfrm>
            <a:off x="5105202" y="1390551"/>
            <a:ext cx="1257598"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支付宝 / 支付工具</a:t>
            </a:r>
            <a:endParaRPr/>
          </a:p>
        </p:txBody>
      </p:sp>
      <p:pic>
        <p:nvPicPr>
          <p:cNvPr id="15" name="slide-003-image-4.png"/>
          <p:cNvPicPr>
            <a:picLocks noChangeAspect="1"/>
          </p:cNvPicPr>
          <p:nvPr/>
        </p:nvPicPr>
        <p:blipFill>
          <a:blip r:embed="rId5"/>
          <a:stretch>
            <a:fillRect/>
          </a:stretch>
        </p:blipFill>
        <p:spPr>
          <a:xfrm>
            <a:off x="5727700" y="1657251"/>
            <a:ext cx="12700" cy="3778250"/>
          </a:xfrm>
          <a:prstGeom prst="rect">
            <a:avLst/>
          </a:prstGeom>
        </p:spPr>
      </p:pic>
      <p:sp>
        <p:nvSpPr>
          <p:cNvPr id="16" name="文字 16"/>
          <p:cNvSpPr txBox="1"/>
          <p:nvPr/>
        </p:nvSpPr>
        <p:spPr>
          <a:xfrm>
            <a:off x="7410450" y="1390551"/>
            <a:ext cx="3302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用户</a:t>
            </a:r>
            <a:endParaRPr/>
          </a:p>
        </p:txBody>
      </p:sp>
      <p:pic>
        <p:nvPicPr>
          <p:cNvPr id="17" name="slide-003-image-5.png"/>
          <p:cNvPicPr>
            <a:picLocks noChangeAspect="1"/>
          </p:cNvPicPr>
          <p:nvPr/>
        </p:nvPicPr>
        <p:blipFill>
          <a:blip r:embed="rId6"/>
          <a:stretch>
            <a:fillRect/>
          </a:stretch>
        </p:blipFill>
        <p:spPr>
          <a:xfrm>
            <a:off x="7569200" y="1657251"/>
            <a:ext cx="12700" cy="3778250"/>
          </a:xfrm>
          <a:prstGeom prst="rect">
            <a:avLst/>
          </a:prstGeom>
        </p:spPr>
      </p:pic>
      <p:pic>
        <p:nvPicPr>
          <p:cNvPr id="18" name="slide-003-image-6.png"/>
          <p:cNvPicPr>
            <a:picLocks noChangeAspect="1"/>
          </p:cNvPicPr>
          <p:nvPr/>
        </p:nvPicPr>
        <p:blipFill>
          <a:blip r:embed="rId7"/>
          <a:stretch>
            <a:fillRect/>
          </a:stretch>
        </p:blipFill>
        <p:spPr>
          <a:xfrm>
            <a:off x="1060450" y="1911251"/>
            <a:ext cx="2349500" cy="12700"/>
          </a:xfrm>
          <a:prstGeom prst="rect">
            <a:avLst/>
          </a:prstGeom>
        </p:spPr>
      </p:pic>
      <p:sp>
        <p:nvSpPr>
          <p:cNvPr id="19" name="文字 19"/>
          <p:cNvSpPr/>
          <p:nvPr/>
        </p:nvSpPr>
        <p:spPr>
          <a:xfrm rot="5400000">
            <a:off x="3321050" y="1879501"/>
            <a:ext cx="88900" cy="88900"/>
          </a:xfrm>
          <a:prstGeom prst="triangle">
            <a:avLst/>
          </a:prstGeom>
          <a:solidFill>
            <a:srgbClr val="566472"/>
          </a:solidFill>
          <a:ln>
            <a:noFill/>
          </a:ln>
        </p:spPr>
      </p:sp>
      <p:sp>
        <p:nvSpPr>
          <p:cNvPr id="20" name="形状 20"/>
          <p:cNvSpPr/>
          <p:nvPr/>
        </p:nvSpPr>
        <p:spPr>
          <a:xfrm>
            <a:off x="1123950" y="1695351"/>
            <a:ext cx="2222500" cy="177800"/>
          </a:xfrm>
          <a:prstGeom prst="rect">
            <a:avLst/>
          </a:prstGeom>
          <a:solidFill>
            <a:srgbClr val="FFFFFF">
              <a:alpha val="100000"/>
            </a:srgbClr>
          </a:solidFill>
          <a:ln>
            <a:noFill/>
          </a:ln>
        </p:spPr>
      </p:sp>
      <p:sp>
        <p:nvSpPr>
          <p:cNvPr id="21" name="文字 21"/>
          <p:cNvSpPr txBox="1"/>
          <p:nvPr/>
        </p:nvSpPr>
        <p:spPr>
          <a:xfrm>
            <a:off x="1776313" y="1708051"/>
            <a:ext cx="930374"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① 请求付费资源</a:t>
            </a:r>
            <a:endParaRPr/>
          </a:p>
        </p:txBody>
      </p:sp>
      <p:pic>
        <p:nvPicPr>
          <p:cNvPr id="22" name="slide-003-image-7.png"/>
          <p:cNvPicPr>
            <a:picLocks noChangeAspect="1"/>
          </p:cNvPicPr>
          <p:nvPr/>
        </p:nvPicPr>
        <p:blipFill>
          <a:blip r:embed="rId8"/>
          <a:stretch>
            <a:fillRect/>
          </a:stretch>
        </p:blipFill>
        <p:spPr>
          <a:xfrm>
            <a:off x="1060450" y="2476401"/>
            <a:ext cx="2349500" cy="12700"/>
          </a:xfrm>
          <a:prstGeom prst="rect">
            <a:avLst/>
          </a:prstGeom>
        </p:spPr>
      </p:pic>
      <p:sp>
        <p:nvSpPr>
          <p:cNvPr id="23" name="文字 23"/>
          <p:cNvSpPr/>
          <p:nvPr/>
        </p:nvSpPr>
        <p:spPr>
          <a:xfrm rot="16200000">
            <a:off x="1060450" y="2444651"/>
            <a:ext cx="88900" cy="88900"/>
          </a:xfrm>
          <a:prstGeom prst="triangle">
            <a:avLst/>
          </a:prstGeom>
          <a:solidFill>
            <a:srgbClr val="B5333B"/>
          </a:solidFill>
          <a:ln>
            <a:noFill/>
          </a:ln>
        </p:spPr>
      </p:sp>
      <p:sp>
        <p:nvSpPr>
          <p:cNvPr id="24" name="形状 24"/>
          <p:cNvSpPr/>
          <p:nvPr/>
        </p:nvSpPr>
        <p:spPr>
          <a:xfrm>
            <a:off x="1123950" y="2260501"/>
            <a:ext cx="2222500" cy="177800"/>
          </a:xfrm>
          <a:prstGeom prst="rect">
            <a:avLst/>
          </a:prstGeom>
          <a:solidFill>
            <a:srgbClr val="FFFFFF">
              <a:alpha val="100000"/>
            </a:srgbClr>
          </a:solidFill>
          <a:ln>
            <a:noFill/>
          </a:ln>
        </p:spPr>
      </p:sp>
      <p:sp>
        <p:nvSpPr>
          <p:cNvPr id="25" name="文字 25"/>
          <p:cNvSpPr txBox="1"/>
          <p:nvPr/>
        </p:nvSpPr>
        <p:spPr>
          <a:xfrm>
            <a:off x="1459508" y="2273201"/>
            <a:ext cx="1563985"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B5333B">
                    <a:alpha val="100000"/>
                  </a:srgbClr>
                </a:solidFill>
                <a:latin typeface="Microsoft YaHei"/>
                <a:ea typeface="Microsoft YaHei"/>
                <a:cs typeface="Microsoft YaHei"/>
              </a:rPr>
              <a:t xml:space="preserve">② 402 + Payment-Needed</a:t>
            </a:r>
            <a:endParaRPr/>
          </a:p>
        </p:txBody>
      </p:sp>
      <p:pic>
        <p:nvPicPr>
          <p:cNvPr id="26" name="slide-003-image-8.png"/>
          <p:cNvPicPr>
            <a:picLocks noChangeAspect="1"/>
          </p:cNvPicPr>
          <p:nvPr/>
        </p:nvPicPr>
        <p:blipFill>
          <a:blip r:embed="rId9"/>
          <a:stretch>
            <a:fillRect/>
          </a:stretch>
        </p:blipFill>
        <p:spPr>
          <a:xfrm>
            <a:off x="1060450" y="2774851"/>
            <a:ext cx="4667250" cy="12700"/>
          </a:xfrm>
          <a:prstGeom prst="rect">
            <a:avLst/>
          </a:prstGeom>
        </p:spPr>
      </p:pic>
      <p:sp>
        <p:nvSpPr>
          <p:cNvPr id="27" name="文字 27"/>
          <p:cNvSpPr/>
          <p:nvPr/>
        </p:nvSpPr>
        <p:spPr>
          <a:xfrm rot="5400000">
            <a:off x="5638800" y="2743101"/>
            <a:ext cx="88900" cy="88900"/>
          </a:xfrm>
          <a:prstGeom prst="triangle">
            <a:avLst/>
          </a:prstGeom>
          <a:solidFill>
            <a:srgbClr val="566472"/>
          </a:solidFill>
          <a:ln>
            <a:noFill/>
          </a:ln>
        </p:spPr>
      </p:sp>
      <p:sp>
        <p:nvSpPr>
          <p:cNvPr id="28" name="形状 28"/>
          <p:cNvSpPr/>
          <p:nvPr/>
        </p:nvSpPr>
        <p:spPr>
          <a:xfrm>
            <a:off x="1123950" y="2558951"/>
            <a:ext cx="4540250" cy="177800"/>
          </a:xfrm>
          <a:prstGeom prst="rect">
            <a:avLst/>
          </a:prstGeom>
          <a:solidFill>
            <a:srgbClr val="FFFFFF">
              <a:alpha val="100000"/>
            </a:srgbClr>
          </a:solidFill>
          <a:ln>
            <a:noFill/>
          </a:ln>
        </p:spPr>
      </p:sp>
      <p:sp>
        <p:nvSpPr>
          <p:cNvPr id="29" name="文字 29"/>
          <p:cNvSpPr txBox="1"/>
          <p:nvPr/>
        </p:nvSpPr>
        <p:spPr>
          <a:xfrm>
            <a:off x="2490688" y="2571651"/>
            <a:ext cx="1819374"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③ 提交付款要求和原任务上下文</a:t>
            </a:r>
            <a:endParaRPr/>
          </a:p>
        </p:txBody>
      </p:sp>
      <p:pic>
        <p:nvPicPr>
          <p:cNvPr id="30" name="slide-003-image-9.png"/>
          <p:cNvPicPr>
            <a:picLocks noChangeAspect="1"/>
          </p:cNvPicPr>
          <p:nvPr/>
        </p:nvPicPr>
        <p:blipFill>
          <a:blip r:embed="rId10"/>
          <a:stretch>
            <a:fillRect/>
          </a:stretch>
        </p:blipFill>
        <p:spPr>
          <a:xfrm>
            <a:off x="5727700" y="3073301"/>
            <a:ext cx="1841500" cy="12700"/>
          </a:xfrm>
          <a:prstGeom prst="rect">
            <a:avLst/>
          </a:prstGeom>
        </p:spPr>
      </p:pic>
      <p:sp>
        <p:nvSpPr>
          <p:cNvPr id="31" name="文字 31"/>
          <p:cNvSpPr/>
          <p:nvPr/>
        </p:nvSpPr>
        <p:spPr>
          <a:xfrm rot="5400000">
            <a:off x="7480300" y="3041551"/>
            <a:ext cx="88900" cy="88900"/>
          </a:xfrm>
          <a:prstGeom prst="triangle">
            <a:avLst/>
          </a:prstGeom>
          <a:solidFill>
            <a:srgbClr val="566472"/>
          </a:solidFill>
          <a:ln>
            <a:noFill/>
          </a:ln>
        </p:spPr>
      </p:sp>
      <p:sp>
        <p:nvSpPr>
          <p:cNvPr id="32" name="形状 32"/>
          <p:cNvSpPr/>
          <p:nvPr/>
        </p:nvSpPr>
        <p:spPr>
          <a:xfrm>
            <a:off x="5791200" y="2857401"/>
            <a:ext cx="1714500" cy="177800"/>
          </a:xfrm>
          <a:prstGeom prst="rect">
            <a:avLst/>
          </a:prstGeom>
          <a:solidFill>
            <a:srgbClr val="FFFFFF">
              <a:alpha val="100000"/>
            </a:srgbClr>
          </a:solidFill>
          <a:ln>
            <a:noFill/>
          </a:ln>
        </p:spPr>
      </p:sp>
      <p:sp>
        <p:nvSpPr>
          <p:cNvPr id="33" name="文字 33"/>
          <p:cNvSpPr txBox="1"/>
          <p:nvPr/>
        </p:nvSpPr>
        <p:spPr>
          <a:xfrm>
            <a:off x="6203950" y="2870101"/>
            <a:ext cx="901700"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展示商户与金额</a:t>
            </a:r>
            <a:endParaRPr/>
          </a:p>
        </p:txBody>
      </p:sp>
      <p:pic>
        <p:nvPicPr>
          <p:cNvPr id="34" name="slide-003-image-10.png"/>
          <p:cNvPicPr>
            <a:picLocks noChangeAspect="1"/>
          </p:cNvPicPr>
          <p:nvPr/>
        </p:nvPicPr>
        <p:blipFill>
          <a:blip r:embed="rId11"/>
          <a:stretch>
            <a:fillRect/>
          </a:stretch>
        </p:blipFill>
        <p:spPr>
          <a:xfrm>
            <a:off x="5727700" y="3371751"/>
            <a:ext cx="1841500" cy="12700"/>
          </a:xfrm>
          <a:prstGeom prst="rect">
            <a:avLst/>
          </a:prstGeom>
        </p:spPr>
      </p:pic>
      <p:sp>
        <p:nvSpPr>
          <p:cNvPr id="35" name="文字 35"/>
          <p:cNvSpPr/>
          <p:nvPr/>
        </p:nvSpPr>
        <p:spPr>
          <a:xfrm rot="16200000">
            <a:off x="5727700" y="3340001"/>
            <a:ext cx="88900" cy="88900"/>
          </a:xfrm>
          <a:prstGeom prst="triangle">
            <a:avLst/>
          </a:prstGeom>
          <a:solidFill>
            <a:srgbClr val="B5333B"/>
          </a:solidFill>
          <a:ln>
            <a:noFill/>
          </a:ln>
        </p:spPr>
      </p:sp>
      <p:sp>
        <p:nvSpPr>
          <p:cNvPr id="36" name="形状 36"/>
          <p:cNvSpPr/>
          <p:nvPr/>
        </p:nvSpPr>
        <p:spPr>
          <a:xfrm>
            <a:off x="5791200" y="3155851"/>
            <a:ext cx="1714500" cy="177800"/>
          </a:xfrm>
          <a:prstGeom prst="rect">
            <a:avLst/>
          </a:prstGeom>
          <a:solidFill>
            <a:srgbClr val="FFFFFF">
              <a:alpha val="100000"/>
            </a:srgbClr>
          </a:solidFill>
          <a:ln>
            <a:noFill/>
          </a:ln>
        </p:spPr>
      </p:sp>
      <p:sp>
        <p:nvSpPr>
          <p:cNvPr id="37" name="文字 37"/>
          <p:cNvSpPr txBox="1"/>
          <p:nvPr/>
        </p:nvSpPr>
        <p:spPr>
          <a:xfrm>
            <a:off x="6316563" y="3168551"/>
            <a:ext cx="676374"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B5333B">
                    <a:alpha val="100000"/>
                  </a:srgbClr>
                </a:solidFill>
                <a:latin typeface="Microsoft YaHei"/>
                <a:ea typeface="Microsoft YaHei"/>
                <a:cs typeface="Microsoft YaHei"/>
              </a:rPr>
              <a:t xml:space="preserve">④ 确认支付</a:t>
            </a:r>
            <a:endParaRPr/>
          </a:p>
        </p:txBody>
      </p:sp>
      <p:pic>
        <p:nvPicPr>
          <p:cNvPr id="38" name="slide-003-image-11.png"/>
          <p:cNvPicPr>
            <a:picLocks noChangeAspect="1"/>
          </p:cNvPicPr>
          <p:nvPr/>
        </p:nvPicPr>
        <p:blipFill>
          <a:blip r:embed="rId12"/>
          <a:stretch>
            <a:fillRect/>
          </a:stretch>
        </p:blipFill>
        <p:spPr>
          <a:xfrm>
            <a:off x="1060450" y="3670201"/>
            <a:ext cx="4667250" cy="12700"/>
          </a:xfrm>
          <a:prstGeom prst="rect">
            <a:avLst/>
          </a:prstGeom>
        </p:spPr>
      </p:pic>
      <p:sp>
        <p:nvSpPr>
          <p:cNvPr id="39" name="文字 39"/>
          <p:cNvSpPr/>
          <p:nvPr/>
        </p:nvSpPr>
        <p:spPr>
          <a:xfrm rot="16200000">
            <a:off x="1060450" y="3638451"/>
            <a:ext cx="88900" cy="88900"/>
          </a:xfrm>
          <a:prstGeom prst="triangle">
            <a:avLst/>
          </a:prstGeom>
          <a:solidFill>
            <a:srgbClr val="566472"/>
          </a:solidFill>
          <a:ln>
            <a:noFill/>
          </a:ln>
        </p:spPr>
      </p:sp>
      <p:sp>
        <p:nvSpPr>
          <p:cNvPr id="40" name="形状 40"/>
          <p:cNvSpPr/>
          <p:nvPr/>
        </p:nvSpPr>
        <p:spPr>
          <a:xfrm>
            <a:off x="1123950" y="3454301"/>
            <a:ext cx="4540250" cy="177800"/>
          </a:xfrm>
          <a:prstGeom prst="rect">
            <a:avLst/>
          </a:prstGeom>
          <a:solidFill>
            <a:srgbClr val="FFFFFF">
              <a:alpha val="100000"/>
            </a:srgbClr>
          </a:solidFill>
          <a:ln>
            <a:noFill/>
          </a:ln>
        </p:spPr>
      </p:sp>
      <p:sp>
        <p:nvSpPr>
          <p:cNvPr id="41" name="文字 41"/>
          <p:cNvSpPr txBox="1"/>
          <p:nvPr/>
        </p:nvSpPr>
        <p:spPr>
          <a:xfrm>
            <a:off x="1806079" y="3467001"/>
            <a:ext cx="3188692"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取得 trade_no + payment_proof（及 client_session）</a:t>
            </a:r>
            <a:endParaRPr/>
          </a:p>
        </p:txBody>
      </p:sp>
      <p:pic>
        <p:nvPicPr>
          <p:cNvPr id="42" name="slide-003-image-12.png"/>
          <p:cNvPicPr>
            <a:picLocks noChangeAspect="1"/>
          </p:cNvPicPr>
          <p:nvPr/>
        </p:nvPicPr>
        <p:blipFill>
          <a:blip r:embed="rId13"/>
          <a:stretch>
            <a:fillRect/>
          </a:stretch>
        </p:blipFill>
        <p:spPr>
          <a:xfrm>
            <a:off x="1060450" y="3968651"/>
            <a:ext cx="2349500" cy="12700"/>
          </a:xfrm>
          <a:prstGeom prst="rect">
            <a:avLst/>
          </a:prstGeom>
        </p:spPr>
      </p:pic>
      <p:sp>
        <p:nvSpPr>
          <p:cNvPr id="43" name="文字 43"/>
          <p:cNvSpPr/>
          <p:nvPr/>
        </p:nvSpPr>
        <p:spPr>
          <a:xfrm rot="5400000">
            <a:off x="3321050" y="3936901"/>
            <a:ext cx="88900" cy="88900"/>
          </a:xfrm>
          <a:prstGeom prst="triangle">
            <a:avLst/>
          </a:prstGeom>
          <a:solidFill>
            <a:srgbClr val="B5333B"/>
          </a:solidFill>
          <a:ln>
            <a:noFill/>
          </a:ln>
        </p:spPr>
      </p:sp>
      <p:sp>
        <p:nvSpPr>
          <p:cNvPr id="44" name="形状 44"/>
          <p:cNvSpPr/>
          <p:nvPr/>
        </p:nvSpPr>
        <p:spPr>
          <a:xfrm>
            <a:off x="1123950" y="3752751"/>
            <a:ext cx="2222500" cy="177800"/>
          </a:xfrm>
          <a:prstGeom prst="rect">
            <a:avLst/>
          </a:prstGeom>
          <a:solidFill>
            <a:srgbClr val="FFFFFF">
              <a:alpha val="100000"/>
            </a:srgbClr>
          </a:solidFill>
          <a:ln>
            <a:noFill/>
          </a:ln>
        </p:spPr>
      </p:sp>
      <p:sp>
        <p:nvSpPr>
          <p:cNvPr id="45" name="文字 45"/>
          <p:cNvSpPr txBox="1"/>
          <p:nvPr/>
        </p:nvSpPr>
        <p:spPr>
          <a:xfrm>
            <a:off x="1446411" y="3765451"/>
            <a:ext cx="1590179"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B5333B">
                    <a:alpha val="100000"/>
                  </a:srgbClr>
                </a:solidFill>
                <a:latin typeface="Microsoft YaHei"/>
                <a:ea typeface="Microsoft YaHei"/>
                <a:cs typeface="Microsoft YaHei"/>
              </a:rPr>
              <a:t xml:space="preserve">⑤ 原请求 + Payment-Proof</a:t>
            </a:r>
            <a:endParaRPr/>
          </a:p>
        </p:txBody>
      </p:sp>
      <p:pic>
        <p:nvPicPr>
          <p:cNvPr id="46" name="slide-003-image-13.png"/>
          <p:cNvPicPr>
            <a:picLocks noChangeAspect="1"/>
          </p:cNvPicPr>
          <p:nvPr/>
        </p:nvPicPr>
        <p:blipFill>
          <a:blip r:embed="rId14"/>
          <a:stretch>
            <a:fillRect/>
          </a:stretch>
        </p:blipFill>
        <p:spPr>
          <a:xfrm>
            <a:off x="3409950" y="4267101"/>
            <a:ext cx="2317750" cy="12700"/>
          </a:xfrm>
          <a:prstGeom prst="rect">
            <a:avLst/>
          </a:prstGeom>
        </p:spPr>
      </p:pic>
      <p:sp>
        <p:nvSpPr>
          <p:cNvPr id="47" name="文字 47"/>
          <p:cNvSpPr/>
          <p:nvPr/>
        </p:nvSpPr>
        <p:spPr>
          <a:xfrm rot="5400000">
            <a:off x="5638800" y="4235351"/>
            <a:ext cx="88900" cy="88900"/>
          </a:xfrm>
          <a:prstGeom prst="triangle">
            <a:avLst/>
          </a:prstGeom>
          <a:solidFill>
            <a:srgbClr val="B5333B"/>
          </a:solidFill>
          <a:ln>
            <a:noFill/>
          </a:ln>
        </p:spPr>
      </p:sp>
      <p:sp>
        <p:nvSpPr>
          <p:cNvPr id="48" name="形状 48"/>
          <p:cNvSpPr/>
          <p:nvPr/>
        </p:nvSpPr>
        <p:spPr>
          <a:xfrm>
            <a:off x="3473450" y="4051201"/>
            <a:ext cx="2190750" cy="177800"/>
          </a:xfrm>
          <a:prstGeom prst="rect">
            <a:avLst/>
          </a:prstGeom>
          <a:solidFill>
            <a:srgbClr val="FFFFFF">
              <a:alpha val="100000"/>
            </a:srgbClr>
          </a:solidFill>
          <a:ln>
            <a:noFill/>
          </a:ln>
        </p:spPr>
      </p:sp>
      <p:sp>
        <p:nvSpPr>
          <p:cNvPr id="49" name="文字 49"/>
          <p:cNvSpPr txBox="1"/>
          <p:nvPr/>
        </p:nvSpPr>
        <p:spPr>
          <a:xfrm>
            <a:off x="4034433" y="4063901"/>
            <a:ext cx="1081385"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B5333B">
                    <a:alpha val="100000"/>
                  </a:srgbClr>
                </a:solidFill>
                <a:latin typeface="Microsoft YaHei"/>
                <a:ea typeface="Microsoft YaHei"/>
                <a:cs typeface="Microsoft YaHei"/>
              </a:rPr>
              <a:t xml:space="preserve">⑥ payment.verify</a:t>
            </a:r>
            <a:endParaRPr/>
          </a:p>
        </p:txBody>
      </p:sp>
      <p:pic>
        <p:nvPicPr>
          <p:cNvPr id="50" name="slide-003-image-14.png"/>
          <p:cNvPicPr>
            <a:picLocks noChangeAspect="1"/>
          </p:cNvPicPr>
          <p:nvPr/>
        </p:nvPicPr>
        <p:blipFill>
          <a:blip r:embed="rId15"/>
          <a:stretch>
            <a:fillRect/>
          </a:stretch>
        </p:blipFill>
        <p:spPr>
          <a:xfrm>
            <a:off x="3409950" y="4565551"/>
            <a:ext cx="2317750" cy="12700"/>
          </a:xfrm>
          <a:prstGeom prst="rect">
            <a:avLst/>
          </a:prstGeom>
        </p:spPr>
      </p:pic>
      <p:sp>
        <p:nvSpPr>
          <p:cNvPr id="51" name="文字 51"/>
          <p:cNvSpPr/>
          <p:nvPr/>
        </p:nvSpPr>
        <p:spPr>
          <a:xfrm rot="16200000">
            <a:off x="3409950" y="4533801"/>
            <a:ext cx="88900" cy="88900"/>
          </a:xfrm>
          <a:prstGeom prst="triangle">
            <a:avLst/>
          </a:prstGeom>
          <a:solidFill>
            <a:srgbClr val="566472"/>
          </a:solidFill>
          <a:ln>
            <a:noFill/>
          </a:ln>
        </p:spPr>
      </p:sp>
      <p:sp>
        <p:nvSpPr>
          <p:cNvPr id="52" name="形状 52"/>
          <p:cNvSpPr/>
          <p:nvPr/>
        </p:nvSpPr>
        <p:spPr>
          <a:xfrm>
            <a:off x="3473450" y="4349651"/>
            <a:ext cx="2190750" cy="177800"/>
          </a:xfrm>
          <a:prstGeom prst="rect">
            <a:avLst/>
          </a:prstGeom>
          <a:solidFill>
            <a:srgbClr val="FFFFFF">
              <a:alpha val="100000"/>
            </a:srgbClr>
          </a:solidFill>
          <a:ln>
            <a:noFill/>
          </a:ln>
        </p:spPr>
      </p:sp>
      <p:sp>
        <p:nvSpPr>
          <p:cNvPr id="53" name="文字 53"/>
          <p:cNvSpPr txBox="1"/>
          <p:nvPr/>
        </p:nvSpPr>
        <p:spPr>
          <a:xfrm>
            <a:off x="3811687" y="4362351"/>
            <a:ext cx="1526878"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active + 金额 + 订单 + 资源</a:t>
            </a:r>
            <a:endParaRPr/>
          </a:p>
        </p:txBody>
      </p:sp>
      <p:pic>
        <p:nvPicPr>
          <p:cNvPr id="54" name="slide-003-image-15.png"/>
          <p:cNvPicPr>
            <a:picLocks noChangeAspect="1"/>
          </p:cNvPicPr>
          <p:nvPr/>
        </p:nvPicPr>
        <p:blipFill>
          <a:blip r:embed="rId16"/>
          <a:stretch>
            <a:fillRect/>
          </a:stretch>
        </p:blipFill>
        <p:spPr>
          <a:xfrm>
            <a:off x="1060450" y="5162451"/>
            <a:ext cx="2349500" cy="12700"/>
          </a:xfrm>
          <a:prstGeom prst="rect">
            <a:avLst/>
          </a:prstGeom>
        </p:spPr>
      </p:pic>
      <p:sp>
        <p:nvSpPr>
          <p:cNvPr id="55" name="文字 55"/>
          <p:cNvSpPr/>
          <p:nvPr/>
        </p:nvSpPr>
        <p:spPr>
          <a:xfrm rot="16200000">
            <a:off x="1060450" y="5130701"/>
            <a:ext cx="88900" cy="88900"/>
          </a:xfrm>
          <a:prstGeom prst="triangle">
            <a:avLst/>
          </a:prstGeom>
          <a:solidFill>
            <a:srgbClr val="566472"/>
          </a:solidFill>
          <a:ln>
            <a:noFill/>
          </a:ln>
        </p:spPr>
      </p:sp>
      <p:sp>
        <p:nvSpPr>
          <p:cNvPr id="56" name="形状 56"/>
          <p:cNvSpPr/>
          <p:nvPr/>
        </p:nvSpPr>
        <p:spPr>
          <a:xfrm>
            <a:off x="1123950" y="4946551"/>
            <a:ext cx="2222500" cy="177800"/>
          </a:xfrm>
          <a:prstGeom prst="rect">
            <a:avLst/>
          </a:prstGeom>
          <a:solidFill>
            <a:srgbClr val="FFFFFF">
              <a:alpha val="100000"/>
            </a:srgbClr>
          </a:solidFill>
          <a:ln>
            <a:noFill/>
          </a:ln>
        </p:spPr>
      </p:sp>
      <p:sp>
        <p:nvSpPr>
          <p:cNvPr id="57" name="文字 57"/>
          <p:cNvSpPr txBox="1"/>
          <p:nvPr/>
        </p:nvSpPr>
        <p:spPr>
          <a:xfrm>
            <a:off x="1903313" y="4959251"/>
            <a:ext cx="676374"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⑦ 交付结果</a:t>
            </a:r>
            <a:endParaRPr/>
          </a:p>
        </p:txBody>
      </p:sp>
      <p:pic>
        <p:nvPicPr>
          <p:cNvPr id="58" name="slide-003-image-16.png"/>
          <p:cNvPicPr>
            <a:picLocks noChangeAspect="1"/>
          </p:cNvPicPr>
          <p:nvPr/>
        </p:nvPicPr>
        <p:blipFill>
          <a:blip r:embed="rId17"/>
          <a:stretch>
            <a:fillRect/>
          </a:stretch>
        </p:blipFill>
        <p:spPr>
          <a:xfrm>
            <a:off x="3409950" y="5460901"/>
            <a:ext cx="2317750" cy="12700"/>
          </a:xfrm>
          <a:prstGeom prst="rect">
            <a:avLst/>
          </a:prstGeom>
        </p:spPr>
      </p:pic>
      <p:sp>
        <p:nvSpPr>
          <p:cNvPr id="59" name="文字 59"/>
          <p:cNvSpPr/>
          <p:nvPr/>
        </p:nvSpPr>
        <p:spPr>
          <a:xfrm rot="5400000">
            <a:off x="5638800" y="5429151"/>
            <a:ext cx="88900" cy="88900"/>
          </a:xfrm>
          <a:prstGeom prst="triangle">
            <a:avLst/>
          </a:prstGeom>
          <a:solidFill>
            <a:srgbClr val="566472"/>
          </a:solidFill>
          <a:ln>
            <a:noFill/>
          </a:ln>
        </p:spPr>
      </p:sp>
      <p:sp>
        <p:nvSpPr>
          <p:cNvPr id="60" name="形状 60"/>
          <p:cNvSpPr/>
          <p:nvPr/>
        </p:nvSpPr>
        <p:spPr>
          <a:xfrm>
            <a:off x="3473450" y="5245001"/>
            <a:ext cx="2190750" cy="177800"/>
          </a:xfrm>
          <a:prstGeom prst="rect">
            <a:avLst/>
          </a:prstGeom>
          <a:solidFill>
            <a:srgbClr val="FFFFFF">
              <a:alpha val="100000"/>
            </a:srgbClr>
          </a:solidFill>
          <a:ln>
            <a:noFill/>
          </a:ln>
        </p:spPr>
      </p:sp>
      <p:sp>
        <p:nvSpPr>
          <p:cNvPr id="61" name="文字 61"/>
          <p:cNvSpPr txBox="1"/>
          <p:nvPr/>
        </p:nvSpPr>
        <p:spPr>
          <a:xfrm>
            <a:off x="3538041" y="5257701"/>
            <a:ext cx="2074267"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⑧ fulfillment.confirm（履约回执）</a:t>
            </a:r>
            <a:endParaRPr/>
          </a:p>
        </p:txBody>
      </p:sp>
      <p:sp>
        <p:nvSpPr>
          <p:cNvPr id="62" name="形状 62"/>
          <p:cNvSpPr/>
          <p:nvPr/>
        </p:nvSpPr>
        <p:spPr>
          <a:xfrm>
            <a:off x="2489200" y="2082701"/>
            <a:ext cx="1905000" cy="186630"/>
          </a:xfrm>
          <a:prstGeom prst="rect">
            <a:avLst/>
          </a:prstGeom>
          <a:solidFill>
            <a:srgbClr val="FFFFFF">
              <a:alpha val="100000"/>
            </a:srgbClr>
          </a:solidFill>
          <a:ln>
            <a:noFill/>
          </a:ln>
        </p:spPr>
      </p:sp>
      <p:sp>
        <p:nvSpPr>
          <p:cNvPr id="63" name="文字 63"/>
          <p:cNvSpPr txBox="1"/>
          <p:nvPr/>
        </p:nvSpPr>
        <p:spPr>
          <a:xfrm>
            <a:off x="2730798" y="2095401"/>
            <a:ext cx="143450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1A1A1C">
                    <a:alpha val="100000"/>
                  </a:srgbClr>
                </a:solidFill>
                <a:latin typeface="Microsoft YaHei"/>
                <a:ea typeface="Microsoft YaHei"/>
                <a:cs typeface="Microsoft YaHei"/>
              </a:rPr>
              <a:t xml:space="preserve">本地建单，RSA2 签报价</a:t>
            </a:r>
            <a:endParaRPr/>
          </a:p>
        </p:txBody>
      </p:sp>
      <p:sp>
        <p:nvSpPr>
          <p:cNvPr id="64" name="形状 64"/>
          <p:cNvSpPr/>
          <p:nvPr/>
        </p:nvSpPr>
        <p:spPr>
          <a:xfrm>
            <a:off x="2235200" y="4730651"/>
            <a:ext cx="2476500" cy="186630"/>
          </a:xfrm>
          <a:prstGeom prst="rect">
            <a:avLst/>
          </a:prstGeom>
          <a:solidFill>
            <a:srgbClr val="FFFFFF">
              <a:alpha val="100000"/>
            </a:srgbClr>
          </a:solidFill>
          <a:ln>
            <a:noFill/>
          </a:ln>
        </p:spPr>
      </p:sp>
      <p:sp>
        <p:nvSpPr>
          <p:cNvPr id="65" name="文字 65"/>
          <p:cNvSpPr txBox="1"/>
          <p:nvPr/>
        </p:nvSpPr>
        <p:spPr>
          <a:xfrm>
            <a:off x="2606675" y="4743351"/>
            <a:ext cx="17462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1A1A1C">
                    <a:alpha val="100000"/>
                  </a:srgbClr>
                </a:solidFill>
                <a:latin typeface="Microsoft YaHei"/>
                <a:ea typeface="Microsoft YaHei"/>
                <a:cs typeface="Microsoft YaHei"/>
              </a:rPr>
              <a:t xml:space="preserve">商户对本地账并锁定唯一履约</a:t>
            </a:r>
            <a:endParaRPr/>
          </a:p>
        </p:txBody>
      </p:sp>
      <p:pic>
        <p:nvPicPr>
          <p:cNvPr id="66" name="slide-003-image-17.png"/>
          <p:cNvPicPr>
            <a:picLocks noChangeAspect="1"/>
          </p:cNvPicPr>
          <p:nvPr/>
        </p:nvPicPr>
        <p:blipFill>
          <a:blip r:embed="rId18"/>
          <a:stretch>
            <a:fillRect/>
          </a:stretch>
        </p:blipFill>
        <p:spPr>
          <a:xfrm>
            <a:off x="8521700" y="1371501"/>
            <a:ext cx="3213100" cy="4607421"/>
          </a:xfrm>
          <a:prstGeom prst="rect">
            <a:avLst/>
          </a:prstGeom>
        </p:spPr>
      </p:pic>
      <p:sp>
        <p:nvSpPr>
          <p:cNvPr id="67" name="文字 67"/>
          <p:cNvSpPr txBox="1"/>
          <p:nvPr/>
        </p:nvSpPr>
        <p:spPr>
          <a:xfrm>
            <a:off x="8693151" y="1384201"/>
            <a:ext cx="2790626"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Payment-Needed：付款前的签名报价</a:t>
            </a:r>
            <a:endParaRPr/>
          </a:p>
        </p:txBody>
      </p:sp>
      <p:sp>
        <p:nvSpPr>
          <p:cNvPr id="68" name="文字 68"/>
          <p:cNvSpPr txBox="1"/>
          <p:nvPr/>
        </p:nvSpPr>
        <p:spPr>
          <a:xfrm>
            <a:off x="8693151" y="1655663"/>
            <a:ext cx="2640707"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金额 / 币种、out_trade_no、resource_id、</a:t>
            </a:r>
            <a:endParaRPr/>
          </a:p>
        </p:txBody>
      </p:sp>
      <p:sp>
        <p:nvSpPr>
          <p:cNvPr id="69" name="文字 69"/>
          <p:cNvSpPr txBox="1"/>
          <p:nvPr/>
        </p:nvSpPr>
        <p:spPr>
          <a:xfrm>
            <a:off x="8693151" y="1853010"/>
            <a:ext cx="230633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pay_before、卖家与 service_id，连同</a:t>
            </a:r>
            <a:endParaRPr/>
          </a:p>
        </p:txBody>
      </p:sp>
      <p:sp>
        <p:nvSpPr>
          <p:cNvPr id="70" name="文字 70"/>
          <p:cNvSpPr txBox="1"/>
          <p:nvPr/>
        </p:nvSpPr>
        <p:spPr>
          <a:xfrm>
            <a:off x="8693151" y="2050355"/>
            <a:ext cx="1704677"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seller_signature 一起封装。</a:t>
            </a:r>
            <a:endParaRPr/>
          </a:p>
        </p:txBody>
      </p:sp>
      <p:sp>
        <p:nvSpPr>
          <p:cNvPr id="71" name="文字 71"/>
          <p:cNvSpPr txBox="1"/>
          <p:nvPr/>
        </p:nvSpPr>
        <p:spPr>
          <a:xfrm>
            <a:off x="8693151" y="2311202"/>
            <a:ext cx="292288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商户本地用应用私钥做 RSA2 签名，生成报价无需</a:t>
            </a:r>
            <a:endParaRPr/>
          </a:p>
        </p:txBody>
      </p:sp>
      <p:sp>
        <p:nvSpPr>
          <p:cNvPr id="72" name="文字 72"/>
          <p:cNvSpPr txBox="1"/>
          <p:nvPr/>
        </p:nvSpPr>
        <p:spPr>
          <a:xfrm>
            <a:off x="8693151" y="2504480"/>
            <a:ext cx="1212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先调用支付宝扣款。</a:t>
            </a:r>
            <a:endParaRPr/>
          </a:p>
        </p:txBody>
      </p:sp>
      <p:sp>
        <p:nvSpPr>
          <p:cNvPr id="73" name="文字 73"/>
          <p:cNvSpPr txBox="1"/>
          <p:nvPr/>
        </p:nvSpPr>
        <p:spPr>
          <a:xfrm>
            <a:off x="8693151" y="2843808"/>
            <a:ext cx="2619176"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Payment-Proof：付款后的验付材料</a:t>
            </a:r>
            <a:endParaRPr/>
          </a:p>
        </p:txBody>
      </p:sp>
      <p:sp>
        <p:nvSpPr>
          <p:cNvPr id="74" name="文字 74"/>
          <p:cNvSpPr txBox="1"/>
          <p:nvPr/>
        </p:nvSpPr>
        <p:spPr>
          <a:xfrm>
            <a:off x="8693151" y="3115270"/>
            <a:ext cx="3040856"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包含 trade_no、payment_proof，以及通道需要时</a:t>
            </a:r>
            <a:endParaRPr/>
          </a:p>
        </p:txBody>
      </p:sp>
      <p:sp>
        <p:nvSpPr>
          <p:cNvPr id="75" name="文字 75"/>
          <p:cNvSpPr txBox="1"/>
          <p:nvPr/>
        </p:nvSpPr>
        <p:spPr>
          <a:xfrm>
            <a:off x="8693151" y="3312616"/>
            <a:ext cx="2658566"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的 client_session。商户将它们交支付宝在线</a:t>
            </a:r>
            <a:endParaRPr/>
          </a:p>
        </p:txBody>
      </p:sp>
      <p:sp>
        <p:nvSpPr>
          <p:cNvPr id="76" name="文字 76"/>
          <p:cNvSpPr txBox="1"/>
          <p:nvPr/>
        </p:nvSpPr>
        <p:spPr>
          <a:xfrm>
            <a:off x="8693151" y="3509963"/>
            <a:ext cx="48974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verify。</a:t>
            </a:r>
            <a:endParaRPr/>
          </a:p>
        </p:txBody>
      </p:sp>
      <p:sp>
        <p:nvSpPr>
          <p:cNvPr id="77" name="文字 77"/>
          <p:cNvSpPr txBox="1"/>
          <p:nvPr/>
        </p:nvSpPr>
        <p:spPr>
          <a:xfrm>
            <a:off x="8693151" y="3853359"/>
            <a:ext cx="2832397"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Base64URL 负责封装，真实性另行校验</a:t>
            </a:r>
            <a:endParaRPr/>
          </a:p>
        </p:txBody>
      </p:sp>
      <p:sp>
        <p:nvSpPr>
          <p:cNvPr id="78" name="文字 78"/>
          <p:cNvSpPr txBox="1"/>
          <p:nvPr/>
        </p:nvSpPr>
        <p:spPr>
          <a:xfrm>
            <a:off x="8693151" y="4124821"/>
            <a:ext cx="294639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解码可读不代表可信。报价签名、支付宝验付和商</a:t>
            </a:r>
            <a:endParaRPr/>
          </a:p>
        </p:txBody>
      </p:sp>
      <p:sp>
        <p:nvSpPr>
          <p:cNvPr id="79" name="文字 79"/>
          <p:cNvSpPr txBox="1"/>
          <p:nvPr/>
        </p:nvSpPr>
        <p:spPr>
          <a:xfrm>
            <a:off x="8693151" y="4322167"/>
            <a:ext cx="18796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户业务核对各自承担不同验证。</a:t>
            </a:r>
            <a:endParaRPr/>
          </a:p>
        </p:txBody>
      </p:sp>
      <p:sp>
        <p:nvSpPr>
          <p:cNvPr id="80" name="文字 80"/>
          <p:cNvSpPr txBox="1"/>
          <p:nvPr/>
        </p:nvSpPr>
        <p:spPr>
          <a:xfrm>
            <a:off x="8693151" y="4665564"/>
            <a:ext cx="1917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图示采用用户确认支付路径</a:t>
            </a:r>
            <a:endParaRPr/>
          </a:p>
        </p:txBody>
      </p:sp>
      <p:sp>
        <p:nvSpPr>
          <p:cNvPr id="81" name="文字 81"/>
          <p:cNvSpPr txBox="1"/>
          <p:nvPr/>
        </p:nvSpPr>
        <p:spPr>
          <a:xfrm>
            <a:off x="8693151" y="4937026"/>
            <a:ext cx="294639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钱包已开通不等于任意消费均已授权。自动付款须</a:t>
            </a:r>
            <a:endParaRPr/>
          </a:p>
        </p:txBody>
      </p:sp>
      <p:sp>
        <p:nvSpPr>
          <p:cNvPr id="82" name="文字 82"/>
          <p:cNvSpPr txBox="1"/>
          <p:nvPr/>
        </p:nvSpPr>
        <p:spPr>
          <a:xfrm>
            <a:off x="8693151" y="5134372"/>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符合另行授予的范围和风控条件。</a:t>
            </a:r>
            <a:endParaRPr/>
          </a:p>
        </p:txBody>
      </p:sp>
      <p:pic>
        <p:nvPicPr>
          <p:cNvPr id="83" name="slide-003-image-18.png"/>
          <p:cNvPicPr>
            <a:picLocks noChangeAspect="1"/>
          </p:cNvPicPr>
          <p:nvPr/>
        </p:nvPicPr>
        <p:blipFill>
          <a:blip r:embed="rId19"/>
          <a:stretch>
            <a:fillRect/>
          </a:stretch>
        </p:blipFill>
        <p:spPr>
          <a:xfrm>
            <a:off x="457200" y="6055122"/>
            <a:ext cx="11277600" cy="288528"/>
          </a:xfrm>
          <a:prstGeom prst="rect">
            <a:avLst/>
          </a:prstGeom>
        </p:spPr>
      </p:pic>
      <p:sp>
        <p:nvSpPr>
          <p:cNvPr id="84" name="文字 84"/>
          <p:cNvSpPr txBox="1"/>
          <p:nvPr/>
        </p:nvSpPr>
        <p:spPr>
          <a:xfrm>
            <a:off x="457200" y="6169422"/>
            <a:ext cx="818614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1A1A1C">
                    <a:alpha val="100000"/>
                  </a:srgbClr>
                </a:solidFill>
                <a:latin typeface="Microsoft YaHei"/>
                <a:ea typeface="Microsoft YaHei"/>
                <a:cs typeface="Microsoft YaHei"/>
              </a:rPr>
              <a:t xml:space="preserve">人民币接入指南使用 payment.verify 与 fulfillment.confirm。产品页的通用 /verify、/settle、交易哈希图，不能直接当成这套人民币 API。</a:t>
            </a:r>
            <a:endParaRPr/>
          </a:p>
        </p:txBody>
      </p:sp>
      <p:sp>
        <p:nvSpPr>
          <p:cNvPr id="85" name="文字 85"/>
          <p:cNvSpPr txBox="1"/>
          <p:nvPr/>
        </p:nvSpPr>
        <p:spPr>
          <a:xfrm>
            <a:off x="457200" y="6445250"/>
            <a:ext cx="6717705" cy="120650"/>
          </a:xfrm>
          <a:prstGeom prst="rect">
            <a:avLst/>
          </a:prstGeom>
          <a:noFill/>
          <a:ln>
            <a:noFill/>
          </a:ln>
        </p:spPr>
        <p:txBody>
          <a:bodyPr wrap="none" anchor="t" lIns="0" tIns="0" rIns="0" bIns="0">
            <a:noAutofit/>
          </a:bodyPr>
          <a:lstStyle/>
          <a:p>
            <a:pPr algn="l" marL="0" marR="0" indent="0">
              <a:spcBef>
                <a:spcPts val="0"/>
              </a:spcBef>
              <a:spcAft>
                <a:spcPts val="0"/>
              </a:spcAft>
              <a:buNone/>
            </a:pPr>
            <a:r>
              <a:rPr sz="650" b="0" i="0" u="none" spc="0">
                <a:solidFill>
                  <a:srgbClr val="6C7078">
                    <a:alpha val="100000"/>
                  </a:srgbClr>
                </a:solidFill>
                <a:latin typeface="Microsoft YaHei"/>
                <a:ea typeface="Microsoft YaHei"/>
                <a:cs typeface="Microsoft YaHei"/>
              </a:rPr>
              <a:t xml:space="preserve">主图按在线指南的交付后回执路径；官方代码模板也有先确认后返回结果的顺序，具体差异见备注。确认接口不是第二次扣款。 详细来源、代码版本与证据边界见备注及伴生研究文档。</a:t>
            </a:r>
            <a:endParaRPr/>
          </a:p>
        </p:txBody>
      </p:sp>
      <p:pic>
        <p:nvPicPr>
          <p:cNvPr id="86" name="slide-003-image-19.png"/>
          <p:cNvPicPr>
            <a:picLocks noChangeAspect="1"/>
          </p:cNvPicPr>
          <p:nvPr/>
        </p:nvPicPr>
        <p:blipFill>
          <a:blip r:embed="rId20"/>
          <a:stretch>
            <a:fillRect/>
          </a:stretch>
        </p:blipFill>
        <p:spPr>
          <a:xfrm>
            <a:off x="11498678" y="6688247"/>
            <a:ext cx="680240" cy="15340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验付与恢复">
    <p:spTree>
      <p:nvGrpSpPr>
        <p:cNvPr id="1" name=""/>
        <p:cNvGrpSpPr/>
        <p:nvPr/>
      </p:nvGrpSpPr>
      <p:grpSpPr/>
      <p:sp>
        <p:nvSpPr>
          <p:cNvPr id="2" name="形状 2"/>
          <p:cNvSpPr/>
          <p:nvPr/>
        </p:nvSpPr>
        <p:spPr>
          <a:xfrm>
            <a:off x="0" y="0"/>
            <a:ext cx="12192000" cy="6858000"/>
          </a:xfrm>
          <a:prstGeom prst="rect">
            <a:avLst/>
          </a:prstGeom>
          <a:solidFill>
            <a:srgbClr val="FFFFFF">
              <a:alpha val="100000"/>
            </a:srgbClr>
          </a:solidFill>
          <a:ln>
            <a:noFill/>
          </a:ln>
        </p:spPr>
      </p:sp>
      <p:sp>
        <p:nvSpPr>
          <p:cNvPr id="3" name="形状 3"/>
          <p:cNvSpPr/>
          <p:nvPr/>
        </p:nvSpPr>
        <p:spPr>
          <a:xfrm>
            <a:off x="0" y="0"/>
            <a:ext cx="12192000" cy="6858000"/>
          </a:xfrm>
          <a:prstGeom prst="rect">
            <a:avLst/>
          </a:prstGeom>
          <a:solidFill>
            <a:srgbClr val="FFFFFF">
              <a:alpha val="100000"/>
            </a:srgbClr>
          </a:solidFill>
          <a:ln>
            <a:noFill/>
          </a:ln>
        </p:spPr>
      </p:sp>
      <p:sp>
        <p:nvSpPr>
          <p:cNvPr id="4" name="形状 4"/>
          <p:cNvSpPr/>
          <p:nvPr/>
        </p:nvSpPr>
        <p:spPr>
          <a:xfrm>
            <a:off x="0" y="0"/>
            <a:ext cx="12192000" cy="6858000"/>
          </a:xfrm>
          <a:prstGeom prst="rect">
            <a:avLst/>
          </a:prstGeom>
          <a:solidFill>
            <a:srgbClr val="FFFFFF">
              <a:alpha val="100000"/>
            </a:srgbClr>
          </a:solidFill>
          <a:ln>
            <a:noFill/>
          </a:ln>
        </p:spPr>
      </p:sp>
      <p:sp>
        <p:nvSpPr>
          <p:cNvPr id="5" name="文字 5"/>
          <p:cNvSpPr txBox="1"/>
          <p:nvPr/>
        </p:nvSpPr>
        <p:spPr>
          <a:xfrm>
            <a:off x="457200" y="298450"/>
            <a:ext cx="2327176"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63">
                <a:solidFill>
                  <a:srgbClr val="B5333B">
                    <a:alpha val="100000"/>
                  </a:srgbClr>
                </a:solidFill>
                <a:latin typeface="Microsoft YaHei"/>
                <a:ea typeface="Microsoft YaHei"/>
                <a:cs typeface="Microsoft YaHei"/>
              </a:rPr>
              <a:t xml:space="preserve">支付宝 SkillPay 与 MachinePay 原理研究</a:t>
            </a:r>
            <a:endParaRPr/>
          </a:p>
        </p:txBody>
      </p:sp>
      <p:sp>
        <p:nvSpPr>
          <p:cNvPr id="6" name="文字 6"/>
          <p:cNvSpPr txBox="1"/>
          <p:nvPr/>
        </p:nvSpPr>
        <p:spPr>
          <a:xfrm>
            <a:off x="10826353" y="298450"/>
            <a:ext cx="921147"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0">
                <a:solidFill>
                  <a:srgbClr val="6C7078">
                    <a:alpha val="100000"/>
                  </a:srgbClr>
                </a:solidFill>
                <a:latin typeface="Microsoft YaHei"/>
                <a:ea typeface="Microsoft YaHei"/>
                <a:cs typeface="Microsoft YaHei"/>
              </a:rPr>
              <a:t xml:space="preserve">2026.10.20 · 4/4</a:t>
            </a:r>
            <a:endParaRPr/>
          </a:p>
        </p:txBody>
      </p:sp>
      <p:sp>
        <p:nvSpPr>
          <p:cNvPr id="7" name="文字 7"/>
          <p:cNvSpPr txBox="1"/>
          <p:nvPr/>
        </p:nvSpPr>
        <p:spPr>
          <a:xfrm>
            <a:off x="457200" y="501650"/>
            <a:ext cx="6584256" cy="406400"/>
          </a:xfrm>
          <a:prstGeom prst="rect">
            <a:avLst/>
          </a:prstGeom>
          <a:noFill/>
          <a:ln>
            <a:noFill/>
          </a:ln>
        </p:spPr>
        <p:txBody>
          <a:bodyPr wrap="none" anchor="t" lIns="0" tIns="0" rIns="0" bIns="0">
            <a:noAutofit/>
          </a:bodyPr>
          <a:lstStyle/>
          <a:p>
            <a:pPr algn="l" marL="0" marR="0" indent="0">
              <a:spcBef>
                <a:spcPts val="0"/>
              </a:spcBef>
              <a:spcAft>
                <a:spcPts val="0"/>
              </a:spcAft>
              <a:buNone/>
            </a:pPr>
            <a:r>
              <a:rPr sz="2200" b="1" i="0" u="none" spc="-44">
                <a:solidFill>
                  <a:srgbClr val="1A1A1C">
                    <a:alpha val="100000"/>
                  </a:srgbClr>
                </a:solidFill>
                <a:latin typeface="Microsoft YaHei"/>
                <a:ea typeface="Microsoft YaHei"/>
                <a:cs typeface="Microsoft YaHei"/>
              </a:rPr>
              <a:t xml:space="preserve">支付宝验证支付事实，商户核对业务账并恢复唯一履约</a:t>
            </a:r>
            <a:endParaRPr/>
          </a:p>
        </p:txBody>
      </p:sp>
      <p:pic>
        <p:nvPicPr>
          <p:cNvPr id="8" name="slide-004-image-1.png"/>
          <p:cNvPicPr>
            <a:picLocks noChangeAspect="1"/>
          </p:cNvPicPr>
          <p:nvPr/>
        </p:nvPicPr>
        <p:blipFill>
          <a:blip r:embed="rId2"/>
          <a:stretch>
            <a:fillRect/>
          </a:stretch>
        </p:blipFill>
        <p:spPr>
          <a:xfrm>
            <a:off x="457200" y="944860"/>
            <a:ext cx="11277600" cy="305991"/>
          </a:xfrm>
          <a:prstGeom prst="rect">
            <a:avLst/>
          </a:prstGeom>
        </p:spPr>
      </p:pic>
      <p:sp>
        <p:nvSpPr>
          <p:cNvPr id="9" name="文字 9"/>
          <p:cNvSpPr txBox="1"/>
          <p:nvPr/>
        </p:nvSpPr>
        <p:spPr>
          <a:xfrm>
            <a:off x="457200" y="1065510"/>
            <a:ext cx="6292850"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0" i="0" u="none" spc="0">
                <a:solidFill>
                  <a:srgbClr val="1A1A1C">
                    <a:alpha val="100000"/>
                  </a:srgbClr>
                </a:solidFill>
                <a:latin typeface="Microsoft YaHei"/>
                <a:ea typeface="Microsoft YaHei"/>
                <a:cs typeface="Microsoft YaHei"/>
              </a:rPr>
              <a:t xml:space="preserve">验付接口返回成功后，还要匹配金额、订单、资源和交易号，保留并发控制与可恢复的结果状态。</a:t>
            </a:r>
            <a:endParaRPr/>
          </a:p>
        </p:txBody>
      </p:sp>
      <p:sp>
        <p:nvSpPr>
          <p:cNvPr id="10" name="文字 10"/>
          <p:cNvSpPr txBox="1"/>
          <p:nvPr/>
        </p:nvSpPr>
        <p:spPr>
          <a:xfrm>
            <a:off x="457200" y="1390551"/>
            <a:ext cx="2159000" cy="234950"/>
          </a:xfrm>
          <a:prstGeom prst="rect">
            <a:avLst/>
          </a:prstGeom>
          <a:noFill/>
          <a:ln>
            <a:noFill/>
          </a:ln>
        </p:spPr>
        <p:txBody>
          <a:bodyPr wrap="none" anchor="t" lIns="0" tIns="0" rIns="0" bIns="0">
            <a:noAutofit/>
          </a:bodyPr>
          <a:lstStyle/>
          <a:p>
            <a:pPr algn="l" marL="0" marR="0" indent="0">
              <a:spcBef>
                <a:spcPts val="0"/>
              </a:spcBef>
              <a:spcAft>
                <a:spcPts val="0"/>
              </a:spcAft>
              <a:buNone/>
            </a:pPr>
            <a:r>
              <a:rPr sz="1300" b="1" i="0" u="none" spc="0">
                <a:solidFill>
                  <a:srgbClr val="1A1A1C">
                    <a:alpha val="100000"/>
                  </a:srgbClr>
                </a:solidFill>
                <a:latin typeface="Microsoft YaHei"/>
                <a:ea typeface="Microsoft YaHei"/>
                <a:cs typeface="Microsoft YaHei"/>
              </a:rPr>
              <a:t xml:space="preserve">同一交易，需要对齐两边记录</a:t>
            </a:r>
            <a:endParaRPr/>
          </a:p>
        </p:txBody>
      </p:sp>
      <p:sp>
        <p:nvSpPr>
          <p:cNvPr id="11" name="形状 11"/>
          <p:cNvSpPr/>
          <p:nvPr/>
        </p:nvSpPr>
        <p:spPr>
          <a:xfrm>
            <a:off x="457200" y="1746151"/>
            <a:ext cx="2825750" cy="1047750"/>
          </a:xfrm>
          <a:prstGeom prst="roundRect">
            <a:avLst>
              <a:gd name="adj" fmla="val 8485"/>
            </a:avLst>
          </a:prstGeom>
          <a:solidFill>
            <a:srgbClr val="FFFFFF">
              <a:alpha val="100000"/>
            </a:srgbClr>
          </a:solidFill>
          <a:ln w="6350">
            <a:solidFill>
              <a:srgbClr val="D9DDE2">
                <a:alpha val="100000"/>
              </a:srgbClr>
            </a:solidFill>
            <a:prstDash val="solid"/>
          </a:ln>
        </p:spPr>
      </p:sp>
      <p:sp>
        <p:nvSpPr>
          <p:cNvPr id="12" name="文字 12"/>
          <p:cNvSpPr txBox="1"/>
          <p:nvPr/>
        </p:nvSpPr>
        <p:spPr>
          <a:xfrm>
            <a:off x="1336675" y="1860451"/>
            <a:ext cx="10795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支付宝交易事实</a:t>
            </a:r>
            <a:endParaRPr/>
          </a:p>
        </p:txBody>
      </p:sp>
      <p:sp>
        <p:nvSpPr>
          <p:cNvPr id="13" name="文字 13"/>
          <p:cNvSpPr txBox="1"/>
          <p:nvPr/>
        </p:nvSpPr>
        <p:spPr>
          <a:xfrm>
            <a:off x="1037431" y="2109292"/>
            <a:ext cx="167788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trade_no + payment_proof</a:t>
            </a:r>
            <a:endParaRPr/>
          </a:p>
        </p:txBody>
      </p:sp>
      <p:sp>
        <p:nvSpPr>
          <p:cNvPr id="14" name="文字 14"/>
          <p:cNvSpPr txBox="1"/>
          <p:nvPr/>
        </p:nvSpPr>
        <p:spPr>
          <a:xfrm>
            <a:off x="884634" y="2295922"/>
            <a:ext cx="198348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active、金额、订单与资源返回值</a:t>
            </a:r>
            <a:endParaRPr/>
          </a:p>
        </p:txBody>
      </p:sp>
      <p:pic>
        <p:nvPicPr>
          <p:cNvPr id="15" name="slide-004-image-2.png"/>
          <p:cNvPicPr>
            <a:picLocks noChangeAspect="1"/>
          </p:cNvPicPr>
          <p:nvPr/>
        </p:nvPicPr>
        <p:blipFill>
          <a:blip r:embed="rId3"/>
          <a:stretch>
            <a:fillRect/>
          </a:stretch>
        </p:blipFill>
        <p:spPr>
          <a:xfrm>
            <a:off x="3282950" y="2266851"/>
            <a:ext cx="1270000" cy="12700"/>
          </a:xfrm>
          <a:prstGeom prst="rect">
            <a:avLst/>
          </a:prstGeom>
        </p:spPr>
      </p:pic>
      <p:sp>
        <p:nvSpPr>
          <p:cNvPr id="16" name="文字 16"/>
          <p:cNvSpPr/>
          <p:nvPr/>
        </p:nvSpPr>
        <p:spPr>
          <a:xfrm rot="5400000">
            <a:off x="4464050" y="2235101"/>
            <a:ext cx="88900" cy="88900"/>
          </a:xfrm>
          <a:prstGeom prst="triangle">
            <a:avLst/>
          </a:prstGeom>
          <a:solidFill>
            <a:srgbClr val="B5333B"/>
          </a:solidFill>
          <a:ln>
            <a:noFill/>
          </a:ln>
        </p:spPr>
      </p:sp>
      <p:sp>
        <p:nvSpPr>
          <p:cNvPr id="17" name="形状 17"/>
          <p:cNvSpPr/>
          <p:nvPr/>
        </p:nvSpPr>
        <p:spPr>
          <a:xfrm>
            <a:off x="3346450" y="2050951"/>
            <a:ext cx="1143000" cy="168870"/>
          </a:xfrm>
          <a:prstGeom prst="rect">
            <a:avLst/>
          </a:prstGeom>
          <a:solidFill>
            <a:srgbClr val="FFFFFF">
              <a:alpha val="100000"/>
            </a:srgbClr>
          </a:solidFill>
          <a:ln>
            <a:noFill/>
          </a:ln>
        </p:spPr>
      </p:sp>
      <p:sp>
        <p:nvSpPr>
          <p:cNvPr id="18" name="文字 18"/>
          <p:cNvSpPr txBox="1"/>
          <p:nvPr/>
        </p:nvSpPr>
        <p:spPr>
          <a:xfrm>
            <a:off x="3561259" y="2063651"/>
            <a:ext cx="725984"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B5333B">
                    <a:alpha val="100000"/>
                  </a:srgbClr>
                </a:solidFill>
                <a:latin typeface="Microsoft YaHei"/>
                <a:ea typeface="Microsoft YaHei"/>
                <a:cs typeface="Microsoft YaHei"/>
              </a:rPr>
              <a:t xml:space="preserve">verify 后核对</a:t>
            </a:r>
            <a:endParaRPr/>
          </a:p>
        </p:txBody>
      </p:sp>
      <p:sp>
        <p:nvSpPr>
          <p:cNvPr id="19" name="形状 19"/>
          <p:cNvSpPr/>
          <p:nvPr/>
        </p:nvSpPr>
        <p:spPr>
          <a:xfrm>
            <a:off x="4552950" y="1746151"/>
            <a:ext cx="2825750" cy="1047750"/>
          </a:xfrm>
          <a:prstGeom prst="roundRect">
            <a:avLst>
              <a:gd name="adj" fmla="val 8485"/>
            </a:avLst>
          </a:prstGeom>
          <a:solidFill>
            <a:srgbClr val="FFFFFF">
              <a:alpha val="100000"/>
            </a:srgbClr>
          </a:solidFill>
          <a:ln w="6350">
            <a:solidFill>
              <a:srgbClr val="D9DDE2">
                <a:alpha val="100000"/>
              </a:srgbClr>
            </a:solidFill>
            <a:prstDash val="solid"/>
          </a:ln>
        </p:spPr>
      </p:sp>
      <p:sp>
        <p:nvSpPr>
          <p:cNvPr id="20" name="文字 20"/>
          <p:cNvSpPr txBox="1"/>
          <p:nvPr/>
        </p:nvSpPr>
        <p:spPr>
          <a:xfrm>
            <a:off x="5508625" y="1860451"/>
            <a:ext cx="9271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商户业务订单</a:t>
            </a:r>
            <a:endParaRPr/>
          </a:p>
        </p:txBody>
      </p:sp>
      <p:sp>
        <p:nvSpPr>
          <p:cNvPr id="21" name="文字 21"/>
          <p:cNvSpPr txBox="1"/>
          <p:nvPr/>
        </p:nvSpPr>
        <p:spPr>
          <a:xfrm>
            <a:off x="5107682" y="2109292"/>
            <a:ext cx="1728986"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out_trade_no + resource_id</a:t>
            </a:r>
            <a:endParaRPr/>
          </a:p>
        </p:txBody>
      </p:sp>
      <p:sp>
        <p:nvSpPr>
          <p:cNvPr id="22" name="文字 22"/>
          <p:cNvSpPr txBox="1"/>
          <p:nvPr/>
        </p:nvSpPr>
        <p:spPr>
          <a:xfrm>
            <a:off x="4965700" y="2295922"/>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价格、请求摘要、结果与履约状态</a:t>
            </a:r>
            <a:endParaRPr/>
          </a:p>
        </p:txBody>
      </p:sp>
      <p:sp>
        <p:nvSpPr>
          <p:cNvPr id="23" name="文字 23"/>
          <p:cNvSpPr txBox="1"/>
          <p:nvPr/>
        </p:nvSpPr>
        <p:spPr>
          <a:xfrm>
            <a:off x="457200" y="2959001"/>
            <a:ext cx="527784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核对当前订单买的是什么，再决定是否执行。active=true 不能代替业务关联和并发控制。</a:t>
            </a:r>
            <a:endParaRPr/>
          </a:p>
        </p:txBody>
      </p:sp>
      <p:sp>
        <p:nvSpPr>
          <p:cNvPr id="24" name="文字 24"/>
          <p:cNvSpPr txBox="1"/>
          <p:nvPr/>
        </p:nvSpPr>
        <p:spPr>
          <a:xfrm>
            <a:off x="457200" y="3181251"/>
            <a:ext cx="2324100" cy="234950"/>
          </a:xfrm>
          <a:prstGeom prst="rect">
            <a:avLst/>
          </a:prstGeom>
          <a:noFill/>
          <a:ln>
            <a:noFill/>
          </a:ln>
        </p:spPr>
        <p:txBody>
          <a:bodyPr wrap="none" anchor="t" lIns="0" tIns="0" rIns="0" bIns="0">
            <a:noAutofit/>
          </a:bodyPr>
          <a:lstStyle/>
          <a:p>
            <a:pPr algn="l" marL="0" marR="0" indent="0">
              <a:spcBef>
                <a:spcPts val="0"/>
              </a:spcBef>
              <a:spcAft>
                <a:spcPts val="0"/>
              </a:spcAft>
              <a:buNone/>
            </a:pPr>
            <a:r>
              <a:rPr sz="1300" b="1" i="0" u="none" spc="0">
                <a:solidFill>
                  <a:srgbClr val="1A1A1C">
                    <a:alpha val="100000"/>
                  </a:srgbClr>
                </a:solidFill>
                <a:latin typeface="Microsoft YaHei"/>
                <a:ea typeface="Microsoft YaHei"/>
                <a:cs typeface="Microsoft YaHei"/>
              </a:rPr>
              <a:t xml:space="preserve">生成结果与履约回执分开持久化</a:t>
            </a:r>
            <a:endParaRPr/>
          </a:p>
        </p:txBody>
      </p:sp>
      <p:sp>
        <p:nvSpPr>
          <p:cNvPr id="25" name="形状 25"/>
          <p:cNvSpPr/>
          <p:nvPr/>
        </p:nvSpPr>
        <p:spPr>
          <a:xfrm>
            <a:off x="457200" y="3568601"/>
            <a:ext cx="1428750" cy="704850"/>
          </a:xfrm>
          <a:prstGeom prst="roundRect">
            <a:avLst>
              <a:gd name="adj" fmla="val 12613"/>
            </a:avLst>
          </a:prstGeom>
          <a:solidFill>
            <a:srgbClr val="FFFFFF">
              <a:alpha val="100000"/>
            </a:srgbClr>
          </a:solidFill>
          <a:ln w="6350">
            <a:solidFill>
              <a:srgbClr val="D9DDE2">
                <a:alpha val="100000"/>
              </a:srgbClr>
            </a:solidFill>
            <a:prstDash val="solid"/>
          </a:ln>
        </p:spPr>
      </p:sp>
      <p:sp>
        <p:nvSpPr>
          <p:cNvPr id="26" name="文字 26"/>
          <p:cNvSpPr txBox="1"/>
          <p:nvPr/>
        </p:nvSpPr>
        <p:spPr>
          <a:xfrm>
            <a:off x="942975" y="3682901"/>
            <a:ext cx="4699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待支付</a:t>
            </a:r>
            <a:endParaRPr/>
          </a:p>
        </p:txBody>
      </p:sp>
      <p:sp>
        <p:nvSpPr>
          <p:cNvPr id="27" name="文字 27"/>
          <p:cNvSpPr txBox="1"/>
          <p:nvPr/>
        </p:nvSpPr>
        <p:spPr>
          <a:xfrm>
            <a:off x="571500" y="3931741"/>
            <a:ext cx="1212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本地订单与签名报价</a:t>
            </a:r>
            <a:endParaRPr/>
          </a:p>
        </p:txBody>
      </p:sp>
      <p:pic>
        <p:nvPicPr>
          <p:cNvPr id="28" name="slide-004-image-3.png"/>
          <p:cNvPicPr>
            <a:picLocks noChangeAspect="1"/>
          </p:cNvPicPr>
          <p:nvPr/>
        </p:nvPicPr>
        <p:blipFill>
          <a:blip r:embed="rId4"/>
          <a:stretch>
            <a:fillRect/>
          </a:stretch>
        </p:blipFill>
        <p:spPr>
          <a:xfrm>
            <a:off x="1885950" y="3924201"/>
            <a:ext cx="387350" cy="12700"/>
          </a:xfrm>
          <a:prstGeom prst="rect">
            <a:avLst/>
          </a:prstGeom>
        </p:spPr>
      </p:pic>
      <p:sp>
        <p:nvSpPr>
          <p:cNvPr id="29" name="文字 29"/>
          <p:cNvSpPr/>
          <p:nvPr/>
        </p:nvSpPr>
        <p:spPr>
          <a:xfrm rot="5400000">
            <a:off x="2184400" y="3892451"/>
            <a:ext cx="88900" cy="88900"/>
          </a:xfrm>
          <a:prstGeom prst="triangle">
            <a:avLst/>
          </a:prstGeom>
          <a:solidFill>
            <a:srgbClr val="566472"/>
          </a:solidFill>
          <a:ln>
            <a:noFill/>
          </a:ln>
        </p:spPr>
      </p:sp>
      <p:sp>
        <p:nvSpPr>
          <p:cNvPr id="30" name="形状 30"/>
          <p:cNvSpPr/>
          <p:nvPr/>
        </p:nvSpPr>
        <p:spPr>
          <a:xfrm>
            <a:off x="2273300" y="3568601"/>
            <a:ext cx="1428750" cy="704850"/>
          </a:xfrm>
          <a:prstGeom prst="roundRect">
            <a:avLst>
              <a:gd name="adj" fmla="val 12613"/>
            </a:avLst>
          </a:prstGeom>
          <a:solidFill>
            <a:srgbClr val="FFFFFF">
              <a:alpha val="100000"/>
            </a:srgbClr>
          </a:solidFill>
          <a:ln w="6350">
            <a:solidFill>
              <a:srgbClr val="D9DDE2">
                <a:alpha val="100000"/>
              </a:srgbClr>
            </a:solidFill>
            <a:prstDash val="solid"/>
          </a:ln>
        </p:spPr>
      </p:sp>
      <p:sp>
        <p:nvSpPr>
          <p:cNvPr id="31" name="文字 31"/>
          <p:cNvSpPr txBox="1"/>
          <p:nvPr/>
        </p:nvSpPr>
        <p:spPr>
          <a:xfrm>
            <a:off x="2759075" y="3682901"/>
            <a:ext cx="4699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已验付</a:t>
            </a:r>
            <a:endParaRPr/>
          </a:p>
        </p:txBody>
      </p:sp>
      <p:sp>
        <p:nvSpPr>
          <p:cNvPr id="32" name="文字 32"/>
          <p:cNvSpPr txBox="1"/>
          <p:nvPr/>
        </p:nvSpPr>
        <p:spPr>
          <a:xfrm>
            <a:off x="2520950" y="3931741"/>
            <a:ext cx="9461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已匹配本次购买</a:t>
            </a:r>
            <a:endParaRPr/>
          </a:p>
        </p:txBody>
      </p:sp>
      <p:pic>
        <p:nvPicPr>
          <p:cNvPr id="33" name="slide-004-image-4.png"/>
          <p:cNvPicPr>
            <a:picLocks noChangeAspect="1"/>
          </p:cNvPicPr>
          <p:nvPr/>
        </p:nvPicPr>
        <p:blipFill>
          <a:blip r:embed="rId5"/>
          <a:stretch>
            <a:fillRect/>
          </a:stretch>
        </p:blipFill>
        <p:spPr>
          <a:xfrm>
            <a:off x="3702050" y="3924201"/>
            <a:ext cx="387350" cy="12700"/>
          </a:xfrm>
          <a:prstGeom prst="rect">
            <a:avLst/>
          </a:prstGeom>
        </p:spPr>
      </p:pic>
      <p:sp>
        <p:nvSpPr>
          <p:cNvPr id="34" name="文字 34"/>
          <p:cNvSpPr/>
          <p:nvPr/>
        </p:nvSpPr>
        <p:spPr>
          <a:xfrm rot="5400000">
            <a:off x="4000500" y="3892451"/>
            <a:ext cx="88900" cy="88900"/>
          </a:xfrm>
          <a:prstGeom prst="triangle">
            <a:avLst/>
          </a:prstGeom>
          <a:solidFill>
            <a:srgbClr val="566472"/>
          </a:solidFill>
          <a:ln>
            <a:noFill/>
          </a:ln>
        </p:spPr>
      </p:sp>
      <p:sp>
        <p:nvSpPr>
          <p:cNvPr id="35" name="形状 35"/>
          <p:cNvSpPr/>
          <p:nvPr/>
        </p:nvSpPr>
        <p:spPr>
          <a:xfrm>
            <a:off x="4089400" y="3568601"/>
            <a:ext cx="1651000" cy="704850"/>
          </a:xfrm>
          <a:prstGeom prst="roundRect">
            <a:avLst>
              <a:gd name="adj" fmla="val 12613"/>
            </a:avLst>
          </a:prstGeom>
          <a:solidFill>
            <a:srgbClr val="FFFFFF">
              <a:alpha val="100000"/>
            </a:srgbClr>
          </a:solidFill>
          <a:ln w="6350">
            <a:solidFill>
              <a:srgbClr val="B5333B">
                <a:alpha val="100000"/>
              </a:srgbClr>
            </a:solidFill>
            <a:prstDash val="solid"/>
          </a:ln>
        </p:spPr>
      </p:sp>
      <p:sp>
        <p:nvSpPr>
          <p:cNvPr id="36" name="文字 36"/>
          <p:cNvSpPr txBox="1"/>
          <p:nvPr/>
        </p:nvSpPr>
        <p:spPr>
          <a:xfrm>
            <a:off x="4238030" y="3682901"/>
            <a:ext cx="1366441" cy="203200"/>
          </a:xfrm>
          <a:prstGeom prst="rect">
            <a:avLst/>
          </a:prstGeom>
          <a:noFill/>
          <a:ln>
            <a:noFill/>
          </a:ln>
        </p:spPr>
        <p:txBody>
          <a:bodyPr wrap="none" anchor="t" lIns="0" tIns="0" rIns="0" bIns="0">
            <a:noAutofit/>
          </a:bodyPr>
          <a:lstStyle/>
          <a:p>
            <a:pPr algn="l" marL="0" marR="0" indent="0">
              <a:spcBef>
                <a:spcPts val="0"/>
              </a:spcBef>
              <a:spcAft>
                <a:spcPts val="0"/>
              </a:spcAft>
              <a:buNone/>
            </a:pPr>
            <a:r>
              <a:rPr sz="1100" b="1" i="0" u="none" spc="0">
                <a:solidFill>
                  <a:srgbClr val="B5333B">
                    <a:alpha val="100000"/>
                  </a:srgbClr>
                </a:solidFill>
                <a:latin typeface="Microsoft YaHei"/>
                <a:ea typeface="Microsoft YaHei"/>
                <a:cs typeface="Microsoft YaHei"/>
              </a:rPr>
              <a:t xml:space="preserve">PENDING_CONFIRM</a:t>
            </a:r>
            <a:endParaRPr/>
          </a:p>
        </p:txBody>
      </p:sp>
      <p:sp>
        <p:nvSpPr>
          <p:cNvPr id="37" name="文字 37"/>
          <p:cNvSpPr txBox="1"/>
          <p:nvPr/>
        </p:nvSpPr>
        <p:spPr>
          <a:xfrm>
            <a:off x="4314825" y="3915271"/>
            <a:ext cx="1212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唯一结果已持久保存</a:t>
            </a:r>
            <a:endParaRPr/>
          </a:p>
        </p:txBody>
      </p:sp>
      <p:pic>
        <p:nvPicPr>
          <p:cNvPr id="38" name="slide-004-image-5.png"/>
          <p:cNvPicPr>
            <a:picLocks noChangeAspect="1"/>
          </p:cNvPicPr>
          <p:nvPr/>
        </p:nvPicPr>
        <p:blipFill>
          <a:blip r:embed="rId6"/>
          <a:stretch>
            <a:fillRect/>
          </a:stretch>
        </p:blipFill>
        <p:spPr>
          <a:xfrm>
            <a:off x="5740400" y="3924201"/>
            <a:ext cx="374650" cy="12700"/>
          </a:xfrm>
          <a:prstGeom prst="rect">
            <a:avLst/>
          </a:prstGeom>
        </p:spPr>
      </p:pic>
      <p:sp>
        <p:nvSpPr>
          <p:cNvPr id="39" name="文字 39"/>
          <p:cNvSpPr/>
          <p:nvPr/>
        </p:nvSpPr>
        <p:spPr>
          <a:xfrm rot="5400000">
            <a:off x="6026150" y="3892451"/>
            <a:ext cx="88900" cy="88900"/>
          </a:xfrm>
          <a:prstGeom prst="triangle">
            <a:avLst/>
          </a:prstGeom>
          <a:solidFill>
            <a:srgbClr val="566472"/>
          </a:solidFill>
          <a:ln>
            <a:noFill/>
          </a:ln>
        </p:spPr>
      </p:sp>
      <p:sp>
        <p:nvSpPr>
          <p:cNvPr id="40" name="形状 40"/>
          <p:cNvSpPr/>
          <p:nvPr/>
        </p:nvSpPr>
        <p:spPr>
          <a:xfrm>
            <a:off x="6115050" y="3568601"/>
            <a:ext cx="1263650" cy="704850"/>
          </a:xfrm>
          <a:prstGeom prst="roundRect">
            <a:avLst>
              <a:gd name="adj" fmla="val 12613"/>
            </a:avLst>
          </a:prstGeom>
          <a:solidFill>
            <a:srgbClr val="FFFFFF">
              <a:alpha val="100000"/>
            </a:srgbClr>
          </a:solidFill>
          <a:ln w="6350">
            <a:solidFill>
              <a:srgbClr val="D9DDE2">
                <a:alpha val="100000"/>
              </a:srgbClr>
            </a:solidFill>
            <a:prstDash val="solid"/>
          </a:ln>
        </p:spPr>
      </p:sp>
      <p:sp>
        <p:nvSpPr>
          <p:cNvPr id="41" name="文字 41"/>
          <p:cNvSpPr txBox="1"/>
          <p:nvPr/>
        </p:nvSpPr>
        <p:spPr>
          <a:xfrm>
            <a:off x="6375797" y="3682901"/>
            <a:ext cx="754758" cy="203200"/>
          </a:xfrm>
          <a:prstGeom prst="rect">
            <a:avLst/>
          </a:prstGeom>
          <a:noFill/>
          <a:ln>
            <a:noFill/>
          </a:ln>
        </p:spPr>
        <p:txBody>
          <a:bodyPr wrap="none" anchor="t" lIns="0" tIns="0" rIns="0" bIns="0">
            <a:noAutofit/>
          </a:bodyPr>
          <a:lstStyle/>
          <a:p>
            <a:pPr algn="l" marL="0" marR="0" indent="0">
              <a:spcBef>
                <a:spcPts val="0"/>
              </a:spcBef>
              <a:spcAft>
                <a:spcPts val="0"/>
              </a:spcAft>
              <a:buNone/>
            </a:pPr>
            <a:r>
              <a:rPr sz="1100" b="1" i="0" u="none" spc="0">
                <a:solidFill>
                  <a:srgbClr val="1A1A1C">
                    <a:alpha val="100000"/>
                  </a:srgbClr>
                </a:solidFill>
                <a:latin typeface="Microsoft YaHei"/>
                <a:ea typeface="Microsoft YaHei"/>
                <a:cs typeface="Microsoft YaHei"/>
              </a:rPr>
              <a:t xml:space="preserve">FULFILLED</a:t>
            </a:r>
            <a:endParaRPr/>
          </a:p>
        </p:txBody>
      </p:sp>
      <p:sp>
        <p:nvSpPr>
          <p:cNvPr id="42" name="文字 42"/>
          <p:cNvSpPr txBox="1"/>
          <p:nvPr/>
        </p:nvSpPr>
        <p:spPr>
          <a:xfrm>
            <a:off x="6346825" y="3915271"/>
            <a:ext cx="8128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回执确认完成</a:t>
            </a:r>
            <a:endParaRPr/>
          </a:p>
        </p:txBody>
      </p:sp>
      <p:pic>
        <p:nvPicPr>
          <p:cNvPr id="43" name="slide-004-image-6.png"/>
          <p:cNvPicPr>
            <a:picLocks noChangeAspect="1"/>
          </p:cNvPicPr>
          <p:nvPr/>
        </p:nvPicPr>
        <p:blipFill>
          <a:blip r:embed="rId7"/>
          <a:stretch>
            <a:fillRect/>
          </a:stretch>
        </p:blipFill>
        <p:spPr>
          <a:xfrm>
            <a:off x="4914900" y="4273451"/>
            <a:ext cx="12700" cy="381000"/>
          </a:xfrm>
          <a:prstGeom prst="rect">
            <a:avLst/>
          </a:prstGeom>
        </p:spPr>
      </p:pic>
      <p:sp>
        <p:nvSpPr>
          <p:cNvPr id="44" name="文字 44"/>
          <p:cNvSpPr/>
          <p:nvPr/>
        </p:nvSpPr>
        <p:spPr>
          <a:xfrm rot="10800000">
            <a:off x="4876800" y="4578251"/>
            <a:ext cx="88900" cy="88900"/>
          </a:xfrm>
          <a:prstGeom prst="triangle">
            <a:avLst/>
          </a:prstGeom>
          <a:solidFill>
            <a:srgbClr val="566472"/>
          </a:solidFill>
          <a:ln>
            <a:noFill/>
          </a:ln>
        </p:spPr>
      </p:sp>
      <p:sp>
        <p:nvSpPr>
          <p:cNvPr id="45" name="形状 45"/>
          <p:cNvSpPr/>
          <p:nvPr/>
        </p:nvSpPr>
        <p:spPr>
          <a:xfrm>
            <a:off x="3556000" y="4654451"/>
            <a:ext cx="2717800" cy="666750"/>
          </a:xfrm>
          <a:prstGeom prst="roundRect">
            <a:avLst>
              <a:gd name="adj" fmla="val 13333"/>
            </a:avLst>
          </a:prstGeom>
          <a:solidFill>
            <a:srgbClr val="FFFFFF">
              <a:alpha val="100000"/>
            </a:srgbClr>
          </a:solidFill>
          <a:ln w="6350">
            <a:solidFill>
              <a:srgbClr val="D9DDE2">
                <a:alpha val="100000"/>
              </a:srgbClr>
            </a:solidFill>
            <a:prstDash val="solid"/>
          </a:ln>
        </p:spPr>
      </p:sp>
      <p:sp>
        <p:nvSpPr>
          <p:cNvPr id="46" name="文字 46"/>
          <p:cNvSpPr txBox="1"/>
          <p:nvPr/>
        </p:nvSpPr>
        <p:spPr>
          <a:xfrm>
            <a:off x="4229100" y="4768751"/>
            <a:ext cx="13843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回执失败或状态未知</a:t>
            </a:r>
            <a:endParaRPr/>
          </a:p>
        </p:txBody>
      </p:sp>
      <p:sp>
        <p:nvSpPr>
          <p:cNvPr id="47" name="文字 47"/>
          <p:cNvSpPr txBox="1"/>
          <p:nvPr/>
        </p:nvSpPr>
        <p:spPr>
          <a:xfrm>
            <a:off x="3914775" y="5017591"/>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恢复同一订单，按错误码核实状态</a:t>
            </a:r>
            <a:endParaRPr/>
          </a:p>
        </p:txBody>
      </p:sp>
      <p:sp>
        <p:nvSpPr>
          <p:cNvPr id="48" name="文字 48"/>
          <p:cNvSpPr txBox="1"/>
          <p:nvPr/>
        </p:nvSpPr>
        <p:spPr>
          <a:xfrm>
            <a:off x="6273800" y="4679851"/>
            <a:ext cx="97790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确认成功后转入最</a:t>
            </a:r>
            <a:endParaRPr/>
          </a:p>
        </p:txBody>
      </p:sp>
      <p:sp>
        <p:nvSpPr>
          <p:cNvPr id="49" name="文字 49"/>
          <p:cNvSpPr txBox="1"/>
          <p:nvPr/>
        </p:nvSpPr>
        <p:spPr>
          <a:xfrm>
            <a:off x="6273800" y="4848721"/>
            <a:ext cx="37465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终完成</a:t>
            </a:r>
            <a:endParaRPr/>
          </a:p>
        </p:txBody>
      </p:sp>
      <p:sp>
        <p:nvSpPr>
          <p:cNvPr id="50" name="文字 50"/>
          <p:cNvSpPr txBox="1"/>
          <p:nvPr/>
        </p:nvSpPr>
        <p:spPr>
          <a:xfrm>
            <a:off x="457200" y="4800501"/>
            <a:ext cx="1387475" cy="203200"/>
          </a:xfrm>
          <a:prstGeom prst="rect">
            <a:avLst/>
          </a:prstGeom>
          <a:noFill/>
          <a:ln>
            <a:noFill/>
          </a:ln>
        </p:spPr>
        <p:txBody>
          <a:bodyPr wrap="none" anchor="t" lIns="0" tIns="0" rIns="0" bIns="0">
            <a:noAutofit/>
          </a:bodyPr>
          <a:lstStyle/>
          <a:p>
            <a:pPr algn="l" marL="0" marR="0" indent="0">
              <a:spcBef>
                <a:spcPts val="0"/>
              </a:spcBef>
              <a:spcAft>
                <a:spcPts val="0"/>
              </a:spcAft>
              <a:buNone/>
            </a:pPr>
            <a:r>
              <a:rPr sz="1100" b="1" i="0" u="none" spc="0">
                <a:solidFill>
                  <a:srgbClr val="B5333B">
                    <a:alpha val="100000"/>
                  </a:srgbClr>
                </a:solidFill>
                <a:latin typeface="Microsoft YaHei"/>
                <a:ea typeface="Microsoft YaHei"/>
                <a:cs typeface="Microsoft YaHei"/>
              </a:rPr>
              <a:t xml:space="preserve">重试回执 / 读已有结果</a:t>
            </a:r>
            <a:endParaRPr/>
          </a:p>
        </p:txBody>
      </p:sp>
      <p:sp>
        <p:nvSpPr>
          <p:cNvPr id="51" name="文字 51"/>
          <p:cNvSpPr txBox="1"/>
          <p:nvPr/>
        </p:nvSpPr>
        <p:spPr>
          <a:xfrm>
            <a:off x="457200" y="4996061"/>
            <a:ext cx="2247900" cy="203200"/>
          </a:xfrm>
          <a:prstGeom prst="rect">
            <a:avLst/>
          </a:prstGeom>
          <a:noFill/>
          <a:ln>
            <a:noFill/>
          </a:ln>
        </p:spPr>
        <p:txBody>
          <a:bodyPr wrap="none" anchor="t" lIns="0" tIns="0" rIns="0" bIns="0">
            <a:noAutofit/>
          </a:bodyPr>
          <a:lstStyle/>
          <a:p>
            <a:pPr algn="l" marL="0" marR="0" indent="0">
              <a:spcBef>
                <a:spcPts val="0"/>
              </a:spcBef>
              <a:spcAft>
                <a:spcPts val="0"/>
              </a:spcAft>
              <a:buNone/>
            </a:pPr>
            <a:r>
              <a:rPr sz="1100" b="1" i="0" u="none" spc="0">
                <a:solidFill>
                  <a:srgbClr val="B5333B">
                    <a:alpha val="100000"/>
                  </a:srgbClr>
                </a:solidFill>
                <a:latin typeface="Microsoft YaHei"/>
                <a:ea typeface="Microsoft YaHei"/>
                <a:cs typeface="Microsoft YaHei"/>
              </a:rPr>
              <a:t xml:space="preserve">不重新生成，也不直接要求再付一次</a:t>
            </a:r>
            <a:endParaRPr/>
          </a:p>
        </p:txBody>
      </p:sp>
      <p:sp>
        <p:nvSpPr>
          <p:cNvPr id="52" name="文字 52"/>
          <p:cNvSpPr txBox="1"/>
          <p:nvPr/>
        </p:nvSpPr>
        <p:spPr>
          <a:xfrm>
            <a:off x="457200" y="5397401"/>
            <a:ext cx="3838079" cy="158750"/>
          </a:xfrm>
          <a:prstGeom prst="rect">
            <a:avLst/>
          </a:prstGeom>
          <a:noFill/>
          <a:ln>
            <a:noFill/>
          </a:ln>
        </p:spPr>
        <p:txBody>
          <a:bodyPr wrap="none" anchor="t" lIns="0" tIns="0" rIns="0" bIns="0">
            <a:noAutofit/>
          </a:bodyPr>
          <a:lstStyle/>
          <a:p>
            <a:pPr algn="l" marL="0" marR="0" indent="0">
              <a:spcBef>
                <a:spcPts val="0"/>
              </a:spcBef>
              <a:spcAft>
                <a:spcPts val="0"/>
              </a:spcAft>
              <a:buNone/>
            </a:pPr>
            <a:r>
              <a:rPr sz="850" b="0" i="0" u="none" spc="0">
                <a:solidFill>
                  <a:srgbClr val="585860">
                    <a:alpha val="100000"/>
                  </a:srgbClr>
                </a:solidFill>
                <a:latin typeface="Microsoft YaHei"/>
                <a:ea typeface="Microsoft YaHei"/>
                <a:cs typeface="Microsoft YaHei"/>
              </a:rPr>
              <a:t xml:space="preserve">这是 alipay/ai 当前模板的本地状态抽象，数据库事务和幂等端口仍需商户实现。</a:t>
            </a:r>
            <a:endParaRPr/>
          </a:p>
        </p:txBody>
      </p:sp>
      <p:pic>
        <p:nvPicPr>
          <p:cNvPr id="53" name="slide-004-image-7.png"/>
          <p:cNvPicPr>
            <a:picLocks noChangeAspect="1"/>
          </p:cNvPicPr>
          <p:nvPr/>
        </p:nvPicPr>
        <p:blipFill>
          <a:blip r:embed="rId8"/>
          <a:stretch>
            <a:fillRect/>
          </a:stretch>
        </p:blipFill>
        <p:spPr>
          <a:xfrm>
            <a:off x="7607300" y="1365151"/>
            <a:ext cx="4127501" cy="4216400"/>
          </a:xfrm>
          <a:prstGeom prst="rect">
            <a:avLst/>
          </a:prstGeom>
        </p:spPr>
      </p:pic>
      <p:sp>
        <p:nvSpPr>
          <p:cNvPr id="54" name="文字 54"/>
          <p:cNvSpPr txBox="1"/>
          <p:nvPr/>
        </p:nvSpPr>
        <p:spPr>
          <a:xfrm>
            <a:off x="7791450" y="1377851"/>
            <a:ext cx="1282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业务请求也要固定</a:t>
            </a:r>
            <a:endParaRPr/>
          </a:p>
        </p:txBody>
      </p:sp>
      <p:sp>
        <p:nvSpPr>
          <p:cNvPr id="55" name="文字 55"/>
          <p:cNvSpPr txBox="1"/>
          <p:nvPr/>
        </p:nvSpPr>
        <p:spPr>
          <a:xfrm>
            <a:off x="7791450" y="1649313"/>
            <a:ext cx="386209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示例 resource_id 可以只是路径。同一路径接收不同 prompt 或文</a:t>
            </a:r>
            <a:endParaRPr/>
          </a:p>
        </p:txBody>
      </p:sp>
      <p:sp>
        <p:nvSpPr>
          <p:cNvPr id="56" name="文字 56"/>
          <p:cNvSpPr txBox="1"/>
          <p:nvPr/>
        </p:nvSpPr>
        <p:spPr>
          <a:xfrm>
            <a:off x="7791450" y="1846659"/>
            <a:ext cx="25463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件时，商户还应绑定请求摘要和购买范围。</a:t>
            </a:r>
            <a:endParaRPr/>
          </a:p>
        </p:txBody>
      </p:sp>
      <p:sp>
        <p:nvSpPr>
          <p:cNvPr id="57" name="文字 57"/>
          <p:cNvSpPr txBox="1"/>
          <p:nvPr/>
        </p:nvSpPr>
        <p:spPr>
          <a:xfrm>
            <a:off x="7791450" y="2183706"/>
            <a:ext cx="1441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网络失败先恢复原单</a:t>
            </a:r>
            <a:endParaRPr/>
          </a:p>
        </p:txBody>
      </p:sp>
      <p:sp>
        <p:nvSpPr>
          <p:cNvPr id="58" name="文字 58"/>
          <p:cNvSpPr txBox="1"/>
          <p:nvPr/>
        </p:nvSpPr>
        <p:spPr>
          <a:xfrm>
            <a:off x="7791450" y="2455168"/>
            <a:ext cx="3879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回执待确认已有业务结果，应重试确认或取存量结果。支付状态未</a:t>
            </a:r>
            <a:endParaRPr/>
          </a:p>
        </p:txBody>
      </p:sp>
      <p:sp>
        <p:nvSpPr>
          <p:cNvPr id="59" name="文字 59"/>
          <p:cNvSpPr txBox="1"/>
          <p:nvPr/>
        </p:nvSpPr>
        <p:spPr>
          <a:xfrm>
            <a:off x="7791450" y="2652514"/>
            <a:ext cx="20129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知不应直接创建新订单要求再买。</a:t>
            </a:r>
            <a:endParaRPr/>
          </a:p>
        </p:txBody>
      </p:sp>
      <p:sp>
        <p:nvSpPr>
          <p:cNvPr id="60" name="文字 60"/>
          <p:cNvSpPr txBox="1"/>
          <p:nvPr/>
        </p:nvSpPr>
        <p:spPr>
          <a:xfrm>
            <a:off x="7791450" y="2989560"/>
            <a:ext cx="2076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回执确认与资金结算分开理解</a:t>
            </a:r>
            <a:endParaRPr/>
          </a:p>
        </p:txBody>
      </p:sp>
      <p:sp>
        <p:nvSpPr>
          <p:cNvPr id="61" name="文字 61"/>
          <p:cNvSpPr txBox="1"/>
          <p:nvPr/>
        </p:nvSpPr>
        <p:spPr>
          <a:xfrm>
            <a:off x="7791450" y="3261023"/>
            <a:ext cx="387419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fulfillment.confirm 的含义是“商家履约回执”。公共接口没有公</a:t>
            </a:r>
            <a:endParaRPr/>
          </a:p>
        </p:txBody>
      </p:sp>
      <p:sp>
        <p:nvSpPr>
          <p:cNvPr id="62" name="文字 62"/>
          <p:cNvSpPr txBox="1"/>
          <p:nvPr/>
        </p:nvSpPr>
        <p:spPr>
          <a:xfrm>
            <a:off x="7791450" y="3458369"/>
            <a:ext cx="24130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开其与资金释放、退款的完整内部条件。</a:t>
            </a:r>
            <a:endParaRPr/>
          </a:p>
        </p:txBody>
      </p:sp>
      <p:sp>
        <p:nvSpPr>
          <p:cNvPr id="63" name="文字 63"/>
          <p:cNvSpPr txBox="1"/>
          <p:nvPr/>
        </p:nvSpPr>
        <p:spPr>
          <a:xfrm>
            <a:off x="7791450" y="3795415"/>
            <a:ext cx="2076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过期与重试策略需按版本核对</a:t>
            </a:r>
            <a:endParaRPr/>
          </a:p>
        </p:txBody>
      </p:sp>
      <p:sp>
        <p:nvSpPr>
          <p:cNvPr id="64" name="文字 64"/>
          <p:cNvSpPr txBox="1"/>
          <p:nvPr/>
        </p:nvSpPr>
        <p:spPr>
          <a:xfrm>
            <a:off x="7791450" y="4066878"/>
            <a:ext cx="391388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当前模板和 ACT 映射例的截止检查、回执顺序不同；重复确认也可</a:t>
            </a:r>
            <a:endParaRPr/>
          </a:p>
        </p:txBody>
      </p:sp>
      <p:sp>
        <p:nvSpPr>
          <p:cNvPr id="65" name="文字 65"/>
          <p:cNvSpPr txBox="1"/>
          <p:nvPr/>
        </p:nvSpPr>
        <p:spPr>
          <a:xfrm>
            <a:off x="7791450" y="4264224"/>
            <a:ext cx="13462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能返回交易状态错误。</a:t>
            </a:r>
            <a:endParaRPr/>
          </a:p>
        </p:txBody>
      </p:sp>
      <p:pic>
        <p:nvPicPr>
          <p:cNvPr id="66" name="slide-004-image-8.png"/>
          <p:cNvPicPr>
            <a:picLocks noChangeAspect="1"/>
          </p:cNvPicPr>
          <p:nvPr/>
        </p:nvPicPr>
        <p:blipFill>
          <a:blip r:embed="rId9"/>
          <a:stretch>
            <a:fillRect/>
          </a:stretch>
        </p:blipFill>
        <p:spPr>
          <a:xfrm>
            <a:off x="457200" y="5588595"/>
            <a:ext cx="11277600" cy="755055"/>
          </a:xfrm>
          <a:prstGeom prst="rect">
            <a:avLst/>
          </a:prstGeom>
        </p:spPr>
      </p:pic>
      <p:sp>
        <p:nvSpPr>
          <p:cNvPr id="67" name="文字 67"/>
          <p:cNvSpPr txBox="1"/>
          <p:nvPr/>
        </p:nvSpPr>
        <p:spPr>
          <a:xfrm>
            <a:off x="457200" y="5696546"/>
            <a:ext cx="2544465"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SkillPay：经营商品权益和知识交付</a:t>
            </a:r>
            <a:endParaRPr/>
          </a:p>
        </p:txBody>
      </p:sp>
      <p:sp>
        <p:nvSpPr>
          <p:cNvPr id="68" name="文字 68"/>
          <p:cNvSpPr txBox="1"/>
          <p:nvPr/>
        </p:nvSpPr>
        <p:spPr>
          <a:xfrm>
            <a:off x="457200" y="5968008"/>
            <a:ext cx="5480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决定买断文件、订阅期限、试用、版本和云端原文保护；有效权益下的使用不等于每次重新购</a:t>
            </a:r>
            <a:endParaRPr/>
          </a:p>
        </p:txBody>
      </p:sp>
      <p:sp>
        <p:nvSpPr>
          <p:cNvPr id="69" name="文字 69"/>
          <p:cNvSpPr txBox="1"/>
          <p:nvPr/>
        </p:nvSpPr>
        <p:spPr>
          <a:xfrm>
            <a:off x="457200" y="6165354"/>
            <a:ext cx="2794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买。</a:t>
            </a:r>
            <a:endParaRPr/>
          </a:p>
        </p:txBody>
      </p:sp>
      <p:sp>
        <p:nvSpPr>
          <p:cNvPr id="70" name="文字 70"/>
          <p:cNvSpPr txBox="1"/>
          <p:nvPr/>
        </p:nvSpPr>
        <p:spPr>
          <a:xfrm>
            <a:off x="6210300" y="5696546"/>
            <a:ext cx="3334246"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MachinePay：让资源请求具备收款与验付协议</a:t>
            </a:r>
            <a:endParaRPr/>
          </a:p>
        </p:txBody>
      </p:sp>
      <p:sp>
        <p:nvSpPr>
          <p:cNvPr id="71" name="文字 71"/>
          <p:cNvSpPr txBox="1"/>
          <p:nvPr/>
        </p:nvSpPr>
        <p:spPr>
          <a:xfrm>
            <a:off x="6210300" y="5968008"/>
            <a:ext cx="5480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商户签报价，支付宝付款与验付，商户承担业务绑定、幂等和交付。两者复用支付能力，不宜</a:t>
            </a:r>
            <a:endParaRPr/>
          </a:p>
        </p:txBody>
      </p:sp>
      <p:sp>
        <p:nvSpPr>
          <p:cNvPr id="72" name="文字 72"/>
          <p:cNvSpPr txBox="1"/>
          <p:nvPr/>
        </p:nvSpPr>
        <p:spPr>
          <a:xfrm>
            <a:off x="6210300" y="6165354"/>
            <a:ext cx="18796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推定全部流量走同一内部链路。</a:t>
            </a:r>
            <a:endParaRPr/>
          </a:p>
        </p:txBody>
      </p:sp>
      <p:sp>
        <p:nvSpPr>
          <p:cNvPr id="73" name="文字 73"/>
          <p:cNvSpPr txBox="1"/>
          <p:nvPr/>
        </p:nvSpPr>
        <p:spPr>
          <a:xfrm>
            <a:off x="457200" y="6445250"/>
            <a:ext cx="7278787" cy="120650"/>
          </a:xfrm>
          <a:prstGeom prst="rect">
            <a:avLst/>
          </a:prstGeom>
          <a:noFill/>
          <a:ln>
            <a:noFill/>
          </a:ln>
        </p:spPr>
        <p:txBody>
          <a:bodyPr wrap="none" anchor="t" lIns="0" tIns="0" rIns="0" bIns="0">
            <a:noAutofit/>
          </a:bodyPr>
          <a:lstStyle/>
          <a:p>
            <a:pPr algn="l" marL="0" marR="0" indent="0">
              <a:spcBef>
                <a:spcPts val="0"/>
              </a:spcBef>
              <a:spcAft>
                <a:spcPts val="0"/>
              </a:spcAft>
              <a:buNone/>
            </a:pPr>
            <a:r>
              <a:rPr sz="650" b="0" i="0" u="none" spc="0">
                <a:solidFill>
                  <a:srgbClr val="6C7078">
                    <a:alpha val="100000"/>
                  </a:srgbClr>
                </a:solidFill>
                <a:latin typeface="Microsoft YaHei"/>
                <a:ea typeface="Microsoft YaHei"/>
                <a:cs typeface="Microsoft YaHei"/>
              </a:rPr>
              <a:t xml:space="preserve">原理图依据公开 API、alipay/ai 固定 commit 模板及 ACT 对接例；非支付宝内部数据库状态。amount、client_session 等文档差异详见备注。 详细来源、代码版本与证据边界见备注及伴生研究文档。</a:t>
            </a:r>
            <a:endParaRPr/>
          </a:p>
        </p:txBody>
      </p:sp>
      <p:pic>
        <p:nvPicPr>
          <p:cNvPr id="74" name="slide-004-image-9.png"/>
          <p:cNvPicPr>
            <a:picLocks noChangeAspect="1"/>
          </p:cNvPicPr>
          <p:nvPr/>
        </p:nvPicPr>
        <p:blipFill>
          <a:blip r:embed="rId10"/>
          <a:stretch>
            <a:fillRect/>
          </a:stretch>
        </p:blipFill>
        <p:spPr>
          <a:xfrm>
            <a:off x="11498678" y="6691517"/>
            <a:ext cx="680240" cy="153402"/>
          </a:xfrm>
          <a:prstGeom prst="rect">
            <a:avLst/>
          </a:prstGeom>
        </p:spPr>
      </p:pic>
    </p:spTree>
  </p:cSld>
  <p:clrMapOvr>
    <a:masterClrMapping/>
  </p:clrMapOvr>
</p:sld>
</file>

<file path=ppt/theme/theme1.xml><?xml version="1.0" encoding="utf-8"?>
<!-- 空白母版、版式与主题取自 python-pptx 1.0.2 的默认有效文稿；母版只保留空白版式。 -->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