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1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openxmlformats.org/officeDocument/2006/relationships/image" Target="../media/image37.png"/><Relationship Id="rId18" Type="http://schemas.openxmlformats.org/officeDocument/2006/relationships/image" Target="../media/image38.png"/><Relationship Id="rId19" Type="http://schemas.openxmlformats.org/officeDocument/2006/relationships/image" Target="../media/image39.png"/><Relationship Id="rId20" Type="http://schemas.openxmlformats.org/officeDocument/2006/relationships/image" Target="../media/image1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21.png"/><Relationship Id="rId10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kill商品与交付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2327176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63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支付宝 SkillPay 与 MachinePay 原理研究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1/4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7533581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经营 Skill 商品，付款后分为源文件与使用权两种交付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781050"/>
          </a:xfrm>
          <a:prstGeom prst="rect">
            <a:avLst/>
          </a:prstGeom>
        </p:spPr>
      </p:pic>
      <p:sp>
        <p:nvSpPr>
          <p:cNvPr id="9" name="形状 9"/>
          <p:cNvSpPr/>
          <p:nvPr/>
        </p:nvSpPr>
        <p:spPr>
          <a:xfrm>
            <a:off x="457200" y="1129010"/>
            <a:ext cx="2476500" cy="66675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10" name="文字 10"/>
          <p:cNvSpPr txBox="1"/>
          <p:nvPr/>
        </p:nvSpPr>
        <p:spPr>
          <a:xfrm>
            <a:off x="1132384" y="1243310"/>
            <a:ext cx="1138833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作者提交源 Skill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828675" y="1492151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名称、文件、价格与收费模式</a:t>
            </a:r>
            <a:endParaRPr/>
          </a:p>
        </p:txBody>
      </p:sp>
      <p:sp>
        <p:nvSpPr>
          <p:cNvPr id="12" name="形状 12"/>
          <p:cNvSpPr/>
          <p:nvPr/>
        </p:nvSpPr>
        <p:spPr>
          <a:xfrm>
            <a:off x="3441700" y="1129010"/>
            <a:ext cx="2476500" cy="66675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13" name="文字 13"/>
          <p:cNvSpPr txBox="1"/>
          <p:nvPr/>
        </p:nvSpPr>
        <p:spPr>
          <a:xfrm>
            <a:off x="4133155" y="1243310"/>
            <a:ext cx="110619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商品化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3813175" y="1492151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扫描审核、版本、试用和权益</a:t>
            </a:r>
            <a:endParaRPr/>
          </a:p>
        </p:txBody>
      </p:sp>
      <p:sp>
        <p:nvSpPr>
          <p:cNvPr id="15" name="形状 15"/>
          <p:cNvSpPr/>
          <p:nvPr/>
        </p:nvSpPr>
        <p:spPr>
          <a:xfrm>
            <a:off x="6426200" y="1129010"/>
            <a:ext cx="2476500" cy="66675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16" name="文字 16"/>
          <p:cNvSpPr txBox="1"/>
          <p:nvPr/>
        </p:nvSpPr>
        <p:spPr>
          <a:xfrm>
            <a:off x="7207250" y="1243310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作者自主分发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6864350" y="1492151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购买指令、二维码或商品页</a:t>
            </a:r>
            <a:endParaRPr/>
          </a:p>
        </p:txBody>
      </p:sp>
      <p:pic>
        <p:nvPicPr>
          <p:cNvPr id="18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1465560"/>
            <a:ext cx="508000" cy="12700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3390900" y="13830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pic>
        <p:nvPicPr>
          <p:cNvPr id="20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200" y="1465560"/>
            <a:ext cx="508000" cy="12700"/>
          </a:xfrm>
          <a:prstGeom prst="rect">
            <a:avLst/>
          </a:prstGeom>
        </p:spPr>
      </p:pic>
      <p:sp>
        <p:nvSpPr>
          <p:cNvPr id="21" name="文字 21"/>
          <p:cNvSpPr txBox="1"/>
          <p:nvPr/>
        </p:nvSpPr>
        <p:spPr>
          <a:xfrm>
            <a:off x="6375400" y="13830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9112250" y="1217910"/>
            <a:ext cx="25463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作者负责创造与维护，平台承接付款之后的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9112250" y="1404541"/>
            <a:ext cx="10795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交付和持续经营。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457200" y="1954510"/>
            <a:ext cx="25844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同一购买握手，取得不同商品权益</a:t>
            </a:r>
            <a:endParaRPr/>
          </a:p>
        </p:txBody>
      </p:sp>
      <p:sp>
        <p:nvSpPr>
          <p:cNvPr id="25" name="形状 25"/>
          <p:cNvSpPr/>
          <p:nvPr/>
        </p:nvSpPr>
        <p:spPr>
          <a:xfrm>
            <a:off x="457200" y="2341860"/>
            <a:ext cx="1460500" cy="647700"/>
          </a:xfrm>
          <a:prstGeom prst="roundRect">
            <a:avLst>
              <a:gd name="adj" fmla="val 1372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26" name="文字 26"/>
          <p:cNvSpPr txBox="1"/>
          <p:nvPr/>
        </p:nvSpPr>
        <p:spPr>
          <a:xfrm>
            <a:off x="647700" y="2456160"/>
            <a:ext cx="109210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请求资源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787400" y="2705001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没有有效权益</a:t>
            </a:r>
            <a:endParaRPr/>
          </a:p>
        </p:txBody>
      </p:sp>
      <p:pic>
        <p:nvPicPr>
          <p:cNvPr id="28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700" y="2665710"/>
            <a:ext cx="584200" cy="12700"/>
          </a:xfrm>
          <a:prstGeom prst="rect">
            <a:avLst/>
          </a:prstGeom>
        </p:spPr>
      </p:pic>
      <p:sp>
        <p:nvSpPr>
          <p:cNvPr id="29" name="文字 29"/>
          <p:cNvSpPr txBox="1"/>
          <p:nvPr/>
        </p:nvSpPr>
        <p:spPr>
          <a:xfrm>
            <a:off x="2451100" y="258316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30" name="形状 30"/>
          <p:cNvSpPr/>
          <p:nvPr/>
        </p:nvSpPr>
        <p:spPr>
          <a:xfrm>
            <a:off x="2501900" y="2341860"/>
            <a:ext cx="1765300" cy="647700"/>
          </a:xfrm>
          <a:prstGeom prst="roundRect">
            <a:avLst>
              <a:gd name="adj" fmla="val 1372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31" name="文字 31"/>
          <p:cNvSpPr txBox="1"/>
          <p:nvPr/>
        </p:nvSpPr>
        <p:spPr>
          <a:xfrm>
            <a:off x="2865338" y="2456160"/>
            <a:ext cx="1051024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402 + 付款要求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2851150" y="2705001"/>
            <a:ext cx="10795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保留原请求上下文</a:t>
            </a:r>
            <a:endParaRPr/>
          </a:p>
        </p:txBody>
      </p:sp>
      <p:pic>
        <p:nvPicPr>
          <p:cNvPr id="33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2665710"/>
            <a:ext cx="571500" cy="12700"/>
          </a:xfrm>
          <a:prstGeom prst="rect">
            <a:avLst/>
          </a:prstGeom>
        </p:spPr>
      </p:pic>
      <p:sp>
        <p:nvSpPr>
          <p:cNvPr id="34" name="文字 34"/>
          <p:cNvSpPr txBox="1"/>
          <p:nvPr/>
        </p:nvSpPr>
        <p:spPr>
          <a:xfrm>
            <a:off x="4787900" y="258316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35" name="形状 35"/>
          <p:cNvSpPr/>
          <p:nvPr/>
        </p:nvSpPr>
        <p:spPr>
          <a:xfrm>
            <a:off x="4838700" y="2341860"/>
            <a:ext cx="2603500" cy="647700"/>
          </a:xfrm>
          <a:prstGeom prst="roundRect">
            <a:avLst>
              <a:gd name="adj" fmla="val 1372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36" name="文字 36"/>
          <p:cNvSpPr txBox="1"/>
          <p:nvPr/>
        </p:nvSpPr>
        <p:spPr>
          <a:xfrm>
            <a:off x="5302250" y="245616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支付宝付款后恢复原请求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5414863" y="2705001"/>
            <a:ext cx="146377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验付并建立权益</a:t>
            </a:r>
            <a:endParaRPr/>
          </a:p>
        </p:txBody>
      </p:sp>
      <p:pic>
        <p:nvPicPr>
          <p:cNvPr id="38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0450" y="2989560"/>
            <a:ext cx="12700" cy="355600"/>
          </a:xfrm>
          <a:prstGeom prst="rect">
            <a:avLst/>
          </a:prstGeom>
        </p:spPr>
      </p:pic>
      <p:pic>
        <p:nvPicPr>
          <p:cNvPr id="39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9950" y="3345160"/>
            <a:ext cx="4000500" cy="12700"/>
          </a:xfrm>
          <a:prstGeom prst="rect">
            <a:avLst/>
          </a:prstGeom>
        </p:spPr>
      </p:pic>
      <p:pic>
        <p:nvPicPr>
          <p:cNvPr id="40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9950" y="3345160"/>
            <a:ext cx="12700" cy="241300"/>
          </a:xfrm>
          <a:prstGeom prst="rect">
            <a:avLst/>
          </a:prstGeom>
        </p:spPr>
      </p:pic>
      <p:sp>
        <p:nvSpPr>
          <p:cNvPr id="41" name="文字 41"/>
          <p:cNvSpPr txBox="1"/>
          <p:nvPr/>
        </p:nvSpPr>
        <p:spPr>
          <a:xfrm>
            <a:off x="2082800" y="3503910"/>
            <a:ext cx="139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▼</a:t>
            </a:r>
            <a:endParaRPr/>
          </a:p>
        </p:txBody>
      </p:sp>
      <p:pic>
        <p:nvPicPr>
          <p:cNvPr id="42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9450" y="3345160"/>
            <a:ext cx="12700" cy="241300"/>
          </a:xfrm>
          <a:prstGeom prst="rect">
            <a:avLst/>
          </a:prstGeom>
        </p:spPr>
      </p:pic>
      <p:sp>
        <p:nvSpPr>
          <p:cNvPr id="43" name="文字 43"/>
          <p:cNvSpPr txBox="1"/>
          <p:nvPr/>
        </p:nvSpPr>
        <p:spPr>
          <a:xfrm>
            <a:off x="5702300" y="3503910"/>
            <a:ext cx="139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▼</a:t>
            </a:r>
            <a:endParaRPr/>
          </a:p>
        </p:txBody>
      </p:sp>
      <p:sp>
        <p:nvSpPr>
          <p:cNvPr id="44" name="形状 44"/>
          <p:cNvSpPr/>
          <p:nvPr/>
        </p:nvSpPr>
        <p:spPr>
          <a:xfrm>
            <a:off x="457200" y="3586460"/>
            <a:ext cx="3365500" cy="1365250"/>
          </a:xfrm>
          <a:prstGeom prst="roundRect">
            <a:avLst>
              <a:gd name="adj" fmla="val 651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5" name="文字 45"/>
          <p:cNvSpPr txBox="1"/>
          <p:nvPr/>
        </p:nvSpPr>
        <p:spPr>
          <a:xfrm>
            <a:off x="1377950" y="3700760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买断：交付完整源文件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1382713" y="3949601"/>
            <a:ext cx="152717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完整 Skill 进入本地 Agent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1177230" y="4136231"/>
            <a:ext cx="193813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一次购买可下载该 Skill 全部版本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1273175" y="4322862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后续由本地读取、执行和保存</a:t>
            </a:r>
            <a:endParaRPr/>
          </a:p>
        </p:txBody>
      </p:sp>
      <p:sp>
        <p:nvSpPr>
          <p:cNvPr id="49" name="形状 49"/>
          <p:cNvSpPr/>
          <p:nvPr/>
        </p:nvSpPr>
        <p:spPr>
          <a:xfrm>
            <a:off x="4076700" y="3586460"/>
            <a:ext cx="3365500" cy="1365250"/>
          </a:xfrm>
          <a:prstGeom prst="roundRect">
            <a:avLst>
              <a:gd name="adj" fmla="val 651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0" name="文字 50"/>
          <p:cNvSpPr txBox="1"/>
          <p:nvPr/>
        </p:nvSpPr>
        <p:spPr>
          <a:xfrm>
            <a:off x="4921250" y="370076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订阅：交付期限内使用权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5026025" y="3949601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本地保留入口与公开资源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4759325" y="4136231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完整原文留云端，按任务提供指导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4692650" y="4322862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当前不自动续费，到期重新取得权益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457200" y="5104110"/>
            <a:ext cx="3479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支付后按商品模式分叉，订阅并不等于每次任务重新扣款。</a:t>
            </a:r>
            <a:endParaRPr/>
          </a:p>
        </p:txBody>
      </p:sp>
      <p:pic>
        <p:nvPicPr>
          <p:cNvPr id="55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0800" y="1852910"/>
            <a:ext cx="4064000" cy="3549650"/>
          </a:xfrm>
          <a:prstGeom prst="rect">
            <a:avLst/>
          </a:prstGeom>
        </p:spPr>
      </p:pic>
      <p:sp>
        <p:nvSpPr>
          <p:cNvPr id="56" name="文字 56"/>
          <p:cNvSpPr txBox="1"/>
          <p:nvPr/>
        </p:nvSpPr>
        <p:spPr>
          <a:xfrm>
            <a:off x="7854950" y="1941810"/>
            <a:ext cx="2790527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 ID 定位售卖对象，交易号追踪付款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7854950" y="2213273"/>
            <a:ext cx="376098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merchantId / productId 说明“谁的哪个商品”；支付凭据用于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7854950" y="2410619"/>
            <a:ext cx="26797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恢复本轮请求，后续还要判断权益是否可用。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7854950" y="2754015"/>
            <a:ext cx="2393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平台管理交付，而非只弹出收银台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854950" y="3025477"/>
            <a:ext cx="3879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商品模式、试用、版本和可用期决定后续交付。付费成功后仍可能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7854950" y="3222824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处于权益发放中或发放失败。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7854950" y="3566220"/>
            <a:ext cx="2393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资金直达作者，费率不能据此推断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7854950" y="3837682"/>
            <a:ext cx="3879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官网称款项实时到作者支付宝账户。退款由作者处理，周期订单整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7854950" y="4035028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单全退；未查到统一公开抽佣费率。</a:t>
            </a:r>
            <a:endParaRPr/>
          </a:p>
        </p:txBody>
      </p:sp>
      <p:pic>
        <p:nvPicPr>
          <p:cNvPr id="65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384800"/>
            <a:ext cx="11277600" cy="958850"/>
          </a:xfrm>
          <a:prstGeom prst="rect">
            <a:avLst/>
          </a:prstGeom>
        </p:spPr>
      </p:pic>
      <p:sp>
        <p:nvSpPr>
          <p:cNvPr id="66" name="文字 66"/>
          <p:cNvSpPr txBox="1"/>
          <p:nvPr/>
        </p:nvSpPr>
        <p:spPr>
          <a:xfrm>
            <a:off x="457200" y="551180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沿四个判断点恢复原任务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457200" y="582295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支付确认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457200" y="6070600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钱是否付给对应交易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3340100" y="582295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权益可用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3340100" y="6070600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当前买家是否仍可使用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6223000" y="582295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资源交付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6223000" y="6070600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文件或执行指导是否取得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9105900" y="582295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任务完成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9105900" y="6070600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本地执行与产物是否合格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457200" y="6445250"/>
            <a:ext cx="6265565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来源：SkillPay 官方博客、FAQ、上架页、2026-09-29 更新日志和官方消费侧支付规则。此处聚焦 Skill 商品平台。 详细来源、代码版本与证据边界见备注及伴生研究文档。</a:t>
            </a:r>
            <a:endParaRPr/>
          </a:p>
        </p:txBody>
      </p:sp>
      <p:pic>
        <p:nvPicPr>
          <p:cNvPr id="76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云端保护与执行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2327176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63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支付宝 SkillPay 与 MachinePay 原理研究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2/4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908900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订阅原文留云端，云端给任务指导，本地 Agent 继续执行</a:t>
            </a:r>
            <a:endParaRPr/>
          </a:p>
        </p:txBody>
      </p:sp>
      <p:pic>
        <p:nvPicPr>
          <p:cNvPr id="8" name="slide-00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299641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59160"/>
            <a:ext cx="4853087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云端保护控制知识披露；用户的 Agent 仍负责校验、脚本执行和最终输出。</a:t>
            </a:r>
            <a:endParaRPr/>
          </a:p>
        </p:txBody>
      </p:sp>
      <p:sp>
        <p:nvSpPr>
          <p:cNvPr id="10" name="形状 10"/>
          <p:cNvSpPr/>
          <p:nvPr/>
        </p:nvSpPr>
        <p:spPr>
          <a:xfrm>
            <a:off x="457200" y="1384201"/>
            <a:ext cx="7112000" cy="4216400"/>
          </a:xfrm>
          <a:prstGeom prst="roundRect">
            <a:avLst>
              <a:gd name="adj" fmla="val 2108"/>
            </a:avLst>
          </a:prstGeom>
          <a:noFill/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pic>
        <p:nvPicPr>
          <p:cNvPr id="11" name="slide-00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450" y="1669951"/>
            <a:ext cx="12700" cy="3778250"/>
          </a:xfrm>
          <a:prstGeom prst="rect">
            <a:avLst/>
          </a:prstGeom>
        </p:spPr>
      </p:pic>
      <p:sp>
        <p:nvSpPr>
          <p:cNvPr id="12" name="文字 12"/>
          <p:cNvSpPr txBox="1"/>
          <p:nvPr/>
        </p:nvSpPr>
        <p:spPr>
          <a:xfrm>
            <a:off x="1735931" y="1498501"/>
            <a:ext cx="884138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本地 Agent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5090418" y="1498501"/>
            <a:ext cx="1414264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云端保护</a:t>
            </a:r>
            <a:endParaRPr/>
          </a:p>
        </p:txBody>
      </p:sp>
      <p:sp>
        <p:nvSpPr>
          <p:cNvPr id="14" name="形状 14"/>
          <p:cNvSpPr/>
          <p:nvPr/>
        </p:nvSpPr>
        <p:spPr>
          <a:xfrm>
            <a:off x="679450" y="1847751"/>
            <a:ext cx="2889250" cy="730250"/>
          </a:xfrm>
          <a:prstGeom prst="roundRect">
            <a:avLst>
              <a:gd name="adj" fmla="val 1217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15" name="文字 15"/>
          <p:cNvSpPr txBox="1"/>
          <p:nvPr/>
        </p:nvSpPr>
        <p:spPr>
          <a:xfrm>
            <a:off x="1405235" y="1962051"/>
            <a:ext cx="145028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用户任务 + 影子 Skill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1123950" y="2210891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本地入口、公开资源与必要上下文</a:t>
            </a:r>
            <a:endParaRPr/>
          </a:p>
        </p:txBody>
      </p:sp>
      <p:pic>
        <p:nvPicPr>
          <p:cNvPr id="17" name="slide-00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900" y="2578001"/>
            <a:ext cx="12700" cy="304800"/>
          </a:xfrm>
          <a:prstGeom prst="rect">
            <a:avLst/>
          </a:prstGeom>
        </p:spPr>
      </p:pic>
      <p:sp>
        <p:nvSpPr>
          <p:cNvPr id="18" name="文字 18"/>
          <p:cNvSpPr txBox="1"/>
          <p:nvPr/>
        </p:nvSpPr>
        <p:spPr>
          <a:xfrm>
            <a:off x="2063750" y="2800251"/>
            <a:ext cx="139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▼</a:t>
            </a:r>
            <a:endParaRPr/>
          </a:p>
        </p:txBody>
      </p:sp>
      <p:pic>
        <p:nvPicPr>
          <p:cNvPr id="19" name="slide-00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0900" y="2882801"/>
            <a:ext cx="2559050" cy="12700"/>
          </a:xfrm>
          <a:prstGeom prst="rect">
            <a:avLst/>
          </a:prstGeom>
        </p:spPr>
      </p:pic>
      <p:sp>
        <p:nvSpPr>
          <p:cNvPr id="20" name="文字 20"/>
          <p:cNvSpPr txBox="1"/>
          <p:nvPr/>
        </p:nvSpPr>
        <p:spPr>
          <a:xfrm>
            <a:off x="4629150" y="28002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21" name="形状 21"/>
          <p:cNvSpPr/>
          <p:nvPr/>
        </p:nvSpPr>
        <p:spPr>
          <a:xfrm>
            <a:off x="2184400" y="2666901"/>
            <a:ext cx="243205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22" name="文字 22"/>
          <p:cNvSpPr txBox="1"/>
          <p:nvPr/>
        </p:nvSpPr>
        <p:spPr>
          <a:xfrm>
            <a:off x="2675235" y="2679601"/>
            <a:ext cx="146298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当前任务请求 + 有效上下文</a:t>
            </a:r>
            <a:endParaRPr/>
          </a:p>
        </p:txBody>
      </p:sp>
      <p:sp>
        <p:nvSpPr>
          <p:cNvPr id="23" name="形状 23"/>
          <p:cNvSpPr/>
          <p:nvPr/>
        </p:nvSpPr>
        <p:spPr>
          <a:xfrm>
            <a:off x="4679950" y="2565301"/>
            <a:ext cx="2667000" cy="647700"/>
          </a:xfrm>
          <a:prstGeom prst="roundRect">
            <a:avLst>
              <a:gd name="adj" fmla="val 1372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24" name="文字 24"/>
          <p:cNvSpPr txBox="1"/>
          <p:nvPr/>
        </p:nvSpPr>
        <p:spPr>
          <a:xfrm>
            <a:off x="5480050" y="2679601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权益与请求判断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5280025" y="2928441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有效期、试用及能力边界</a:t>
            </a:r>
            <a:endParaRPr/>
          </a:p>
        </p:txBody>
      </p:sp>
      <p:pic>
        <p:nvPicPr>
          <p:cNvPr id="26" name="slide-002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450" y="3213001"/>
            <a:ext cx="12700" cy="273050"/>
          </a:xfrm>
          <a:prstGeom prst="rect">
            <a:avLst/>
          </a:prstGeom>
        </p:spPr>
      </p:pic>
      <p:sp>
        <p:nvSpPr>
          <p:cNvPr id="27" name="文字 27"/>
          <p:cNvSpPr txBox="1"/>
          <p:nvPr/>
        </p:nvSpPr>
        <p:spPr>
          <a:xfrm>
            <a:off x="5956300" y="3403501"/>
            <a:ext cx="139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▼</a:t>
            </a:r>
            <a:endParaRPr/>
          </a:p>
        </p:txBody>
      </p:sp>
      <p:sp>
        <p:nvSpPr>
          <p:cNvPr id="28" name="形状 28"/>
          <p:cNvSpPr/>
          <p:nvPr/>
        </p:nvSpPr>
        <p:spPr>
          <a:xfrm>
            <a:off x="4679950" y="3486051"/>
            <a:ext cx="2667000" cy="787400"/>
          </a:xfrm>
          <a:prstGeom prst="roundRect">
            <a:avLst>
              <a:gd name="adj" fmla="val 1129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29" name="文字 29"/>
          <p:cNvSpPr txBox="1"/>
          <p:nvPr/>
        </p:nvSpPr>
        <p:spPr>
          <a:xfrm>
            <a:off x="5403850" y="3600351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完整原文隔离保存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5080000" y="3849192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根据当前任务生成有限执行文本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5280025" y="4035822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拒绝套取，裁剪无关知识</a:t>
            </a:r>
            <a:endParaRPr/>
          </a:p>
        </p:txBody>
      </p:sp>
      <p:pic>
        <p:nvPicPr>
          <p:cNvPr id="32" name="slide-002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8700" y="3898801"/>
            <a:ext cx="1111250" cy="12700"/>
          </a:xfrm>
          <a:prstGeom prst="rect">
            <a:avLst/>
          </a:prstGeom>
        </p:spPr>
      </p:pic>
      <p:sp>
        <p:nvSpPr>
          <p:cNvPr id="33" name="文字 33"/>
          <p:cNvSpPr txBox="1"/>
          <p:nvPr/>
        </p:nvSpPr>
        <p:spPr>
          <a:xfrm>
            <a:off x="3517900" y="38162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34" name="形状 34"/>
          <p:cNvSpPr/>
          <p:nvPr/>
        </p:nvSpPr>
        <p:spPr>
          <a:xfrm>
            <a:off x="3632200" y="3682901"/>
            <a:ext cx="98425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5" name="文字 35"/>
          <p:cNvSpPr txBox="1"/>
          <p:nvPr/>
        </p:nvSpPr>
        <p:spPr>
          <a:xfrm>
            <a:off x="3762375" y="3695601"/>
            <a:ext cx="7366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任务专用指导</a:t>
            </a:r>
            <a:endParaRPr/>
          </a:p>
        </p:txBody>
      </p:sp>
      <p:sp>
        <p:nvSpPr>
          <p:cNvPr id="36" name="形状 36"/>
          <p:cNvSpPr/>
          <p:nvPr/>
        </p:nvSpPr>
        <p:spPr>
          <a:xfrm>
            <a:off x="679450" y="3536851"/>
            <a:ext cx="2889250" cy="730250"/>
          </a:xfrm>
          <a:prstGeom prst="roundRect">
            <a:avLst>
              <a:gd name="adj" fmla="val 1217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37" name="文字 37"/>
          <p:cNvSpPr txBox="1"/>
          <p:nvPr/>
        </p:nvSpPr>
        <p:spPr>
          <a:xfrm>
            <a:off x="1438275" y="3651151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本地校验指导与输入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1123950" y="3899992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信息不足先追问，信息充分再执行</a:t>
            </a:r>
            <a:endParaRPr/>
          </a:p>
        </p:txBody>
      </p:sp>
      <p:pic>
        <p:nvPicPr>
          <p:cNvPr id="39" name="slide-002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4267101"/>
            <a:ext cx="12700" cy="323850"/>
          </a:xfrm>
          <a:prstGeom prst="rect">
            <a:avLst/>
          </a:prstGeom>
        </p:spPr>
      </p:pic>
      <p:sp>
        <p:nvSpPr>
          <p:cNvPr id="40" name="文字 40"/>
          <p:cNvSpPr txBox="1"/>
          <p:nvPr/>
        </p:nvSpPr>
        <p:spPr>
          <a:xfrm>
            <a:off x="2063750" y="4508401"/>
            <a:ext cx="139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▼</a:t>
            </a:r>
            <a:endParaRPr/>
          </a:p>
        </p:txBody>
      </p:sp>
      <p:sp>
        <p:nvSpPr>
          <p:cNvPr id="41" name="形状 41"/>
          <p:cNvSpPr/>
          <p:nvPr/>
        </p:nvSpPr>
        <p:spPr>
          <a:xfrm>
            <a:off x="679450" y="4590951"/>
            <a:ext cx="2889250" cy="7112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2" name="文字 42"/>
          <p:cNvSpPr txBox="1"/>
          <p:nvPr/>
        </p:nvSpPr>
        <p:spPr>
          <a:xfrm>
            <a:off x="1285875" y="4705251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运行工具并形成最终结果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990600" y="4954092"/>
            <a:ext cx="22796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脚本、数据处理、文件产物由本地完成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5454650" y="4533801"/>
            <a:ext cx="1123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云端不运行脚本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5375275" y="4756051"/>
            <a:ext cx="1282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也不计算最终答案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419600" y="5086251"/>
            <a:ext cx="2946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云端输出的是执行方法，本地仍承担工具权限和产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5619750" y="5272881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物检查。</a:t>
            </a:r>
            <a:endParaRPr/>
          </a:p>
        </p:txBody>
      </p:sp>
      <p:pic>
        <p:nvPicPr>
          <p:cNvPr id="48" name="slide-002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7800" y="1384201"/>
            <a:ext cx="3937001" cy="4216400"/>
          </a:xfrm>
          <a:prstGeom prst="rect">
            <a:avLst/>
          </a:prstGeom>
        </p:spPr>
      </p:pic>
      <p:sp>
        <p:nvSpPr>
          <p:cNvPr id="49" name="文字 49"/>
          <p:cNvSpPr txBox="1"/>
          <p:nvPr/>
        </p:nvSpPr>
        <p:spPr>
          <a:xfrm>
            <a:off x="7981950" y="1396901"/>
            <a:ext cx="175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正常任务：返回必要指导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7981950" y="1668363"/>
            <a:ext cx="367168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围绕当前问题，只披露完成任务所需的方法，不把完整 Skill 作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7981950" y="1865709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为回答。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7981950" y="2202755"/>
            <a:ext cx="191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套取全文：拒绝并回到任务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7981950" y="2474218"/>
            <a:ext cx="37465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角色扮演、覆盖指令、编码或多轮拼接等请求，属于持续防护与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7981950" y="2671564"/>
            <a:ext cx="9461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回归评测范围。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7981950" y="3008610"/>
            <a:ext cx="2235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边界请求：帮助与最小披露并行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7981950" y="3280073"/>
            <a:ext cx="37465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有限执行文本仍能被观察。保护目标是提高整份原文复制成本，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7981950" y="3477419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不能据此声称不可破解。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7981950" y="3814465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原文保护与数据传输分别判断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7981950" y="4085927"/>
            <a:ext cx="36131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云端会接收任务和有效上下文。具体资料传输依实现，不能从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981950" y="4283274"/>
            <a:ext cx="26797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“原文不落地”推出“用户资料绝不出云”。</a:t>
            </a:r>
            <a:endParaRPr/>
          </a:p>
        </p:txBody>
      </p:sp>
      <p:pic>
        <p:nvPicPr>
          <p:cNvPr id="61" name="slide-002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588595"/>
            <a:ext cx="11277600" cy="755055"/>
          </a:xfrm>
          <a:prstGeom prst="rect">
            <a:avLst/>
          </a:prstGeom>
        </p:spPr>
      </p:pic>
      <p:sp>
        <p:nvSpPr>
          <p:cNvPr id="62" name="文字 62"/>
          <p:cNvSpPr txBox="1"/>
          <p:nvPr/>
        </p:nvSpPr>
        <p:spPr>
          <a:xfrm>
            <a:off x="457200" y="5696546"/>
            <a:ext cx="175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访问门槛：权益仍需有效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457200" y="5968008"/>
            <a:ext cx="5480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到期、退款、冻结或额度等状态可能影响可用性。订阅不代表不限次数，试用次数不等于完整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457200" y="6165354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任务数。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6207125" y="5696546"/>
            <a:ext cx="2552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执行门槛：拿到指导后还要完成任务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6207125" y="5968008"/>
            <a:ext cx="5480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平台只返回必要指导。本地仍需检查输入、工具权限和产物，拿到指导不等于任务已经完成。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457200" y="6445250"/>
            <a:ext cx="6667996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依据官方云端保护/防御架构图和消费者前端状态重绘；图中的任务与上下文为架构语义，不是已公开的生产 HTTP 字段规范。 详细来源、代码版本与证据边界见备注及伴生研究文档。</a:t>
            </a:r>
            <a:endParaRPr/>
          </a:p>
        </p:txBody>
      </p:sp>
      <p:pic>
        <p:nvPicPr>
          <p:cNvPr id="68" name="slide-002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MachinePay支付协议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2327176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63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支付宝 SkillPay 与 MachinePay 原理研究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3/4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845995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MachinePay 先签报价，付款后带票重试，商户在线验付</a:t>
            </a:r>
            <a:endParaRPr/>
          </a:p>
        </p:txBody>
      </p:sp>
      <p:pic>
        <p:nvPicPr>
          <p:cNvPr id="8" name="slide-003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299641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59160"/>
            <a:ext cx="6302673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接入前注册商户应用与服务：service_id 关联服务 URL、单价及说明；一次调用再生成本地订单。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657027" y="1390551"/>
            <a:ext cx="819547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买家 Agent</a:t>
            </a:r>
            <a:endParaRPr/>
          </a:p>
        </p:txBody>
      </p:sp>
      <p:pic>
        <p:nvPicPr>
          <p:cNvPr id="11" name="slide-003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" y="1657251"/>
            <a:ext cx="12700" cy="3778250"/>
          </a:xfrm>
          <a:prstGeom prst="rect">
            <a:avLst/>
          </a:prstGeom>
        </p:spPr>
      </p:pic>
      <p:sp>
        <p:nvSpPr>
          <p:cNvPr id="12" name="文字 12"/>
          <p:cNvSpPr txBox="1"/>
          <p:nvPr/>
        </p:nvSpPr>
        <p:spPr>
          <a:xfrm>
            <a:off x="3103066" y="1390551"/>
            <a:ext cx="626368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 API</a:t>
            </a:r>
            <a:endParaRPr/>
          </a:p>
        </p:txBody>
      </p:sp>
      <p:pic>
        <p:nvPicPr>
          <p:cNvPr id="13" name="slide-003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657251"/>
            <a:ext cx="12700" cy="3778250"/>
          </a:xfrm>
          <a:prstGeom prst="rect">
            <a:avLst/>
          </a:prstGeom>
        </p:spPr>
      </p:pic>
      <p:sp>
        <p:nvSpPr>
          <p:cNvPr id="14" name="文字 14"/>
          <p:cNvSpPr txBox="1"/>
          <p:nvPr/>
        </p:nvSpPr>
        <p:spPr>
          <a:xfrm>
            <a:off x="5105202" y="1390551"/>
            <a:ext cx="1257598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支付宝 / 支付工具</a:t>
            </a:r>
            <a:endParaRPr/>
          </a:p>
        </p:txBody>
      </p:sp>
      <p:pic>
        <p:nvPicPr>
          <p:cNvPr id="15" name="slide-003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700" y="1657251"/>
            <a:ext cx="12700" cy="3778250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7410450" y="1390551"/>
            <a:ext cx="330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</a:t>
            </a:r>
            <a:endParaRPr/>
          </a:p>
        </p:txBody>
      </p:sp>
      <p:pic>
        <p:nvPicPr>
          <p:cNvPr id="17" name="slide-003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9200" y="1657251"/>
            <a:ext cx="12700" cy="3778250"/>
          </a:xfrm>
          <a:prstGeom prst="rect">
            <a:avLst/>
          </a:prstGeom>
        </p:spPr>
      </p:pic>
      <p:pic>
        <p:nvPicPr>
          <p:cNvPr id="18" name="slide-003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50" y="1911251"/>
            <a:ext cx="2349500" cy="12700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3359150" y="182870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20" name="形状 20"/>
          <p:cNvSpPr/>
          <p:nvPr/>
        </p:nvSpPr>
        <p:spPr>
          <a:xfrm>
            <a:off x="1123950" y="1695351"/>
            <a:ext cx="2222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21" name="文字 21"/>
          <p:cNvSpPr txBox="1"/>
          <p:nvPr/>
        </p:nvSpPr>
        <p:spPr>
          <a:xfrm>
            <a:off x="1776313" y="1708051"/>
            <a:ext cx="93037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① 请求付费资源</a:t>
            </a:r>
            <a:endParaRPr/>
          </a:p>
        </p:txBody>
      </p:sp>
      <p:pic>
        <p:nvPicPr>
          <p:cNvPr id="22" name="slide-003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450" y="2476401"/>
            <a:ext cx="2349500" cy="12700"/>
          </a:xfrm>
          <a:prstGeom prst="rect">
            <a:avLst/>
          </a:prstGeom>
        </p:spPr>
      </p:pic>
      <p:sp>
        <p:nvSpPr>
          <p:cNvPr id="23" name="文字 23"/>
          <p:cNvSpPr txBox="1"/>
          <p:nvPr/>
        </p:nvSpPr>
        <p:spPr>
          <a:xfrm>
            <a:off x="1009650" y="23938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24" name="形状 24"/>
          <p:cNvSpPr/>
          <p:nvPr/>
        </p:nvSpPr>
        <p:spPr>
          <a:xfrm>
            <a:off x="1123950" y="2260501"/>
            <a:ext cx="2222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25" name="文字 25"/>
          <p:cNvSpPr txBox="1"/>
          <p:nvPr/>
        </p:nvSpPr>
        <p:spPr>
          <a:xfrm>
            <a:off x="1459508" y="2273201"/>
            <a:ext cx="156398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② 402 + Payment-Needed</a:t>
            </a:r>
            <a:endParaRPr/>
          </a:p>
        </p:txBody>
      </p:sp>
      <p:pic>
        <p:nvPicPr>
          <p:cNvPr id="26" name="slide-003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450" y="2774851"/>
            <a:ext cx="4667250" cy="12700"/>
          </a:xfrm>
          <a:prstGeom prst="rect">
            <a:avLst/>
          </a:prstGeom>
        </p:spPr>
      </p:pic>
      <p:sp>
        <p:nvSpPr>
          <p:cNvPr id="27" name="文字 27"/>
          <p:cNvSpPr txBox="1"/>
          <p:nvPr/>
        </p:nvSpPr>
        <p:spPr>
          <a:xfrm>
            <a:off x="5676900" y="269230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28" name="形状 28"/>
          <p:cNvSpPr/>
          <p:nvPr/>
        </p:nvSpPr>
        <p:spPr>
          <a:xfrm>
            <a:off x="1123950" y="2558951"/>
            <a:ext cx="454025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29" name="文字 29"/>
          <p:cNvSpPr txBox="1"/>
          <p:nvPr/>
        </p:nvSpPr>
        <p:spPr>
          <a:xfrm>
            <a:off x="2490688" y="2571651"/>
            <a:ext cx="181937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③ 提交付款要求和原任务上下文</a:t>
            </a:r>
            <a:endParaRPr/>
          </a:p>
        </p:txBody>
      </p:sp>
      <p:pic>
        <p:nvPicPr>
          <p:cNvPr id="30" name="slide-003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7700" y="3073301"/>
            <a:ext cx="1841500" cy="12700"/>
          </a:xfrm>
          <a:prstGeom prst="rect">
            <a:avLst/>
          </a:prstGeom>
        </p:spPr>
      </p:pic>
      <p:sp>
        <p:nvSpPr>
          <p:cNvPr id="31" name="文字 31"/>
          <p:cNvSpPr txBox="1"/>
          <p:nvPr/>
        </p:nvSpPr>
        <p:spPr>
          <a:xfrm>
            <a:off x="7518400" y="29907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32" name="形状 32"/>
          <p:cNvSpPr/>
          <p:nvPr/>
        </p:nvSpPr>
        <p:spPr>
          <a:xfrm>
            <a:off x="5791200" y="2857401"/>
            <a:ext cx="1714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3" name="文字 33"/>
          <p:cNvSpPr txBox="1"/>
          <p:nvPr/>
        </p:nvSpPr>
        <p:spPr>
          <a:xfrm>
            <a:off x="6203950" y="2870101"/>
            <a:ext cx="901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展示商户与金额</a:t>
            </a:r>
            <a:endParaRPr/>
          </a:p>
        </p:txBody>
      </p:sp>
      <p:pic>
        <p:nvPicPr>
          <p:cNvPr id="34" name="slide-003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7700" y="3371751"/>
            <a:ext cx="1841500" cy="12700"/>
          </a:xfrm>
          <a:prstGeom prst="rect">
            <a:avLst/>
          </a:prstGeom>
        </p:spPr>
      </p:pic>
      <p:sp>
        <p:nvSpPr>
          <p:cNvPr id="35" name="文字 35"/>
          <p:cNvSpPr txBox="1"/>
          <p:nvPr/>
        </p:nvSpPr>
        <p:spPr>
          <a:xfrm>
            <a:off x="5676900" y="328920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36" name="形状 36"/>
          <p:cNvSpPr/>
          <p:nvPr/>
        </p:nvSpPr>
        <p:spPr>
          <a:xfrm>
            <a:off x="5791200" y="3155851"/>
            <a:ext cx="1714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7" name="文字 37"/>
          <p:cNvSpPr txBox="1"/>
          <p:nvPr/>
        </p:nvSpPr>
        <p:spPr>
          <a:xfrm>
            <a:off x="6316563" y="3168551"/>
            <a:ext cx="67637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④ 确认支付</a:t>
            </a:r>
            <a:endParaRPr/>
          </a:p>
        </p:txBody>
      </p:sp>
      <p:pic>
        <p:nvPicPr>
          <p:cNvPr id="38" name="slide-003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0450" y="3670201"/>
            <a:ext cx="4667250" cy="12700"/>
          </a:xfrm>
          <a:prstGeom prst="rect">
            <a:avLst/>
          </a:prstGeom>
        </p:spPr>
      </p:pic>
      <p:sp>
        <p:nvSpPr>
          <p:cNvPr id="39" name="文字 39"/>
          <p:cNvSpPr txBox="1"/>
          <p:nvPr/>
        </p:nvSpPr>
        <p:spPr>
          <a:xfrm>
            <a:off x="1009650" y="35876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40" name="形状 40"/>
          <p:cNvSpPr/>
          <p:nvPr/>
        </p:nvSpPr>
        <p:spPr>
          <a:xfrm>
            <a:off x="1123950" y="3454301"/>
            <a:ext cx="454025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1" name="文字 41"/>
          <p:cNvSpPr txBox="1"/>
          <p:nvPr/>
        </p:nvSpPr>
        <p:spPr>
          <a:xfrm>
            <a:off x="1806079" y="3467001"/>
            <a:ext cx="3188692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取得 trade_no + payment_proof（及 client_session）</a:t>
            </a:r>
            <a:endParaRPr/>
          </a:p>
        </p:txBody>
      </p:sp>
      <p:pic>
        <p:nvPicPr>
          <p:cNvPr id="42" name="slide-003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0450" y="3968651"/>
            <a:ext cx="2349500" cy="12700"/>
          </a:xfrm>
          <a:prstGeom prst="rect">
            <a:avLst/>
          </a:prstGeom>
        </p:spPr>
      </p:pic>
      <p:sp>
        <p:nvSpPr>
          <p:cNvPr id="43" name="文字 43"/>
          <p:cNvSpPr txBox="1"/>
          <p:nvPr/>
        </p:nvSpPr>
        <p:spPr>
          <a:xfrm>
            <a:off x="3359150" y="388610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44" name="形状 44"/>
          <p:cNvSpPr/>
          <p:nvPr/>
        </p:nvSpPr>
        <p:spPr>
          <a:xfrm>
            <a:off x="1123950" y="3752751"/>
            <a:ext cx="2222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5" name="文字 45"/>
          <p:cNvSpPr txBox="1"/>
          <p:nvPr/>
        </p:nvSpPr>
        <p:spPr>
          <a:xfrm>
            <a:off x="1446411" y="3765451"/>
            <a:ext cx="159017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⑤ 原请求 + Payment-Proof</a:t>
            </a:r>
            <a:endParaRPr/>
          </a:p>
        </p:txBody>
      </p:sp>
      <p:pic>
        <p:nvPicPr>
          <p:cNvPr id="46" name="slide-003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9950" y="4267101"/>
            <a:ext cx="2317750" cy="12700"/>
          </a:xfrm>
          <a:prstGeom prst="rect">
            <a:avLst/>
          </a:prstGeom>
        </p:spPr>
      </p:pic>
      <p:sp>
        <p:nvSpPr>
          <p:cNvPr id="47" name="文字 47"/>
          <p:cNvSpPr txBox="1"/>
          <p:nvPr/>
        </p:nvSpPr>
        <p:spPr>
          <a:xfrm>
            <a:off x="5676900" y="41845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48" name="形状 48"/>
          <p:cNvSpPr/>
          <p:nvPr/>
        </p:nvSpPr>
        <p:spPr>
          <a:xfrm>
            <a:off x="3473450" y="4051201"/>
            <a:ext cx="219075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9" name="文字 49"/>
          <p:cNvSpPr txBox="1"/>
          <p:nvPr/>
        </p:nvSpPr>
        <p:spPr>
          <a:xfrm>
            <a:off x="4034433" y="4063901"/>
            <a:ext cx="108138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⑥ payment.verify</a:t>
            </a:r>
            <a:endParaRPr/>
          </a:p>
        </p:txBody>
      </p:sp>
      <p:pic>
        <p:nvPicPr>
          <p:cNvPr id="50" name="slide-003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09950" y="4565551"/>
            <a:ext cx="2317750" cy="12700"/>
          </a:xfrm>
          <a:prstGeom prst="rect">
            <a:avLst/>
          </a:prstGeom>
        </p:spPr>
      </p:pic>
      <p:sp>
        <p:nvSpPr>
          <p:cNvPr id="51" name="文字 51"/>
          <p:cNvSpPr txBox="1"/>
          <p:nvPr/>
        </p:nvSpPr>
        <p:spPr>
          <a:xfrm>
            <a:off x="3359150" y="448300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52" name="形状 52"/>
          <p:cNvSpPr/>
          <p:nvPr/>
        </p:nvSpPr>
        <p:spPr>
          <a:xfrm>
            <a:off x="3473450" y="4349651"/>
            <a:ext cx="219075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3" name="文字 53"/>
          <p:cNvSpPr txBox="1"/>
          <p:nvPr/>
        </p:nvSpPr>
        <p:spPr>
          <a:xfrm>
            <a:off x="3811687" y="4362351"/>
            <a:ext cx="1526878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active + 金额 + 订单 + 资源</a:t>
            </a:r>
            <a:endParaRPr/>
          </a:p>
        </p:txBody>
      </p:sp>
      <p:pic>
        <p:nvPicPr>
          <p:cNvPr id="54" name="slide-003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0450" y="5162451"/>
            <a:ext cx="2349500" cy="12700"/>
          </a:xfrm>
          <a:prstGeom prst="rect">
            <a:avLst/>
          </a:prstGeom>
        </p:spPr>
      </p:pic>
      <p:sp>
        <p:nvSpPr>
          <p:cNvPr id="55" name="文字 55"/>
          <p:cNvSpPr txBox="1"/>
          <p:nvPr/>
        </p:nvSpPr>
        <p:spPr>
          <a:xfrm>
            <a:off x="1009650" y="507990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56" name="形状 56"/>
          <p:cNvSpPr/>
          <p:nvPr/>
        </p:nvSpPr>
        <p:spPr>
          <a:xfrm>
            <a:off x="1123950" y="4946551"/>
            <a:ext cx="2222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7" name="文字 57"/>
          <p:cNvSpPr txBox="1"/>
          <p:nvPr/>
        </p:nvSpPr>
        <p:spPr>
          <a:xfrm>
            <a:off x="1903313" y="4959251"/>
            <a:ext cx="67637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⑦ 交付结果</a:t>
            </a:r>
            <a:endParaRPr/>
          </a:p>
        </p:txBody>
      </p:sp>
      <p:pic>
        <p:nvPicPr>
          <p:cNvPr id="58" name="slide-003-image-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09950" y="5460901"/>
            <a:ext cx="2317750" cy="12700"/>
          </a:xfrm>
          <a:prstGeom prst="rect">
            <a:avLst/>
          </a:prstGeom>
        </p:spPr>
      </p:pic>
      <p:sp>
        <p:nvSpPr>
          <p:cNvPr id="59" name="文字 59"/>
          <p:cNvSpPr txBox="1"/>
          <p:nvPr/>
        </p:nvSpPr>
        <p:spPr>
          <a:xfrm>
            <a:off x="5676900" y="53783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60" name="形状 60"/>
          <p:cNvSpPr/>
          <p:nvPr/>
        </p:nvSpPr>
        <p:spPr>
          <a:xfrm>
            <a:off x="3473450" y="5245001"/>
            <a:ext cx="219075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61" name="文字 61"/>
          <p:cNvSpPr txBox="1"/>
          <p:nvPr/>
        </p:nvSpPr>
        <p:spPr>
          <a:xfrm>
            <a:off x="3538041" y="5257701"/>
            <a:ext cx="207426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⑧ fulfillment.confirm（履约回执）</a:t>
            </a:r>
            <a:endParaRPr/>
          </a:p>
        </p:txBody>
      </p:sp>
      <p:sp>
        <p:nvSpPr>
          <p:cNvPr id="62" name="形状 62"/>
          <p:cNvSpPr/>
          <p:nvPr/>
        </p:nvSpPr>
        <p:spPr>
          <a:xfrm>
            <a:off x="2489200" y="2082701"/>
            <a:ext cx="19050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63" name="文字 63"/>
          <p:cNvSpPr txBox="1"/>
          <p:nvPr/>
        </p:nvSpPr>
        <p:spPr>
          <a:xfrm>
            <a:off x="2730798" y="2095401"/>
            <a:ext cx="143450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本地建单，RSA2 签报价</a:t>
            </a:r>
            <a:endParaRPr/>
          </a:p>
        </p:txBody>
      </p:sp>
      <p:sp>
        <p:nvSpPr>
          <p:cNvPr id="64" name="形状 64"/>
          <p:cNvSpPr/>
          <p:nvPr/>
        </p:nvSpPr>
        <p:spPr>
          <a:xfrm>
            <a:off x="2235200" y="4730651"/>
            <a:ext cx="24765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65" name="文字 65"/>
          <p:cNvSpPr txBox="1"/>
          <p:nvPr/>
        </p:nvSpPr>
        <p:spPr>
          <a:xfrm>
            <a:off x="2606675" y="4743351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商户对本地账并锁定唯一履约</a:t>
            </a:r>
            <a:endParaRPr/>
          </a:p>
        </p:txBody>
      </p:sp>
      <p:pic>
        <p:nvPicPr>
          <p:cNvPr id="66" name="slide-003-image-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21700" y="1371501"/>
            <a:ext cx="3213100" cy="4607421"/>
          </a:xfrm>
          <a:prstGeom prst="rect">
            <a:avLst/>
          </a:prstGeom>
        </p:spPr>
      </p:pic>
      <p:sp>
        <p:nvSpPr>
          <p:cNvPr id="67" name="文字 67"/>
          <p:cNvSpPr txBox="1"/>
          <p:nvPr/>
        </p:nvSpPr>
        <p:spPr>
          <a:xfrm>
            <a:off x="8693151" y="1384201"/>
            <a:ext cx="2790626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Payment-Needed：付款前的签名报价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8693151" y="1655663"/>
            <a:ext cx="264070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金额 / 币种、out_trade_no、resource_id、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8693151" y="1853010"/>
            <a:ext cx="230633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pay_before、卖家与 service_id，连同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8693151" y="2050355"/>
            <a:ext cx="170467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seller_signature 一起封装。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8693151" y="2311202"/>
            <a:ext cx="292288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商户本地用应用私钥做 RSA2 签名，生成报价无需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8693151" y="2504480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先调用支付宝扣款。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8693151" y="2843808"/>
            <a:ext cx="2619176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Payment-Proof：付款后的验付材料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8693151" y="3115270"/>
            <a:ext cx="304085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包含 trade_no、payment_proof，以及通道需要时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8693151" y="3312616"/>
            <a:ext cx="265856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的 client_session。商户将它们交支付宝在线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8693151" y="3509963"/>
            <a:ext cx="48974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verify。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8693151" y="3853359"/>
            <a:ext cx="2832397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Base64URL 负责封装，真实性另行校验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8693151" y="4124821"/>
            <a:ext cx="29463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解码可读不代表可信。报价签名、支付宝验付和商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8693151" y="4322167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户业务核对各自承担不同验证。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8693151" y="4665564"/>
            <a:ext cx="191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图示采用用户确认支付路径</a:t>
            </a:r>
            <a:endParaRPr/>
          </a:p>
        </p:txBody>
      </p:sp>
      <p:sp>
        <p:nvSpPr>
          <p:cNvPr id="81" name="文字 81"/>
          <p:cNvSpPr txBox="1"/>
          <p:nvPr/>
        </p:nvSpPr>
        <p:spPr>
          <a:xfrm>
            <a:off x="8693151" y="4937026"/>
            <a:ext cx="29463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钱包已开通不等于任意消费均已授权。自动付款须</a:t>
            </a:r>
            <a:endParaRPr/>
          </a:p>
        </p:txBody>
      </p:sp>
      <p:sp>
        <p:nvSpPr>
          <p:cNvPr id="82" name="文字 82"/>
          <p:cNvSpPr txBox="1"/>
          <p:nvPr/>
        </p:nvSpPr>
        <p:spPr>
          <a:xfrm>
            <a:off x="8693151" y="5134372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符合另行授予的范围和风控条件。</a:t>
            </a:r>
            <a:endParaRPr/>
          </a:p>
        </p:txBody>
      </p:sp>
      <p:pic>
        <p:nvPicPr>
          <p:cNvPr id="83" name="slide-003-image-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6055122"/>
            <a:ext cx="11277600" cy="288528"/>
          </a:xfrm>
          <a:prstGeom prst="rect">
            <a:avLst/>
          </a:prstGeom>
        </p:spPr>
      </p:pic>
      <p:sp>
        <p:nvSpPr>
          <p:cNvPr id="84" name="文字 84"/>
          <p:cNvSpPr txBox="1"/>
          <p:nvPr/>
        </p:nvSpPr>
        <p:spPr>
          <a:xfrm>
            <a:off x="457200" y="6169422"/>
            <a:ext cx="818614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人民币接入指南使用 payment.verify 与 fulfillment.confirm。产品页的通用 /verify、/settle、交易哈希图，不能直接当成这套人民币 API。</a:t>
            </a:r>
            <a:endParaRPr/>
          </a:p>
        </p:txBody>
      </p:sp>
      <p:sp>
        <p:nvSpPr>
          <p:cNvPr id="85" name="文字 85"/>
          <p:cNvSpPr txBox="1"/>
          <p:nvPr/>
        </p:nvSpPr>
        <p:spPr>
          <a:xfrm>
            <a:off x="457200" y="6445250"/>
            <a:ext cx="6717705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主图按在线指南的交付后回执路径；官方代码模板也有先确认后返回结果的顺序，具体差异见备注。确认接口不是第二次扣款。 详细来源、代码版本与证据边界见备注及伴生研究文档。</a:t>
            </a:r>
            <a:endParaRPr/>
          </a:p>
        </p:txBody>
      </p:sp>
      <p:pic>
        <p:nvPicPr>
          <p:cNvPr id="86" name="slide-003-image-1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98678" y="668824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验付与恢复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2327176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63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支付宝 SkillPay 与 MachinePay 原理研究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4/4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584256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支付宝验证支付事实，商户核对业务账并恢复唯一履约</a:t>
            </a:r>
            <a:endParaRPr/>
          </a:p>
        </p:txBody>
      </p:sp>
      <p:pic>
        <p:nvPicPr>
          <p:cNvPr id="8" name="slide-004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305991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65510"/>
            <a:ext cx="6292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验付接口返回成功后，还要匹配金额、订单、资源和交易号，保留并发控制与可恢复的结果状态。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390551"/>
            <a:ext cx="2159000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同一交易，需要对齐两边记录</a:t>
            </a:r>
            <a:endParaRPr/>
          </a:p>
        </p:txBody>
      </p:sp>
      <p:sp>
        <p:nvSpPr>
          <p:cNvPr id="11" name="形状 11"/>
          <p:cNvSpPr/>
          <p:nvPr/>
        </p:nvSpPr>
        <p:spPr>
          <a:xfrm>
            <a:off x="457200" y="1746151"/>
            <a:ext cx="2825750" cy="1047750"/>
          </a:xfrm>
          <a:prstGeom prst="roundRect">
            <a:avLst>
              <a:gd name="adj" fmla="val 848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12" name="文字 12"/>
          <p:cNvSpPr txBox="1"/>
          <p:nvPr/>
        </p:nvSpPr>
        <p:spPr>
          <a:xfrm>
            <a:off x="1336675" y="1860451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支付宝交易事实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1037431" y="2109292"/>
            <a:ext cx="167788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trade_no + payment_proof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884634" y="2295922"/>
            <a:ext cx="19834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active、金额、订单与资源返回值</a:t>
            </a:r>
            <a:endParaRPr/>
          </a:p>
        </p:txBody>
      </p:sp>
      <p:pic>
        <p:nvPicPr>
          <p:cNvPr id="15" name="slide-004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950" y="2266851"/>
            <a:ext cx="1270000" cy="12700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4502150" y="218430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17" name="形状 17"/>
          <p:cNvSpPr/>
          <p:nvPr/>
        </p:nvSpPr>
        <p:spPr>
          <a:xfrm>
            <a:off x="3346450" y="2050951"/>
            <a:ext cx="114300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18" name="文字 18"/>
          <p:cNvSpPr txBox="1"/>
          <p:nvPr/>
        </p:nvSpPr>
        <p:spPr>
          <a:xfrm>
            <a:off x="3561259" y="2063651"/>
            <a:ext cx="725984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verify 后核对</a:t>
            </a:r>
            <a:endParaRPr/>
          </a:p>
        </p:txBody>
      </p:sp>
      <p:sp>
        <p:nvSpPr>
          <p:cNvPr id="19" name="形状 19"/>
          <p:cNvSpPr/>
          <p:nvPr/>
        </p:nvSpPr>
        <p:spPr>
          <a:xfrm>
            <a:off x="4552950" y="1746151"/>
            <a:ext cx="2825750" cy="1047750"/>
          </a:xfrm>
          <a:prstGeom prst="roundRect">
            <a:avLst>
              <a:gd name="adj" fmla="val 848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20" name="文字 20"/>
          <p:cNvSpPr txBox="1"/>
          <p:nvPr/>
        </p:nvSpPr>
        <p:spPr>
          <a:xfrm>
            <a:off x="5508625" y="1860451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商户业务订单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5107682" y="2109292"/>
            <a:ext cx="172898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out_trade_no + resource_id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965700" y="2295922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价格、请求摘要、结果与履约状态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457200" y="2959001"/>
            <a:ext cx="527784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核对当前订单买的是什么，再决定是否执行。active=true 不能代替业务关联和并发控制。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457200" y="3181251"/>
            <a:ext cx="2324100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生成结果与履约回执分开持久化</a:t>
            </a:r>
            <a:endParaRPr/>
          </a:p>
        </p:txBody>
      </p:sp>
      <p:sp>
        <p:nvSpPr>
          <p:cNvPr id="25" name="形状 25"/>
          <p:cNvSpPr/>
          <p:nvPr/>
        </p:nvSpPr>
        <p:spPr>
          <a:xfrm>
            <a:off x="457200" y="3568601"/>
            <a:ext cx="1428750" cy="704850"/>
          </a:xfrm>
          <a:prstGeom prst="roundRect">
            <a:avLst>
              <a:gd name="adj" fmla="val 1261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26" name="文字 26"/>
          <p:cNvSpPr txBox="1"/>
          <p:nvPr/>
        </p:nvSpPr>
        <p:spPr>
          <a:xfrm>
            <a:off x="942975" y="3682901"/>
            <a:ext cx="469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待支付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571500" y="3931741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本地订单与签名报价</a:t>
            </a:r>
            <a:endParaRPr/>
          </a:p>
        </p:txBody>
      </p:sp>
      <p:pic>
        <p:nvPicPr>
          <p:cNvPr id="28" name="slide-004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3924201"/>
            <a:ext cx="387350" cy="12700"/>
          </a:xfrm>
          <a:prstGeom prst="rect">
            <a:avLst/>
          </a:prstGeom>
        </p:spPr>
      </p:pic>
      <p:sp>
        <p:nvSpPr>
          <p:cNvPr id="29" name="文字 29"/>
          <p:cNvSpPr txBox="1"/>
          <p:nvPr/>
        </p:nvSpPr>
        <p:spPr>
          <a:xfrm>
            <a:off x="2222500" y="38416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30" name="形状 30"/>
          <p:cNvSpPr/>
          <p:nvPr/>
        </p:nvSpPr>
        <p:spPr>
          <a:xfrm>
            <a:off x="2273300" y="3568601"/>
            <a:ext cx="1428750" cy="704850"/>
          </a:xfrm>
          <a:prstGeom prst="roundRect">
            <a:avLst>
              <a:gd name="adj" fmla="val 1261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31" name="文字 31"/>
          <p:cNvSpPr txBox="1"/>
          <p:nvPr/>
        </p:nvSpPr>
        <p:spPr>
          <a:xfrm>
            <a:off x="2759075" y="3682901"/>
            <a:ext cx="469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已验付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2520950" y="3931741"/>
            <a:ext cx="9461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已匹配本次购买</a:t>
            </a:r>
            <a:endParaRPr/>
          </a:p>
        </p:txBody>
      </p:sp>
      <p:pic>
        <p:nvPicPr>
          <p:cNvPr id="33" name="slide-004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2050" y="3924201"/>
            <a:ext cx="387350" cy="12700"/>
          </a:xfrm>
          <a:prstGeom prst="rect">
            <a:avLst/>
          </a:prstGeom>
        </p:spPr>
      </p:pic>
      <p:sp>
        <p:nvSpPr>
          <p:cNvPr id="34" name="文字 34"/>
          <p:cNvSpPr txBox="1"/>
          <p:nvPr/>
        </p:nvSpPr>
        <p:spPr>
          <a:xfrm>
            <a:off x="4038600" y="38416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35" name="形状 35"/>
          <p:cNvSpPr/>
          <p:nvPr/>
        </p:nvSpPr>
        <p:spPr>
          <a:xfrm>
            <a:off x="4089400" y="3568601"/>
            <a:ext cx="1651000" cy="704850"/>
          </a:xfrm>
          <a:prstGeom prst="roundRect">
            <a:avLst>
              <a:gd name="adj" fmla="val 1261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B5333B">
                <a:alpha val="100000"/>
              </a:srgbClr>
            </a:solidFill>
            <a:prstDash val="solid"/>
          </a:ln>
        </p:spPr>
      </p:sp>
      <p:sp>
        <p:nvSpPr>
          <p:cNvPr id="36" name="文字 36"/>
          <p:cNvSpPr txBox="1"/>
          <p:nvPr/>
        </p:nvSpPr>
        <p:spPr>
          <a:xfrm>
            <a:off x="4238030" y="3682901"/>
            <a:ext cx="1366441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PENDING_CONFIRM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4314825" y="3915271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唯一结果已持久保存</a:t>
            </a:r>
            <a:endParaRPr/>
          </a:p>
        </p:txBody>
      </p:sp>
      <p:pic>
        <p:nvPicPr>
          <p:cNvPr id="38" name="slide-004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3924201"/>
            <a:ext cx="374650" cy="12700"/>
          </a:xfrm>
          <a:prstGeom prst="rect">
            <a:avLst/>
          </a:prstGeom>
        </p:spPr>
      </p:pic>
      <p:sp>
        <p:nvSpPr>
          <p:cNvPr id="39" name="文字 39"/>
          <p:cNvSpPr txBox="1"/>
          <p:nvPr/>
        </p:nvSpPr>
        <p:spPr>
          <a:xfrm>
            <a:off x="6064250" y="38416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40" name="形状 40"/>
          <p:cNvSpPr/>
          <p:nvPr/>
        </p:nvSpPr>
        <p:spPr>
          <a:xfrm>
            <a:off x="6115050" y="3568601"/>
            <a:ext cx="1263650" cy="704850"/>
          </a:xfrm>
          <a:prstGeom prst="roundRect">
            <a:avLst>
              <a:gd name="adj" fmla="val 1261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1" name="文字 41"/>
          <p:cNvSpPr txBox="1"/>
          <p:nvPr/>
        </p:nvSpPr>
        <p:spPr>
          <a:xfrm>
            <a:off x="6375797" y="3682901"/>
            <a:ext cx="754758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FULFILLED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6346825" y="3915271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回执确认完成</a:t>
            </a:r>
            <a:endParaRPr/>
          </a:p>
        </p:txBody>
      </p:sp>
      <p:pic>
        <p:nvPicPr>
          <p:cNvPr id="43" name="slide-004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4273451"/>
            <a:ext cx="12700" cy="381000"/>
          </a:xfrm>
          <a:prstGeom prst="rect">
            <a:avLst/>
          </a:prstGeom>
        </p:spPr>
      </p:pic>
      <p:sp>
        <p:nvSpPr>
          <p:cNvPr id="44" name="文字 44"/>
          <p:cNvSpPr txBox="1"/>
          <p:nvPr/>
        </p:nvSpPr>
        <p:spPr>
          <a:xfrm>
            <a:off x="4857750" y="4571901"/>
            <a:ext cx="139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▼</a:t>
            </a:r>
            <a:endParaRPr/>
          </a:p>
        </p:txBody>
      </p:sp>
      <p:sp>
        <p:nvSpPr>
          <p:cNvPr id="45" name="形状 45"/>
          <p:cNvSpPr/>
          <p:nvPr/>
        </p:nvSpPr>
        <p:spPr>
          <a:xfrm>
            <a:off x="3556000" y="4654451"/>
            <a:ext cx="2717800" cy="66675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6" name="文字 46"/>
          <p:cNvSpPr txBox="1"/>
          <p:nvPr/>
        </p:nvSpPr>
        <p:spPr>
          <a:xfrm>
            <a:off x="4229100" y="4768751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回执失败或状态未知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3914775" y="5017591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恢复同一订单，按错误码核实状态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6273800" y="4679851"/>
            <a:ext cx="9779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确认成功后转入最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6273800" y="4848721"/>
            <a:ext cx="3746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终完成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457200" y="4800501"/>
            <a:ext cx="1387475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重试回执 / 读已有结果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457200" y="4996061"/>
            <a:ext cx="22479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不重新生成，也不直接要求再付一次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457200" y="5397401"/>
            <a:ext cx="383807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这是 alipay/ai 当前模板的本地状态抽象，数据库事务和幂等端口仍需商户实现。</a:t>
            </a:r>
            <a:endParaRPr/>
          </a:p>
        </p:txBody>
      </p:sp>
      <p:pic>
        <p:nvPicPr>
          <p:cNvPr id="53" name="slide-004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300" y="1365151"/>
            <a:ext cx="4127501" cy="4216400"/>
          </a:xfrm>
          <a:prstGeom prst="rect">
            <a:avLst/>
          </a:prstGeom>
        </p:spPr>
      </p:pic>
      <p:sp>
        <p:nvSpPr>
          <p:cNvPr id="54" name="文字 54"/>
          <p:cNvSpPr txBox="1"/>
          <p:nvPr/>
        </p:nvSpPr>
        <p:spPr>
          <a:xfrm>
            <a:off x="7791450" y="1377851"/>
            <a:ext cx="1282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业务请求也要固定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7791450" y="1649313"/>
            <a:ext cx="386209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示例 resource_id 可以只是路径。同一路径接收不同 prompt 或文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7791450" y="1846659"/>
            <a:ext cx="25463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件时，商户还应绑定请求摘要和购买范围。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7791450" y="2183706"/>
            <a:ext cx="1441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网络失败先恢复原单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7791450" y="2455168"/>
            <a:ext cx="3879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回执待确认已有业务结果，应重试确认或取存量结果。支付状态未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7791450" y="2652514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知不应直接创建新订单要求再买。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791450" y="298956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回执确认与资金结算分开理解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7791450" y="3261023"/>
            <a:ext cx="387419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fulfillment.confirm 的含义是“商家履约回执”。公共接口没有公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7791450" y="3458369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开其与资金释放、退款的完整内部条件。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7791450" y="3795415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过期与重试策略需按版本核对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7791450" y="4066878"/>
            <a:ext cx="39138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当前模板和 ACT 映射例的截止检查、回执顺序不同；重复确认也可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7791450" y="4264224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能返回交易状态错误。</a:t>
            </a:r>
            <a:endParaRPr/>
          </a:p>
        </p:txBody>
      </p:sp>
      <p:pic>
        <p:nvPicPr>
          <p:cNvPr id="66" name="slide-004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588595"/>
            <a:ext cx="11277600" cy="755055"/>
          </a:xfrm>
          <a:prstGeom prst="rect">
            <a:avLst/>
          </a:prstGeom>
        </p:spPr>
      </p:pic>
      <p:sp>
        <p:nvSpPr>
          <p:cNvPr id="67" name="文字 67"/>
          <p:cNvSpPr txBox="1"/>
          <p:nvPr/>
        </p:nvSpPr>
        <p:spPr>
          <a:xfrm>
            <a:off x="457200" y="5696546"/>
            <a:ext cx="2544465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SkillPay：经营商品权益和知识交付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457200" y="5968008"/>
            <a:ext cx="5480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决定买断文件、订阅期限、试用、版本和云端原文保护；有效权益下的使用不等于每次重新购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457200" y="6165354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买。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6210300" y="5696546"/>
            <a:ext cx="3334246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MachinePay：让资源请求具备收款与验付协议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6210300" y="5968008"/>
            <a:ext cx="5480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商户签报价，支付宝付款与验付，商户承担业务绑定、幂等和交付。两者复用支付能力，不宜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6210300" y="6165354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推定全部流量走同一内部链路。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457200" y="6445250"/>
            <a:ext cx="7278787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原理图依据公开 API、alipay/ai 固定 commit 模板及 ACT 对接例；非支付宝内部数据库状态。amount、client_session 等文档差异详见备注。 详细来源、代码版本与证据边界见备注及伴生研究文档。</a:t>
            </a:r>
            <a:endParaRPr/>
          </a:p>
        </p:txBody>
      </p:sp>
      <p:pic>
        <p:nvPicPr>
          <p:cNvPr id="74" name="slide-004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