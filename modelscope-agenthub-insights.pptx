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ModelScope AgentHub 生态画像：公开仓库全量快照</a:t>
            </a:r>
          </a:p>
          <a:p/>
          <a:p>
            <a:r>
              <a:t>&gt; 快照日期：2026-10-23，Asia/Shanghai。范围为当时 AgentHub 未登录公开列表，不包含私有仓库、实验场私有实例或未上架工作区。</a:t>
            </a:r>
          </a:p>
          <a:p>
            <a:r>
              <a:t>&gt; 方法：读取官方站点公开前端（版本 `2.13.170`）实际列表查询，按 24 条/页读取 28 页，共 669 条、669 个唯一 `Path/Name`，各页 `TotalCount` 均为 669。统计数据和脚本见 `sources/ecosystem/`。这是短时间顺序分页快照，不是平台原子审计报表。</a:t>
            </a:r>
          </a:p>
          <a:p/>
          <a:p>
            <a:r>
              <a:t>## 可直接上页的结论</a:t>
            </a:r>
          </a:p>
          <a:p/>
          <a:p>
            <a:r>
              <a:t>1. **669 个公开 Agent 仓库，33 个发布命名空间；当前列表仅出现两种框架。** MS-Agent 340（50.8%）、QwenPaw 329（49.2%）。7 种 CLI 可转换格式不等于已有 7 种框架生态。来源：[AgentHub](https://www.modelscope.cn/agents)，官方列表查询快照。</a:t>
            </a:r>
          </a:p>
          <a:p>
            <a:r>
              <a:t>2. **供给集中在少数来源：前三命名空间占 90.9%。** `@jnMetaCode` 269、`@msitarzewski` 264、`@tairov` 75，共 608/669。这里统计的是仓库 Path，不是开发者人数、认证企业数、活跃创作者数。631/669（94.3%）位于 `@` 开头的来源命名空间；不能直接把 `@microsoft` 写成微软官方发布。来源同上，组织字段与详情页作者呈现交叉核对。</a:t>
            </a:r>
          </a:p>
          <a:p>
            <a:r>
              <a:t>3. **场景以开发与通用角色为主。** 开发工具 259（38.7%）、市场营销 86（12.9%）、教育 39（5.8%）、金融和设计各 33（4.9%）；“其他”163（24.4%）。分类可多选，共 678 个分类标签，不能把这些比重画成总和 100% 的饼图。来源同上 `Catalogues` 字段。</a:t>
            </a:r>
          </a:p>
          <a:p>
            <a:r>
              <a:t>4. **以角色/工作区指令型资产为主，显式工具组合仍少。** 列表中 Skills 元数据非空 28（4.2%），MCP 11（1.6%），模型 14（2.1%）。这说明当前公开元数据更偏角色与指令模板，不代表这些 Agent 运行时无法调用其他工具或模型，也不代表所有依赖均已被解析。来源同上 `Skills/Mcps/Models/SystemPromptFiles`。</a:t>
            </a:r>
          </a:p>
          <a:p>
            <a:r>
              <a:t>5. **已有可观察的获取需求，但消费集中且不能推导成功运行。** 累计下载字段合计 16,298、浏览 46,227、收藏 242；单仓库下载中位数 4，下载前十 10,381（63.7%），首位 4,920（30.2%）。这些是资源累计事件指标，不是去重用户/安装成功数/任务成功数；`RunCount` 全为 0，无法据此判断真实运行量。来源同上 `Downloads/VisitCount/Stars/RunCount`。</a:t>
            </a:r>
          </a:p>
          <a:p>
            <a:r>
              <a:t>6. **生态已有首方工作流示范与广泛角色目录，但供给质量要分层看。** `ms-agent` 命名空间 6 个 Agent，组织字段指向 ModelScope 官方 `modelscope/ms-agent`；股票行情示例有真实工作流指令、1 Skill、1 MCP。另一方面，定向抽查 9 个详情 README，有 8 个仍保留“核心能力 A（简要说明）”等默认模板文案；这不是随机抽样比例，不能推全量。来源：[股票行情示例](https://www.modelscope.cn/agents/ms-agent/stock_data_agent)及各详情快照。</a:t>
            </a:r>
          </a:p>
          <a:p>
            <a:r>
              <a:t>7. **不能将仓库数量直接理解为独立可用 Agent 数。** 600 条仓库 `CreatedAt` 在同一天（2026-09-01 UTC），呈集中初始化特征；公开列表有 5 条没有有效系统文件内容，抽查其中 2 条发现一个无 AGENTS.md，另一个 AGENTS.md 是空文件。另有 3 组共 6 条仓库系统内容完全相同。不能由这些现象推断整个目录不可用，更不能凭命名认定同日条目均为同一批导入。来源：列表与文件树快照，详见质量边界。</a:t>
            </a:r>
          </a:p>
          <a:p/>
          <a:p>
            <a:r>
              <a:t>## 1. 统计分母和原始字段</a:t>
            </a:r>
          </a:p>
          <a:p/>
          <a:p>
            <a:r>
              <a:t>| 指标 | 数值 | 解释 |</a:t>
            </a:r>
          </a:p>
          <a:p>
            <a:r>
              <a:t>|---|---:|---|</a:t>
            </a:r>
          </a:p>
          <a:p>
            <a:r>
              <a:t>| API `TotalCount` / 实取唯一仓库 | 669 / 669 | 公开目录资产数量 |</a:t>
            </a:r>
          </a:p>
          <a:p>
            <a:r>
              <a:t>| 唯一 `Path` | 33 | 来源/发布命名空间，不是活跃作者人数 |</a:t>
            </a:r>
          </a:p>
          <a:p>
            <a:r>
              <a:t>| `Framework=ms-agent` | 340，50.8% | 当前公开发布的框架元数据 |</a:t>
            </a:r>
          </a:p>
          <a:p>
            <a:r>
              <a:t>| `Framework=qwenpaw` | 329，49.2% | 与 CLI 支持格式数量分开 |</a:t>
            </a:r>
          </a:p>
          <a:p>
            <a:r>
              <a:t>| `Path` 以 @ 开头 | 631，94.3% | 不将名称当主体认证 |</a:t>
            </a:r>
          </a:p>
          <a:p>
            <a:r>
              <a:t>| 9 月 1 日创建 | 600，89.7% | UTC 日期字段；只说明集中初始化 |</a:t>
            </a:r>
          </a:p>
          <a:p>
            <a:r>
              <a:t>| Skills 非空 | 28，4.2% | 显式元数据，不是运行时所有工具 |</a:t>
            </a:r>
          </a:p>
          <a:p>
            <a:r>
              <a:t>| MCP 非空 | 11，1.6% | 同上 |</a:t>
            </a:r>
          </a:p>
          <a:p>
            <a:r>
              <a:t>| Models 非空 | 14，2.1% | 不能解释为其余不需模型 |</a:t>
            </a:r>
          </a:p>
          <a:p>
            <a:r>
              <a:t>| 描述为空 | 14，2.1% | 有些有系统文件，不能当空仓库 |</a:t>
            </a:r>
          </a:p>
          <a:p>
            <a:r>
              <a:t>| 有效系统文件内容为空 | 5，0.7% | 不能仅凭此断言没有可运行代码 |</a:t>
            </a:r>
          </a:p>
          <a:p>
            <a:r>
              <a:t>| MIT/MIT License 标签 | 602，90.0% | 许可证字段，未审计许可是否正确 |</a:t>
            </a:r>
          </a:p>
          <a:p>
            <a:r>
              <a:t>| Apache 2.0 标签两种写法 | 21，3.1% | 同上 |</a:t>
            </a:r>
          </a:p>
          <a:p>
            <a:r>
              <a:t>| 许可证空白 | 46，6.9% | 不代表无需许可或不能使用 |</a:t>
            </a:r>
          </a:p>
          <a:p/>
          <a:p>
            <a:r>
              <a:t>### 命名空间供给</a:t>
            </a:r>
          </a:p>
          <a:p/>
          <a:p>
            <a:r>
              <a:t>| Path | 仓库数 | 占 669 |</a:t>
            </a:r>
          </a:p>
          <a:p>
            <a:r>
              <a:t>|---|---:|---:|</a:t>
            </a:r>
          </a:p>
          <a:p>
            <a:r>
              <a:t>| @jnMetaCode | 269 | 40.2% |</a:t>
            </a:r>
          </a:p>
          <a:p>
            <a:r>
              <a:t>| @msitarzewski | 264 | 39.5% |</a:t>
            </a:r>
          </a:p>
          <a:p>
            <a:r>
              <a:t>| @tairov | 75 | 11.2% |</a:t>
            </a:r>
          </a:p>
          <a:p>
            <a:r>
              <a:t>| @AgentscopeAI | 10 | 1.5% |</a:t>
            </a:r>
          </a:p>
          <a:p>
            <a:r>
              <a:t>| @alyssonfranklin | 7 | 1.0% |</a:t>
            </a:r>
          </a:p>
          <a:p>
            <a:r>
              <a:t>| ms-agent | 6 | 0.9% |</a:t>
            </a:r>
          </a:p>
          <a:p>
            <a:r>
              <a:t>| @microsoft | 6 | 0.9% |</a:t>
            </a:r>
          </a:p>
          <a:p>
            <a:r>
              <a:t>| 其他 26 个 Path | 32 | 4.8% |</a:t>
            </a:r>
          </a:p>
          <a:p/>
          <a:p>
            <a:r>
              <a:t>公开列表中只有 `ms-agent`（6 条）及测试组织 `grouptest01`（2 条）带非空 `Organization` 对象；`@` 来源没有这个组织对象。组织对象自身也不等于认证，`IsCertification` 为空。`ms-agent` 的组织 GithubAddress 为 `https://github.com/modelscope/ms-agent`，可与官方仓库交叉确认；其余不凭名称判为官方企业供给。详情页前端对于 `@` Path 只显示纯文本作者，不像普通 Path 跳转到组织/个人主页。</a:t>
            </a:r>
          </a:p>
          <a:p/>
          <a:p>
            <a:r>
              <a:t>### 场景分类（多标签）</a:t>
            </a:r>
          </a:p>
          <a:p/>
          <a:p>
            <a:r>
              <a:t>| 分类 | 仓库数 | 占 669 |</a:t>
            </a:r>
          </a:p>
          <a:p>
            <a:r>
              <a:t>|---|---:|---:|</a:t>
            </a:r>
          </a:p>
          <a:p>
            <a:r>
              <a:t>| 开发工具 development-tools | 259 | 38.7% |</a:t>
            </a:r>
          </a:p>
          <a:p>
            <a:r>
              <a:t>| 其他 others | 163 | 24.4% |</a:t>
            </a:r>
          </a:p>
          <a:p>
            <a:r>
              <a:t>| 市场营销 marketing | 86 | 12.9% |</a:t>
            </a:r>
          </a:p>
          <a:p>
            <a:r>
              <a:t>| 教育 education | 39 | 5.8% |</a:t>
            </a:r>
          </a:p>
          <a:p>
            <a:r>
              <a:t>| 金融 finance | 33 | 4.9% |</a:t>
            </a:r>
          </a:p>
          <a:p>
            <a:r>
              <a:t>| 设计 design | 33 | 4.9% |</a:t>
            </a:r>
          </a:p>
          <a:p>
            <a:r>
              <a:t>| 产品 product | 25 | 3.7% |</a:t>
            </a:r>
          </a:p>
          <a:p>
            <a:r>
              <a:t>| 销售 sales | 20 | 3.0% |</a:t>
            </a:r>
          </a:p>
          <a:p>
            <a:r>
              <a:t>| 娱乐 entertainment | 16 | 2.4% |</a:t>
            </a:r>
          </a:p>
          <a:p>
            <a:r>
              <a:t>| 生活助理 life-assistant | 4 | 0.6% |</a:t>
            </a:r>
          </a:p>
          <a:p/>
          <a:p>
            <a:r>
              <a:t>共 678 个分类标签，7 条没有分类。推荐用横向条形图，标注“可多选”。</a:t>
            </a:r>
          </a:p>
          <a:p/>
          <a:p>
            <a:r>
              <a:t>### 消费信号</a:t>
            </a:r>
          </a:p>
          <a:p/>
          <a:p>
            <a:r>
              <a:t>| 指标 | 全量合计 | 单仓库中位数 | 非零仓库 |</a:t>
            </a:r>
          </a:p>
          <a:p>
            <a:r>
              <a:t>|---|---:|---:|---:|</a:t>
            </a:r>
          </a:p>
          <a:p>
            <a:r>
              <a:t>| Downloads | 16,298 | 4 | 659 |</a:t>
            </a:r>
          </a:p>
          <a:p>
            <a:r>
              <a:t>| VisitCount | 46,227 | 30 | 669 |</a:t>
            </a:r>
          </a:p>
          <a:p>
            <a:r>
              <a:t>| Stars | 242 | 0 | 117 |</a:t>
            </a:r>
          </a:p>
          <a:p>
            <a:r>
              <a:t>| RunCount | 0 | 0 | 0 |</a:t>
            </a:r>
          </a:p>
          <a:p/>
          <a:p>
            <a:r>
              <a:t>`Downloads` 最大为 `ms-agent/engineering-infrastructure-developer` 4,920；股票行情助手 1,575；`iSolver/DefaultQwenPaw` 810；周易助手 630；AI 通识课 619。公开字段未提供事件采样方式、去重口径、下载到运行转化，因此不要称“1.63 万用户”“已成功运行1.63万次”。</a:t>
            </a:r>
          </a:p>
          <a:p/>
          <a:p>
            <a:r>
              <a:t>## 2. 质量边界及定向样本</a:t>
            </a:r>
          </a:p>
          <a:p/>
          <a:p>
            <a:r>
              <a:t>### 2.1 README：9 个定向详情样本，8 个保留模板占位</a:t>
            </a:r>
          </a:p>
          <a:p/>
          <a:p>
            <a:r>
              <a:t>选取供给前七 Path 的首个列表条目，再补两个本地社区示例。结果在 `statistics.json` 的 `purposeful_detail_sample`：</a:t>
            </a:r>
          </a:p>
          <a:p/>
          <a:p>
            <a:r>
              <a:t>- `@jnMetaCode/DesignImagePromptEngineer`、`@msitarzewski/MCPBuilder`、`@tairov/code-reviewer`、`@AgentscopeAI/CreditRiskModelValidator`、`@alyssonfranklin/ai-engineer`、`@microsoft/engineering-backend-developer`：均仍有“核心能力 A（简要说明）”等模板段落。</a:t>
            </a:r>
          </a:p>
          <a:p>
            <a:r>
              <a:t>- `Linix2026/ai-literacy-expert-v8-1-aipc`、`iSolver/DefaultQwenPaw`：同样保留默认 README 文案。</a:t>
            </a:r>
          </a:p>
          <a:p>
            <a:r>
              <a:t>- `ms-agent/stock_data_agent`：README 有实际能力、使用示例、数据依赖和说明。</a:t>
            </a:r>
          </a:p>
          <a:p/>
          <a:p>
            <a:r>
              <a:t>**局限：** README 模板未完善不等于系统指令为空或 Agent 不可用。多数这些样本的 AGENTS.md 已有详细角色规则。此定向样本只能用于说明“模板文档仍在目录中存在”，不能推断全量 88.9% 的质量比例。</a:t>
            </a:r>
          </a:p>
          <a:p/>
          <a:p>
            <a:r>
              <a:t>### 2.2 非运行资产和空内容</a:t>
            </a:r>
          </a:p>
          <a:p/>
          <a:p>
            <a:r>
              <a:t>全量列表中 5 条没有非空系统文件内容：`grouptest01/agent-83062a59`、`grouptest01/agent-fa15b022`、`alexwang155/my_test_agent`、`zongyuanroot/zongyuan-truth-agent`、`fevertry/fevertryprobe83089`。抽查文件树：</a:t>
            </a:r>
          </a:p>
          <a:p/>
          <a:p>
            <a:r>
              <a:t>- `grouptest01/agent-83062a59`：仅 `.gitattributes`、README、settings.json、skill.json，没有 AGENTS.md。</a:t>
            </a:r>
          </a:p>
          <a:p>
            <a:r>
              <a:t>- `alexwang155/my_test_agent`：AGENTS.md SHA256 是空文件摘要 `e3b0c442…b855`，目录仍有 README、settings.json、skill.json。</a:t>
            </a:r>
          </a:p>
          <a:p>
            <a:r>
              <a:t>- `fevertry/fevertryprobe83089` 的文件接口返回 404，不能继续断言其文件实际状态。</a:t>
            </a:r>
          </a:p>
          <a:p/>
          <a:p>
            <a:r>
              <a:t>“空系统文件”与“空仓库”不是同义词。两个样本能支持“目录含初始化/测试类条目”。</a:t>
            </a:r>
          </a:p>
          <a:p/>
          <a:p>
            <a:r>
              <a:t>### 2.3 重复内容</a:t>
            </a:r>
          </a:p>
          <a:p/>
          <a:p>
            <a:r>
              <a:t>以 `SystemPromptFiles[].Content` 去空白后完整串联并 SHA256，比对全量 669 条：3 组 6 条内容完全相同，其余有内容条目共形成 661 种系统内容。三组是：</a:t>
            </a:r>
          </a:p>
          <a:p/>
          <a:p>
            <a:r>
              <a:t>- `ms-agent/paper_research_agent` 与 `iSolver/PaperResearch`；</a:t>
            </a:r>
          </a:p>
          <a:p>
            <a:r>
              <a:t>- `ms-agent/engineering-infrastructure-developer` 与 `@microsoft/engineering-infrastructure-developer`；</a:t>
            </a:r>
          </a:p>
          <a:p>
            <a:r>
              <a:t>- `Linix2026/ai-literacy-expert-v8-1-aipc` 与 `Linix2026/ai-literacy-expert-v7-workbuddy-msagent`。</a:t>
            </a:r>
          </a:p>
          <a:p/>
          <a:p>
            <a:r>
              <a:t>这不等于全部文件完全一致，也不能简单把其中一个判为无效重复。不同运行时、依赖或版本可能仍有区别。</a:t>
            </a:r>
          </a:p>
          <a:p/>
          <a:p>
            <a:r>
              <a:t>## 3. 与发布和使用能力的衔接</a:t>
            </a:r>
          </a:p>
          <a:p/>
          <a:p>
            <a:r>
              <a:t>生态卡片应讲清楚“仓库”到底是什么：角色/规则文件＋Skills＋MCP＋模型/框架配置＋README，能按 Git 工作区持有，发布到公开列表并下载安装；框架由 MS-Agent/QwenPaw 等负责执行。AgentHub 同时提供实验场入口，因此旧报告“AgentHub 本身不跑 Agent”的绝对说法应纠正为：**Hub 托管分发资产，实验场提供在线体验，本地工作区由相应运行时执行。**</a:t>
            </a:r>
          </a:p>
          <a:p/>
          <a:p>
            <a:r>
              <a:t>在线实验场的真实启动、额度消耗、运行成功率和全部 Agent 兼容范围，未登录本次未执行。不能把“有在线体验入口”直接写成“669 个 Agent 均已在线可用”。</a:t>
            </a:r>
          </a:p>
          <a:p/>
          <a:p>
            <a:r>
              <a:t>## 4. 公开请求与可复现性</a:t>
            </a:r>
          </a:p>
          <a:p/>
          <a:p>
            <a:r>
              <a:t>列表查询来自官方前端静态脚本（不是猜测 API），路径 `PUT /api/v1/dolphin/agents`。虽 HTTP 方法为 PUT，这个具体接口接收筛选/分页条件并返回只读目录，未执行创建、修改、安装、发布或支付。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"PageSize": 24,</a:t>
            </a:r>
          </a:p>
          <a:p>
            <a:r>
              <a:t>  "PageNumber": 1,</a:t>
            </a:r>
          </a:p>
          <a:p>
            <a:r>
              <a:t>  "Query": "",</a:t>
            </a:r>
          </a:p>
          <a:p>
            <a:r>
              <a:t>  "Sort": "Default",</a:t>
            </a:r>
          </a:p>
          <a:p>
            <a:r>
              <a:t>  "Criterion": [],</a:t>
            </a:r>
          </a:p>
          <a:p>
            <a:r>
              <a:t>  "WithTopCollection": false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- 前端首页脚本：[p__agent__Home__index.async.js](https://g.alicdn.com/sail-web/maas/2.13.170/p__agent__Home__index.async.js)</a:t>
            </a:r>
          </a:p>
          <a:p>
            <a:r>
              <a:t>- 详情与接口定义脚本：[p__agent__Detail__index.async.js](https://g.alicdn.com/sail-web/maas/2.13.170/p__agent__Detail__index.async.js)</a:t>
            </a:r>
          </a:p>
          <a:p>
            <a:r>
              <a:t>- AgentHub 主页面：[https://www.modelscope.cn/agents](https://www.modelscope.cn/agents)</a:t>
            </a:r>
          </a:p>
          <a:p>
            <a:r>
              <a:t>- 示例详情：[股票行情数据助手](https://www.modelscope.cn/agents/ms-agent/stock_data_agent)</a:t>
            </a:r>
          </a:p>
          <a:p>
            <a:r>
              <a:t>- 来源命名空间样本：[图像提示词工程师](https://www.modelscope.cn/agents/@jnMetaCode/DesignImagePromptEngineer)、[后端开发专家](https://www.modelscope.cn/agents/@microsoft/engineering-backend-developer)</a:t>
            </a:r>
          </a:p>
          <a:p>
            <a:r>
              <a:t>- 实验场：[https://www.modelscope.cn/agents/playground](https://www.modelscope.cn/agents/playground)</a:t>
            </a:r>
          </a:p>
          <a:p/>
          <a:p>
            <a:r>
              <a:t>落盘：`all-page-01.json` 至 `all-page-28.json`、`all-agents.json`、`manifest.json`（请求/响应条数/校验和/时间）、`statistics.json`；定向详情 `detail-*.json` 与文件树 `files-*.json`。`fetch-list.py` 是复现脚本。</a:t>
            </a:r>
          </a:p>
          <a:p/>
          <a:p>
            <a:r>
              <a:t>## 5. 制图建议</a:t>
            </a:r>
          </a:p>
          <a:p/>
          <a:p>
            <a:r>
              <a:t>第一页左侧以 669 仓库、33 命名空间、1.63 万累计下载作三个小指标；一条 340/329 的双框架比例条；场景可多选横向条形图前三项。正文用一句“供给集中，前三来源占90.9%；工具组合型 Agent 仍少”。右侧画发布→发现→本地安装／实验场两路消费。</a:t>
            </a:r>
          </a:p>
          <a:p/>
          <a:p>
            <a:r>
              <a:t>消费数字要标注累计字段口径；标题不要写“669 个高质量可运行 Agent”。第二页把 ModelScope Hub/SDK、统一资产格式、跨框架 CLI、MS-Agent/QwenPaw运行时、Skills/MCP/模型目录、实验场的职责画开。运行成功与安全治理属于需单独验证的闭环，不凭下载量替代。</a:t>
            </a:r>
          </a:p>
          <a:p/>
          <a:p/>
          <a:p>
            <a:r>
              <a:t># AgentHub 发布与使用：公开页面和前端流程核对</a:t>
            </a:r>
          </a:p>
          <a:p/>
          <a:p>
            <a:r>
              <a:t>调研日期：2026-10-23。读取 ModelScope 官方网页、前端版本 2.13.170 以及官方源码。未登录、创建、导入、启动、发布或安装 Agent，因此下文确认的是公开入口、界面逻辑和接口契约，不将它们当作运行成功实测。</a:t>
            </a:r>
          </a:p>
          <a:p/>
          <a:p>
            <a:r>
              <a:t>## 1. 资产仓库与实验场实例是两个对象</a:t>
            </a:r>
          </a:p>
          <a:p/>
          <a:p>
            <a:r>
              <a:t>`/agents` 是公开 Agent 资产目录，详情提供介绍、Skills、文件和交流反馈；`/agents/playground` 是个人在线体验入口，含我的 Agent、最近使用、自定义创建、从 AgentHub 导入。实验场有实例 UUID 和运行状态，不应把公开仓库数量当作在线运行实例数量。</a:t>
            </a:r>
          </a:p>
          <a:p/>
          <a:p>
            <a:r>
              <a:t>依据：[AgentHub](https://www.modelscope.cn/agents)、[实验场](https://www.modelscope.cn/agents/playground)、[官方首页脚本](https://g.alicdn.com/sail-web/maas/2.13.170/p__agent__Home__index.async.js)、[实验场脚本](https://g.alicdn.com/sail-web/maas/2.13.170/p__agent__Playground__index.async.js)。原件存于 `sources/publishing/` 与 `sources/ecosystem/`。</a:t>
            </a:r>
          </a:p>
          <a:p/>
          <a:p>
            <a:r>
              <a:t>## 2. 发布的三种入口</a:t>
            </a:r>
          </a:p>
          <a:p/>
          <a:p>
            <a:r>
              <a:t>### 网页自定义创建</a:t>
            </a:r>
          </a:p>
          <a:p/>
          <a:p>
            <a:r>
              <a:t>公开首页“新建 Agent”提供自定义创建、通过 CLI 上传。自定义创建入口要求登录，不能由未登录页面证明所有表单及审核流程已经实测。创建路由接受 custom/import 模式，具体操作交由共享表单组件。旧 AgentFabric/GPTs 创空间创建教程不作为该新 Hub 的流程依据。</a:t>
            </a:r>
          </a:p>
          <a:p/>
          <a:p>
            <a:r>
              <a:t>### 本地 CLI 上传</a:t>
            </a:r>
          </a:p>
          <a:p/>
          <a:p>
            <a:r>
              <a:t>当前官网 CLI 提示使用 `modelscope-hub`，`modelscope agent upload -r owner/agent --local-dir ...` 从本地目录上传，远端不存在时创建仓库。页面展示 MS-Agent 和 QwenPaw 两种选项。`modelscope` 与 `ms-hub` 等是统一 Hub CLI 的别名，和框架包 `ms-agent agent` 不是同一个程序。</a:t>
            </a:r>
          </a:p>
          <a:p/>
          <a:p>
            <a:r>
              <a:t>官网示例属于原始目录传输。框架专用 `ms-agent agent upload` 才另外包含可移植文件收集、模板筛选、配置清洗及密钥脱敏，不应把后者保护范围覆盖到任意目录原始上传。</a:t>
            </a:r>
          </a:p>
          <a:p/>
          <a:p>
            <a:r>
              <a:t>### 实验场导出发布</a:t>
            </a:r>
          </a:p>
          <a:p/>
          <a:p>
            <a:r>
              <a:t>实验场实例菜单有“发布至 AgentHub”“版本更新”“查看日志”，导出窗口可选择需导出的 Agent。它证明平台设计了在线实例到公开资产的发布通道；本次未实际触发发布，也未验证后端审核与版本生效时延。</a:t>
            </a:r>
          </a:p>
          <a:p/>
          <a:p>
            <a:r>
              <a:t>依据：[首页脚本](https://g.alicdn.com/sail-web/maas/2.13.170/p__agent__Home__index.async.js)、[创建路由](https://g.alicdn.com/sail-web/maas/2.13.170/p__agent__Create__index.async.js)、[实例详情脚本](https://g.alicdn.com/sail-web/maas/2.13.170/p__agent__Playground__Detail__index.async.js)。</a:t>
            </a:r>
          </a:p>
          <a:p/>
          <a:p>
            <a:r>
              <a:t>## 3. 消费分为本地与在线</a:t>
            </a:r>
          </a:p>
          <a:p/>
          <a:p>
            <a:r>
              <a:t>| 路径 | 当前公开能力 | 仍需满足的条件 |</a:t>
            </a:r>
          </a:p>
          <a:p>
            <a:r>
              <a:t>|---|---|---|</a:t>
            </a:r>
          </a:p>
          <a:p>
            <a:r>
              <a:t>| 查看及获取 | 搜索、框架/场景分类、介绍、系统文件、Skills/MCP、文件树与 ZIP 下载 | 元数据和文件应结合阅读，浏览/下载不是效果认证 |</a:t>
            </a:r>
          </a:p>
          <a:p>
            <a:r>
              <a:t>| SDK/CLI 安装 | `modelscope agent install -r owner/name`；Hub SDK 委派官方安装插件 | 当前稳定框架 MS-Agent/QwenPaw，需匹配宿主环境和配置；原始下载不等于注册安装 |</a:t>
            </a:r>
          </a:p>
          <a:p>
            <a:r>
              <a:t>| 本地运行 | 由 MS-Agent、QwenPaw 加载工作区并执行任务 | 模型服务、MCP、工具依赖及用户授权另行就绪 |</a:t>
            </a:r>
          </a:p>
          <a:p>
            <a:r>
              <a:t>| 在线实验场 | 从 Hub 导入或自定义创建，选择框架与系统设定，添加模型、Skills、MCP，创建实例后对话 | 页面含登录判断；具体额度、算力收费、实例配额及全量兼容范围未通过真实运行确认 |</a:t>
            </a:r>
          </a:p>
          <a:p>
            <a:r>
              <a:t>| 实例管理 | 运行中/启动中/已休眠/启动失败，唤醒、重启、下线、删除、日志、版本更新 | 这些是公开前端能力入口，不能推导服务 SLA 或每个 Agent 都能成功启动 |</a:t>
            </a:r>
          </a:p>
          <a:p/>
          <a:p>
            <a:r>
              <a:t>实验场创建表单当前提供 MS-Agent 与 QwenPaw。系统设定包含身份、行为、用户偏好等核心文件。创建实例的公开前端调用组织 `framework_type`、`models`、`skills`、`mcps` 等参数，成功后导航 `/agents/playground/instances/&lt;uuid&gt;`。这体现了“资产组合、运行实例”之间的关联，不是把下载的 ZIP 直接当云容器运行。</a:t>
            </a:r>
          </a:p>
          <a:p/>
          <a:p>
            <a:r>
              <a:t>依据：[股票行情示例详情](https://www.modelscope.cn/agents/ms-agent/stock_data_agent)、[实验场创建脚本](https://g.alicdn.com/sail-web/maas/2.13.170/p__agent__Playground__Create__index.async.js)、[实验场详情脚本](https://g.alicdn.com/sail-web/maas/2.13.170/p__agent__Playground__Detail__index.async.js)、[Hub SDK](https://github.com/modelscope/modelscope_hub)、[MS-Agent](https://github.com/modelscope/ms-agent)。</a:t>
            </a:r>
          </a:p>
          <a:p/>
          <a:p>
            <a:r>
              <a:t>## 4. 应修正的旧表述</a:t>
            </a:r>
          </a:p>
          <a:p/>
          <a:p>
            <a:r>
              <a:t>- “AgentHub 本身不跑 Agent”过于绝对。应写为：**Hub 托管分发工作区，实验场提供在线体验，本地工作区交给对应运行时执行。**</a:t>
            </a:r>
          </a:p>
          <a:p>
            <a:r>
              <a:t>- “支持 7 种框架”需要说明工具和稳定性：公开目录两种框架；官方安装插件两种；`ms-agent agent` 两种默认稳定，另五种需开启实验选项。</a:t>
            </a:r>
          </a:p>
          <a:p>
            <a:r>
              <a:t>- “安装即可使用全部能力”不准确。文件、框架注册、模型授权、MCP 外部服务及实际任务完成分别验证。</a:t>
            </a:r>
          </a:p>
          <a:p>
            <a:r>
              <a:t>- “没有 Agent 安全治理”证据过强。当前有权限、上传清洗、插件来源/完整性、备份等机制，但公开卡片未见统一 Agent 质量/安全评分，也未验证所有发布通道均执行相同检查。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ModelScope AgentHub：平台底座、客户端与运行生态</a:t>
            </a:r>
          </a:p>
          <a:p/>
          <a:p>
            <a:r>
              <a:t>调研日期：2026-10-23（北京时间）。仅访问官方公开网页与源码；未安装依赖、未加载插件、未执行下载到的脚本，未访问本机 Token、Agent 私有工作区。</a:t>
            </a:r>
          </a:p>
          <a:p/>
          <a:p>
            <a:r>
              <a:t>## 建议用于第二页的主结论</a:t>
            </a:r>
          </a:p>
          <a:p/>
          <a:p>
            <a:r>
              <a:t>**ModelScope 复用统一仓库和身份底座，再通过 SDK、安装插件与工作区工具，把“云端可分享的 Agent 文件”连接到“用户本地可运行的 Agent”。**</a:t>
            </a:r>
          </a:p>
          <a:p/>
          <a:p>
            <a:r>
              <a:t>建议按“仓库托管 → SDK/CLI 接入 → 框架安装与同步 → 模型/Skills/MCP 运行资源”画四层。区别于只有卡片的目录：其关键增量是框架相关的安装、迁移、备份与同步；但 AgentHub 仓库本身不等于托管执行平台。</a:t>
            </a:r>
          </a:p>
          <a:p/>
          <a:p>
            <a:r>
              <a:t>## 一、已核实工具分工</a:t>
            </a:r>
          </a:p>
          <a:p/>
          <a:p>
            <a:r>
              <a:t>| 层次 | 官方工具或能力 | 为 AgentHub 做什么 | 表述边界 |</a:t>
            </a:r>
          </a:p>
          <a:p>
            <a:r>
              <a:t>|---|---|---|---|</a:t>
            </a:r>
          </a:p>
          <a:p>
            <a:r>
              <a:t>| 资产存储与访问 | ModelScope Agent 专用仓库、AgentApi、OpenAPI/兼容接口 | owner/name 标识、元数据与 framework、public/private、文件列表、revision 下载、commit、普通文件/LFS 上传与删除 | 源码证明接口可调用；未据此断言广场 UI 展示全部版本治理能力 |</a:t>
            </a:r>
          </a:p>
          <a:p>
            <a:r>
              <a:t>| 标准开发入口 | `modelscope_hub` Python SDK；`modelscope`/`ms`/`modelscope-hub`/`ms-hub` 四个同程序入口 | 统一 Token、站点端点、上传/下载/list；提供程序化集成，安装则委派官方插件 | `ms-hub agent` 原始传输无框架语义，不负责跨框架转换 |</a:t>
            </a:r>
          </a:p>
          <a:p>
            <a:r>
              <a:t>| 安装桥接 | 官方模型仓库 `modelscope/agent-hub-plugin`，master 快照 v0.3.6 | 获取 Agent 文件，辨认目标框架、放入框架 home、执行注册与完成步骤；支持备份回滚 | 当前仅 MS-Agent、QwenPaw。插件 upload/convert 尚为 P1/P2 规划；不等于完整 ms-agent CLI 能力 |</a:t>
            </a:r>
          </a:p>
          <a:p>
            <a:r>
              <a:t>| 工作区迁移 | `ms-agent agent` | 上传/下载、status、watch、convert、backups/restore/stop；转换按语义映射、Markdown 分节合并 | 稳定启用 MS-Agent、QwenPaw；另外五个适配实验性，不能说 7 种全面稳定支持 |</a:t>
            </a:r>
          </a:p>
          <a:p>
            <a:r>
              <a:t>| 凭据与内容保护 | Token 权限、配置字段清洗、内容密钥脱敏、白名单、清单哈希 | 限制访问和插件来源；减少用户密钥随资产传播；覆盖/拉取前本地备份 | 清单未签名，哈希校验不是作者签名或安全审查，不能宣称绝对防泄漏 |</a:t>
            </a:r>
          </a:p>
          <a:p>
            <a:r>
              <a:t>| Agent 身份底座 | Agent-IDP / Ed25519 / OIDC JWKS / JWT | 注册身份、公钥、暂停恢复、轮换、短期 JWT | 是独立身份功能；不能据此说广场每个 Agent 包已经签名或用于调用付费鉴权 |</a:t>
            </a:r>
          </a:p>
          <a:p>
            <a:r>
              <a:t>| 运行与资源 | MS-Agent / QwenPaw，邻接模型、Skills、MCP、Studio 能力 | 宿主执行；挂载技能与外部工具；模型配置调用；Studio 和 MCP 可单独部署 | 安装 Agent 不自动具备模型密钥、外部 MCP 服务凭据及算力；Studio/MCP部署不能等同 AgentHub 任意 Agent 一键云托管 |</a:t>
            </a:r>
          </a:p>
          <a:p/>
          <a:p>
            <a:r>
              <a:t>## 二、统一仓库为何能够托管 Agent</a:t>
            </a:r>
          </a:p>
          <a:p/>
          <a:p>
            <a:r>
              <a:t>`AgentApi` 明确区分：`/openapi/v1/agents` 元数据与创建、`/api/v1/agents/.../repo/files` 文件树、`/agents/.../resolve/{revision}/{file}` 下载，以及 Agent 仓库 commit 与 LFS batch。具备文件级提交、版本下载和公开/私有可见性；通过 owner/name 组织资产。当前代码兼容旧 visibility 与新版 private 布尔字段，后者 false 明确为公开，不可把 falsy 误当未设置。</a:t>
            </a:r>
          </a:p>
          <a:p/>
          <a:p>
            <a:r>
              <a:t>大于 1 MB 或命中二进制/媒体扩展名的文件进入 LFS 路径。README 所称统一 Hub SDK 的生产下载（断点、并行、锁、校验、离线）是通用 Hub 底座能力；Agent 文件接口具有独立实现，不宜在简短材料中承诺每项通用优化已完整用于 Agent 传输。</a:t>
            </a:r>
          </a:p>
          <a:p/>
          <a:p>
            <a:r>
              <a:t>证据：[AgentApi 固定源码](https://github.com/modelscope/modelscope_hub/blob/d6f639c97f7afcde533d7036f715c52085258639/src/modelscope_hub/agent/_api.py)、[CLI Agent 固定源码](https://github.com/modelscope/modelscope_hub/blob/d6f639c97f7afcde533d7036f715c52085258639/src/modelscope_hub/cli/agent.py)。</a:t>
            </a:r>
          </a:p>
          <a:p/>
          <a:p>
            <a:r>
              <a:t>## 三、“Agent 资产”传递什么，哪些不会自动迁移</a:t>
            </a:r>
          </a:p>
          <a:p/>
          <a:p>
            <a:r>
              <a:t>这是文件化工作区资源，而非一台运行中的 Agent。常见内容：指令与人格 Markdown、用户偏好、Skills（含辅助脚本/参考文件）、配置与部分框架记忆。具体范围取决于框架白名单：</a:t>
            </a:r>
          </a:p>
          <a:p/>
          <a:p>
            <a:r>
              <a:t>- **MS-Agent** 当前收集全局 `SOUL.md`、`AGENTS.md`、`PROFILE.md`、`settings.json`、`mcp.json`、`skills.json` 与整个 `skills/*`。它的运行记忆位于项目 `.ms_agent/memory/`，不在此次全局工作区采集范围内。不能说其全部项目记忆、历史会话和运行状态被打包上传。</a:t>
            </a:r>
          </a:p>
          <a:p>
            <a:r>
              <a:t>- **QwenPaw** 包括 persona 文件、memory Markdown、Skill 与 `agent.json`，还需注册到本地配置才能在界面出现。批量同步与单 Agent 注册不完全相同。</a:t>
            </a:r>
          </a:p>
          <a:p>
            <a:r>
              <a:t>- 跨框架转换以通用 persona/instructions/profile/skills 等内容为中心；私有框架 JSON/YAML 配置不能无损变为另一框架的等价配置。非目标支持格式会显示 dropped；非 Markdown memory payload 也可能丢弃，并提示。</a:t>
            </a:r>
          </a:p>
          <a:p>
            <a:r>
              <a:t>- 二进制附属资源与可执行脚本进入 Skill 文件，并不代表平台替用户运行。运行环境、依赖包和模型/工具授权仍需宿主负责。</a:t>
            </a:r>
          </a:p>
          <a:p/>
          <a:p>
            <a:r>
              <a:t>证据：[MS-Agent 工作区规范](https://github.com/modelscope/ms-agent/blob/fd6ea88422a399db8b303848dc6c6ec4e17daf6e/ms_agent/agent_hub/frameworks/ms_agent.py)、[QwenPaw 工作区规范](https://github.com/modelscope/ms-agent/blob/fd6ea88422a399db8b303848dc6c6ec4e17daf6e/ms_agent/agent_hub/frameworks/qwenpaw.py)、[转换逻辑](https://github.com/modelscope/ms-agent/blob/fd6ea88422a399db8b303848dc6c6ec4e17daf6e/ms_agent/agent_hub/_commands.py)。</a:t>
            </a:r>
          </a:p>
          <a:p/>
          <a:p>
            <a:r>
              <a:t>## 四、发布、安装、迁移和更新的真实流程</a:t>
            </a:r>
          </a:p>
          <a:p/>
          <a:p>
            <a:r>
              <a:t>### 发布</a:t>
            </a:r>
          </a:p>
          <a:p/>
          <a:p>
            <a:r>
              <a:t>本地宿主工作区 → 框架规范收集可移植文件 → 清洗配置密钥/内容凭据 → 去除未改动的默认模板 → 创建或更新 Agent 仓库 → 提交新/变动内容、删除已移除内容。</a:t>
            </a:r>
          </a:p>
          <a:p/>
          <a:p>
            <a:r>
              <a:t>这是 `ms-agent agent upload` 的业务管线。`ms-hub agent upload --local-dir` 则是原始文件上传，不能把前者的收集、脱敏和过滤承诺覆盖到后者。公开发布应正确选用流程并检查目录。</a:t>
            </a:r>
          </a:p>
          <a:p/>
          <a:p>
            <a:r>
              <a:t>### 安装和运行</a:t>
            </a:r>
          </a:p>
          <a:p/>
          <a:p>
            <a:r>
              <a:t>广场/仓库发现 Agent → `ms-hub agent install -r owner/name` → Hub 加载官方插件 → 插件获取并识别 Agent → 放入 MS-Agent/QwenPaw home、完成框架注册 → 用户通过对应宿主 UI/TUI 运行。</a:t>
            </a:r>
          </a:p>
          <a:p/>
          <a:p>
            <a:r>
              <a:t>官方插件独立于 Hub 发版，既不用在 Hub SDK 内硬编码框架知识，也不要求安装一个框架时导入另一个框架。单纯 `download`/`fetch_raw` 只得到文件，不能自动等同安装完成。v0.3.6 的底层 fetch 明确逐字节传输，不清洗、不备份、不注册，责任位于上层安装/发布流程；README 关于双向清理的宽泛描述应谨慎采用。</a:t>
            </a:r>
          </a:p>
          <a:p/>
          <a:p>
            <a:r>
              <a:t>证据：[官方插件 README_CN](https://modelscope.cn/api/v1/models/modelscope/agent-hub-plugin/repo?Revision=master&amp;FilePath=README_CN.md)、[插件清单](https://modelscope.cn/api/v1/models/modelscope/agent-hub-plugin/repo?Revision=master&amp;FilePath=plugin.json)、[插件下载源码](https://modelscope.cn/api/v1/models/modelscope/agent-hub-plugin/repo?Revision=master&amp;FilePath=agent_hub_plugin/_download.py)。线上 master 会变化，本地原件已留存。</a:t>
            </a:r>
          </a:p>
          <a:p/>
          <a:p>
            <a:r>
              <a:t>### 更新与迁移</a:t>
            </a:r>
          </a:p>
          <a:p/>
          <a:p>
            <a:r>
              <a:t>`ms-agent agent watch` 是后台轮询（默认 120 秒）推送本地变化；带 `--pull` 才双向。双向冲突采用 **远端优先＋先备份本地**，不是实时协同编辑、CRDT 或自动语义解冲突。convert 在本地执行；按源默认模板识别用户自定义内容，以目标模板为基础分节合并，保留可识别修改并报告落不下的文件。</a:t>
            </a:r>
          </a:p>
          <a:p/>
          <a:p>
            <a:r>
              <a:t>证据：[官方 CLI 文档](https://github.com/modelscope/ms-agent/blob/fd6ea88422a399db8b303848dc6c6ec4e17daf6e/docs/zh/GetStarted/cli.md#agent--agent-hub-文件管理)、[watch 实现](https://github.com/modelscope/ms-agent/blob/fd6ea88422a399db8b303848dc6c6ec4e17daf6e/ms_agent/agent_hub/_watcher.py)、[Markdown 合并器](https://github.com/modelscope/ms-agent/blob/fd6ea88422a399db8b303848dc6c6ec4e17daf6e/ms_agent/agent_hub/_merge.py)。</a:t>
            </a:r>
          </a:p>
          <a:p/>
          <a:p>
            <a:r>
              <a:t>## 五、兼容范围：文档和源码必须区分</a:t>
            </a:r>
          </a:p>
          <a:p/>
          <a:p>
            <a:r>
              <a:t>| 工具 | 当前实际范围 | 不能写成 |</a:t>
            </a:r>
          </a:p>
          <a:p>
            <a:r>
              <a:t>|---|---|---|</a:t>
            </a:r>
          </a:p>
          <a:p>
            <a:r>
              <a:t>| ms-hub agent upload/download/list | 任意 Agent 仓库原始文件，不知框架 | 自动转换适配七框架 |</a:t>
            </a:r>
          </a:p>
          <a:p>
            <a:r>
              <a:t>| ms-hub agent install / 官方 plugin v0.3.6 | MS-Agent、QwenPaw；fetch/install/list_backups/restore | upload/convert 已在此插件实现 |</a:t>
            </a:r>
          </a:p>
          <a:p>
            <a:r>
              <a:t>| ms-agent agent | MS-Agent、QwenPaw 稳定；qoder、openclaw、hermes、nanobot、openhuman 已有适配，但需 `TRY_EXP_FRAMEWORKS=True` | 七框架均默认稳定支持 |</a:t>
            </a:r>
          </a:p>
          <a:p/>
          <a:p>
            <a:r>
              <a:t>README 与 CLI 文档仍用“覆盖七框架”的概括，当前 `_commands.py` STABLE_FRAMEWORKS 只有两种，按源码判定。插件清单版本 v0.3.6；Hub README 样例还为 v0.3.1，样例不代表最新线上版本。</a:t>
            </a:r>
          </a:p>
          <a:p/>
          <a:p>
            <a:r>
              <a:t>## 六、身份、完整性、密钥保护的区别</a:t>
            </a:r>
          </a:p>
          <a:p/>
          <a:p>
            <a:r>
              <a:t>1. ModelScope 用户 Token 负责 SDK/OpenAPI 访问，平台有 read/write/admin 分层。Agent-IDP 则为 Agent 的运行身份和签名密钥管理，支持 Ed25519、JWT、OIDC/JWKS；两者都不是 Agent 包内容审查。</a:t>
            </a:r>
          </a:p>
          <a:p>
            <a:r>
              <a:t>2. 官方插件加载用编译期 owner 白名单（modelscope、AI-ModelScope）建立来源边界，导入前核对 plugin.json 的 content_sha256。清单自身不签名，哈希只证明与清单一致；不构成密码学作者认证。当前实现无每次 `trust_remote_code` 选择，官方来源会加载并执行；`--dry-run` 仍会下载导入运行插件，只抑制插件业务写入，不是纯查看模式。</a:t>
            </a:r>
          </a:p>
          <a:p>
            <a:r>
              <a:t>3. 2026-09-21 v0.4.5 release 仍称“显式源＋白名单＋trust_remote_code”三道门，但当前 README 和固定源码已改成上述信任模式。材料应依据固定源码，不能沿用历史 release 的 opt-in 保证。</a:t>
            </a:r>
          </a:p>
          <a:p>
            <a:r>
              <a:t>4. `ms-agent agent` 当前上传包含结构化配置清洗和内容脱敏：API key/token、MCP env/headers、URL 认证参数、命令行参数及高置信值；无法解析的关键配置 fail-closed，停止上传。启发式扫描不能保证所有个人信息被消除，特别是 memory/指令里的业务机密。隐私/授权仍需发布者审阅。</a:t>
            </a:r>
          </a:p>
          <a:p/>
          <a:p>
            <a:r>
              <a:t>证据：[Hub 插件信任模型](https://github.com/modelscope/modelscope_hub/blob/d6f639c97f7afcde533d7036f715c52085258639/src/modelscope_hub/agent/_plugin.py)、[Hub README](https://github.com/modelscope/modelscope_hub/blob/d6f639c97f7afcde533d7036f715c52085258639/README.md)、[上传内容脱敏](https://github.com/modelscope/ms-agent/blob/fd6ea88422a399db8b303848dc6c6ec4e17daf6e/ms_agent/agent_hub/_secrets.py)、[配置结构清洗](https://github.com/modelscope/ms-agent/blob/fd6ea88422a399db8b303848dc6c6ec4e17daf6e/ms_agent/agent_hub/_workspace.py)。</a:t>
            </a:r>
          </a:p>
          <a:p/>
          <a:p>
            <a:r>
              <a:t>## 七、与 ModelScope 周边能力的关系</a:t>
            </a:r>
          </a:p>
          <a:p/>
          <a:p>
            <a:r>
              <a:t>- **模型与数据仓库**：统一 SDK、账户与文件存储经验是平台底座；模型资源不是 AgentHub Agent 数量，下载模型不等于 Agent 安装。</a:t>
            </a:r>
          </a:p>
          <a:p>
            <a:r>
              <a:t>- **Skills 与 MCP**：作为 Agent 的操作能力或外部工具依赖，可随 Agent 配置和技能目录组织，也有独立资产中心；不得把技能/MCP 数量计入 Agent 生态。</a:t>
            </a:r>
          </a:p>
          <a:p>
            <a:r>
              <a:t>- **MS-Agent**：是实际承载 Agent 对话、工具、Skills、模型和任务执行的框架，同时提供工作区管理客户端；它不是 AgentHub 网页本身。</a:t>
            </a:r>
          </a:p>
          <a:p>
            <a:r>
              <a:t>- **QwenPaw**：官方安装插件当前适配的另一个运行宿主，安装后仍依赖宿主及用户本地模型/工具配置。</a:t>
            </a:r>
          </a:p>
          <a:p>
            <a:r>
              <a:t>- **Studio 创空间**：SDK 支持独立部署 Gradio/Streamlit/Docker 等应用；MCP 也有部署及在线服务发现。尚不能由此推导 AgentHub 任意仓库已有统一云运行、弹性托管或一键生产发布。</a:t>
            </a:r>
          </a:p>
          <a:p>
            <a:r>
              <a:t>- **AgentScope**：邻接 Agent 框架生态，不在本次固定快照 ms-agent AgentHub 注册的七个工作区适配器中；不要列为当前已验证安装框架。</a:t>
            </a:r>
          </a:p>
          <a:p/>
          <a:p>
            <a:r>
              <a:t>## 八、PPT 推荐压缩内容</a:t>
            </a:r>
          </a:p>
          <a:p/>
          <a:p>
            <a:r>
              <a:t>标题：**复用 ModelScope 仓库底座，用工具链连接资产发布与本地运行**。</a:t>
            </a:r>
          </a:p>
          <a:p/>
          <a:p>
            <a:r>
              <a:t>四层图：</a:t>
            </a:r>
          </a:p>
          <a:p/>
          <a:p>
            <a:r>
              <a:t>1. **仓库与权限**：owner/name · 文件与版本 · 公私有 · Token。</a:t>
            </a:r>
          </a:p>
          <a:p>
            <a:r>
              <a:t>2. **SDK / CLI**：上传、下载、检索/列举；Python/OpenAPI 接入。</a:t>
            </a:r>
          </a:p>
          <a:p>
            <a:r>
              <a:t>3. **安装与迁移**：官方插件安装注册；ms-agent 同步、转换、备份恢复。</a:t>
            </a:r>
          </a:p>
          <a:p>
            <a:r>
              <a:t>4. **宿主与资源**：MS-Agent / QwenPaw；模型、Skills、MCP；Studio 为相邻部署能力。</a:t>
            </a:r>
          </a:p>
          <a:p/>
          <a:p>
            <a:r>
              <a:t>底部边界：**2 种稳定框架＋5 种实验适配；安装≠云托管；文件完整性≠资产安全认证。**</a:t>
            </a:r>
          </a:p>
          <a:p/>
          <a:p>
            <a:r>
              <a:t>若页面信息拥挤，身份与安全仅留“权限、密钥过滤、官方插件来源校验、覆盖前备份”，详细差异放讲者备注。</a:t>
            </a:r>
          </a:p>
          <a:p/>
          <a:p>
            <a:r>
              <a:t>## 九、快照与可复现记录</a:t>
            </a:r>
          </a:p>
          <a:p/>
          <a:p>
            <a:r>
              <a:t>- modelscope/modelscope_hub HEAD：`d6f639c97f7afcde533d7036f715c52085258639`，2026-10-09T16:04:44+08:00，Fix cross-region download (#73)。原件 `sources/tooling/modelscope_hub/`。</a:t>
            </a:r>
          </a:p>
          <a:p>
            <a:r>
              <a:t>- modelscope/ms-agent HEAD：`fd6ea88422a399db8b303848dc6c6ec4e17daf6e`，2026-10-19T08:42:26+08:00，feat: add session forks to SDK and WebUI (#982)。原件 `sources/tooling/ms-agent/`。</a:t>
            </a:r>
          </a:p>
          <a:p>
            <a:r>
              <a:t>- 官方模型仓库 modelscope/agent-hub-plugin master 读取版本 `0.3.6`，清单 vendored_from 为 ms-agent `7c9b51f5295b841c3c9ea5db0f48465181f23663`。仓库内容不是 GitHub 发布源码，不混淆 vendored commit 与线上插件完整包版本。原件 `sources/tooling/plugin/`；下载清单及 README、entry、download、framework 定义，未导入执行。</a:t>
            </a:r>
          </a:p>
          <a:p>
            <a:r>
              <a:t>- GitHub API 匿名速率限制，改用 git ls-remote + 浅克隆取得不可变 SHA；克隆仅研究源代码，未安装或执行仓库代码。</a:t>
            </a:r>
          </a:p>
          <a:p/>
          <a:p/>
          <a:p>
            <a:r>
              <a:t># AgentHub 发布与使用：公开页面和前端流程核对</a:t>
            </a:r>
          </a:p>
          <a:p/>
          <a:p>
            <a:r>
              <a:t>调研日期：2026-10-23。读取 ModelScope 官方网页、前端版本 2.13.170 以及官方源码。未登录、创建、导入、启动、发布或安装 Agent，因此下文确认的是公开入口、界面逻辑和接口契约，不将它们当作运行成功实测。</a:t>
            </a:r>
          </a:p>
          <a:p/>
          <a:p>
            <a:r>
              <a:t>## 1. 资产仓库与实验场实例是两个对象</a:t>
            </a:r>
          </a:p>
          <a:p/>
          <a:p>
            <a:r>
              <a:t>`/agents` 是公开 Agent 资产目录，详情提供介绍、Skills、文件和交流反馈；`/agents/playground` 是个人在线体验入口，含我的 Agent、最近使用、自定义创建、从 AgentHub 导入。实验场有实例 UUID 和运行状态，不应把公开仓库数量当作在线运行实例数量。</a:t>
            </a:r>
          </a:p>
          <a:p/>
          <a:p>
            <a:r>
              <a:t>依据：[AgentHub](https://www.modelscope.cn/agents)、[实验场](https://www.modelscope.cn/agents/playground)、[官方首页脚本](https://g.alicdn.com/sail-web/maas/2.13.170/p__agent__Home__index.async.js)、[实验场脚本](https://g.alicdn.com/sail-web/maas/2.13.170/p__agent__Playground__index.async.js)。原件存于 `sources/publishing/` 与 `sources/ecosystem/`。</a:t>
            </a:r>
          </a:p>
          <a:p/>
          <a:p>
            <a:r>
              <a:t>## 2. 发布的三种入口</a:t>
            </a:r>
          </a:p>
          <a:p/>
          <a:p>
            <a:r>
              <a:t>### 网页自定义创建</a:t>
            </a:r>
          </a:p>
          <a:p/>
          <a:p>
            <a:r>
              <a:t>公开首页“新建 Agent”提供自定义创建、通过 CLI 上传。自定义创建入口要求登录，不能由未登录页面证明所有表单及审核流程已经实测。创建路由接受 custom/import 模式，具体操作交由共享表单组件。旧 AgentFabric/GPTs 创空间创建教程不作为该新 Hub 的流程依据。</a:t>
            </a:r>
          </a:p>
          <a:p/>
          <a:p>
            <a:r>
              <a:t>### 本地 CLI 上传</a:t>
            </a:r>
          </a:p>
          <a:p/>
          <a:p>
            <a:r>
              <a:t>当前官网 CLI 提示使用 `modelscope-hub`，`modelscope agent upload -r owner/agent --local-dir ...` 从本地目录上传，远端不存在时创建仓库。页面展示 MS-Agent 和 QwenPaw 两种选项。`modelscope` 与 `ms-hub` 等是统一 Hub CLI 的别名，和框架包 `ms-agent agent` 不是同一个程序。</a:t>
            </a:r>
          </a:p>
          <a:p/>
          <a:p>
            <a:r>
              <a:t>官网示例属于原始目录传输。框架专用 `ms-agent agent upload` 才另外包含可移植文件收集、模板筛选、配置清洗及密钥脱敏，不应把后者保护范围覆盖到任意目录原始上传。</a:t>
            </a:r>
          </a:p>
          <a:p/>
          <a:p>
            <a:r>
              <a:t>### 实验场导出发布</a:t>
            </a:r>
          </a:p>
          <a:p/>
          <a:p>
            <a:r>
              <a:t>实验场实例菜单有“发布至 AgentHub”“版本更新”“查看日志”，导出窗口可选择需导出的 Agent。它证明平台设计了在线实例到公开资产的发布通道；本次未实际触发发布，也未验证后端审核与版本生效时延。</a:t>
            </a:r>
          </a:p>
          <a:p/>
          <a:p>
            <a:r>
              <a:t>依据：[首页脚本](https://g.alicdn.com/sail-web/maas/2.13.170/p__agent__Home__index.async.js)、[创建路由](https://g.alicdn.com/sail-web/maas/2.13.170/p__agent__Create__index.async.js)、[实例详情脚本](https://g.alicdn.com/sail-web/maas/2.13.170/p__agent__Playground__Detail__index.async.js)。</a:t>
            </a:r>
          </a:p>
          <a:p/>
          <a:p>
            <a:r>
              <a:t>## 3. 消费分为本地与在线</a:t>
            </a:r>
          </a:p>
          <a:p/>
          <a:p>
            <a:r>
              <a:t>| 路径 | 当前公开能力 | 仍需满足的条件 |</a:t>
            </a:r>
          </a:p>
          <a:p>
            <a:r>
              <a:t>|---|---|---|</a:t>
            </a:r>
          </a:p>
          <a:p>
            <a:r>
              <a:t>| 查看及获取 | 搜索、框架/场景分类、介绍、系统文件、Skills/MCP、文件树与 ZIP 下载 | 元数据和文件应结合阅读，浏览/下载不是效果认证 |</a:t>
            </a:r>
          </a:p>
          <a:p>
            <a:r>
              <a:t>| SDK/CLI 安装 | `modelscope agent install -r owner/name`；Hub SDK 委派官方安装插件 | 当前稳定框架 MS-Agent/QwenPaw，需匹配宿主环境和配置；原始下载不等于注册安装 |</a:t>
            </a:r>
          </a:p>
          <a:p>
            <a:r>
              <a:t>| 本地运行 | 由 MS-Agent、QwenPaw 加载工作区并执行任务 | 模型服务、MCP、工具依赖及用户授权另行就绪 |</a:t>
            </a:r>
          </a:p>
          <a:p>
            <a:r>
              <a:t>| 在线实验场 | 从 Hub 导入或自定义创建，选择框架与系统设定，添加模型、Skills、MCP，创建实例后对话 | 页面含登录判断；具体额度、算力收费、实例配额及全量兼容范围未通过真实运行确认 |</a:t>
            </a:r>
          </a:p>
          <a:p>
            <a:r>
              <a:t>| 实例管理 | 运行中/启动中/已休眠/启动失败，唤醒、重启、下线、删除、日志、版本更新 | 这些是公开前端能力入口，不能推导服务 SLA 或每个 Agent 都能成功启动 |</a:t>
            </a:r>
          </a:p>
          <a:p/>
          <a:p>
            <a:r>
              <a:t>实验场创建表单当前提供 MS-Agent 与 QwenPaw。系统设定包含身份、行为、用户偏好等核心文件。创建实例的公开前端调用组织 `framework_type`、`models`、`skills`、`mcps` 等参数，成功后导航 `/agents/playground/instances/&lt;uuid&gt;`。这体现了“资产组合、运行实例”之间的关联，不是把下载的 ZIP 直接当云容器运行。</a:t>
            </a:r>
          </a:p>
          <a:p/>
          <a:p>
            <a:r>
              <a:t>依据：[股票行情示例详情](https://www.modelscope.cn/agents/ms-agent/stock_data_agent)、[实验场创建脚本](https://g.alicdn.com/sail-web/maas/2.13.170/p__agent__Playground__Create__index.async.js)、[实验场详情脚本](https://g.alicdn.com/sail-web/maas/2.13.170/p__agent__Playground__Detail__index.async.js)、[Hub SDK](https://github.com/modelscope/modelscope_hub)、[MS-Agent](https://github.com/modelscope/ms-agent)。</a:t>
            </a:r>
          </a:p>
          <a:p/>
          <a:p>
            <a:r>
              <a:t>## 4. 应修正的旧表述</a:t>
            </a:r>
          </a:p>
          <a:p/>
          <a:p>
            <a:r>
              <a:t>- “AgentHub 本身不跑 Agent”过于绝对。应写为：**Hub 托管分发工作区，实验场提供在线体验，本地工作区交给对应运行时执行。**</a:t>
            </a:r>
          </a:p>
          <a:p>
            <a:r>
              <a:t>- “支持 7 种框架”需要说明工具和稳定性：公开目录两种框架；官方安装插件两种；`ms-agent agent` 两种默认稳定，另五种需开启实验选项。</a:t>
            </a:r>
          </a:p>
          <a:p>
            <a:r>
              <a:t>- “安装即可使用全部能力”不准确。文件、框架注册、模型授权、MCP 外部服务及实际任务完成分别验证。</a:t>
            </a:r>
          </a:p>
          <a:p>
            <a:r>
              <a:t>- “没有 Agent 安全治理”证据过强。当前有权限、上传清洗、插件来源/完整性、备份等机制，但公开卡片未见统一 Agent 质量/安全评分，也未验证所有发布通道均执行相同检查。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image" Target="../media/image3.png" /><ns0:Relationship Id="rId5" Type="http://schemas.openxmlformats.org/officeDocument/2006/relationships/image" Target="../media/image4.png" /><ns0:Relationship Id="rId6" Type="http://schemas.openxmlformats.org/officeDocument/2006/relationships/image" Target="../media/image5.png" /><ns0:Relationship Id="rId7" Type="http://schemas.openxmlformats.org/officeDocument/2006/relationships/image" Target="../media/image6.png" /><ns0:Relationship Id="rId8" Type="http://schemas.openxmlformats.org/officeDocument/2006/relationships/image" Target="../media/image7.png" /><ns0:Relationship Id="rId9" Type="http://schemas.openxmlformats.org/officeDocument/2006/relationships/image" Target="../media/image8.png" /><ns0:Relationship Id="rId10" Type="http://schemas.openxmlformats.org/officeDocument/2006/relationships/image" Target="../media/image9.png" /><ns0:Relationship Id="rId11" Type="http://schemas.openxmlformats.org/officeDocument/2006/relationships/image" Target="../media/image10.png" /><ns0:Relationship Id="rId1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1.png" /><ns0:Relationship Id="rId3" Type="http://schemas.openxmlformats.org/officeDocument/2006/relationships/image" Target="../media/image12.png" /><ns0:Relationship Id="rId4" Type="http://schemas.openxmlformats.org/officeDocument/2006/relationships/image" Target="../media/image13.png" /><ns0:Relationship Id="rId5" Type="http://schemas.openxmlformats.org/officeDocument/2006/relationships/image" Target="../media/image14.png" /><ns0:Relationship Id="rId6" Type="http://schemas.openxmlformats.org/officeDocument/2006/relationships/image" Target="../media/image15.png" /><ns0:Relationship Id="rId7" Type="http://schemas.openxmlformats.org/officeDocument/2006/relationships/image" Target="../media/image16.png" /><ns0:Relationship Id="rId8" Type="http://schemas.openxmlformats.org/officeDocument/2006/relationships/image" Target="../media/image17.png" /><ns0:Relationship Id="rId9" Type="http://schemas.openxmlformats.org/officeDocument/2006/relationships/image" Target="../media/image18.png" /><ns0:Relationship Id="rId10" Type="http://schemas.openxmlformats.org/officeDocument/2006/relationships/image" Target="../media/image19.png" /><ns0:Relationship Id="rId11" Type="http://schemas.openxmlformats.org/officeDocument/2006/relationships/image" Target="../media/image20.png" /><ns0:Relationship Id="rId12" Type="http://schemas.openxmlformats.org/officeDocument/2006/relationships/image" Target="../media/image21.png" /><ns0:Relationship Id="rId13" Type="http://schemas.openxmlformats.org/officeDocument/2006/relationships/image" Target="../media/image22.png" /><ns0:Relationship Id="rId14" Type="http://schemas.openxmlformats.org/officeDocument/2006/relationships/image" Target="../media/image23.png" /><ns0:Relationship Id="rId15" Type="http://schemas.openxmlformats.org/officeDocument/2006/relationships/image" Target="../media/image10.png" /><ns0:Relationship Id="rId16" Type="http://schemas.openxmlformats.org/officeDocument/2006/relationships/notesSlide" Target="../notesSlides/notesSlide2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生态与发布使用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22357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ModelScope AgentHub 生态与平台能力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2026.10.23 · 1/2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7174409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AgentHub 托管 Agent 工作区，连接发布、安装与在线体验</a:t>
            </a:r>
            <a:endParaRPr/>
          </a:p>
        </p:txBody>
      </p:sp>
      <p:cxnSp>
        <p:nvCxnSpPr>
          <p:cNvPr id="8" name="Editable line 8"/>
          <p:cNvCxnSpPr/>
          <p:nvPr/>
        </p:nvCxnSpPr>
        <p:spPr>
          <a:xfrm>
            <a:off x="463734" y="956113"/>
            <a:ext cx="11264532" cy="0"/>
          </a:xfrm>
          <a:prstGeom prst="line">
            <a:avLst/>
          </a:prstGeom>
          <a:ln w="11801" cap="flat">
            <a:solidFill>
              <a:srgbClr val="B5333B"/>
            </a:solidFill>
            <a:prstDash val="solid"/>
          </a:ln>
        </p:spPr>
      </p:cxnSp>
      <p:sp>
        <p:nvSpPr>
          <p:cNvPr id="9" name="文字 9"/>
          <p:cNvSpPr txBox="1"/>
          <p:nvPr/>
        </p:nvSpPr>
        <p:spPr>
          <a:xfrm>
            <a:off x="457200" y="1052810"/>
            <a:ext cx="308233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统一托管、分发 Agent 资产，并同步到工作区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431231"/>
            <a:ext cx="36131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公开生态：供给集中，以角色与工作区资产为主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767781"/>
            <a:ext cx="532011" cy="438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669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2161481"/>
            <a:ext cx="9651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Agent 仓库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127250" y="1767781"/>
            <a:ext cx="358973" cy="438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33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127250" y="2161481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来源命名空间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3797300" y="1767781"/>
            <a:ext cx="971153" cy="438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3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16,298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3797300" y="2161481"/>
            <a:ext cx="1079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累计下载字段合计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498031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供给分布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2752030"/>
            <a:ext cx="2539703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前三来源占 90.9%，名称不等于主体认证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57200" y="3050480"/>
            <a:ext cx="88145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@jnMetaCode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2032000" y="3075881"/>
            <a:ext cx="2413000" cy="146050"/>
          </a:xfrm>
          <a:prstGeom prst="rect">
            <a:avLst/>
          </a:prstGeom>
          <a:solidFill>
            <a:srgbClr val="F1F2F4">
              <a:alpha val="100000"/>
            </a:srgbClr>
          </a:solidFill>
          <a:ln>
            <a:noFill/>
          </a:ln>
        </p:spPr>
      </p:sp>
      <p:sp>
        <p:nvSpPr>
          <p:cNvPr id="21" name="形状 21"/>
          <p:cNvSpPr/>
          <p:nvPr/>
        </p:nvSpPr>
        <p:spPr>
          <a:xfrm>
            <a:off x="2032000" y="3075881"/>
            <a:ext cx="2413000" cy="1460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2" name="文字 22"/>
          <p:cNvSpPr txBox="1"/>
          <p:nvPr/>
        </p:nvSpPr>
        <p:spPr>
          <a:xfrm>
            <a:off x="4584700" y="3050480"/>
            <a:ext cx="24090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269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57200" y="3323531"/>
            <a:ext cx="94932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@msitarzewski</a:t>
            </a:r>
            <a:endParaRPr/>
          </a:p>
        </p:txBody>
      </p:sp>
      <p:sp>
        <p:nvSpPr>
          <p:cNvPr id="24" name="形状 24"/>
          <p:cNvSpPr/>
          <p:nvPr/>
        </p:nvSpPr>
        <p:spPr>
          <a:xfrm>
            <a:off x="2032000" y="3348931"/>
            <a:ext cx="2413000" cy="146050"/>
          </a:xfrm>
          <a:prstGeom prst="rect">
            <a:avLst/>
          </a:prstGeom>
          <a:solidFill>
            <a:srgbClr val="F1F2F4">
              <a:alpha val="100000"/>
            </a:srgbClr>
          </a:solidFill>
          <a:ln>
            <a:noFill/>
          </a:ln>
        </p:spPr>
      </p:sp>
      <p:sp>
        <p:nvSpPr>
          <p:cNvPr id="25" name="形状 25"/>
          <p:cNvSpPr/>
          <p:nvPr/>
        </p:nvSpPr>
        <p:spPr>
          <a:xfrm>
            <a:off x="2032000" y="3348931"/>
            <a:ext cx="2368550" cy="1460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6" name="文字 26"/>
          <p:cNvSpPr txBox="1"/>
          <p:nvPr/>
        </p:nvSpPr>
        <p:spPr>
          <a:xfrm>
            <a:off x="4584700" y="3323531"/>
            <a:ext cx="24090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264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57200" y="3596581"/>
            <a:ext cx="49649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@tairov</a:t>
            </a:r>
            <a:endParaRPr/>
          </a:p>
        </p:txBody>
      </p:sp>
      <p:sp>
        <p:nvSpPr>
          <p:cNvPr id="28" name="形状 28"/>
          <p:cNvSpPr/>
          <p:nvPr/>
        </p:nvSpPr>
        <p:spPr>
          <a:xfrm>
            <a:off x="2032000" y="3621981"/>
            <a:ext cx="2413000" cy="146050"/>
          </a:xfrm>
          <a:prstGeom prst="rect">
            <a:avLst/>
          </a:prstGeom>
          <a:solidFill>
            <a:srgbClr val="F1F2F4">
              <a:alpha val="100000"/>
            </a:srgbClr>
          </a:solidFill>
          <a:ln>
            <a:noFill/>
          </a:ln>
        </p:spPr>
      </p:sp>
      <p:sp>
        <p:nvSpPr>
          <p:cNvPr id="29" name="形状 29"/>
          <p:cNvSpPr/>
          <p:nvPr/>
        </p:nvSpPr>
        <p:spPr>
          <a:xfrm>
            <a:off x="2032000" y="3621981"/>
            <a:ext cx="673100" cy="1460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0" name="文字 30"/>
          <p:cNvSpPr txBox="1"/>
          <p:nvPr/>
        </p:nvSpPr>
        <p:spPr>
          <a:xfrm>
            <a:off x="4584700" y="3596581"/>
            <a:ext cx="16480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75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457200" y="3869630"/>
            <a:ext cx="11539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 30 个命名空间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2032000" y="3895030"/>
            <a:ext cx="2413000" cy="146050"/>
          </a:xfrm>
          <a:prstGeom prst="rect">
            <a:avLst/>
          </a:prstGeom>
          <a:solidFill>
            <a:srgbClr val="F1F2F4">
              <a:alpha val="100000"/>
            </a:srgbClr>
          </a:solidFill>
          <a:ln>
            <a:noFill/>
          </a:ln>
        </p:spPr>
      </p:sp>
      <p:sp>
        <p:nvSpPr>
          <p:cNvPr id="33" name="形状 33"/>
          <p:cNvSpPr/>
          <p:nvPr/>
        </p:nvSpPr>
        <p:spPr>
          <a:xfrm>
            <a:off x="2032000" y="3895030"/>
            <a:ext cx="546100" cy="1460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4584700" y="3869630"/>
            <a:ext cx="16480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61</a:t>
            </a:r>
            <a:endParaRPr/>
          </a:p>
        </p:txBody>
      </p:sp>
      <p:cxnSp>
        <p:nvCxnSpPr>
          <p:cNvPr id="35" name="Editable line 35"/>
          <p:cNvCxnSpPr/>
          <p:nvPr/>
        </p:nvCxnSpPr>
        <p:spPr>
          <a:xfrm>
            <a:off x="463732" y="4256981"/>
            <a:ext cx="5006702" cy="0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sp>
        <p:nvSpPr>
          <p:cNvPr id="36" name="文字 36"/>
          <p:cNvSpPr txBox="1"/>
          <p:nvPr/>
        </p:nvSpPr>
        <p:spPr>
          <a:xfrm>
            <a:off x="457200" y="4403031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框架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092200" y="4403031"/>
            <a:ext cx="331261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MS-Agent 340（50.8%）／QwenPaw 329（49.2%）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457200" y="4714181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场景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1092200" y="4714181"/>
            <a:ext cx="4287242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开发工具 259（38.7%）、营销 86（12.9%）、教育 39（5.8%）；分类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1092200" y="490974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可多选。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457200" y="5215831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组合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092200" y="5215831"/>
            <a:ext cx="4357985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显式声明 Skills 的仓库 28 个，MCP 11 个；元数据未声明，不等于运行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092200" y="5411391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时未使用。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57200" y="5717481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1092200" y="5717481"/>
            <a:ext cx="4324945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单仓库下载中位数 4，下载前十占 63.7%；下载量不代表用户数或成功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1092200" y="591304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运行量。</a:t>
            </a:r>
            <a:endParaRPr/>
          </a:p>
        </p:txBody>
      </p:sp>
      <p:cxnSp>
        <p:nvCxnSpPr>
          <p:cNvPr id="47" name="Editable line 47"/>
          <p:cNvCxnSpPr/>
          <p:nvPr/>
        </p:nvCxnSpPr>
        <p:spPr>
          <a:xfrm>
            <a:off x="5690658" y="1415443"/>
            <a:ext cx="0" cy="4914547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sp>
        <p:nvSpPr>
          <p:cNvPr id="48" name="文字 48"/>
          <p:cNvSpPr txBox="1"/>
          <p:nvPr/>
        </p:nvSpPr>
        <p:spPr>
          <a:xfrm>
            <a:off x="5930900" y="1431231"/>
            <a:ext cx="37846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发布与使用：工作区入库后，本地与在线两路消费</a:t>
            </a:r>
            <a:endParaRPr/>
          </a:p>
        </p:txBody>
      </p:sp>
      <p:sp>
        <p:nvSpPr>
          <p:cNvPr id="49" name="形状 49"/>
          <p:cNvSpPr/>
          <p:nvPr/>
        </p:nvSpPr>
        <p:spPr>
          <a:xfrm>
            <a:off x="5930900" y="1780481"/>
            <a:ext cx="580390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0" name="文字 50"/>
          <p:cNvSpPr txBox="1"/>
          <p:nvPr/>
        </p:nvSpPr>
        <p:spPr>
          <a:xfrm>
            <a:off x="6045200" y="1888431"/>
            <a:ext cx="146605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① 准备 Agent 工作区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6045200" y="2151261"/>
            <a:ext cx="3547071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角色/规则文件、Skills、MCP 配置、README 与框架信息</a:t>
            </a:r>
            <a:endParaRPr/>
          </a:p>
        </p:txBody>
      </p:sp>
      <p:cxnSp>
        <p:nvCxnSpPr>
          <p:cNvPr id="52" name="Editable line 52"/>
          <p:cNvCxnSpPr/>
          <p:nvPr/>
        </p:nvCxnSpPr>
        <p:spPr>
          <a:xfrm>
            <a:off x="8838142" y="2440880"/>
            <a:ext cx="0" cy="23177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53" name="文字 53"/>
          <p:cNvSpPr/>
          <p:nvPr/>
        </p:nvSpPr>
        <p:spPr>
          <a:xfrm rot="10800000">
            <a:off x="8794750" y="260598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54" name="形状 54"/>
          <p:cNvSpPr/>
          <p:nvPr/>
        </p:nvSpPr>
        <p:spPr>
          <a:xfrm>
            <a:off x="5930900" y="2682181"/>
            <a:ext cx="5803900" cy="781050"/>
          </a:xfrm>
          <a:prstGeom prst="roundRect">
            <a:avLst>
              <a:gd name="adj" fmla="val 1138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5" name="文字 55"/>
          <p:cNvSpPr txBox="1"/>
          <p:nvPr/>
        </p:nvSpPr>
        <p:spPr>
          <a:xfrm>
            <a:off x="6045200" y="2790131"/>
            <a:ext cx="143728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② 发布到 AgentHub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6045200" y="3052961"/>
            <a:ext cx="5571729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网页自定义创建或 CLI 上传本地目录；实验场也有“发布至 AgentHub”入口。创建与发布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6045200" y="3255467"/>
            <a:ext cx="571501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需登录。</a:t>
            </a:r>
            <a:endParaRPr/>
          </a:p>
        </p:txBody>
      </p:sp>
      <p:cxnSp>
        <p:nvCxnSpPr>
          <p:cNvPr id="58" name="Editable line 58"/>
          <p:cNvCxnSpPr/>
          <p:nvPr/>
        </p:nvCxnSpPr>
        <p:spPr>
          <a:xfrm>
            <a:off x="8838142" y="3463230"/>
            <a:ext cx="0" cy="23495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59" name="文字 59"/>
          <p:cNvSpPr/>
          <p:nvPr/>
        </p:nvSpPr>
        <p:spPr>
          <a:xfrm rot="10800000">
            <a:off x="8794750" y="362833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60" name="形状 60"/>
          <p:cNvSpPr/>
          <p:nvPr/>
        </p:nvSpPr>
        <p:spPr>
          <a:xfrm>
            <a:off x="5930900" y="3704530"/>
            <a:ext cx="5803900" cy="654050"/>
          </a:xfrm>
          <a:prstGeom prst="roundRect">
            <a:avLst>
              <a:gd name="adj" fmla="val 1359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61" name="文字 61"/>
          <p:cNvSpPr txBox="1"/>
          <p:nvPr/>
        </p:nvSpPr>
        <p:spPr>
          <a:xfrm>
            <a:off x="6045200" y="3812481"/>
            <a:ext cx="1723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③ 搜索、筛选并查看资产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6045200" y="4075311"/>
            <a:ext cx="3946228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按框架/场景选择，查看介绍、系统文件、Skills、MCP 和文件树</a:t>
            </a:r>
            <a:endParaRPr/>
          </a:p>
        </p:txBody>
      </p:sp>
      <p:cxnSp>
        <p:nvCxnSpPr>
          <p:cNvPr id="63" name="Editable line 63"/>
          <p:cNvCxnSpPr/>
          <p:nvPr/>
        </p:nvCxnSpPr>
        <p:spPr>
          <a:xfrm>
            <a:off x="8838142" y="4358581"/>
            <a:ext cx="0" cy="18415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cxnSp>
        <p:nvCxnSpPr>
          <p:cNvPr id="64" name="Editable line 64"/>
          <p:cNvCxnSpPr/>
          <p:nvPr/>
        </p:nvCxnSpPr>
        <p:spPr>
          <a:xfrm>
            <a:off x="7318464" y="4554373"/>
            <a:ext cx="3028772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cxnSp>
        <p:nvCxnSpPr>
          <p:cNvPr id="65" name="Editable line 65"/>
          <p:cNvCxnSpPr/>
          <p:nvPr/>
        </p:nvCxnSpPr>
        <p:spPr>
          <a:xfrm>
            <a:off x="7320492" y="4552256"/>
            <a:ext cx="0" cy="20637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66" name="文字 66"/>
          <p:cNvSpPr/>
          <p:nvPr/>
        </p:nvSpPr>
        <p:spPr>
          <a:xfrm rot="10800000">
            <a:off x="7277100" y="468878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cxnSp>
        <p:nvCxnSpPr>
          <p:cNvPr id="67" name="Editable line 67"/>
          <p:cNvCxnSpPr/>
          <p:nvPr/>
        </p:nvCxnSpPr>
        <p:spPr>
          <a:xfrm>
            <a:off x="10356850" y="4552256"/>
            <a:ext cx="0" cy="206375"/>
          </a:xfrm>
          <a:prstGeom prst="line">
            <a:avLst/>
          </a:prstGeom>
          <a:ln w="8226" cap="flat">
            <a:solidFill>
              <a:srgbClr val="566472"/>
            </a:solidFill>
            <a:prstDash val="solid"/>
          </a:ln>
        </p:spPr>
      </p:cxnSp>
      <p:sp>
        <p:nvSpPr>
          <p:cNvPr id="68" name="文字 68"/>
          <p:cNvSpPr/>
          <p:nvPr/>
        </p:nvSpPr>
        <p:spPr>
          <a:xfrm rot="10800000">
            <a:off x="10312400" y="468878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69" name="形状 69"/>
          <p:cNvSpPr/>
          <p:nvPr/>
        </p:nvSpPr>
        <p:spPr>
          <a:xfrm>
            <a:off x="5930900" y="4764981"/>
            <a:ext cx="2781300" cy="1047750"/>
          </a:xfrm>
          <a:prstGeom prst="roundRect">
            <a:avLst>
              <a:gd name="adj" fmla="val 848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70" name="文字 70"/>
          <p:cNvSpPr txBox="1"/>
          <p:nvPr/>
        </p:nvSpPr>
        <p:spPr>
          <a:xfrm>
            <a:off x="6045200" y="487293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本地使用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6045200" y="5135761"/>
            <a:ext cx="1890614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 ZIP，或用 SDK / CLI 安装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6045200" y="5338267"/>
            <a:ext cx="1689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官方插件适配并注册到宿主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6045200" y="5540772"/>
            <a:ext cx="1884363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由 MS-Agent / QwenPaw 执行</a:t>
            </a:r>
            <a:endParaRPr/>
          </a:p>
        </p:txBody>
      </p:sp>
      <p:sp>
        <p:nvSpPr>
          <p:cNvPr id="74" name="形状 74"/>
          <p:cNvSpPr/>
          <p:nvPr/>
        </p:nvSpPr>
        <p:spPr>
          <a:xfrm>
            <a:off x="8953500" y="4764981"/>
            <a:ext cx="2781301" cy="1047750"/>
          </a:xfrm>
          <a:prstGeom prst="roundRect">
            <a:avLst>
              <a:gd name="adj" fmla="val 848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75" name="文字 75"/>
          <p:cNvSpPr txBox="1"/>
          <p:nvPr/>
        </p:nvSpPr>
        <p:spPr>
          <a:xfrm>
            <a:off x="9067801" y="487293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在线体验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9067801" y="5135761"/>
            <a:ext cx="1150144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导入 Agent 实验场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9067801" y="5338267"/>
            <a:ext cx="1547812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配置模型、Skills 与 MCP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9067801" y="5540772"/>
            <a:ext cx="1689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提供对话、唤醒和日志入口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5930900" y="5984181"/>
            <a:ext cx="572819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示例：stock_data_agent 组合股票查询 Skill 与 stock-sdk MCP，展示了角色说明之外的工具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5930900" y="617974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工作流。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457200" y="6445250"/>
            <a:ext cx="7305278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快照：2026-10-23，公开列表 28 页/669 个唯一仓库。统计为短时间分页快照。在线入口未登录运行，不能据此认定全量 Agent 均可成功运行。 详细口径、固定源码版本与限制见备注及伴生研究文档。</a:t>
            </a:r>
            <a:endParaRPr/>
          </a:p>
        </p:txBody>
      </p:sp>
      <p:pic>
        <p:nvPicPr>
          <p:cNvPr id="82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平台工具与能力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22357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ModelScope AgentHub 生态与平台能力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2026.10.23 · 2/2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858099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魔搭用仓库与工具链管理资产，用框架与实验场承接运行</a:t>
            </a:r>
            <a:endParaRPr/>
          </a:p>
        </p:txBody>
      </p:sp>
      <p:cxnSp>
        <p:nvCxnSpPr>
          <p:cNvPr id="8" name="Editable line 8"/>
          <p:cNvCxnSpPr/>
          <p:nvPr/>
        </p:nvCxnSpPr>
        <p:spPr>
          <a:xfrm>
            <a:off x="463734" y="962816"/>
            <a:ext cx="11264532" cy="0"/>
          </a:xfrm>
          <a:prstGeom prst="line">
            <a:avLst/>
          </a:prstGeom>
          <a:ln w="12662" cap="flat">
            <a:solidFill>
              <a:srgbClr val="B5333B"/>
            </a:solidFill>
            <a:prstDash val="solid"/>
          </a:ln>
        </p:spPr>
      </p:cxnSp>
      <p:sp>
        <p:nvSpPr>
          <p:cNvPr id="9" name="文字 9"/>
          <p:cNvSpPr txBox="1"/>
          <p:nvPr/>
        </p:nvSpPr>
        <p:spPr>
          <a:xfrm>
            <a:off x="457200" y="1186160"/>
            <a:ext cx="12128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资产文件与依赖</a:t>
            </a:r>
            <a:endParaRPr/>
          </a:p>
        </p:txBody>
      </p:sp>
      <p:sp>
        <p:nvSpPr>
          <p:cNvPr id="10" name="形状 10"/>
          <p:cNvSpPr/>
          <p:nvPr/>
        </p:nvSpPr>
        <p:spPr>
          <a:xfrm>
            <a:off x="457200" y="1465560"/>
            <a:ext cx="1778000" cy="596900"/>
          </a:xfrm>
          <a:prstGeom prst="roundRect">
            <a:avLst>
              <a:gd name="adj" fmla="val 148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1" name="文字 11"/>
          <p:cNvSpPr txBox="1"/>
          <p:nvPr/>
        </p:nvSpPr>
        <p:spPr>
          <a:xfrm>
            <a:off x="571500" y="157351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角色与规则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571500" y="1827808"/>
            <a:ext cx="1525687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AGENTS.md / SOUL.md</a:t>
            </a:r>
            <a:endParaRPr/>
          </a:p>
        </p:txBody>
      </p:sp>
      <p:sp>
        <p:nvSpPr>
          <p:cNvPr id="13" name="形状 13"/>
          <p:cNvSpPr/>
          <p:nvPr/>
        </p:nvSpPr>
        <p:spPr>
          <a:xfrm>
            <a:off x="2425700" y="1465560"/>
            <a:ext cx="1778000" cy="596900"/>
          </a:xfrm>
          <a:prstGeom prst="roundRect">
            <a:avLst>
              <a:gd name="adj" fmla="val 148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4" name="文字 14"/>
          <p:cNvSpPr txBox="1"/>
          <p:nvPr/>
        </p:nvSpPr>
        <p:spPr>
          <a:xfrm>
            <a:off x="2540000" y="157351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技能文件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2540000" y="1827808"/>
            <a:ext cx="1175048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skills/ + skills.json</a:t>
            </a:r>
            <a:endParaRPr/>
          </a:p>
        </p:txBody>
      </p:sp>
      <p:sp>
        <p:nvSpPr>
          <p:cNvPr id="16" name="形状 16"/>
          <p:cNvSpPr/>
          <p:nvPr/>
        </p:nvSpPr>
        <p:spPr>
          <a:xfrm>
            <a:off x="4394200" y="1465560"/>
            <a:ext cx="1778000" cy="596900"/>
          </a:xfrm>
          <a:prstGeom prst="roundRect">
            <a:avLst>
              <a:gd name="adj" fmla="val 148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7" name="文字 17"/>
          <p:cNvSpPr txBox="1"/>
          <p:nvPr/>
        </p:nvSpPr>
        <p:spPr>
          <a:xfrm>
            <a:off x="4508500" y="157351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工具配置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08500" y="1827808"/>
            <a:ext cx="614164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mcp.json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6362700" y="1465560"/>
            <a:ext cx="1778000" cy="596900"/>
          </a:xfrm>
          <a:prstGeom prst="roundRect">
            <a:avLst>
              <a:gd name="adj" fmla="val 148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0" name="文字 20"/>
          <p:cNvSpPr txBox="1"/>
          <p:nvPr/>
        </p:nvSpPr>
        <p:spPr>
          <a:xfrm>
            <a:off x="6477000" y="1573510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说明与框架配置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6477000" y="1827808"/>
            <a:ext cx="1187847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README / settings</a:t>
            </a:r>
            <a:endParaRPr/>
          </a:p>
        </p:txBody>
      </p:sp>
      <p:cxnSp>
        <p:nvCxnSpPr>
          <p:cNvPr id="22" name="Editable line 22"/>
          <p:cNvCxnSpPr/>
          <p:nvPr/>
        </p:nvCxnSpPr>
        <p:spPr>
          <a:xfrm>
            <a:off x="4304242" y="2071985"/>
            <a:ext cx="0" cy="23812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23" name="文字 23"/>
          <p:cNvSpPr/>
          <p:nvPr/>
        </p:nvSpPr>
        <p:spPr>
          <a:xfrm rot="10800000">
            <a:off x="4260850" y="22339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24" name="形状 24"/>
          <p:cNvSpPr/>
          <p:nvPr/>
        </p:nvSpPr>
        <p:spPr>
          <a:xfrm>
            <a:off x="457200" y="2310110"/>
            <a:ext cx="7683500" cy="7112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5" name="文字 25"/>
          <p:cNvSpPr txBox="1"/>
          <p:nvPr/>
        </p:nvSpPr>
        <p:spPr>
          <a:xfrm>
            <a:off x="571500" y="2418060"/>
            <a:ext cx="1949252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ModelScope Agent 仓库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571500" y="2706588"/>
            <a:ext cx="4825504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owner/name 标识、元数据、文件提交与版本下载、公私有访问和 Token 权限</a:t>
            </a:r>
            <a:endParaRPr/>
          </a:p>
        </p:txBody>
      </p:sp>
      <p:cxnSp>
        <p:nvCxnSpPr>
          <p:cNvPr id="27" name="Editable line 27"/>
          <p:cNvCxnSpPr/>
          <p:nvPr/>
        </p:nvCxnSpPr>
        <p:spPr>
          <a:xfrm>
            <a:off x="4304242" y="3030835"/>
            <a:ext cx="0" cy="17462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cxnSp>
        <p:nvCxnSpPr>
          <p:cNvPr id="28" name="Editable line 28"/>
          <p:cNvCxnSpPr/>
          <p:nvPr/>
        </p:nvCxnSpPr>
        <p:spPr>
          <a:xfrm>
            <a:off x="2301963" y="3214985"/>
            <a:ext cx="3990711" cy="0"/>
          </a:xfrm>
          <a:prstGeom prst="line">
            <a:avLst/>
          </a:prstGeom>
          <a:ln w="7205" cap="flat">
            <a:solidFill>
              <a:srgbClr val="566472"/>
            </a:solidFill>
            <a:prstDash val="solid"/>
          </a:ln>
        </p:spPr>
      </p:cxnSp>
      <p:cxnSp>
        <p:nvCxnSpPr>
          <p:cNvPr id="29" name="Editable line 29"/>
          <p:cNvCxnSpPr/>
          <p:nvPr/>
        </p:nvCxnSpPr>
        <p:spPr>
          <a:xfrm>
            <a:off x="2303992" y="3214985"/>
            <a:ext cx="0" cy="21272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30" name="文字 30"/>
          <p:cNvSpPr/>
          <p:nvPr/>
        </p:nvSpPr>
        <p:spPr>
          <a:xfrm rot="10800000">
            <a:off x="2260600" y="33515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cxnSp>
        <p:nvCxnSpPr>
          <p:cNvPr id="31" name="Editable line 31"/>
          <p:cNvCxnSpPr/>
          <p:nvPr/>
        </p:nvCxnSpPr>
        <p:spPr>
          <a:xfrm>
            <a:off x="6305550" y="3214985"/>
            <a:ext cx="0" cy="212725"/>
          </a:xfrm>
          <a:prstGeom prst="line">
            <a:avLst/>
          </a:prstGeom>
          <a:ln w="11953" cap="flat">
            <a:solidFill>
              <a:srgbClr val="566472"/>
            </a:solidFill>
            <a:prstDash val="solid"/>
          </a:ln>
        </p:spPr>
      </p:cxnSp>
      <p:sp>
        <p:nvSpPr>
          <p:cNvPr id="32" name="文字 32"/>
          <p:cNvSpPr/>
          <p:nvPr/>
        </p:nvSpPr>
        <p:spPr>
          <a:xfrm rot="10800000">
            <a:off x="6261100" y="33515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33" name="形状 33"/>
          <p:cNvSpPr/>
          <p:nvPr/>
        </p:nvSpPr>
        <p:spPr>
          <a:xfrm>
            <a:off x="457200" y="3427710"/>
            <a:ext cx="3683000" cy="1117600"/>
          </a:xfrm>
          <a:prstGeom prst="roundRect">
            <a:avLst>
              <a:gd name="adj" fmla="val 795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4" name="文字 34"/>
          <p:cNvSpPr txBox="1"/>
          <p:nvPr/>
        </p:nvSpPr>
        <p:spPr>
          <a:xfrm>
            <a:off x="571500" y="3535660"/>
            <a:ext cx="246806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统一 SDK / CLI：modelscope_hub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571500" y="3798491"/>
            <a:ext cx="25273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上传、下载与列举，供程序或命令行接入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571500" y="4000996"/>
            <a:ext cx="2015034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安装委派官方 agent-hub-plugin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571500" y="4203502"/>
            <a:ext cx="22479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插件负责落盘、宿主注册与安装备份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4457700" y="3427710"/>
            <a:ext cx="3683000" cy="1117600"/>
          </a:xfrm>
          <a:prstGeom prst="roundRect">
            <a:avLst>
              <a:gd name="adj" fmla="val 795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9" name="文字 39"/>
          <p:cNvSpPr txBox="1"/>
          <p:nvPr/>
        </p:nvSpPr>
        <p:spPr>
          <a:xfrm>
            <a:off x="4572000" y="3535660"/>
            <a:ext cx="209619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工作区工具：ms-agent agent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572000" y="3798491"/>
            <a:ext cx="1689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按框架收集与清洗发布文件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4572000" y="4000996"/>
            <a:ext cx="1968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转换、同步、状态、备份与恢复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4572000" y="4203502"/>
            <a:ext cx="2352179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watch 默认单向推送，--pull 开启双向</a:t>
            </a:r>
            <a:endParaRPr/>
          </a:p>
        </p:txBody>
      </p:sp>
      <p:cxnSp>
        <p:nvCxnSpPr>
          <p:cNvPr id="43" name="Editable line 43"/>
          <p:cNvCxnSpPr/>
          <p:nvPr/>
        </p:nvCxnSpPr>
        <p:spPr>
          <a:xfrm>
            <a:off x="2303992" y="4554835"/>
            <a:ext cx="0" cy="19367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cxnSp>
        <p:nvCxnSpPr>
          <p:cNvPr id="44" name="Editable line 44"/>
          <p:cNvCxnSpPr/>
          <p:nvPr/>
        </p:nvCxnSpPr>
        <p:spPr>
          <a:xfrm>
            <a:off x="6305550" y="4554835"/>
            <a:ext cx="0" cy="193675"/>
          </a:xfrm>
          <a:prstGeom prst="line">
            <a:avLst/>
          </a:prstGeom>
          <a:ln w="11953" cap="flat">
            <a:solidFill>
              <a:srgbClr val="566472"/>
            </a:solidFill>
            <a:prstDash val="solid"/>
          </a:ln>
        </p:spPr>
      </p:cxnSp>
      <p:cxnSp>
        <p:nvCxnSpPr>
          <p:cNvPr id="45" name="Editable line 45"/>
          <p:cNvCxnSpPr/>
          <p:nvPr/>
        </p:nvCxnSpPr>
        <p:spPr>
          <a:xfrm>
            <a:off x="2301963" y="4758035"/>
            <a:ext cx="3990711" cy="0"/>
          </a:xfrm>
          <a:prstGeom prst="line">
            <a:avLst/>
          </a:prstGeom>
          <a:ln w="7529" cap="flat">
            <a:solidFill>
              <a:srgbClr val="566472"/>
            </a:solidFill>
            <a:prstDash val="solid"/>
          </a:ln>
        </p:spPr>
      </p:cxnSp>
      <p:cxnSp>
        <p:nvCxnSpPr>
          <p:cNvPr id="46" name="Editable line 46"/>
          <p:cNvCxnSpPr/>
          <p:nvPr/>
        </p:nvCxnSpPr>
        <p:spPr>
          <a:xfrm>
            <a:off x="4304242" y="4758035"/>
            <a:ext cx="0" cy="21907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47" name="文字 47"/>
          <p:cNvSpPr/>
          <p:nvPr/>
        </p:nvSpPr>
        <p:spPr>
          <a:xfrm rot="10800000">
            <a:off x="4260850" y="49009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48" name="形状 48"/>
          <p:cNvSpPr/>
          <p:nvPr/>
        </p:nvSpPr>
        <p:spPr>
          <a:xfrm>
            <a:off x="457200" y="4977110"/>
            <a:ext cx="7683500" cy="717550"/>
          </a:xfrm>
          <a:prstGeom prst="roundRect">
            <a:avLst>
              <a:gd name="adj" fmla="val 123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9" name="文字 49"/>
          <p:cNvSpPr txBox="1"/>
          <p:nvPr/>
        </p:nvSpPr>
        <p:spPr>
          <a:xfrm>
            <a:off x="571500" y="5085060"/>
            <a:ext cx="2665611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本地运行：MS-Agent / QwenPaw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571500" y="5373589"/>
            <a:ext cx="5350966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宿主加载指令与 Skills、连接 MCP 和模型；安装文件后仍需运行环境、模型与服务授权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57200" y="5840710"/>
            <a:ext cx="61276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工具适配边界：2 种稳定框架；Qoder、OpenClaw、Hermes、Nanobot、OpenHuman 为实验适配。</a:t>
            </a:r>
            <a:endParaRPr/>
          </a:p>
        </p:txBody>
      </p:sp>
      <p:cxnSp>
        <p:nvCxnSpPr>
          <p:cNvPr id="52" name="Editable line 52"/>
          <p:cNvCxnSpPr/>
          <p:nvPr/>
        </p:nvCxnSpPr>
        <p:spPr>
          <a:xfrm>
            <a:off x="8300508" y="1135548"/>
            <a:ext cx="0" cy="4844862"/>
          </a:xfrm>
          <a:prstGeom prst="line">
            <a:avLst/>
          </a:prstGeom>
          <a:ln w="8218" cap="flat">
            <a:solidFill>
              <a:srgbClr val="D9DDE2"/>
            </a:solidFill>
            <a:prstDash val="solid"/>
          </a:ln>
        </p:spPr>
      </p:cxnSp>
      <p:sp>
        <p:nvSpPr>
          <p:cNvPr id="53" name="文字 53"/>
          <p:cNvSpPr txBox="1"/>
          <p:nvPr/>
        </p:nvSpPr>
        <p:spPr>
          <a:xfrm>
            <a:off x="8521700" y="1192510"/>
            <a:ext cx="15557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在线体验与生态资源</a:t>
            </a:r>
            <a:endParaRPr/>
          </a:p>
        </p:txBody>
      </p:sp>
      <p:sp>
        <p:nvSpPr>
          <p:cNvPr id="54" name="形状 54"/>
          <p:cNvSpPr/>
          <p:nvPr/>
        </p:nvSpPr>
        <p:spPr>
          <a:xfrm>
            <a:off x="8521700" y="1471910"/>
            <a:ext cx="3213100" cy="1117600"/>
          </a:xfrm>
          <a:prstGeom prst="roundRect">
            <a:avLst>
              <a:gd name="adj" fmla="val 795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5" name="文字 55"/>
          <p:cNvSpPr txBox="1"/>
          <p:nvPr/>
        </p:nvSpPr>
        <p:spPr>
          <a:xfrm>
            <a:off x="8636000" y="1579860"/>
            <a:ext cx="939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实验场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8636000" y="1842691"/>
            <a:ext cx="188476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 Hub 导入或自定义创建实例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8636000" y="2045196"/>
            <a:ext cx="1935758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配置模型、Skills、MCP 后对话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8636000" y="2247702"/>
            <a:ext cx="22479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实例管理含休眠、唤醒、重启与日志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8521700" y="2818110"/>
            <a:ext cx="215830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模型、Skills 与 MCP 资产中心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8521700" y="3110210"/>
            <a:ext cx="3100487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为 Agent 提供模型调用、方法与外部工具。资源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8521700" y="3314601"/>
            <a:ext cx="3067844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有独立依赖和授权，不能把目录数量当成 Agent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8521700" y="3518991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数量。</a:t>
            </a:r>
            <a:endParaRPr/>
          </a:p>
        </p:txBody>
      </p:sp>
      <p:cxnSp>
        <p:nvCxnSpPr>
          <p:cNvPr id="63" name="Editable line 63"/>
          <p:cNvCxnSpPr/>
          <p:nvPr/>
        </p:nvCxnSpPr>
        <p:spPr>
          <a:xfrm>
            <a:off x="8528217" y="3843635"/>
            <a:ext cx="3200065" cy="0"/>
          </a:xfrm>
          <a:prstGeom prst="line">
            <a:avLst/>
          </a:prstGeom>
          <a:ln w="6790" cap="flat">
            <a:solidFill>
              <a:srgbClr val="D9DDE2"/>
            </a:solidFill>
            <a:prstDash val="solid"/>
          </a:ln>
        </p:spPr>
      </p:cxnSp>
      <p:sp>
        <p:nvSpPr>
          <p:cNvPr id="64" name="文字 64"/>
          <p:cNvSpPr txBox="1"/>
          <p:nvPr/>
        </p:nvSpPr>
        <p:spPr>
          <a:xfrm>
            <a:off x="8521700" y="4005560"/>
            <a:ext cx="112394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发布与安装保护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8521700" y="4297660"/>
            <a:ext cx="3225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框架上传管线含密钥清洗；安装插件限制官方来源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8521700" y="4502051"/>
            <a:ext cx="22034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并检查清单哈希，覆盖前可备份。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8521700" y="4996160"/>
            <a:ext cx="112394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保护范围需区分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8521700" y="5288260"/>
            <a:ext cx="3225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原始文件上传不等于已脱敏；哈希检查不等于作者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8521700" y="5492651"/>
            <a:ext cx="3100487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签名或安全评测。当前未见统一 Agent 质量分。</a:t>
            </a:r>
            <a:endParaRPr/>
          </a:p>
        </p:txBody>
      </p:sp>
      <p:cxnSp>
        <p:nvCxnSpPr>
          <p:cNvPr id="70" name="Editable line 70"/>
          <p:cNvCxnSpPr/>
          <p:nvPr/>
        </p:nvCxnSpPr>
        <p:spPr>
          <a:xfrm>
            <a:off x="463734" y="6081712"/>
            <a:ext cx="11264532" cy="0"/>
          </a:xfrm>
          <a:prstGeom prst="line">
            <a:avLst/>
          </a:prstGeom>
          <a:ln w="5590" cap="flat">
            <a:solidFill>
              <a:srgbClr val="D9DDE2"/>
            </a:solidFill>
            <a:prstDash val="solid"/>
          </a:ln>
        </p:spPr>
      </p:cxnSp>
      <p:sp>
        <p:nvSpPr>
          <p:cNvPr id="71" name="文字 71"/>
          <p:cNvSpPr txBox="1"/>
          <p:nvPr/>
        </p:nvSpPr>
        <p:spPr>
          <a:xfrm>
            <a:off x="457200" y="6178550"/>
            <a:ext cx="7619702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Hub 提供资产托管与分发，工具负责安装同步，运行质量需结合框架、模型和外部依赖验证。Studio 为相邻应用部署能力。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457200" y="6445250"/>
            <a:ext cx="7579817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依据：ModelScope Hub SDK、MS-Agent 固定源码、官方安装插件 v0.3.6 与公开前端 2.13.170。框架文档与源码范围有差异，按稳定/实验适配区分。 详细口径、固定源码版本与限制见备注及伴生研究文档。</a:t>
            </a:r>
            <a:endParaRPr/>
          </a:p>
        </p:txBody>
      </p:sp>
      <p:pic>
        <p:nvPicPr>
          <p:cNvPr id="73" name="slide-002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