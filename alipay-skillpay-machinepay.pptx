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g" ContentType="image/jpeg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!-- 空白母版、版式与主题取自 python-pptx 1.0.2 的默认有效文稿；母版只保留空白版式。 --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!-- 空白母版、版式与主题取自 python-pptx 1.0.2 的默认有效文稿；母版只保留空白版式。 -->
<p:sldMaster xmlns:a="http://schemas.openxmlformats.org/drawingml/2006/main" xmlns:ns2="http://schemas.microsoft.com/office/powerpoint/2010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ns2:creationId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Relationship Id="rId8" Type="http://schemas.openxmlformats.org/officeDocument/2006/relationships/image" Target="../media/image20.png"/><Relationship Id="rId9" Type="http://schemas.openxmlformats.org/officeDocument/2006/relationships/image" Target="../media/image21.png"/><Relationship Id="rId10" Type="http://schemas.openxmlformats.org/officeDocument/2006/relationships/image" Target="../media/image22.png"/><Relationship Id="rId11" Type="http://schemas.openxmlformats.org/officeDocument/2006/relationships/image" Target="../media/image23.png"/><Relationship Id="rId12" Type="http://schemas.openxmlformats.org/officeDocument/2006/relationships/image" Target="../media/image24.png"/><Relationship Id="rId13" Type="http://schemas.openxmlformats.org/officeDocument/2006/relationships/image" Target="../media/image25.png"/><Relationship Id="rId14" Type="http://schemas.openxmlformats.org/officeDocument/2006/relationships/image" Target="../media/image26.png"/><Relationship Id="rId15" Type="http://schemas.openxmlformats.org/officeDocument/2006/relationships/image" Target="../media/image27.png"/><Relationship Id="rId16" Type="http://schemas.openxmlformats.org/officeDocument/2006/relationships/image" Target="../media/image28.png"/><Relationship Id="rId17" Type="http://schemas.openxmlformats.org/officeDocument/2006/relationships/image" Target="../media/image29.png"/><Relationship Id="rId18" Type="http://schemas.openxmlformats.org/officeDocument/2006/relationships/image" Target="../media/image30.png"/><Relationship Id="rId19" Type="http://schemas.openxmlformats.org/officeDocument/2006/relationships/image" Target="../media/image31.png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2.png"/><Relationship Id="rId3" Type="http://schemas.openxmlformats.org/officeDocument/2006/relationships/image" Target="../media/image33.png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image" Target="../media/image37.png"/><Relationship Id="rId6" Type="http://schemas.openxmlformats.org/officeDocument/2006/relationships/image" Target="../media/image38.png"/><Relationship Id="rId7" Type="http://schemas.openxmlformats.org/officeDocument/2006/relationships/image" Target="../media/image39.png"/><Relationship Id="rId8" Type="http://schemas.openxmlformats.org/officeDocument/2006/relationships/image" Target="../media/image40.png"/><Relationship Id="rId9" Type="http://schemas.openxmlformats.org/officeDocument/2006/relationships/image" Target="../media/image41.png"/><Relationship Id="rId10" Type="http://schemas.openxmlformats.org/officeDocument/2006/relationships/image" Target="../media/image42.png"/><Relationship Id="rId11" Type="http://schemas.openxmlformats.org/officeDocument/2006/relationships/image" Target="../media/image43.png"/><Relationship Id="rId12" Type="http://schemas.openxmlformats.org/officeDocument/2006/relationships/image" Target="../media/image44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 name="全景">
    <p:spTree>
      <p:nvGrpSpPr>
        <p:cNvPr id="1" name=""/>
        <p:cNvGrpSpPr/>
        <p:nvPr/>
      </p:nvGrpSpPr>
      <p:grpSpPr/>
      <p:sp>
        <p:nvSpPr>
          <p:cNvPr id="2" name="形状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noFill/>
          </a:ln>
        </p:spPr>
      </p:sp>
      <p:sp>
        <p:nvSpPr>
          <p:cNvPr id="3" name="形状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noFill/>
          </a:ln>
        </p:spPr>
      </p:sp>
      <p:sp>
        <p:nvSpPr>
          <p:cNvPr id="4" name="形状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noFill/>
          </a:ln>
        </p:spPr>
      </p:sp>
      <p:sp>
        <p:nvSpPr>
          <p:cNvPr id="5" name="文字 5"/>
          <p:cNvSpPr txBox="1"/>
          <p:nvPr/>
        </p:nvSpPr>
        <p:spPr>
          <a:xfrm>
            <a:off x="457200" y="273050"/>
            <a:ext cx="1941810" cy="1651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spc="90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ALIPAY AI PAY / 全景 · 2026.10</a:t>
            </a:r>
            <a:endParaRPr/>
          </a:p>
        </p:txBody>
      </p:sp>
      <p:sp>
        <p:nvSpPr>
          <p:cNvPr id="6" name="文字 6"/>
          <p:cNvSpPr txBox="1"/>
          <p:nvPr/>
        </p:nvSpPr>
        <p:spPr>
          <a:xfrm>
            <a:off x="457200" y="488950"/>
            <a:ext cx="8263632" cy="4064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2200" b="1" i="0" u="none" spc="-44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阿里把 Agent 支付拆成两层：SkillPay 卖商品，MachinePay 卖调用</a:t>
            </a:r>
            <a:endParaRPr/>
          </a:p>
        </p:txBody>
      </p:sp>
      <p:sp>
        <p:nvSpPr>
          <p:cNvPr id="7" name="文字 7"/>
          <p:cNvSpPr txBox="1"/>
          <p:nvPr/>
        </p:nvSpPr>
        <p:spPr>
          <a:xfrm>
            <a:off x="457200" y="881360"/>
            <a:ext cx="7235329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同一套 AI 付钱包与 402 协议：SkillPay 解决“卖什么、怎么交付”，MachinePay 解决“每次调用怎么计价、怎么验单”。</a:t>
            </a:r>
            <a:endParaRPr/>
          </a:p>
        </p:txBody>
      </p:sp>
      <p:pic>
        <p:nvPicPr>
          <p:cNvPr id="8" name="slide-001-image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56891"/>
            <a:ext cx="11277600" cy="552450"/>
          </a:xfrm>
          <a:prstGeom prst="rect">
            <a:avLst/>
          </a:prstGeom>
        </p:spPr>
      </p:pic>
      <p:pic>
        <p:nvPicPr>
          <p:cNvPr id="9" name="slide-001-image-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33091"/>
            <a:ext cx="3759200" cy="400050"/>
          </a:xfrm>
          <a:prstGeom prst="rect">
            <a:avLst/>
          </a:prstGeom>
        </p:spPr>
      </p:pic>
      <p:sp>
        <p:nvSpPr>
          <p:cNvPr id="10" name="文字 10"/>
          <p:cNvSpPr txBox="1"/>
          <p:nvPr/>
        </p:nvSpPr>
        <p:spPr>
          <a:xfrm>
            <a:off x="457200" y="1258491"/>
            <a:ext cx="625773" cy="2159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AI 付钱包</a:t>
            </a:r>
            <a:endParaRPr/>
          </a:p>
        </p:txBody>
      </p:sp>
      <p:sp>
        <p:nvSpPr>
          <p:cNvPr id="11" name="文字 11"/>
          <p:cNvSpPr txBox="1"/>
          <p:nvPr/>
        </p:nvSpPr>
        <p:spPr>
          <a:xfrm>
            <a:off x="457200" y="1480741"/>
            <a:ext cx="1615678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绑定 · 逐笔授权 · 风控/结算</a:t>
            </a:r>
            <a:endParaRPr/>
          </a:p>
        </p:txBody>
      </p:sp>
      <p:pic>
        <p:nvPicPr>
          <p:cNvPr id="12" name="slide-001-image-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16400" y="1233091"/>
            <a:ext cx="3759200" cy="400050"/>
          </a:xfrm>
          <a:prstGeom prst="rect">
            <a:avLst/>
          </a:prstGeom>
        </p:spPr>
      </p:pic>
      <p:sp>
        <p:nvSpPr>
          <p:cNvPr id="13" name="文字 13"/>
          <p:cNvSpPr txBox="1"/>
          <p:nvPr/>
        </p:nvSpPr>
        <p:spPr>
          <a:xfrm>
            <a:off x="4343400" y="1258491"/>
            <a:ext cx="589260" cy="2159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SkillPay</a:t>
            </a:r>
            <a:endParaRPr/>
          </a:p>
        </p:txBody>
      </p:sp>
      <p:sp>
        <p:nvSpPr>
          <p:cNvPr id="14" name="文字 14"/>
          <p:cNvSpPr txBox="1"/>
          <p:nvPr/>
        </p:nvSpPr>
        <p:spPr>
          <a:xfrm>
            <a:off x="4343400" y="1480741"/>
            <a:ext cx="1501675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上架 · 定价 · 交付 · 退款</a:t>
            </a:r>
            <a:endParaRPr/>
          </a:p>
        </p:txBody>
      </p:sp>
      <p:sp>
        <p:nvSpPr>
          <p:cNvPr id="15" name="文字 15"/>
          <p:cNvSpPr txBox="1"/>
          <p:nvPr/>
        </p:nvSpPr>
        <p:spPr>
          <a:xfrm>
            <a:off x="8102600" y="1258491"/>
            <a:ext cx="877689" cy="2159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5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MachinePay</a:t>
            </a:r>
            <a:endParaRPr/>
          </a:p>
        </p:txBody>
      </p:sp>
      <p:sp>
        <p:nvSpPr>
          <p:cNvPr id="16" name="文字 16"/>
          <p:cNvSpPr txBox="1"/>
          <p:nvPr/>
        </p:nvSpPr>
        <p:spPr>
          <a:xfrm>
            <a:off x="8102600" y="1480741"/>
            <a:ext cx="1875234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402 · 按量 · verify · fulfillment</a:t>
            </a:r>
            <a:endParaRPr/>
          </a:p>
        </p:txBody>
      </p:sp>
      <p:sp>
        <p:nvSpPr>
          <p:cNvPr id="17" name="文字 17"/>
          <p:cNvSpPr txBox="1"/>
          <p:nvPr/>
        </p:nvSpPr>
        <p:spPr>
          <a:xfrm>
            <a:off x="457200" y="1849041"/>
            <a:ext cx="1453158" cy="2476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35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SkillPay · 商品层</a:t>
            </a:r>
            <a:endParaRPr/>
          </a:p>
        </p:txBody>
      </p:sp>
      <p:sp>
        <p:nvSpPr>
          <p:cNvPr id="18" name="文字 18"/>
          <p:cNvSpPr txBox="1"/>
          <p:nvPr/>
        </p:nvSpPr>
        <p:spPr>
          <a:xfrm>
            <a:off x="5314950" y="1906191"/>
            <a:ext cx="698500" cy="1651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spc="0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卖“交付权”</a:t>
            </a:r>
            <a:endParaRPr/>
          </a:p>
        </p:txBody>
      </p:sp>
      <p:sp>
        <p:nvSpPr>
          <p:cNvPr id="19" name="文字 19"/>
          <p:cNvSpPr txBox="1"/>
          <p:nvPr/>
        </p:nvSpPr>
        <p:spPr>
          <a:xfrm>
            <a:off x="457200" y="2103041"/>
            <a:ext cx="2608461" cy="1841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把 Skill 做成可定价、可试用、可退款的商品。</a:t>
            </a:r>
            <a:endParaRPr/>
          </a:p>
        </p:txBody>
      </p:sp>
      <p:pic>
        <p:nvPicPr>
          <p:cNvPr id="20" name="slide-001-image-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2293541"/>
            <a:ext cx="5543550" cy="505420"/>
          </a:xfrm>
          <a:prstGeom prst="rect">
            <a:avLst/>
          </a:prstGeom>
        </p:spPr>
      </p:pic>
      <p:sp>
        <p:nvSpPr>
          <p:cNvPr id="21" name="文字 21"/>
          <p:cNvSpPr txBox="1"/>
          <p:nvPr/>
        </p:nvSpPr>
        <p:spPr>
          <a:xfrm>
            <a:off x="457200" y="2357041"/>
            <a:ext cx="142280" cy="1397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50" b="1" i="0" u="none" spc="0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01</a:t>
            </a:r>
            <a:endParaRPr/>
          </a:p>
        </p:txBody>
      </p:sp>
      <p:sp>
        <p:nvSpPr>
          <p:cNvPr id="22" name="文字 22"/>
          <p:cNvSpPr txBox="1"/>
          <p:nvPr/>
        </p:nvSpPr>
        <p:spPr>
          <a:xfrm>
            <a:off x="749300" y="2369741"/>
            <a:ext cx="711200" cy="2032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创作者上架</a:t>
            </a:r>
            <a:endParaRPr/>
          </a:p>
        </p:txBody>
      </p:sp>
      <p:sp>
        <p:nvSpPr>
          <p:cNvPr id="23" name="文字 23"/>
          <p:cNvSpPr txBox="1"/>
          <p:nvPr/>
        </p:nvSpPr>
        <p:spPr>
          <a:xfrm>
            <a:off x="749300" y="2564011"/>
            <a:ext cx="3710583" cy="1841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上传 Skill → 安全检测 → 商品页；签署 SkillPay + AI 按量付费协议</a:t>
            </a:r>
            <a:endParaRPr/>
          </a:p>
        </p:txBody>
      </p:sp>
      <p:pic>
        <p:nvPicPr>
          <p:cNvPr id="24" name="slide-001-image-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2798961"/>
            <a:ext cx="5543550" cy="505420"/>
          </a:xfrm>
          <a:prstGeom prst="rect">
            <a:avLst/>
          </a:prstGeom>
        </p:spPr>
      </p:pic>
      <p:sp>
        <p:nvSpPr>
          <p:cNvPr id="25" name="文字 25"/>
          <p:cNvSpPr txBox="1"/>
          <p:nvPr/>
        </p:nvSpPr>
        <p:spPr>
          <a:xfrm>
            <a:off x="457200" y="2862461"/>
            <a:ext cx="142280" cy="1397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50" b="1" i="0" u="none" spc="0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02</a:t>
            </a:r>
            <a:endParaRPr/>
          </a:p>
        </p:txBody>
      </p:sp>
      <p:sp>
        <p:nvSpPr>
          <p:cNvPr id="26" name="文字 26"/>
          <p:cNvSpPr txBox="1"/>
          <p:nvPr/>
        </p:nvSpPr>
        <p:spPr>
          <a:xfrm>
            <a:off x="749300" y="2875161"/>
            <a:ext cx="571500" cy="2032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买家购买</a:t>
            </a:r>
            <a:endParaRPr/>
          </a:p>
        </p:txBody>
      </p:sp>
      <p:sp>
        <p:nvSpPr>
          <p:cNvPr id="27" name="文字 27"/>
          <p:cNvSpPr txBox="1"/>
          <p:nvPr/>
        </p:nvSpPr>
        <p:spPr>
          <a:xfrm>
            <a:off x="749300" y="3069431"/>
            <a:ext cx="2158306" cy="1841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任务中触发 → 支付宝确认 → 获得权益</a:t>
            </a:r>
            <a:endParaRPr/>
          </a:p>
        </p:txBody>
      </p:sp>
      <p:pic>
        <p:nvPicPr>
          <p:cNvPr id="28" name="slide-001-image-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3304381"/>
            <a:ext cx="5543550" cy="505420"/>
          </a:xfrm>
          <a:prstGeom prst="rect">
            <a:avLst/>
          </a:prstGeom>
        </p:spPr>
      </p:pic>
      <p:sp>
        <p:nvSpPr>
          <p:cNvPr id="29" name="文字 29"/>
          <p:cNvSpPr txBox="1"/>
          <p:nvPr/>
        </p:nvSpPr>
        <p:spPr>
          <a:xfrm>
            <a:off x="457200" y="3367881"/>
            <a:ext cx="142280" cy="1397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50" b="1" i="0" u="none" spc="0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03</a:t>
            </a:r>
            <a:endParaRPr/>
          </a:p>
        </p:txBody>
      </p:sp>
      <p:sp>
        <p:nvSpPr>
          <p:cNvPr id="30" name="文字 30"/>
          <p:cNvSpPr txBox="1"/>
          <p:nvPr/>
        </p:nvSpPr>
        <p:spPr>
          <a:xfrm>
            <a:off x="749300" y="3380581"/>
            <a:ext cx="571500" cy="2032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两种交付</a:t>
            </a:r>
            <a:endParaRPr/>
          </a:p>
        </p:txBody>
      </p:sp>
      <p:sp>
        <p:nvSpPr>
          <p:cNvPr id="31" name="文字 31"/>
          <p:cNvSpPr txBox="1"/>
          <p:nvPr/>
        </p:nvSpPr>
        <p:spPr>
          <a:xfrm>
            <a:off x="749300" y="3574852"/>
            <a:ext cx="3060700" cy="1841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一次性交付完整源码；周期订阅走云端保护，不交明文</a:t>
            </a:r>
            <a:endParaRPr/>
          </a:p>
        </p:txBody>
      </p:sp>
      <p:sp>
        <p:nvSpPr>
          <p:cNvPr id="32" name="文字 32"/>
          <p:cNvSpPr txBox="1"/>
          <p:nvPr/>
        </p:nvSpPr>
        <p:spPr>
          <a:xfrm>
            <a:off x="457200" y="3873302"/>
            <a:ext cx="142280" cy="1397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50" b="1" i="0" u="none" spc="0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04</a:t>
            </a:r>
            <a:endParaRPr/>
          </a:p>
        </p:txBody>
      </p:sp>
      <p:sp>
        <p:nvSpPr>
          <p:cNvPr id="33" name="文字 33"/>
          <p:cNvSpPr txBox="1"/>
          <p:nvPr/>
        </p:nvSpPr>
        <p:spPr>
          <a:xfrm>
            <a:off x="749300" y="3886002"/>
            <a:ext cx="711200" cy="2032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资金与退款</a:t>
            </a:r>
            <a:endParaRPr/>
          </a:p>
        </p:txBody>
      </p:sp>
      <p:sp>
        <p:nvSpPr>
          <p:cNvPr id="34" name="文字 34"/>
          <p:cNvSpPr txBox="1"/>
          <p:nvPr/>
        </p:nvSpPr>
        <p:spPr>
          <a:xfrm>
            <a:off x="749300" y="4080272"/>
            <a:ext cx="2552700" cy="1841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成交即到账开发者支付宝；退款由开发者发起</a:t>
            </a:r>
            <a:endParaRPr/>
          </a:p>
        </p:txBody>
      </p:sp>
      <p:pic>
        <p:nvPicPr>
          <p:cNvPr id="35" name="slide-001-image-7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91250" y="1823641"/>
            <a:ext cx="5543551" cy="3304679"/>
          </a:xfrm>
          <a:prstGeom prst="rect">
            <a:avLst/>
          </a:prstGeom>
        </p:spPr>
      </p:pic>
      <p:sp>
        <p:nvSpPr>
          <p:cNvPr id="36" name="文字 36"/>
          <p:cNvSpPr txBox="1"/>
          <p:nvPr/>
        </p:nvSpPr>
        <p:spPr>
          <a:xfrm>
            <a:off x="6375400" y="1849041"/>
            <a:ext cx="1791792" cy="2476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35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MachinePay · 协议层</a:t>
            </a:r>
            <a:endParaRPr/>
          </a:p>
        </p:txBody>
      </p:sp>
      <p:sp>
        <p:nvSpPr>
          <p:cNvPr id="37" name="文字 37"/>
          <p:cNvSpPr txBox="1"/>
          <p:nvPr/>
        </p:nvSpPr>
        <p:spPr>
          <a:xfrm>
            <a:off x="10934700" y="1906191"/>
            <a:ext cx="812800" cy="1651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spc="0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卖“按量调用”</a:t>
            </a:r>
            <a:endParaRPr/>
          </a:p>
        </p:txBody>
      </p:sp>
      <p:sp>
        <p:nvSpPr>
          <p:cNvPr id="38" name="文字 38"/>
          <p:cNvSpPr txBox="1"/>
          <p:nvPr/>
        </p:nvSpPr>
        <p:spPr>
          <a:xfrm>
            <a:off x="6375400" y="2103041"/>
            <a:ext cx="2804319" cy="1841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在 API 调用链路里完成报价、支付、验单与履约。</a:t>
            </a:r>
            <a:endParaRPr/>
          </a:p>
        </p:txBody>
      </p:sp>
      <p:pic>
        <p:nvPicPr>
          <p:cNvPr id="39" name="slide-001-image-8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75400" y="2293541"/>
            <a:ext cx="5359401" cy="505420"/>
          </a:xfrm>
          <a:prstGeom prst="rect">
            <a:avLst/>
          </a:prstGeom>
        </p:spPr>
      </p:pic>
      <p:sp>
        <p:nvSpPr>
          <p:cNvPr id="40" name="文字 40"/>
          <p:cNvSpPr txBox="1"/>
          <p:nvPr/>
        </p:nvSpPr>
        <p:spPr>
          <a:xfrm>
            <a:off x="6375400" y="2357041"/>
            <a:ext cx="142280" cy="1397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50" b="1" i="0" u="none" spc="0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01</a:t>
            </a:r>
            <a:endParaRPr/>
          </a:p>
        </p:txBody>
      </p:sp>
      <p:sp>
        <p:nvSpPr>
          <p:cNvPr id="41" name="文字 41"/>
          <p:cNvSpPr txBox="1"/>
          <p:nvPr/>
        </p:nvSpPr>
        <p:spPr>
          <a:xfrm>
            <a:off x="6667500" y="2369741"/>
            <a:ext cx="571500" cy="2032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商家报价</a:t>
            </a:r>
            <a:endParaRPr/>
          </a:p>
        </p:txBody>
      </p:sp>
      <p:sp>
        <p:nvSpPr>
          <p:cNvPr id="42" name="文字 42"/>
          <p:cNvSpPr txBox="1"/>
          <p:nvPr/>
        </p:nvSpPr>
        <p:spPr>
          <a:xfrm>
            <a:off x="6667500" y="2564011"/>
            <a:ext cx="2885976" cy="1841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无 Payment-Proof → 402 + Payment-Needed 账单</a:t>
            </a:r>
            <a:endParaRPr/>
          </a:p>
        </p:txBody>
      </p:sp>
      <p:pic>
        <p:nvPicPr>
          <p:cNvPr id="43" name="slide-001-image-9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75400" y="2798961"/>
            <a:ext cx="5359401" cy="505420"/>
          </a:xfrm>
          <a:prstGeom prst="rect">
            <a:avLst/>
          </a:prstGeom>
        </p:spPr>
      </p:pic>
      <p:sp>
        <p:nvSpPr>
          <p:cNvPr id="44" name="文字 44"/>
          <p:cNvSpPr txBox="1"/>
          <p:nvPr/>
        </p:nvSpPr>
        <p:spPr>
          <a:xfrm>
            <a:off x="6375400" y="2862461"/>
            <a:ext cx="142280" cy="1397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50" b="1" i="0" u="none" spc="0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02</a:t>
            </a:r>
            <a:endParaRPr/>
          </a:p>
        </p:txBody>
      </p:sp>
      <p:sp>
        <p:nvSpPr>
          <p:cNvPr id="45" name="文字 45"/>
          <p:cNvSpPr txBox="1"/>
          <p:nvPr/>
        </p:nvSpPr>
        <p:spPr>
          <a:xfrm>
            <a:off x="6667500" y="2875161"/>
            <a:ext cx="722809" cy="2032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Agent 支付</a:t>
            </a:r>
            <a:endParaRPr/>
          </a:p>
        </p:txBody>
      </p:sp>
      <p:sp>
        <p:nvSpPr>
          <p:cNvPr id="46" name="文字 46"/>
          <p:cNvSpPr txBox="1"/>
          <p:nvPr/>
        </p:nvSpPr>
        <p:spPr>
          <a:xfrm>
            <a:off x="6667500" y="3069431"/>
            <a:ext cx="2144217" cy="1841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AI 付钱包付款 → 拿到 Payment-Proof</a:t>
            </a:r>
            <a:endParaRPr/>
          </a:p>
        </p:txBody>
      </p:sp>
      <p:pic>
        <p:nvPicPr>
          <p:cNvPr id="47" name="slide-001-image-10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75400" y="3304381"/>
            <a:ext cx="5359401" cy="505420"/>
          </a:xfrm>
          <a:prstGeom prst="rect">
            <a:avLst/>
          </a:prstGeom>
        </p:spPr>
      </p:pic>
      <p:sp>
        <p:nvSpPr>
          <p:cNvPr id="48" name="文字 48"/>
          <p:cNvSpPr txBox="1"/>
          <p:nvPr/>
        </p:nvSpPr>
        <p:spPr>
          <a:xfrm>
            <a:off x="6375400" y="3367881"/>
            <a:ext cx="142280" cy="1397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50" b="1" i="0" u="none" spc="0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03</a:t>
            </a:r>
            <a:endParaRPr/>
          </a:p>
        </p:txBody>
      </p:sp>
      <p:sp>
        <p:nvSpPr>
          <p:cNvPr id="49" name="文字 49"/>
          <p:cNvSpPr txBox="1"/>
          <p:nvPr/>
        </p:nvSpPr>
        <p:spPr>
          <a:xfrm>
            <a:off x="6667500" y="3380581"/>
            <a:ext cx="571500" cy="2032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商家验单</a:t>
            </a:r>
            <a:endParaRPr/>
          </a:p>
        </p:txBody>
      </p:sp>
      <p:sp>
        <p:nvSpPr>
          <p:cNvPr id="50" name="文字 50"/>
          <p:cNvSpPr txBox="1"/>
          <p:nvPr/>
        </p:nvSpPr>
        <p:spPr>
          <a:xfrm>
            <a:off x="6667500" y="3574852"/>
            <a:ext cx="2161878" cy="1841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verify：active/金额/订单/资源/防重放</a:t>
            </a:r>
            <a:endParaRPr/>
          </a:p>
        </p:txBody>
      </p:sp>
      <p:sp>
        <p:nvSpPr>
          <p:cNvPr id="51" name="文字 51"/>
          <p:cNvSpPr txBox="1"/>
          <p:nvPr/>
        </p:nvSpPr>
        <p:spPr>
          <a:xfrm>
            <a:off x="6375400" y="3873302"/>
            <a:ext cx="142280" cy="1397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50" b="1" i="0" u="none" spc="0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04</a:t>
            </a:r>
            <a:endParaRPr/>
          </a:p>
        </p:txBody>
      </p:sp>
      <p:sp>
        <p:nvSpPr>
          <p:cNvPr id="52" name="文字 52"/>
          <p:cNvSpPr txBox="1"/>
          <p:nvPr/>
        </p:nvSpPr>
        <p:spPr>
          <a:xfrm>
            <a:off x="6667500" y="3886002"/>
            <a:ext cx="711201" cy="2032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交付与结算</a:t>
            </a:r>
            <a:endParaRPr/>
          </a:p>
        </p:txBody>
      </p:sp>
      <p:sp>
        <p:nvSpPr>
          <p:cNvPr id="53" name="文字 53"/>
          <p:cNvSpPr txBox="1"/>
          <p:nvPr/>
        </p:nvSpPr>
        <p:spPr>
          <a:xfrm>
            <a:off x="6667500" y="4080272"/>
            <a:ext cx="2335014" cy="1841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返回资源 → 履约回执 → 支付宝收单/结算</a:t>
            </a:r>
            <a:endParaRPr/>
          </a:p>
        </p:txBody>
      </p:sp>
      <p:pic>
        <p:nvPicPr>
          <p:cNvPr id="54" name="slide-001-image-11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7200" y="5191820"/>
            <a:ext cx="3683000" cy="373360"/>
          </a:xfrm>
          <a:prstGeom prst="rect">
            <a:avLst/>
          </a:prstGeom>
        </p:spPr>
      </p:pic>
      <p:sp>
        <p:nvSpPr>
          <p:cNvPr id="55" name="文字 55"/>
          <p:cNvSpPr txBox="1"/>
          <p:nvPr/>
        </p:nvSpPr>
        <p:spPr>
          <a:xfrm>
            <a:off x="457200" y="5261670"/>
            <a:ext cx="1098550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商品层：信任与交付</a:t>
            </a:r>
            <a:endParaRPr/>
          </a:p>
        </p:txBody>
      </p:sp>
      <p:sp>
        <p:nvSpPr>
          <p:cNvPr id="56" name="文字 56"/>
          <p:cNvSpPr txBox="1"/>
          <p:nvPr/>
        </p:nvSpPr>
        <p:spPr>
          <a:xfrm>
            <a:off x="457200" y="5426770"/>
            <a:ext cx="2322016" cy="1587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定价、试用、安全检测、源码/云端交付、退款。</a:t>
            </a:r>
            <a:endParaRPr/>
          </a:p>
        </p:txBody>
      </p:sp>
      <p:pic>
        <p:nvPicPr>
          <p:cNvPr id="57" name="slide-001-image-12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254500" y="5191820"/>
            <a:ext cx="3683000" cy="373360"/>
          </a:xfrm>
          <a:prstGeom prst="rect">
            <a:avLst/>
          </a:prstGeom>
        </p:spPr>
      </p:pic>
      <p:sp>
        <p:nvSpPr>
          <p:cNvPr id="58" name="文字 58"/>
          <p:cNvSpPr txBox="1"/>
          <p:nvPr/>
        </p:nvSpPr>
        <p:spPr>
          <a:xfrm>
            <a:off x="4254500" y="5261670"/>
            <a:ext cx="1219200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协议层：机器可读计价</a:t>
            </a:r>
            <a:endParaRPr/>
          </a:p>
        </p:txBody>
      </p:sp>
      <p:sp>
        <p:nvSpPr>
          <p:cNvPr id="59" name="文字 59"/>
          <p:cNvSpPr txBox="1"/>
          <p:nvPr/>
        </p:nvSpPr>
        <p:spPr>
          <a:xfrm>
            <a:off x="4254500" y="5426770"/>
            <a:ext cx="2171700" cy="1587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每次调用报价、支付凭证、验单、履约回执。</a:t>
            </a:r>
            <a:endParaRPr/>
          </a:p>
        </p:txBody>
      </p:sp>
      <p:pic>
        <p:nvPicPr>
          <p:cNvPr id="60" name="slide-001-image-13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051800" y="5191820"/>
            <a:ext cx="3683000" cy="373360"/>
          </a:xfrm>
          <a:prstGeom prst="rect">
            <a:avLst/>
          </a:prstGeom>
        </p:spPr>
      </p:pic>
      <p:sp>
        <p:nvSpPr>
          <p:cNvPr id="61" name="文字 61"/>
          <p:cNvSpPr txBox="1"/>
          <p:nvPr/>
        </p:nvSpPr>
        <p:spPr>
          <a:xfrm>
            <a:off x="8051800" y="5261670"/>
            <a:ext cx="1098550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共同底座：钱怎么付</a:t>
            </a:r>
            <a:endParaRPr/>
          </a:p>
        </p:txBody>
      </p:sp>
      <p:sp>
        <p:nvSpPr>
          <p:cNvPr id="62" name="文字 62"/>
          <p:cNvSpPr txBox="1"/>
          <p:nvPr/>
        </p:nvSpPr>
        <p:spPr>
          <a:xfrm>
            <a:off x="8051800" y="5426770"/>
            <a:ext cx="1753393" cy="1587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AI 付钱包、逐笔授权、风控与结算。</a:t>
            </a:r>
            <a:endParaRPr/>
          </a:p>
        </p:txBody>
      </p:sp>
      <p:sp>
        <p:nvSpPr>
          <p:cNvPr id="63" name="形状 63"/>
          <p:cNvSpPr/>
          <p:nvPr/>
        </p:nvSpPr>
        <p:spPr>
          <a:xfrm>
            <a:off x="457200" y="5641380"/>
            <a:ext cx="5568950" cy="511770"/>
          </a:xfrm>
          <a:prstGeom prst="roundRect">
            <a:avLst>
              <a:gd name="adj" fmla="val 9926"/>
            </a:avLst>
          </a:prstGeom>
          <a:solidFill>
            <a:srgbClr val="FCFCFD">
              <a:alpha val="100000"/>
            </a:srgbClr>
          </a:solidFill>
          <a:ln w="6350">
            <a:solidFill>
              <a:srgbClr val="D5D9DE">
                <a:alpha val="100000"/>
              </a:srgbClr>
            </a:solidFill>
            <a:prstDash val="solid"/>
          </a:ln>
        </p:spPr>
      </p:sp>
      <p:sp>
        <p:nvSpPr>
          <p:cNvPr id="64" name="文字 64"/>
          <p:cNvSpPr txBox="1"/>
          <p:nvPr/>
        </p:nvSpPr>
        <p:spPr>
          <a:xfrm>
            <a:off x="558800" y="5730280"/>
            <a:ext cx="1457623" cy="1841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同一任务 · MachinePay</a:t>
            </a:r>
            <a:endParaRPr/>
          </a:p>
        </p:txBody>
      </p:sp>
      <p:sp>
        <p:nvSpPr>
          <p:cNvPr id="65" name="文字 65"/>
          <p:cNvSpPr txBox="1"/>
          <p:nvPr/>
        </p:nvSpPr>
        <p:spPr>
          <a:xfrm>
            <a:off x="558800" y="5927130"/>
            <a:ext cx="5003502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查一次钢材价格：GET API → 示例报价 0.01 元 → 用户确认 → 返回行情；按次收费，不买断。</a:t>
            </a:r>
            <a:endParaRPr/>
          </a:p>
        </p:txBody>
      </p:sp>
      <p:sp>
        <p:nvSpPr>
          <p:cNvPr id="66" name="形状 66"/>
          <p:cNvSpPr/>
          <p:nvPr/>
        </p:nvSpPr>
        <p:spPr>
          <a:xfrm>
            <a:off x="6165850" y="5641380"/>
            <a:ext cx="5568950" cy="511770"/>
          </a:xfrm>
          <a:prstGeom prst="roundRect">
            <a:avLst>
              <a:gd name="adj" fmla="val 9926"/>
            </a:avLst>
          </a:prstGeom>
          <a:solidFill>
            <a:srgbClr val="FDF0F1">
              <a:alpha val="100000"/>
            </a:srgbClr>
          </a:solidFill>
          <a:ln w="6350">
            <a:solidFill>
              <a:srgbClr val="EFC9CC">
                <a:alpha val="100000"/>
              </a:srgbClr>
            </a:solidFill>
            <a:prstDash val="solid"/>
          </a:ln>
        </p:spPr>
      </p:sp>
      <p:sp>
        <p:nvSpPr>
          <p:cNvPr id="67" name="文字 67"/>
          <p:cNvSpPr txBox="1"/>
          <p:nvPr/>
        </p:nvSpPr>
        <p:spPr>
          <a:xfrm>
            <a:off x="6267450" y="5730280"/>
            <a:ext cx="1206797" cy="1841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同一任务 · SkillPay</a:t>
            </a:r>
            <a:endParaRPr/>
          </a:p>
        </p:txBody>
      </p:sp>
      <p:sp>
        <p:nvSpPr>
          <p:cNvPr id="68" name="文字 68"/>
          <p:cNvSpPr txBox="1"/>
          <p:nvPr/>
        </p:nvSpPr>
        <p:spPr>
          <a:xfrm>
            <a:off x="6267450" y="5927130"/>
            <a:ext cx="4957167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买一个行业研究 Skill：示例 99 元买断 / 19 元每月订阅 → 源码或云端 → 在 Agent 里反复用。</a:t>
            </a:r>
            <a:endParaRPr/>
          </a:p>
        </p:txBody>
      </p:sp>
      <p:sp>
        <p:nvSpPr>
          <p:cNvPr id="69" name="形状 69"/>
          <p:cNvSpPr/>
          <p:nvPr/>
        </p:nvSpPr>
        <p:spPr>
          <a:xfrm>
            <a:off x="457200" y="6242050"/>
            <a:ext cx="11277600" cy="336550"/>
          </a:xfrm>
          <a:prstGeom prst="roundRect">
            <a:avLst>
              <a:gd name="adj" fmla="val 15094"/>
            </a:avLst>
          </a:prstGeom>
          <a:solidFill>
            <a:srgbClr val="FDF0F1">
              <a:alpha val="100000"/>
            </a:srgbClr>
          </a:solidFill>
          <a:ln w="6350">
            <a:solidFill>
              <a:srgbClr val="EFC9CC">
                <a:alpha val="100000"/>
              </a:srgbClr>
            </a:solidFill>
            <a:prstDash val="solid"/>
          </a:ln>
        </p:spPr>
      </p:sp>
      <p:sp>
        <p:nvSpPr>
          <p:cNvPr id="70" name="文字 70"/>
          <p:cNvSpPr txBox="1"/>
          <p:nvPr/>
        </p:nvSpPr>
        <p:spPr>
          <a:xfrm>
            <a:off x="577850" y="6337300"/>
            <a:ext cx="520700" cy="1841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u="none" spc="0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共同底座</a:t>
            </a:r>
            <a:endParaRPr/>
          </a:p>
        </p:txBody>
      </p:sp>
      <p:sp>
        <p:nvSpPr>
          <p:cNvPr id="71" name="文字 71"/>
          <p:cNvSpPr txBox="1"/>
          <p:nvPr/>
        </p:nvSpPr>
        <p:spPr>
          <a:xfrm>
            <a:off x="1174750" y="6337300"/>
            <a:ext cx="6926064" cy="1841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用户/Agent → AI 付钱包（绑定、逐笔授权）→ 402 账单/凭证 → 商家或开发者账户；支付链接约 5 分钟，账单 RSA2 签名。</a:t>
            </a:r>
            <a:endParaRPr/>
          </a:p>
        </p:txBody>
      </p:sp>
      <p:sp>
        <p:nvSpPr>
          <p:cNvPr id="72" name="文字 72"/>
          <p:cNvSpPr txBox="1"/>
          <p:nvPr/>
        </p:nvSpPr>
        <p:spPr>
          <a:xfrm>
            <a:off x="457200" y="6635750"/>
            <a:ext cx="4154289" cy="1206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650" b="0" i="0" u="none" spc="0">
                <a:solidFill>
                  <a:srgbClr val="8B8E9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来源：支付宝 AI 付文档、SkillPay 官网/博客、官方 alipay/ai skills 仓库、A2M 对接文档；2026-10-19 只读核查。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 name="SkillPay">
    <p:spTree>
      <p:nvGrpSpPr>
        <p:cNvPr id="1" name=""/>
        <p:cNvGrpSpPr/>
        <p:nvPr/>
      </p:nvGrpSpPr>
      <p:grpSpPr/>
      <p:sp>
        <p:nvSpPr>
          <p:cNvPr id="2" name="形状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noFill/>
          </a:ln>
        </p:spPr>
      </p:sp>
      <p:sp>
        <p:nvSpPr>
          <p:cNvPr id="3" name="形状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noFill/>
          </a:ln>
        </p:spPr>
      </p:sp>
      <p:sp>
        <p:nvSpPr>
          <p:cNvPr id="4" name="形状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noFill/>
          </a:ln>
        </p:spPr>
      </p:sp>
      <p:sp>
        <p:nvSpPr>
          <p:cNvPr id="5" name="文字 5"/>
          <p:cNvSpPr txBox="1"/>
          <p:nvPr/>
        </p:nvSpPr>
        <p:spPr>
          <a:xfrm>
            <a:off x="457200" y="273050"/>
            <a:ext cx="1356420" cy="1651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spc="90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SKILLPAY / 商品化机制</a:t>
            </a:r>
            <a:endParaRPr/>
          </a:p>
        </p:txBody>
      </p:sp>
      <p:sp>
        <p:nvSpPr>
          <p:cNvPr id="6" name="文字 6"/>
          <p:cNvSpPr txBox="1"/>
          <p:nvPr/>
        </p:nvSpPr>
        <p:spPr>
          <a:xfrm>
            <a:off x="457200" y="488950"/>
            <a:ext cx="6352679" cy="3873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2100" b="1" i="0" u="none" spc="-42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SkillPay：把 Skill 变成可定价、可交付、可退款的产品</a:t>
            </a:r>
            <a:endParaRPr/>
          </a:p>
        </p:txBody>
      </p:sp>
      <p:sp>
        <p:nvSpPr>
          <p:cNvPr id="7" name="文字 7"/>
          <p:cNvSpPr txBox="1"/>
          <p:nvPr/>
        </p:nvSpPr>
        <p:spPr>
          <a:xfrm>
            <a:off x="457200" y="866081"/>
            <a:ext cx="6565801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平台负责安全检测与商品化，开发者保留定价权；买家在 Agent 任务中完成支付，资金直接进入开发者支付宝。</a:t>
            </a:r>
            <a:endParaRPr/>
          </a:p>
        </p:txBody>
      </p:sp>
      <p:sp>
        <p:nvSpPr>
          <p:cNvPr id="8" name="文字 8"/>
          <p:cNvSpPr txBox="1"/>
          <p:nvPr/>
        </p:nvSpPr>
        <p:spPr>
          <a:xfrm>
            <a:off x="457200" y="1154311"/>
            <a:ext cx="1729879" cy="2286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从上传到退款：5 个环节</a:t>
            </a:r>
            <a:endParaRPr/>
          </a:p>
        </p:txBody>
      </p:sp>
      <p:sp>
        <p:nvSpPr>
          <p:cNvPr id="9" name="文字 9"/>
          <p:cNvSpPr txBox="1"/>
          <p:nvPr/>
        </p:nvSpPr>
        <p:spPr>
          <a:xfrm>
            <a:off x="457200" y="1389261"/>
            <a:ext cx="2305050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平台做审核与交付，开发者做定价与售后。</a:t>
            </a:r>
            <a:endParaRPr/>
          </a:p>
        </p:txBody>
      </p:sp>
      <p:pic>
        <p:nvPicPr>
          <p:cNvPr id="10" name="slide-002-image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79761"/>
            <a:ext cx="5654377" cy="505420"/>
          </a:xfrm>
          <a:prstGeom prst="rect">
            <a:avLst/>
          </a:prstGeom>
        </p:spPr>
      </p:pic>
      <p:sp>
        <p:nvSpPr>
          <p:cNvPr id="11" name="文字 11"/>
          <p:cNvSpPr txBox="1"/>
          <p:nvPr/>
        </p:nvSpPr>
        <p:spPr>
          <a:xfrm>
            <a:off x="457200" y="1643261"/>
            <a:ext cx="142280" cy="1397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50" b="1" i="0" u="none" spc="0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01</a:t>
            </a:r>
            <a:endParaRPr/>
          </a:p>
        </p:txBody>
      </p:sp>
      <p:sp>
        <p:nvSpPr>
          <p:cNvPr id="12" name="文字 12"/>
          <p:cNvSpPr txBox="1"/>
          <p:nvPr/>
        </p:nvSpPr>
        <p:spPr>
          <a:xfrm>
            <a:off x="749300" y="1655961"/>
            <a:ext cx="292100" cy="2032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上架</a:t>
            </a:r>
            <a:endParaRPr/>
          </a:p>
        </p:txBody>
      </p:sp>
      <p:sp>
        <p:nvSpPr>
          <p:cNvPr id="13" name="文字 13"/>
          <p:cNvSpPr txBox="1"/>
          <p:nvPr/>
        </p:nvSpPr>
        <p:spPr>
          <a:xfrm>
            <a:off x="749300" y="1850231"/>
            <a:ext cx="4268391" cy="1841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上传 Skill → 安全检测/风险扫描 → 商品页；签署 SkillPay + AI 按量付费协议</a:t>
            </a:r>
            <a:endParaRPr/>
          </a:p>
        </p:txBody>
      </p:sp>
      <p:pic>
        <p:nvPicPr>
          <p:cNvPr id="14" name="slide-002-image-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085181"/>
            <a:ext cx="5654377" cy="505420"/>
          </a:xfrm>
          <a:prstGeom prst="rect">
            <a:avLst/>
          </a:prstGeom>
        </p:spPr>
      </p:pic>
      <p:sp>
        <p:nvSpPr>
          <p:cNvPr id="15" name="文字 15"/>
          <p:cNvSpPr txBox="1"/>
          <p:nvPr/>
        </p:nvSpPr>
        <p:spPr>
          <a:xfrm>
            <a:off x="457200" y="2148681"/>
            <a:ext cx="142280" cy="1397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50" b="1" i="0" u="none" spc="0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02</a:t>
            </a:r>
            <a:endParaRPr/>
          </a:p>
        </p:txBody>
      </p:sp>
      <p:sp>
        <p:nvSpPr>
          <p:cNvPr id="16" name="文字 16"/>
          <p:cNvSpPr txBox="1"/>
          <p:nvPr/>
        </p:nvSpPr>
        <p:spPr>
          <a:xfrm>
            <a:off x="749300" y="2161381"/>
            <a:ext cx="292100" cy="2032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定价</a:t>
            </a:r>
            <a:endParaRPr/>
          </a:p>
        </p:txBody>
      </p:sp>
      <p:sp>
        <p:nvSpPr>
          <p:cNvPr id="17" name="文字 17"/>
          <p:cNvSpPr txBox="1"/>
          <p:nvPr/>
        </p:nvSpPr>
        <p:spPr>
          <a:xfrm>
            <a:off x="749300" y="2355652"/>
            <a:ext cx="3146822" cy="1841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一次性买断 / 周期订阅 / 免费试用；周期付费不自动续费</a:t>
            </a:r>
            <a:endParaRPr/>
          </a:p>
        </p:txBody>
      </p:sp>
      <p:pic>
        <p:nvPicPr>
          <p:cNvPr id="18" name="slide-002-image-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590602"/>
            <a:ext cx="5654377" cy="505420"/>
          </a:xfrm>
          <a:prstGeom prst="rect">
            <a:avLst/>
          </a:prstGeom>
        </p:spPr>
      </p:pic>
      <p:sp>
        <p:nvSpPr>
          <p:cNvPr id="19" name="文字 19"/>
          <p:cNvSpPr txBox="1"/>
          <p:nvPr/>
        </p:nvSpPr>
        <p:spPr>
          <a:xfrm>
            <a:off x="457200" y="2654102"/>
            <a:ext cx="142280" cy="1397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50" b="1" i="0" u="none" spc="0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03</a:t>
            </a:r>
            <a:endParaRPr/>
          </a:p>
        </p:txBody>
      </p:sp>
      <p:sp>
        <p:nvSpPr>
          <p:cNvPr id="20" name="文字 20"/>
          <p:cNvSpPr txBox="1"/>
          <p:nvPr/>
        </p:nvSpPr>
        <p:spPr>
          <a:xfrm>
            <a:off x="749300" y="2666802"/>
            <a:ext cx="292100" cy="2032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触发</a:t>
            </a:r>
            <a:endParaRPr/>
          </a:p>
        </p:txBody>
      </p:sp>
      <p:sp>
        <p:nvSpPr>
          <p:cNvPr id="21" name="文字 21"/>
          <p:cNvSpPr txBox="1"/>
          <p:nvPr/>
        </p:nvSpPr>
        <p:spPr>
          <a:xfrm>
            <a:off x="749300" y="2861072"/>
            <a:ext cx="3054648" cy="1841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任务中无有效权益 → 402/支付要求 → 用户支付宝确认</a:t>
            </a:r>
            <a:endParaRPr/>
          </a:p>
        </p:txBody>
      </p:sp>
      <p:pic>
        <p:nvPicPr>
          <p:cNvPr id="22" name="slide-002-image-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3096022"/>
            <a:ext cx="5654377" cy="505420"/>
          </a:xfrm>
          <a:prstGeom prst="rect">
            <a:avLst/>
          </a:prstGeom>
        </p:spPr>
      </p:pic>
      <p:sp>
        <p:nvSpPr>
          <p:cNvPr id="23" name="文字 23"/>
          <p:cNvSpPr txBox="1"/>
          <p:nvPr/>
        </p:nvSpPr>
        <p:spPr>
          <a:xfrm>
            <a:off x="457200" y="3159522"/>
            <a:ext cx="142280" cy="1397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50" b="1" i="0" u="none" spc="0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04</a:t>
            </a:r>
            <a:endParaRPr/>
          </a:p>
        </p:txBody>
      </p:sp>
      <p:sp>
        <p:nvSpPr>
          <p:cNvPr id="24" name="文字 24"/>
          <p:cNvSpPr txBox="1"/>
          <p:nvPr/>
        </p:nvSpPr>
        <p:spPr>
          <a:xfrm>
            <a:off x="749300" y="3172222"/>
            <a:ext cx="292100" cy="2032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交付</a:t>
            </a:r>
            <a:endParaRPr/>
          </a:p>
        </p:txBody>
      </p:sp>
      <p:sp>
        <p:nvSpPr>
          <p:cNvPr id="25" name="文字 25"/>
          <p:cNvSpPr txBox="1"/>
          <p:nvPr/>
        </p:nvSpPr>
        <p:spPr>
          <a:xfrm>
            <a:off x="749300" y="3366492"/>
            <a:ext cx="3441700" cy="1841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一次性交付完整源码；订阅走云端保护，只返回任务执行文本</a:t>
            </a:r>
            <a:endParaRPr/>
          </a:p>
        </p:txBody>
      </p:sp>
      <p:sp>
        <p:nvSpPr>
          <p:cNvPr id="26" name="文字 26"/>
          <p:cNvSpPr txBox="1"/>
          <p:nvPr/>
        </p:nvSpPr>
        <p:spPr>
          <a:xfrm>
            <a:off x="457200" y="3664942"/>
            <a:ext cx="142280" cy="1397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50" b="1" i="0" u="none" spc="0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05</a:t>
            </a:r>
            <a:endParaRPr/>
          </a:p>
        </p:txBody>
      </p:sp>
      <p:sp>
        <p:nvSpPr>
          <p:cNvPr id="27" name="文字 27"/>
          <p:cNvSpPr txBox="1"/>
          <p:nvPr/>
        </p:nvSpPr>
        <p:spPr>
          <a:xfrm>
            <a:off x="749300" y="3677642"/>
            <a:ext cx="711200" cy="2032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结算与退款</a:t>
            </a:r>
            <a:endParaRPr/>
          </a:p>
        </p:txBody>
      </p:sp>
      <p:sp>
        <p:nvSpPr>
          <p:cNvPr id="28" name="文字 28"/>
          <p:cNvSpPr txBox="1"/>
          <p:nvPr/>
        </p:nvSpPr>
        <p:spPr>
          <a:xfrm>
            <a:off x="749300" y="3871913"/>
            <a:ext cx="3822700" cy="1841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成交即到账开发者支付宝；退款由开发者发起，周期订单整单全额退</a:t>
            </a:r>
            <a:endParaRPr/>
          </a:p>
        </p:txBody>
      </p:sp>
      <p:pic>
        <p:nvPicPr>
          <p:cNvPr id="29" name="slide-002-image-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5010150"/>
            <a:ext cx="5654377" cy="393700"/>
          </a:xfrm>
          <a:prstGeom prst="rect">
            <a:avLst/>
          </a:prstGeom>
        </p:spPr>
      </p:pic>
      <p:sp>
        <p:nvSpPr>
          <p:cNvPr id="30" name="文字 30"/>
          <p:cNvSpPr txBox="1"/>
          <p:nvPr/>
        </p:nvSpPr>
        <p:spPr>
          <a:xfrm>
            <a:off x="457200" y="5092700"/>
            <a:ext cx="1221085" cy="1651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安装链路：seller proxy </a:t>
            </a:r>
            <a:endParaRPr/>
          </a:p>
        </p:txBody>
      </p:sp>
      <p:sp>
        <p:nvSpPr>
          <p:cNvPr id="31" name="文字 31"/>
          <p:cNvSpPr txBox="1"/>
          <p:nvPr/>
        </p:nvSpPr>
        <p:spPr>
          <a:xfrm>
            <a:off x="1665585" y="5092700"/>
            <a:ext cx="835720" cy="1460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firsttimebuy</a:t>
            </a:r>
            <a:endParaRPr/>
          </a:p>
        </p:txBody>
      </p:sp>
      <p:sp>
        <p:nvSpPr>
          <p:cNvPr id="32" name="文字 32"/>
          <p:cNvSpPr txBox="1"/>
          <p:nvPr/>
        </p:nvSpPr>
        <p:spPr>
          <a:xfrm>
            <a:off x="2488605" y="5092700"/>
            <a:ext cx="1537593" cy="1651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 → 支付待确认 → 查询状态 → </a:t>
            </a:r>
            <a:endParaRPr/>
          </a:p>
        </p:txBody>
      </p:sp>
      <p:sp>
        <p:nvSpPr>
          <p:cNvPr id="33" name="文字 33"/>
          <p:cNvSpPr txBox="1"/>
          <p:nvPr/>
        </p:nvSpPr>
        <p:spPr>
          <a:xfrm>
            <a:off x="4013498" y="5092700"/>
            <a:ext cx="1178619" cy="1460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fulfillment_proof</a:t>
            </a:r>
            <a:endParaRPr/>
          </a:p>
        </p:txBody>
      </p:sp>
      <p:sp>
        <p:nvSpPr>
          <p:cNvPr id="34" name="文字 34"/>
          <p:cNvSpPr txBox="1"/>
          <p:nvPr/>
        </p:nvSpPr>
        <p:spPr>
          <a:xfrm>
            <a:off x="5179417" y="5092700"/>
            <a:ext cx="794445" cy="1651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 → 安全下载/解</a:t>
            </a:r>
            <a:endParaRPr/>
          </a:p>
        </p:txBody>
      </p:sp>
      <p:sp>
        <p:nvSpPr>
          <p:cNvPr id="35" name="文字 35"/>
          <p:cNvSpPr txBox="1"/>
          <p:nvPr/>
        </p:nvSpPr>
        <p:spPr>
          <a:xfrm>
            <a:off x="457200" y="5257800"/>
            <a:ext cx="514747" cy="1651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压/安装。</a:t>
            </a:r>
            <a:endParaRPr/>
          </a:p>
        </p:txBody>
      </p:sp>
      <p:pic>
        <p:nvPicPr>
          <p:cNvPr id="36" name="slide-002-image-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02077" y="1128911"/>
            <a:ext cx="5432723" cy="4274939"/>
          </a:xfrm>
          <a:prstGeom prst="rect">
            <a:avLst/>
          </a:prstGeom>
        </p:spPr>
      </p:pic>
      <p:sp>
        <p:nvSpPr>
          <p:cNvPr id="37" name="文字 37"/>
          <p:cNvSpPr txBox="1"/>
          <p:nvPr/>
        </p:nvSpPr>
        <p:spPr>
          <a:xfrm>
            <a:off x="6486228" y="1154311"/>
            <a:ext cx="2318543" cy="2286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25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两种交付：源码买断 vs 云端订阅</a:t>
            </a:r>
            <a:endParaRPr/>
          </a:p>
        </p:txBody>
      </p:sp>
      <p:sp>
        <p:nvSpPr>
          <p:cNvPr id="38" name="形状 38"/>
          <p:cNvSpPr/>
          <p:nvPr/>
        </p:nvSpPr>
        <p:spPr>
          <a:xfrm>
            <a:off x="6486228" y="1408311"/>
            <a:ext cx="5248573" cy="565150"/>
          </a:xfrm>
          <a:prstGeom prst="roundRect">
            <a:avLst>
              <a:gd name="adj" fmla="val 8989"/>
            </a:avLst>
          </a:prstGeom>
          <a:noFill/>
          <a:ln w="6350">
            <a:solidFill>
              <a:srgbClr val="D5D9DE">
                <a:alpha val="100000"/>
              </a:srgbClr>
            </a:solidFill>
            <a:prstDash val="solid"/>
          </a:ln>
        </p:spPr>
      </p:sp>
      <p:sp>
        <p:nvSpPr>
          <p:cNvPr id="39" name="文字 39"/>
          <p:cNvSpPr txBox="1"/>
          <p:nvPr/>
        </p:nvSpPr>
        <p:spPr>
          <a:xfrm>
            <a:off x="6594177" y="1516261"/>
            <a:ext cx="742950" cy="2032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一次性买断 </a:t>
            </a:r>
            <a:endParaRPr/>
          </a:p>
        </p:txBody>
      </p:sp>
      <p:sp>
        <p:nvSpPr>
          <p:cNvPr id="40" name="文字 40"/>
          <p:cNvSpPr txBox="1"/>
          <p:nvPr/>
        </p:nvSpPr>
        <p:spPr>
          <a:xfrm>
            <a:off x="7324428" y="1541661"/>
            <a:ext cx="561380" cy="1460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u="none" spc="0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ONE-TIME</a:t>
            </a:r>
            <a:endParaRPr/>
          </a:p>
        </p:txBody>
      </p:sp>
      <p:sp>
        <p:nvSpPr>
          <p:cNvPr id="41" name="文字 41"/>
          <p:cNvSpPr txBox="1"/>
          <p:nvPr/>
        </p:nvSpPr>
        <p:spPr>
          <a:xfrm>
            <a:off x="6594177" y="1725811"/>
            <a:ext cx="4240610" cy="1841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支付 → 完整 Skill 源码 zip → 本地安装 → Agent 直接执行；适合永久使用。</a:t>
            </a:r>
            <a:endParaRPr/>
          </a:p>
        </p:txBody>
      </p:sp>
      <p:sp>
        <p:nvSpPr>
          <p:cNvPr id="42" name="形状 42"/>
          <p:cNvSpPr/>
          <p:nvPr/>
        </p:nvSpPr>
        <p:spPr>
          <a:xfrm>
            <a:off x="6486228" y="2036961"/>
            <a:ext cx="5248573" cy="565150"/>
          </a:xfrm>
          <a:prstGeom prst="roundRect">
            <a:avLst>
              <a:gd name="adj" fmla="val 8989"/>
            </a:avLst>
          </a:prstGeom>
          <a:solidFill>
            <a:srgbClr val="FDF0F1">
              <a:alpha val="100000"/>
            </a:srgbClr>
          </a:solidFill>
          <a:ln w="6350">
            <a:solidFill>
              <a:srgbClr val="EFC9CC">
                <a:alpha val="100000"/>
              </a:srgbClr>
            </a:solidFill>
            <a:prstDash val="solid"/>
          </a:ln>
        </p:spPr>
      </p:sp>
      <p:sp>
        <p:nvSpPr>
          <p:cNvPr id="43" name="文字 43"/>
          <p:cNvSpPr txBox="1"/>
          <p:nvPr/>
        </p:nvSpPr>
        <p:spPr>
          <a:xfrm>
            <a:off x="6594177" y="2144911"/>
            <a:ext cx="603250" cy="2032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周期订阅 </a:t>
            </a:r>
            <a:endParaRPr/>
          </a:p>
        </p:txBody>
      </p:sp>
      <p:sp>
        <p:nvSpPr>
          <p:cNvPr id="44" name="文字 44"/>
          <p:cNvSpPr txBox="1"/>
          <p:nvPr/>
        </p:nvSpPr>
        <p:spPr>
          <a:xfrm>
            <a:off x="7184727" y="2170311"/>
            <a:ext cx="835720" cy="1460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u="none" spc="0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SUBSCRIPTION</a:t>
            </a:r>
            <a:endParaRPr/>
          </a:p>
        </p:txBody>
      </p:sp>
      <p:sp>
        <p:nvSpPr>
          <p:cNvPr id="45" name="文字 45"/>
          <p:cNvSpPr txBox="1"/>
          <p:nvPr/>
        </p:nvSpPr>
        <p:spPr>
          <a:xfrm>
            <a:off x="6594177" y="2354461"/>
            <a:ext cx="4952305" cy="1841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支付周期 → 获得云端使用权 → 每次调用返回任务执行文本；不交付明文，不自动续费。</a:t>
            </a:r>
            <a:endParaRPr/>
          </a:p>
        </p:txBody>
      </p:sp>
      <p:pic>
        <p:nvPicPr>
          <p:cNvPr id="46" name="slide-002-image-7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86228" y="2678311"/>
            <a:ext cx="5248573" cy="577850"/>
          </a:xfrm>
          <a:prstGeom prst="rect">
            <a:avLst/>
          </a:prstGeom>
        </p:spPr>
      </p:pic>
      <p:sp>
        <p:nvSpPr>
          <p:cNvPr id="47" name="文字 47"/>
          <p:cNvSpPr txBox="1"/>
          <p:nvPr/>
        </p:nvSpPr>
        <p:spPr>
          <a:xfrm>
            <a:off x="6594177" y="2697361"/>
            <a:ext cx="2413000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云端保护：保护的是“方法”，不是答案</a:t>
            </a:r>
            <a:endParaRPr/>
          </a:p>
        </p:txBody>
      </p:sp>
      <p:sp>
        <p:nvSpPr>
          <p:cNvPr id="48" name="文字 48"/>
          <p:cNvSpPr txBox="1"/>
          <p:nvPr/>
        </p:nvSpPr>
        <p:spPr>
          <a:xfrm>
            <a:off x="6594177" y="2906911"/>
            <a:ext cx="5092701" cy="1841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原文隔离在云；按任务最小披露；防角色扮演、指令覆盖、编码转换与多轮套取。不是绝对</a:t>
            </a:r>
            <a:endParaRPr/>
          </a:p>
        </p:txBody>
      </p:sp>
      <p:sp>
        <p:nvSpPr>
          <p:cNvPr id="49" name="文字 49"/>
          <p:cNvSpPr txBox="1"/>
          <p:nvPr/>
        </p:nvSpPr>
        <p:spPr>
          <a:xfrm>
            <a:off x="6594177" y="3091061"/>
            <a:ext cx="1790700" cy="1841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安全，是提高批量复制的成本。</a:t>
            </a:r>
            <a:endParaRPr/>
          </a:p>
        </p:txBody>
      </p:sp>
      <p:pic>
        <p:nvPicPr>
          <p:cNvPr id="50" name="slide-002-image-8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86228" y="3319661"/>
            <a:ext cx="5248573" cy="400050"/>
          </a:xfrm>
          <a:prstGeom prst="rect">
            <a:avLst/>
          </a:prstGeom>
        </p:spPr>
      </p:pic>
      <p:sp>
        <p:nvSpPr>
          <p:cNvPr id="51" name="文字 51"/>
          <p:cNvSpPr txBox="1"/>
          <p:nvPr/>
        </p:nvSpPr>
        <p:spPr>
          <a:xfrm>
            <a:off x="6486228" y="3389511"/>
            <a:ext cx="736600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商品页要写清</a:t>
            </a:r>
            <a:endParaRPr/>
          </a:p>
        </p:txBody>
      </p:sp>
      <p:sp>
        <p:nvSpPr>
          <p:cNvPr id="52" name="文字 52"/>
          <p:cNvSpPr txBox="1"/>
          <p:nvPr/>
        </p:nvSpPr>
        <p:spPr>
          <a:xfrm>
            <a:off x="6486228" y="3573661"/>
            <a:ext cx="3379589" cy="1651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价格 · 免费试用 · 交付方式（源码/云端）· 退款规则 · 适用宿主</a:t>
            </a:r>
            <a:endParaRPr/>
          </a:p>
        </p:txBody>
      </p:sp>
      <p:sp>
        <p:nvSpPr>
          <p:cNvPr id="53" name="形状 53"/>
          <p:cNvSpPr/>
          <p:nvPr/>
        </p:nvSpPr>
        <p:spPr>
          <a:xfrm>
            <a:off x="6486228" y="3776861"/>
            <a:ext cx="508000" cy="215900"/>
          </a:xfrm>
          <a:prstGeom prst="roundRect">
            <a:avLst>
              <a:gd name="adj" fmla="val 11765"/>
            </a:avLst>
          </a:prstGeom>
          <a:solidFill>
            <a:srgbClr val="FAFAFA">
              <a:alpha val="100000"/>
            </a:srgbClr>
          </a:solidFill>
          <a:ln w="6350">
            <a:solidFill>
              <a:srgbClr val="D5D9DE">
                <a:alpha val="100000"/>
              </a:srgbClr>
            </a:solidFill>
            <a:prstDash val="solid"/>
          </a:ln>
        </p:spPr>
      </p:sp>
      <p:sp>
        <p:nvSpPr>
          <p:cNvPr id="54" name="文字 54"/>
          <p:cNvSpPr txBox="1"/>
          <p:nvPr/>
        </p:nvSpPr>
        <p:spPr>
          <a:xfrm>
            <a:off x="6537028" y="3827661"/>
            <a:ext cx="419100" cy="1524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原文隔离</a:t>
            </a:r>
            <a:endParaRPr/>
          </a:p>
        </p:txBody>
      </p:sp>
      <p:sp>
        <p:nvSpPr>
          <p:cNvPr id="55" name="文字 55"/>
          <p:cNvSpPr txBox="1"/>
          <p:nvPr/>
        </p:nvSpPr>
        <p:spPr>
          <a:xfrm>
            <a:off x="7025978" y="3827661"/>
            <a:ext cx="114300" cy="1524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→</a:t>
            </a:r>
            <a:endParaRPr/>
          </a:p>
        </p:txBody>
      </p:sp>
      <p:sp>
        <p:nvSpPr>
          <p:cNvPr id="56" name="形状 56"/>
          <p:cNvSpPr/>
          <p:nvPr/>
        </p:nvSpPr>
        <p:spPr>
          <a:xfrm>
            <a:off x="7159327" y="3776861"/>
            <a:ext cx="508000" cy="215900"/>
          </a:xfrm>
          <a:prstGeom prst="roundRect">
            <a:avLst>
              <a:gd name="adj" fmla="val 11765"/>
            </a:avLst>
          </a:prstGeom>
          <a:solidFill>
            <a:srgbClr val="FAFAFA">
              <a:alpha val="100000"/>
            </a:srgbClr>
          </a:solidFill>
          <a:ln w="6350">
            <a:solidFill>
              <a:srgbClr val="D5D9DE">
                <a:alpha val="100000"/>
              </a:srgbClr>
            </a:solidFill>
            <a:prstDash val="solid"/>
          </a:ln>
        </p:spPr>
      </p:sp>
      <p:sp>
        <p:nvSpPr>
          <p:cNvPr id="57" name="文字 57"/>
          <p:cNvSpPr txBox="1"/>
          <p:nvPr/>
        </p:nvSpPr>
        <p:spPr>
          <a:xfrm>
            <a:off x="7210128" y="3827661"/>
            <a:ext cx="419100" cy="1524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任务请求</a:t>
            </a:r>
            <a:endParaRPr/>
          </a:p>
        </p:txBody>
      </p:sp>
      <p:sp>
        <p:nvSpPr>
          <p:cNvPr id="58" name="文字 58"/>
          <p:cNvSpPr txBox="1"/>
          <p:nvPr/>
        </p:nvSpPr>
        <p:spPr>
          <a:xfrm>
            <a:off x="7699078" y="3827661"/>
            <a:ext cx="114300" cy="1524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→</a:t>
            </a:r>
            <a:endParaRPr/>
          </a:p>
        </p:txBody>
      </p:sp>
      <p:sp>
        <p:nvSpPr>
          <p:cNvPr id="59" name="形状 59"/>
          <p:cNvSpPr/>
          <p:nvPr/>
        </p:nvSpPr>
        <p:spPr>
          <a:xfrm>
            <a:off x="7832427" y="3776861"/>
            <a:ext cx="508001" cy="215900"/>
          </a:xfrm>
          <a:prstGeom prst="roundRect">
            <a:avLst>
              <a:gd name="adj" fmla="val 11765"/>
            </a:avLst>
          </a:prstGeom>
          <a:solidFill>
            <a:srgbClr val="FDF0F1">
              <a:alpha val="100000"/>
            </a:srgbClr>
          </a:solidFill>
          <a:ln w="6350">
            <a:solidFill>
              <a:srgbClr val="EFC9CC">
                <a:alpha val="100000"/>
              </a:srgbClr>
            </a:solidFill>
            <a:prstDash val="solid"/>
          </a:ln>
        </p:spPr>
      </p:sp>
      <p:sp>
        <p:nvSpPr>
          <p:cNvPr id="60" name="文字 60"/>
          <p:cNvSpPr txBox="1"/>
          <p:nvPr/>
        </p:nvSpPr>
        <p:spPr>
          <a:xfrm>
            <a:off x="7883228" y="3827661"/>
            <a:ext cx="419100" cy="1524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最小披露</a:t>
            </a:r>
            <a:endParaRPr/>
          </a:p>
        </p:txBody>
      </p:sp>
      <p:sp>
        <p:nvSpPr>
          <p:cNvPr id="61" name="文字 61"/>
          <p:cNvSpPr txBox="1"/>
          <p:nvPr/>
        </p:nvSpPr>
        <p:spPr>
          <a:xfrm>
            <a:off x="8372178" y="3827661"/>
            <a:ext cx="114300" cy="1524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→</a:t>
            </a:r>
            <a:endParaRPr/>
          </a:p>
        </p:txBody>
      </p:sp>
      <p:sp>
        <p:nvSpPr>
          <p:cNvPr id="62" name="形状 62"/>
          <p:cNvSpPr/>
          <p:nvPr/>
        </p:nvSpPr>
        <p:spPr>
          <a:xfrm>
            <a:off x="8505527" y="3776861"/>
            <a:ext cx="508001" cy="215900"/>
          </a:xfrm>
          <a:prstGeom prst="roundRect">
            <a:avLst>
              <a:gd name="adj" fmla="val 11765"/>
            </a:avLst>
          </a:prstGeom>
          <a:solidFill>
            <a:srgbClr val="FAFAFA">
              <a:alpha val="100000"/>
            </a:srgbClr>
          </a:solidFill>
          <a:ln w="6350">
            <a:solidFill>
              <a:srgbClr val="D5D9DE">
                <a:alpha val="100000"/>
              </a:srgbClr>
            </a:solidFill>
            <a:prstDash val="solid"/>
          </a:ln>
        </p:spPr>
      </p:sp>
      <p:sp>
        <p:nvSpPr>
          <p:cNvPr id="63" name="文字 63"/>
          <p:cNvSpPr txBox="1"/>
          <p:nvPr/>
        </p:nvSpPr>
        <p:spPr>
          <a:xfrm>
            <a:off x="8556328" y="3827661"/>
            <a:ext cx="419100" cy="1524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本地执行</a:t>
            </a:r>
            <a:endParaRPr/>
          </a:p>
        </p:txBody>
      </p:sp>
      <p:pic>
        <p:nvPicPr>
          <p:cNvPr id="64" name="slide-002-image-9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86228" y="5175250"/>
            <a:ext cx="5248573" cy="228600"/>
          </a:xfrm>
          <a:prstGeom prst="rect">
            <a:avLst/>
          </a:prstGeom>
        </p:spPr>
      </p:pic>
      <p:sp>
        <p:nvSpPr>
          <p:cNvPr id="65" name="文字 65"/>
          <p:cNvSpPr txBox="1"/>
          <p:nvPr/>
        </p:nvSpPr>
        <p:spPr>
          <a:xfrm>
            <a:off x="6486228" y="5251450"/>
            <a:ext cx="4396085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支持宿主：WorkBuddy、豆包工作、千问办公、Cursor、Codex、Claude Code。</a:t>
            </a:r>
            <a:endParaRPr/>
          </a:p>
        </p:txBody>
      </p:sp>
      <p:pic>
        <p:nvPicPr>
          <p:cNvPr id="66" name="slide-002-image-10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7200" y="5467350"/>
            <a:ext cx="11277600" cy="641350"/>
          </a:xfrm>
          <a:prstGeom prst="rect">
            <a:avLst/>
          </a:prstGeom>
        </p:spPr>
      </p:pic>
      <p:sp>
        <p:nvSpPr>
          <p:cNvPr id="67" name="文字 67"/>
          <p:cNvSpPr txBox="1"/>
          <p:nvPr/>
        </p:nvSpPr>
        <p:spPr>
          <a:xfrm>
            <a:off x="457200" y="5543550"/>
            <a:ext cx="2239665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购买/安装链路：卖家 proxy + alipay-bot</a:t>
            </a:r>
            <a:endParaRPr/>
          </a:p>
        </p:txBody>
      </p:sp>
      <p:pic>
        <p:nvPicPr>
          <p:cNvPr id="68" name="slide-002-image-11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7200" y="5727700"/>
            <a:ext cx="1578372" cy="381000"/>
          </a:xfrm>
          <a:prstGeom prst="rect">
            <a:avLst/>
          </a:prstGeom>
        </p:spPr>
      </p:pic>
      <p:sp>
        <p:nvSpPr>
          <p:cNvPr id="69" name="文字 69"/>
          <p:cNvSpPr txBox="1"/>
          <p:nvPr/>
        </p:nvSpPr>
        <p:spPr>
          <a:xfrm>
            <a:off x="501650" y="5791200"/>
            <a:ext cx="317500" cy="1524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商品页</a:t>
            </a:r>
            <a:endParaRPr/>
          </a:p>
        </p:txBody>
      </p:sp>
      <p:sp>
        <p:nvSpPr>
          <p:cNvPr id="70" name="文字 70"/>
          <p:cNvSpPr txBox="1"/>
          <p:nvPr/>
        </p:nvSpPr>
        <p:spPr>
          <a:xfrm>
            <a:off x="501650" y="5943600"/>
            <a:ext cx="458986" cy="1524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价格/试用</a:t>
            </a:r>
            <a:endParaRPr/>
          </a:p>
        </p:txBody>
      </p:sp>
      <p:pic>
        <p:nvPicPr>
          <p:cNvPr id="71" name="slide-002-image-12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073672" y="5727700"/>
            <a:ext cx="1578471" cy="381000"/>
          </a:xfrm>
          <a:prstGeom prst="rect">
            <a:avLst/>
          </a:prstGeom>
        </p:spPr>
      </p:pic>
      <p:sp>
        <p:nvSpPr>
          <p:cNvPr id="72" name="文字 72"/>
          <p:cNvSpPr txBox="1"/>
          <p:nvPr/>
        </p:nvSpPr>
        <p:spPr>
          <a:xfrm>
            <a:off x="2118122" y="5791200"/>
            <a:ext cx="630634" cy="1524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firsttimebuy</a:t>
            </a:r>
            <a:endParaRPr/>
          </a:p>
        </p:txBody>
      </p:sp>
      <p:sp>
        <p:nvSpPr>
          <p:cNvPr id="73" name="文字 73"/>
          <p:cNvSpPr txBox="1"/>
          <p:nvPr/>
        </p:nvSpPr>
        <p:spPr>
          <a:xfrm>
            <a:off x="2118122" y="5943600"/>
            <a:ext cx="419100" cy="1524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幂等下单</a:t>
            </a:r>
            <a:endParaRPr/>
          </a:p>
        </p:txBody>
      </p:sp>
      <p:pic>
        <p:nvPicPr>
          <p:cNvPr id="74" name="slide-002-image-13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690243" y="5727700"/>
            <a:ext cx="1578372" cy="381000"/>
          </a:xfrm>
          <a:prstGeom prst="rect">
            <a:avLst/>
          </a:prstGeom>
        </p:spPr>
      </p:pic>
      <p:sp>
        <p:nvSpPr>
          <p:cNvPr id="75" name="文字 75"/>
          <p:cNvSpPr txBox="1"/>
          <p:nvPr/>
        </p:nvSpPr>
        <p:spPr>
          <a:xfrm>
            <a:off x="3734693" y="5791200"/>
            <a:ext cx="520700" cy="1524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支付待确认</a:t>
            </a:r>
            <a:endParaRPr/>
          </a:p>
        </p:txBody>
      </p:sp>
      <p:sp>
        <p:nvSpPr>
          <p:cNvPr id="76" name="文字 76"/>
          <p:cNvSpPr txBox="1"/>
          <p:nvPr/>
        </p:nvSpPr>
        <p:spPr>
          <a:xfrm>
            <a:off x="3734693" y="5943600"/>
            <a:ext cx="458986" cy="1524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订单/链接</a:t>
            </a:r>
            <a:endParaRPr/>
          </a:p>
        </p:txBody>
      </p:sp>
      <p:pic>
        <p:nvPicPr>
          <p:cNvPr id="77" name="slide-002-image-14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306715" y="5727700"/>
            <a:ext cx="1578471" cy="381000"/>
          </a:xfrm>
          <a:prstGeom prst="rect">
            <a:avLst/>
          </a:prstGeom>
        </p:spPr>
      </p:pic>
      <p:sp>
        <p:nvSpPr>
          <p:cNvPr id="78" name="文字 78"/>
          <p:cNvSpPr txBox="1"/>
          <p:nvPr/>
        </p:nvSpPr>
        <p:spPr>
          <a:xfrm>
            <a:off x="5351165" y="5791200"/>
            <a:ext cx="419100" cy="1524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用户支付</a:t>
            </a:r>
            <a:endParaRPr/>
          </a:p>
        </p:txBody>
      </p:sp>
      <p:sp>
        <p:nvSpPr>
          <p:cNvPr id="79" name="文字 79"/>
          <p:cNvSpPr txBox="1"/>
          <p:nvPr/>
        </p:nvSpPr>
        <p:spPr>
          <a:xfrm>
            <a:off x="5351165" y="5943600"/>
            <a:ext cx="520700" cy="1524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支付宝确认</a:t>
            </a:r>
            <a:endParaRPr/>
          </a:p>
        </p:txBody>
      </p:sp>
      <p:pic>
        <p:nvPicPr>
          <p:cNvPr id="80" name="slide-002-image-15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923286" y="5727700"/>
            <a:ext cx="1578372" cy="381000"/>
          </a:xfrm>
          <a:prstGeom prst="rect">
            <a:avLst/>
          </a:prstGeom>
        </p:spPr>
      </p:pic>
      <p:sp>
        <p:nvSpPr>
          <p:cNvPr id="81" name="文字 81"/>
          <p:cNvSpPr txBox="1"/>
          <p:nvPr/>
        </p:nvSpPr>
        <p:spPr>
          <a:xfrm>
            <a:off x="6967736" y="5791200"/>
            <a:ext cx="419100" cy="1524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查询状态</a:t>
            </a:r>
            <a:endParaRPr/>
          </a:p>
        </p:txBody>
      </p:sp>
      <p:sp>
        <p:nvSpPr>
          <p:cNvPr id="82" name="文字 82"/>
          <p:cNvSpPr txBox="1"/>
          <p:nvPr/>
        </p:nvSpPr>
        <p:spPr>
          <a:xfrm>
            <a:off x="6967736" y="5943600"/>
            <a:ext cx="520701" cy="1524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原订单恢复</a:t>
            </a:r>
            <a:endParaRPr/>
          </a:p>
        </p:txBody>
      </p:sp>
      <p:pic>
        <p:nvPicPr>
          <p:cNvPr id="83" name="slide-002-image-16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539758" y="5727700"/>
            <a:ext cx="1578472" cy="381000"/>
          </a:xfrm>
          <a:prstGeom prst="rect">
            <a:avLst/>
          </a:prstGeom>
        </p:spPr>
      </p:pic>
      <p:sp>
        <p:nvSpPr>
          <p:cNvPr id="84" name="文字 84"/>
          <p:cNvSpPr txBox="1"/>
          <p:nvPr/>
        </p:nvSpPr>
        <p:spPr>
          <a:xfrm>
            <a:off x="8584208" y="5791200"/>
            <a:ext cx="874216" cy="1524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fulfillment_proof</a:t>
            </a:r>
            <a:endParaRPr/>
          </a:p>
        </p:txBody>
      </p:sp>
      <p:sp>
        <p:nvSpPr>
          <p:cNvPr id="85" name="文字 85"/>
          <p:cNvSpPr txBox="1"/>
          <p:nvPr/>
        </p:nvSpPr>
        <p:spPr>
          <a:xfrm>
            <a:off x="8584208" y="5943600"/>
            <a:ext cx="622300" cy="1524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唯一下载地址</a:t>
            </a:r>
            <a:endParaRPr/>
          </a:p>
        </p:txBody>
      </p:sp>
      <p:pic>
        <p:nvPicPr>
          <p:cNvPr id="86" name="slide-002-image-17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156329" y="5727700"/>
            <a:ext cx="1578372" cy="381000"/>
          </a:xfrm>
          <a:prstGeom prst="rect">
            <a:avLst/>
          </a:prstGeom>
        </p:spPr>
      </p:pic>
      <p:sp>
        <p:nvSpPr>
          <p:cNvPr id="87" name="文字 87"/>
          <p:cNvSpPr txBox="1"/>
          <p:nvPr/>
        </p:nvSpPr>
        <p:spPr>
          <a:xfrm>
            <a:off x="10200779" y="5791200"/>
            <a:ext cx="458490" cy="1524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下载/解压</a:t>
            </a:r>
            <a:endParaRPr/>
          </a:p>
        </p:txBody>
      </p:sp>
      <p:sp>
        <p:nvSpPr>
          <p:cNvPr id="88" name="文字 88"/>
          <p:cNvSpPr txBox="1"/>
          <p:nvPr/>
        </p:nvSpPr>
        <p:spPr>
          <a:xfrm>
            <a:off x="10200779" y="5943600"/>
            <a:ext cx="419100" cy="1524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00" b="0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安装验证</a:t>
            </a:r>
            <a:endParaRPr/>
          </a:p>
        </p:txBody>
      </p:sp>
      <p:pic>
        <p:nvPicPr>
          <p:cNvPr id="89" name="slide-002-image-18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57200" y="6184900"/>
            <a:ext cx="11277600" cy="393700"/>
          </a:xfrm>
          <a:prstGeom prst="rect">
            <a:avLst/>
          </a:prstGeom>
        </p:spPr>
      </p:pic>
      <p:sp>
        <p:nvSpPr>
          <p:cNvPr id="90" name="文字 90"/>
          <p:cNvSpPr txBox="1"/>
          <p:nvPr/>
        </p:nvSpPr>
        <p:spPr>
          <a:xfrm>
            <a:off x="457200" y="6267450"/>
            <a:ext cx="494903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402 支付</a:t>
            </a:r>
            <a:endParaRPr/>
          </a:p>
        </p:txBody>
      </p:sp>
      <p:sp>
        <p:nvSpPr>
          <p:cNvPr id="91" name="文字 91"/>
          <p:cNvSpPr txBox="1"/>
          <p:nvPr/>
        </p:nvSpPr>
        <p:spPr>
          <a:xfrm>
            <a:off x="457200" y="6438900"/>
            <a:ext cx="984250" cy="1587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识别付费、恢复任务</a:t>
            </a:r>
            <a:endParaRPr/>
          </a:p>
        </p:txBody>
      </p:sp>
      <p:sp>
        <p:nvSpPr>
          <p:cNvPr id="92" name="文字 92"/>
          <p:cNvSpPr txBox="1"/>
          <p:nvPr/>
        </p:nvSpPr>
        <p:spPr>
          <a:xfrm>
            <a:off x="3298825" y="6267450"/>
            <a:ext cx="495300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云端交付</a:t>
            </a:r>
            <a:endParaRPr/>
          </a:p>
        </p:txBody>
      </p:sp>
      <p:sp>
        <p:nvSpPr>
          <p:cNvPr id="93" name="文字 93"/>
          <p:cNvSpPr txBox="1"/>
          <p:nvPr/>
        </p:nvSpPr>
        <p:spPr>
          <a:xfrm>
            <a:off x="3298825" y="6438900"/>
            <a:ext cx="984250" cy="1587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提供能力、不交原文</a:t>
            </a:r>
            <a:endParaRPr/>
          </a:p>
        </p:txBody>
      </p:sp>
      <p:sp>
        <p:nvSpPr>
          <p:cNvPr id="94" name="文字 94"/>
          <p:cNvSpPr txBox="1"/>
          <p:nvPr/>
        </p:nvSpPr>
        <p:spPr>
          <a:xfrm>
            <a:off x="6140450" y="6267450"/>
            <a:ext cx="495300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安全保护</a:t>
            </a:r>
            <a:endParaRPr/>
          </a:p>
        </p:txBody>
      </p:sp>
      <p:sp>
        <p:nvSpPr>
          <p:cNvPr id="95" name="文字 95"/>
          <p:cNvSpPr txBox="1"/>
          <p:nvPr/>
        </p:nvSpPr>
        <p:spPr>
          <a:xfrm>
            <a:off x="6140450" y="6438900"/>
            <a:ext cx="984250" cy="1587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降低套取与复制风险</a:t>
            </a:r>
            <a:endParaRPr/>
          </a:p>
        </p:txBody>
      </p:sp>
      <p:sp>
        <p:nvSpPr>
          <p:cNvPr id="96" name="文字 96"/>
          <p:cNvSpPr txBox="1"/>
          <p:nvPr/>
        </p:nvSpPr>
        <p:spPr>
          <a:xfrm>
            <a:off x="8982075" y="6267450"/>
            <a:ext cx="495300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商业经营</a:t>
            </a:r>
            <a:endParaRPr/>
          </a:p>
        </p:txBody>
      </p:sp>
      <p:sp>
        <p:nvSpPr>
          <p:cNvPr id="97" name="文字 97"/>
          <p:cNvSpPr txBox="1"/>
          <p:nvPr/>
        </p:nvSpPr>
        <p:spPr>
          <a:xfrm>
            <a:off x="8982075" y="6438900"/>
            <a:ext cx="876300" cy="1587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试用、订阅与履约</a:t>
            </a:r>
            <a:endParaRPr/>
          </a:p>
        </p:txBody>
      </p:sp>
      <p:sp>
        <p:nvSpPr>
          <p:cNvPr id="98" name="文字 98"/>
          <p:cNvSpPr txBox="1"/>
          <p:nvPr/>
        </p:nvSpPr>
        <p:spPr>
          <a:xfrm>
            <a:off x="457200" y="6635750"/>
            <a:ext cx="4582914" cy="1206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650" b="0" i="0" u="none" spc="0">
                <a:solidFill>
                  <a:srgbClr val="8B8E9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来源：SkillPay 官网与博客（《好的世界，技有所得》）、SkillPay 购买/履约执行器、支付宝 AI 付文档；2026-10-19 只读核查。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 name="MachinePay">
    <p:spTree>
      <p:nvGrpSpPr>
        <p:cNvPr id="1" name=""/>
        <p:cNvGrpSpPr/>
        <p:nvPr/>
      </p:nvGrpSpPr>
      <p:grpSpPr/>
      <p:sp>
        <p:nvSpPr>
          <p:cNvPr id="2" name="形状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noFill/>
          </a:ln>
        </p:spPr>
      </p:sp>
      <p:sp>
        <p:nvSpPr>
          <p:cNvPr id="3" name="形状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noFill/>
          </a:ln>
        </p:spPr>
      </p:sp>
      <p:sp>
        <p:nvSpPr>
          <p:cNvPr id="4" name="形状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noFill/>
          </a:ln>
        </p:spPr>
      </p:sp>
      <p:sp>
        <p:nvSpPr>
          <p:cNvPr id="5" name="文字 5"/>
          <p:cNvSpPr txBox="1"/>
          <p:nvPr/>
        </p:nvSpPr>
        <p:spPr>
          <a:xfrm>
            <a:off x="457200" y="247650"/>
            <a:ext cx="1545034" cy="1651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spc="90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MACHINEPAY / A402 协议</a:t>
            </a:r>
            <a:endParaRPr/>
          </a:p>
        </p:txBody>
      </p:sp>
      <p:sp>
        <p:nvSpPr>
          <p:cNvPr id="6" name="文字 6"/>
          <p:cNvSpPr txBox="1"/>
          <p:nvPr/>
        </p:nvSpPr>
        <p:spPr>
          <a:xfrm>
            <a:off x="457200" y="450850"/>
            <a:ext cx="6704013" cy="3683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2000" b="1" i="0" u="none" spc="-4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MachinePay：用 402 把每次 API 调用变成一笔可验证的交易</a:t>
            </a:r>
            <a:endParaRPr/>
          </a:p>
        </p:txBody>
      </p:sp>
      <p:sp>
        <p:nvSpPr>
          <p:cNvPr id="7" name="文字 7"/>
          <p:cNvSpPr txBox="1"/>
          <p:nvPr/>
        </p:nvSpPr>
        <p:spPr>
          <a:xfrm>
            <a:off x="457200" y="800100"/>
            <a:ext cx="5336382" cy="1841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商家在响应里报价，Agent 用支付宝付款，商家验单后交付；支付与履约都进入机器调用链路。</a:t>
            </a:r>
            <a:endParaRPr/>
          </a:p>
        </p:txBody>
      </p:sp>
      <p:sp>
        <p:nvSpPr>
          <p:cNvPr id="8" name="形状 8"/>
          <p:cNvSpPr/>
          <p:nvPr/>
        </p:nvSpPr>
        <p:spPr>
          <a:xfrm>
            <a:off x="457200" y="1022350"/>
            <a:ext cx="1787327" cy="215900"/>
          </a:xfrm>
          <a:prstGeom prst="roundRect">
            <a:avLst>
              <a:gd name="adj" fmla="val 11765"/>
            </a:avLst>
          </a:prstGeom>
          <a:solidFill>
            <a:srgbClr val="FDF0F1">
              <a:alpha val="100000"/>
            </a:srgbClr>
          </a:solidFill>
          <a:ln w="6350">
            <a:solidFill>
              <a:srgbClr val="EFC9CC">
                <a:alpha val="100000"/>
              </a:srgbClr>
            </a:solidFill>
            <a:prstDash val="solid"/>
          </a:ln>
        </p:spPr>
      </p:sp>
      <p:sp>
        <p:nvSpPr>
          <p:cNvPr id="9" name="文字 9"/>
          <p:cNvSpPr txBox="1"/>
          <p:nvPr/>
        </p:nvSpPr>
        <p:spPr>
          <a:xfrm>
            <a:off x="539750" y="1066800"/>
            <a:ext cx="381595" cy="1651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u="none" spc="0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① 报价</a:t>
            </a:r>
            <a:endParaRPr/>
          </a:p>
        </p:txBody>
      </p:sp>
      <p:sp>
        <p:nvSpPr>
          <p:cNvPr id="10" name="文字 10"/>
          <p:cNvSpPr txBox="1"/>
          <p:nvPr/>
        </p:nvSpPr>
        <p:spPr>
          <a:xfrm>
            <a:off x="908645" y="1066800"/>
            <a:ext cx="1266031" cy="1651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 402 + Payment-Needed</a:t>
            </a:r>
            <a:endParaRPr/>
          </a:p>
        </p:txBody>
      </p:sp>
      <p:sp>
        <p:nvSpPr>
          <p:cNvPr id="11" name="形状 11"/>
          <p:cNvSpPr/>
          <p:nvPr/>
        </p:nvSpPr>
        <p:spPr>
          <a:xfrm>
            <a:off x="2308027" y="1022350"/>
            <a:ext cx="1602780" cy="215900"/>
          </a:xfrm>
          <a:prstGeom prst="roundRect">
            <a:avLst>
              <a:gd name="adj" fmla="val 11765"/>
            </a:avLst>
          </a:prstGeom>
          <a:solidFill>
            <a:srgbClr val="FDF0F1">
              <a:alpha val="100000"/>
            </a:srgbClr>
          </a:solidFill>
          <a:ln w="6350">
            <a:solidFill>
              <a:srgbClr val="EFC9CC">
                <a:alpha val="100000"/>
              </a:srgbClr>
            </a:solidFill>
            <a:prstDash val="solid"/>
          </a:ln>
        </p:spPr>
      </p:sp>
      <p:sp>
        <p:nvSpPr>
          <p:cNvPr id="12" name="文字 12"/>
          <p:cNvSpPr txBox="1"/>
          <p:nvPr/>
        </p:nvSpPr>
        <p:spPr>
          <a:xfrm>
            <a:off x="2390577" y="1066800"/>
            <a:ext cx="381595" cy="1651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u="none" spc="0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② 付款</a:t>
            </a:r>
            <a:endParaRPr/>
          </a:p>
        </p:txBody>
      </p:sp>
      <p:sp>
        <p:nvSpPr>
          <p:cNvPr id="13" name="文字 13"/>
          <p:cNvSpPr txBox="1"/>
          <p:nvPr/>
        </p:nvSpPr>
        <p:spPr>
          <a:xfrm>
            <a:off x="2759472" y="1066800"/>
            <a:ext cx="1081484" cy="1651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 AI 付钱包 + 用户确认</a:t>
            </a:r>
            <a:endParaRPr/>
          </a:p>
        </p:txBody>
      </p:sp>
      <p:sp>
        <p:nvSpPr>
          <p:cNvPr id="14" name="形状 14"/>
          <p:cNvSpPr/>
          <p:nvPr/>
        </p:nvSpPr>
        <p:spPr>
          <a:xfrm>
            <a:off x="3974306" y="1022350"/>
            <a:ext cx="1523405" cy="215900"/>
          </a:xfrm>
          <a:prstGeom prst="roundRect">
            <a:avLst>
              <a:gd name="adj" fmla="val 11765"/>
            </a:avLst>
          </a:prstGeom>
          <a:solidFill>
            <a:srgbClr val="FDF0F1">
              <a:alpha val="100000"/>
            </a:srgbClr>
          </a:solidFill>
          <a:ln w="6350">
            <a:solidFill>
              <a:srgbClr val="EFC9CC">
                <a:alpha val="100000"/>
              </a:srgbClr>
            </a:solidFill>
            <a:prstDash val="solid"/>
          </a:ln>
        </p:spPr>
      </p:sp>
      <p:sp>
        <p:nvSpPr>
          <p:cNvPr id="15" name="文字 15"/>
          <p:cNvSpPr txBox="1"/>
          <p:nvPr/>
        </p:nvSpPr>
        <p:spPr>
          <a:xfrm>
            <a:off x="4056856" y="1066800"/>
            <a:ext cx="381595" cy="1651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u="none" spc="0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③ 验单</a:t>
            </a:r>
            <a:endParaRPr/>
          </a:p>
        </p:txBody>
      </p:sp>
      <p:sp>
        <p:nvSpPr>
          <p:cNvPr id="16" name="文字 16"/>
          <p:cNvSpPr txBox="1"/>
          <p:nvPr/>
        </p:nvSpPr>
        <p:spPr>
          <a:xfrm>
            <a:off x="4425752" y="1066800"/>
            <a:ext cx="1002110" cy="1651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 verify + fulfillment</a:t>
            </a:r>
            <a:endParaRPr/>
          </a:p>
        </p:txBody>
      </p:sp>
      <p:pic>
        <p:nvPicPr>
          <p:cNvPr id="17" name="slide-003-image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794669"/>
            <a:ext cx="11277600" cy="3449539"/>
          </a:xfrm>
          <a:prstGeom prst="rect">
            <a:avLst/>
          </a:prstGeom>
        </p:spPr>
      </p:pic>
      <p:pic>
        <p:nvPicPr>
          <p:cNvPr id="18" name="slide-003-image-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5788025"/>
            <a:ext cx="11277600" cy="803275"/>
          </a:xfrm>
          <a:prstGeom prst="rect">
            <a:avLst/>
          </a:prstGeom>
        </p:spPr>
      </p:pic>
      <p:sp>
        <p:nvSpPr>
          <p:cNvPr id="19" name="文字 19"/>
          <p:cNvSpPr txBox="1"/>
          <p:nvPr/>
        </p:nvSpPr>
        <p:spPr>
          <a:xfrm>
            <a:off x="457200" y="5864225"/>
            <a:ext cx="1761927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Payment-Needed（商家报价）</a:t>
            </a:r>
            <a:endParaRPr/>
          </a:p>
        </p:txBody>
      </p:sp>
      <p:sp>
        <p:nvSpPr>
          <p:cNvPr id="20" name="形状 20"/>
          <p:cNvSpPr/>
          <p:nvPr/>
        </p:nvSpPr>
        <p:spPr>
          <a:xfrm>
            <a:off x="457200" y="6035675"/>
            <a:ext cx="5791696" cy="361950"/>
          </a:xfrm>
          <a:prstGeom prst="roundRect">
            <a:avLst>
              <a:gd name="adj" fmla="val 7018"/>
            </a:avLst>
          </a:prstGeom>
          <a:solidFill>
            <a:srgbClr val="F4F5F7">
              <a:alpha val="100000"/>
            </a:srgbClr>
          </a:solidFill>
          <a:ln>
            <a:noFill/>
          </a:ln>
        </p:spPr>
      </p:sp>
      <p:sp>
        <p:nvSpPr>
          <p:cNvPr id="21" name="文字 21"/>
          <p:cNvSpPr txBox="1"/>
          <p:nvPr/>
        </p:nvSpPr>
        <p:spPr>
          <a:xfrm>
            <a:off x="514350" y="6080125"/>
            <a:ext cx="5041900" cy="1270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protocol: out_trade_no / amount / currency / resource_id / pay_before / seller_signature</a:t>
            </a:r>
            <a:endParaRPr/>
          </a:p>
        </p:txBody>
      </p:sp>
      <p:sp>
        <p:nvSpPr>
          <p:cNvPr id="22" name="文字 22"/>
          <p:cNvSpPr txBox="1"/>
          <p:nvPr/>
        </p:nvSpPr>
        <p:spPr>
          <a:xfrm>
            <a:off x="514350" y="6223000"/>
            <a:ext cx="4184650" cy="1270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method: seller_name / seller_id / seller_app_id / goods_name / service_id</a:t>
            </a:r>
            <a:endParaRPr/>
          </a:p>
        </p:txBody>
      </p:sp>
      <p:sp>
        <p:nvSpPr>
          <p:cNvPr id="23" name="文字 23"/>
          <p:cNvSpPr txBox="1"/>
          <p:nvPr/>
        </p:nvSpPr>
        <p:spPr>
          <a:xfrm>
            <a:off x="457200" y="6435725"/>
            <a:ext cx="2749550" cy="1587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商家本地 RSA2 签名；响应体只调试，Agent 读 Header。</a:t>
            </a:r>
            <a:endParaRPr/>
          </a:p>
        </p:txBody>
      </p:sp>
      <p:sp>
        <p:nvSpPr>
          <p:cNvPr id="24" name="文字 24"/>
          <p:cNvSpPr txBox="1"/>
          <p:nvPr/>
        </p:nvSpPr>
        <p:spPr>
          <a:xfrm>
            <a:off x="6388596" y="5864225"/>
            <a:ext cx="2098973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Payment-Proof + verify（买家凭证）</a:t>
            </a:r>
            <a:endParaRPr/>
          </a:p>
        </p:txBody>
      </p:sp>
      <p:sp>
        <p:nvSpPr>
          <p:cNvPr id="25" name="形状 25"/>
          <p:cNvSpPr/>
          <p:nvPr/>
        </p:nvSpPr>
        <p:spPr>
          <a:xfrm>
            <a:off x="6388596" y="6035675"/>
            <a:ext cx="5346105" cy="219075"/>
          </a:xfrm>
          <a:prstGeom prst="roundRect">
            <a:avLst>
              <a:gd name="adj" fmla="val 11594"/>
            </a:avLst>
          </a:prstGeom>
          <a:solidFill>
            <a:srgbClr val="F4F5F7">
              <a:alpha val="100000"/>
            </a:srgbClr>
          </a:solidFill>
          <a:ln>
            <a:noFill/>
          </a:ln>
        </p:spPr>
      </p:sp>
      <p:sp>
        <p:nvSpPr>
          <p:cNvPr id="26" name="文字 26"/>
          <p:cNvSpPr txBox="1"/>
          <p:nvPr/>
        </p:nvSpPr>
        <p:spPr>
          <a:xfrm>
            <a:off x="6445746" y="6080125"/>
            <a:ext cx="2355850" cy="1270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750" b="0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payment_proof / trade_no / client_session</a:t>
            </a:r>
            <a:endParaRPr/>
          </a:p>
        </p:txBody>
      </p:sp>
      <p:sp>
        <p:nvSpPr>
          <p:cNvPr id="27" name="文字 27"/>
          <p:cNvSpPr txBox="1"/>
          <p:nvPr/>
        </p:nvSpPr>
        <p:spPr>
          <a:xfrm>
            <a:off x="6388596" y="6292850"/>
            <a:ext cx="5350471" cy="1587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active=true · amount · out_trade_no · resource_id · trade_no 未重放 · pay_before；失败→402，成功</a:t>
            </a:r>
            <a:endParaRPr/>
          </a:p>
        </p:txBody>
      </p:sp>
      <p:sp>
        <p:nvSpPr>
          <p:cNvPr id="28" name="文字 28"/>
          <p:cNvSpPr txBox="1"/>
          <p:nvPr/>
        </p:nvSpPr>
        <p:spPr>
          <a:xfrm>
            <a:off x="6388596" y="6451600"/>
            <a:ext cx="1459508" cy="1587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→200 + fulfillment.confirm。</a:t>
            </a:r>
            <a:endParaRPr/>
          </a:p>
        </p:txBody>
      </p:sp>
      <p:sp>
        <p:nvSpPr>
          <p:cNvPr id="29" name="文字 29"/>
          <p:cNvSpPr txBox="1"/>
          <p:nvPr/>
        </p:nvSpPr>
        <p:spPr>
          <a:xfrm>
            <a:off x="457200" y="6648450"/>
            <a:ext cx="6600032" cy="1206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650" b="0" i="0" u="none" spc="0">
                <a:solidFill>
                  <a:srgbClr val="8B8E9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来源：支付宝 AI 付《Machine Pay 产品接入指南》、`alipay.aipay.agent.payment.verify` / `fulfillment.confirm` API 文档、官方 alipay/ai 仓库 A2M 示例；2026-10-19 只读核查。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 name="对比">
    <p:spTree>
      <p:nvGrpSpPr>
        <p:cNvPr id="1" name=""/>
        <p:cNvGrpSpPr/>
        <p:nvPr/>
      </p:nvGrpSpPr>
      <p:grpSpPr/>
      <p:sp>
        <p:nvSpPr>
          <p:cNvPr id="2" name="形状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noFill/>
          </a:ln>
        </p:spPr>
      </p:sp>
      <p:sp>
        <p:nvSpPr>
          <p:cNvPr id="3" name="形状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noFill/>
          </a:ln>
        </p:spPr>
      </p:sp>
      <p:sp>
        <p:nvSpPr>
          <p:cNvPr id="4" name="形状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100000"/>
            </a:srgbClr>
          </a:solidFill>
          <a:ln>
            <a:noFill/>
          </a:ln>
        </p:spPr>
      </p:sp>
      <p:sp>
        <p:nvSpPr>
          <p:cNvPr id="5" name="文字 5"/>
          <p:cNvSpPr txBox="1"/>
          <p:nvPr/>
        </p:nvSpPr>
        <p:spPr>
          <a:xfrm>
            <a:off x="457200" y="273050"/>
            <a:ext cx="1609229" cy="1651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spc="90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COMPARISON / 分工与边界</a:t>
            </a:r>
            <a:endParaRPr/>
          </a:p>
        </p:txBody>
      </p:sp>
      <p:sp>
        <p:nvSpPr>
          <p:cNvPr id="6" name="文字 6"/>
          <p:cNvSpPr txBox="1"/>
          <p:nvPr/>
        </p:nvSpPr>
        <p:spPr>
          <a:xfrm>
            <a:off x="457200" y="488950"/>
            <a:ext cx="5756474" cy="3873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2100" b="1" i="0" u="none" spc="-42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SkillPay vs MachinePay：商品化与计费化的分工</a:t>
            </a:r>
            <a:endParaRPr/>
          </a:p>
        </p:txBody>
      </p:sp>
      <p:sp>
        <p:nvSpPr>
          <p:cNvPr id="7" name="文字 7"/>
          <p:cNvSpPr txBox="1"/>
          <p:nvPr/>
        </p:nvSpPr>
        <p:spPr>
          <a:xfrm>
            <a:off x="457200" y="866081"/>
            <a:ext cx="4444901" cy="1905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两者共用 AI 付钱包与 402，但卖的东西、触发点、交付物与风险控制不同。</a:t>
            </a:r>
            <a:endParaRPr/>
          </a:p>
        </p:txBody>
      </p:sp>
      <p:graphicFrame>
        <p:nvGraphicFramePr>
          <p:cNvPr id="8" name="表格 8"/>
          <p:cNvGraphicFramePr/>
          <p:nvPr/>
        </p:nvGraphicFramePr>
        <p:xfrm>
          <a:off x="457200" y="1116211"/>
          <a:ext cx="11277600" cy="1890613"/>
        </p:xfrm>
        <a:graphic>
          <a:graphicData uri="http://schemas.openxmlformats.org/drawingml/2006/table">
            <a:tbl>
              <a:tblPr firstRow="0" bandRow="0"/>
              <a:tblGrid>
                <a:gridCol w="1689695"/>
                <a:gridCol w="4843860"/>
                <a:gridCol w="4731346"/>
              </a:tblGrid>
              <a:tr h="257175">
                <a:tc>
                  <a:txBody>
                    <a:bodyPr wrap="none">
                      <a:noAutofit/>
                    </a:bodyPr>
                    <a:lstStyle/>
                    <a:p>
                      <a:pPr algn="l" marL="0" marR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50" b="1" i="0" u="none" spc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 xml:space="preserve">维度</a:t>
                      </a:r>
                      <a:endParaRPr/>
                    </a:p>
                  </a:txBody>
                  <a:tcPr marL="57150" marR="57150" marT="38100" marB="38100" anchor="ctr">
                    <a:lnL w="12700">
                      <a:solidFill>
                        <a:srgbClr val="1A1A1C">
                          <a:alpha val="100000"/>
                        </a:srgbClr>
                      </a:solidFill>
                      <a:prstDash val="solid"/>
                    </a:lnL>
                    <a:lnR w="6350">
                      <a:solidFill>
                        <a:srgbClr val="1A1A1C">
                          <a:alpha val="100000"/>
                        </a:srgbClr>
                      </a:solidFill>
                      <a:prstDash val="solid"/>
                    </a:lnR>
                    <a:lnT w="12700">
                      <a:solidFill>
                        <a:srgbClr val="1A1A1C">
                          <a:alpha val="100000"/>
                        </a:srgbClr>
                      </a:solidFill>
                      <a:prstDash val="solid"/>
                    </a:lnT>
                    <a:lnB w="6350">
                      <a:solidFill>
                        <a:srgbClr val="1A1A1C">
                          <a:alpha val="100000"/>
                        </a:srgbClr>
                      </a:solidFill>
                      <a:prstDash val="solid"/>
                    </a:lnB>
                    <a:solidFill>
                      <a:srgbClr val="B5333B">
                        <a:alpha val="100000"/>
                      </a:srgbClr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 marL="0" marR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50" b="1" i="0" u="none" spc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 xml:space="preserve">SkillPay</a:t>
                      </a:r>
                      <a:endParaRPr/>
                    </a:p>
                  </a:txBody>
                  <a:tcPr marL="57150" marR="57150" marT="38100" marB="38100" anchor="ctr">
                    <a:lnL w="6350">
                      <a:solidFill>
                        <a:srgbClr val="1A1A1C">
                          <a:alpha val="100000"/>
                        </a:srgbClr>
                      </a:solidFill>
                      <a:prstDash val="solid"/>
                    </a:lnL>
                    <a:lnR w="6350">
                      <a:solidFill>
                        <a:srgbClr val="1A1A1C">
                          <a:alpha val="100000"/>
                        </a:srgbClr>
                      </a:solidFill>
                      <a:prstDash val="solid"/>
                    </a:lnR>
                    <a:lnT w="12700">
                      <a:solidFill>
                        <a:srgbClr val="1A1A1C">
                          <a:alpha val="100000"/>
                        </a:srgbClr>
                      </a:solidFill>
                      <a:prstDash val="solid"/>
                    </a:lnT>
                    <a:lnB w="6350">
                      <a:solidFill>
                        <a:srgbClr val="1A1A1C">
                          <a:alpha val="100000"/>
                        </a:srgbClr>
                      </a:solidFill>
                      <a:prstDash val="solid"/>
                    </a:lnB>
                    <a:solidFill>
                      <a:srgbClr val="B5333B">
                        <a:alpha val="100000"/>
                      </a:srgbClr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 marL="0" marR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50" b="1" i="0" u="none" spc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 xml:space="preserve">MachinePay</a:t>
                      </a:r>
                      <a:endParaRPr/>
                    </a:p>
                  </a:txBody>
                  <a:tcPr marL="57150" marR="57150" marT="38100" marB="38100" anchor="ctr">
                    <a:lnL w="6350">
                      <a:solidFill>
                        <a:srgbClr val="1A1A1C">
                          <a:alpha val="100000"/>
                        </a:srgbClr>
                      </a:solidFill>
                      <a:prstDash val="solid"/>
                    </a:lnL>
                    <a:lnR w="12700">
                      <a:solidFill>
                        <a:srgbClr val="1A1A1C">
                          <a:alpha val="100000"/>
                        </a:srgbClr>
                      </a:solidFill>
                      <a:prstDash val="solid"/>
                    </a:lnR>
                    <a:lnT w="12700">
                      <a:solidFill>
                        <a:srgbClr val="1A1A1C">
                          <a:alpha val="100000"/>
                        </a:srgbClr>
                      </a:solidFill>
                      <a:prstDash val="solid"/>
                    </a:lnT>
                    <a:lnB w="6350">
                      <a:solidFill>
                        <a:srgbClr val="1A1A1C">
                          <a:alpha val="100000"/>
                        </a:srgbClr>
                      </a:solidFill>
                      <a:prstDash val="solid"/>
                    </a:lnB>
                    <a:solidFill>
                      <a:srgbClr val="B5333B">
                        <a:alpha val="100000"/>
                      </a:srgbClr>
                    </a:solidFill>
                  </a:tcPr>
                </a:tc>
              </a:tr>
              <a:tr h="231081">
                <a:tc>
                  <a:txBody>
                    <a:bodyPr wrap="none">
                      <a:noAutofit/>
                    </a:bodyPr>
                    <a:lstStyle/>
                    <a:p>
                      <a:pPr algn="l" marL="0" marR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1" i="0" u="none" spc="0">
                          <a:solidFill>
                            <a:srgbClr val="1A1A1C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 xml:space="preserve">卖什么</a:t>
                      </a:r>
                      <a:endParaRPr/>
                    </a:p>
                  </a:txBody>
                  <a:tcPr marL="57150" marR="57150" marT="38100" marB="38100" anchor="t">
                    <a:lnL w="12700">
                      <a:solidFill>
                        <a:srgbClr val="1A1A1C">
                          <a:alpha val="100000"/>
                        </a:srgbClr>
                      </a:solidFill>
                      <a:prstDash val="solid"/>
                    </a:lnL>
                    <a:lnR w="6350">
                      <a:solidFill>
                        <a:srgbClr val="1A1A1C">
                          <a:alpha val="100000"/>
                        </a:srgbClr>
                      </a:solidFill>
                      <a:prstDash val="solid"/>
                    </a:lnR>
                    <a:lnT w="6350">
                      <a:solidFill>
                        <a:srgbClr val="1A1A1C">
                          <a:alpha val="100000"/>
                        </a:srgbClr>
                      </a:solidFill>
                      <a:prstDash val="solid"/>
                    </a:lnT>
                    <a:lnB w="6350">
                      <a:solidFill>
                        <a:srgbClr val="1A1A1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 marL="0" marR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 u="none" spc="0">
                          <a:solidFill>
                            <a:srgbClr val="1A1A1C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 xml:space="preserve">Skill 商品 / 权益（源码或云端使用权）</a:t>
                      </a:r>
                      <a:endParaRPr/>
                    </a:p>
                  </a:txBody>
                  <a:tcPr marL="57150" marR="57150" marT="38100" marB="38100" anchor="t">
                    <a:lnL w="6350">
                      <a:solidFill>
                        <a:srgbClr val="1A1A1C">
                          <a:alpha val="100000"/>
                        </a:srgbClr>
                      </a:solidFill>
                      <a:prstDash val="solid"/>
                    </a:lnL>
                    <a:lnR w="6350">
                      <a:solidFill>
                        <a:srgbClr val="1A1A1C">
                          <a:alpha val="100000"/>
                        </a:srgbClr>
                      </a:solidFill>
                      <a:prstDash val="solid"/>
                    </a:lnR>
                    <a:lnT w="6350">
                      <a:solidFill>
                        <a:srgbClr val="1A1A1C">
                          <a:alpha val="100000"/>
                        </a:srgbClr>
                      </a:solidFill>
                      <a:prstDash val="solid"/>
                    </a:lnT>
                    <a:lnB w="6350">
                      <a:solidFill>
                        <a:srgbClr val="1A1A1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 marL="0" marR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 u="none" spc="0">
                          <a:solidFill>
                            <a:srgbClr val="1A1A1C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 xml:space="preserve">API、MCP、算力等按次调用的资源</a:t>
                      </a:r>
                      <a:endParaRPr/>
                    </a:p>
                  </a:txBody>
                  <a:tcPr marL="57150" marR="57150" marT="38100" marB="38100" anchor="t">
                    <a:lnL w="6350">
                      <a:solidFill>
                        <a:srgbClr val="1A1A1C">
                          <a:alpha val="100000"/>
                        </a:srgbClr>
                      </a:solidFill>
                      <a:prstDash val="solid"/>
                    </a:lnL>
                    <a:lnR w="12700">
                      <a:solidFill>
                        <a:srgbClr val="1A1A1C">
                          <a:alpha val="100000"/>
                        </a:srgbClr>
                      </a:solidFill>
                      <a:prstDash val="solid"/>
                    </a:lnR>
                    <a:lnT w="6350">
                      <a:solidFill>
                        <a:srgbClr val="1A1A1C">
                          <a:alpha val="100000"/>
                        </a:srgbClr>
                      </a:solidFill>
                      <a:prstDash val="solid"/>
                    </a:lnT>
                    <a:lnB w="6350">
                      <a:solidFill>
                        <a:srgbClr val="1A1A1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231080">
                <a:tc>
                  <a:txBody>
                    <a:bodyPr wrap="none">
                      <a:noAutofit/>
                    </a:bodyPr>
                    <a:lstStyle/>
                    <a:p>
                      <a:pPr algn="l" marL="0" marR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1" i="0" u="none" spc="0">
                          <a:solidFill>
                            <a:srgbClr val="1A1A1C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 xml:space="preserve">计费单位</a:t>
                      </a:r>
                      <a:endParaRPr/>
                    </a:p>
                  </a:txBody>
                  <a:tcPr marL="57150" marR="57150" marT="38100" marB="38100" anchor="t">
                    <a:lnL w="12700">
                      <a:solidFill>
                        <a:srgbClr val="1A1A1C">
                          <a:alpha val="100000"/>
                        </a:srgbClr>
                      </a:solidFill>
                      <a:prstDash val="solid"/>
                    </a:lnL>
                    <a:lnR w="6350">
                      <a:solidFill>
                        <a:srgbClr val="1A1A1C">
                          <a:alpha val="100000"/>
                        </a:srgbClr>
                      </a:solidFill>
                      <a:prstDash val="solid"/>
                    </a:lnR>
                    <a:lnT w="6350">
                      <a:solidFill>
                        <a:srgbClr val="1A1A1C">
                          <a:alpha val="100000"/>
                        </a:srgbClr>
                      </a:solidFill>
                      <a:prstDash val="solid"/>
                    </a:lnT>
                    <a:lnB w="6350">
                      <a:solidFill>
                        <a:srgbClr val="1A1A1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 marL="0" marR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 u="none" spc="0">
                          <a:solidFill>
                            <a:srgbClr val="1A1A1C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 xml:space="preserve">一次性买断 / 周期订阅 / 免费试用</a:t>
                      </a:r>
                      <a:endParaRPr/>
                    </a:p>
                  </a:txBody>
                  <a:tcPr marL="57150" marR="57150" marT="38100" marB="38100" anchor="t">
                    <a:lnL w="6350">
                      <a:solidFill>
                        <a:srgbClr val="1A1A1C">
                          <a:alpha val="100000"/>
                        </a:srgbClr>
                      </a:solidFill>
                      <a:prstDash val="solid"/>
                    </a:lnL>
                    <a:lnR w="6350">
                      <a:solidFill>
                        <a:srgbClr val="1A1A1C">
                          <a:alpha val="100000"/>
                        </a:srgbClr>
                      </a:solidFill>
                      <a:prstDash val="solid"/>
                    </a:lnR>
                    <a:lnT w="6350">
                      <a:solidFill>
                        <a:srgbClr val="1A1A1C">
                          <a:alpha val="100000"/>
                        </a:srgbClr>
                      </a:solidFill>
                      <a:prstDash val="solid"/>
                    </a:lnT>
                    <a:lnB w="6350">
                      <a:solidFill>
                        <a:srgbClr val="1A1A1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 marL="0" marR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 u="none" spc="0">
                          <a:solidFill>
                            <a:srgbClr val="1A1A1C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 xml:space="preserve">每次调用独立定价，商家在 402 账单里报价</a:t>
                      </a:r>
                      <a:endParaRPr/>
                    </a:p>
                  </a:txBody>
                  <a:tcPr marL="57150" marR="57150" marT="38100" marB="38100" anchor="t">
                    <a:lnL w="6350">
                      <a:solidFill>
                        <a:srgbClr val="1A1A1C">
                          <a:alpha val="100000"/>
                        </a:srgbClr>
                      </a:solidFill>
                      <a:prstDash val="solid"/>
                    </a:lnL>
                    <a:lnR w="12700">
                      <a:solidFill>
                        <a:srgbClr val="1A1A1C">
                          <a:alpha val="100000"/>
                        </a:srgbClr>
                      </a:solidFill>
                      <a:prstDash val="solid"/>
                    </a:lnR>
                    <a:lnT w="6350">
                      <a:solidFill>
                        <a:srgbClr val="1A1A1C">
                          <a:alpha val="100000"/>
                        </a:srgbClr>
                      </a:solidFill>
                      <a:prstDash val="solid"/>
                    </a:lnT>
                    <a:lnB w="6350">
                      <a:solidFill>
                        <a:srgbClr val="1A1A1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231080">
                <a:tc>
                  <a:txBody>
                    <a:bodyPr wrap="none">
                      <a:noAutofit/>
                    </a:bodyPr>
                    <a:lstStyle/>
                    <a:p>
                      <a:pPr algn="l" marL="0" marR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1" i="0" u="none" spc="0">
                          <a:solidFill>
                            <a:srgbClr val="1A1A1C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 xml:space="preserve">触发方式</a:t>
                      </a:r>
                      <a:endParaRPr/>
                    </a:p>
                  </a:txBody>
                  <a:tcPr marL="57150" marR="57150" marT="38100" marB="38100" anchor="t">
                    <a:lnL w="12700">
                      <a:solidFill>
                        <a:srgbClr val="1A1A1C">
                          <a:alpha val="100000"/>
                        </a:srgbClr>
                      </a:solidFill>
                      <a:prstDash val="solid"/>
                    </a:lnL>
                    <a:lnR w="6350">
                      <a:solidFill>
                        <a:srgbClr val="1A1A1C">
                          <a:alpha val="100000"/>
                        </a:srgbClr>
                      </a:solidFill>
                      <a:prstDash val="solid"/>
                    </a:lnR>
                    <a:lnT w="6350">
                      <a:solidFill>
                        <a:srgbClr val="1A1A1C">
                          <a:alpha val="100000"/>
                        </a:srgbClr>
                      </a:solidFill>
                      <a:prstDash val="solid"/>
                    </a:lnT>
                    <a:lnB w="6350">
                      <a:solidFill>
                        <a:srgbClr val="1A1A1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 marL="0" marR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 u="none" spc="0">
                          <a:solidFill>
                            <a:srgbClr val="1A1A1C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 xml:space="preserve">任务中无有效权益 → 402 / 支付要求</a:t>
                      </a:r>
                      <a:endParaRPr/>
                    </a:p>
                  </a:txBody>
                  <a:tcPr marL="57150" marR="57150" marT="38100" marB="38100" anchor="t">
                    <a:lnL w="6350">
                      <a:solidFill>
                        <a:srgbClr val="1A1A1C">
                          <a:alpha val="100000"/>
                        </a:srgbClr>
                      </a:solidFill>
                      <a:prstDash val="solid"/>
                    </a:lnL>
                    <a:lnR w="6350">
                      <a:solidFill>
                        <a:srgbClr val="1A1A1C">
                          <a:alpha val="100000"/>
                        </a:srgbClr>
                      </a:solidFill>
                      <a:prstDash val="solid"/>
                    </a:lnR>
                    <a:lnT w="6350">
                      <a:solidFill>
                        <a:srgbClr val="1A1A1C">
                          <a:alpha val="100000"/>
                        </a:srgbClr>
                      </a:solidFill>
                      <a:prstDash val="solid"/>
                    </a:lnT>
                    <a:lnB w="6350">
                      <a:solidFill>
                        <a:srgbClr val="1A1A1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 marL="0" marR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 u="none" spc="0">
                          <a:solidFill>
                            <a:srgbClr val="1A1A1C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 xml:space="preserve">无 Payment-Proof → 402 + Payment-Needed</a:t>
                      </a:r>
                      <a:endParaRPr/>
                    </a:p>
                  </a:txBody>
                  <a:tcPr marL="57150" marR="57150" marT="38100" marB="38100" anchor="t">
                    <a:lnL w="6350">
                      <a:solidFill>
                        <a:srgbClr val="1A1A1C">
                          <a:alpha val="100000"/>
                        </a:srgbClr>
                      </a:solidFill>
                      <a:prstDash val="solid"/>
                    </a:lnL>
                    <a:lnR w="12700">
                      <a:solidFill>
                        <a:srgbClr val="1A1A1C">
                          <a:alpha val="100000"/>
                        </a:srgbClr>
                      </a:solidFill>
                      <a:prstDash val="solid"/>
                    </a:lnR>
                    <a:lnT w="6350">
                      <a:solidFill>
                        <a:srgbClr val="1A1A1C">
                          <a:alpha val="100000"/>
                        </a:srgbClr>
                      </a:solidFill>
                      <a:prstDash val="solid"/>
                    </a:lnT>
                    <a:lnB w="6350">
                      <a:solidFill>
                        <a:srgbClr val="1A1A1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231080">
                <a:tc>
                  <a:txBody>
                    <a:bodyPr wrap="none">
                      <a:noAutofit/>
                    </a:bodyPr>
                    <a:lstStyle/>
                    <a:p>
                      <a:pPr algn="l" marL="0" marR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1" i="0" u="none" spc="0">
                          <a:solidFill>
                            <a:srgbClr val="1A1A1C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 xml:space="preserve">交付物</a:t>
                      </a:r>
                      <a:endParaRPr/>
                    </a:p>
                  </a:txBody>
                  <a:tcPr marL="57150" marR="57150" marT="38100" marB="38100" anchor="t">
                    <a:lnL w="12700">
                      <a:solidFill>
                        <a:srgbClr val="1A1A1C">
                          <a:alpha val="100000"/>
                        </a:srgbClr>
                      </a:solidFill>
                      <a:prstDash val="solid"/>
                    </a:lnL>
                    <a:lnR w="6350">
                      <a:solidFill>
                        <a:srgbClr val="1A1A1C">
                          <a:alpha val="100000"/>
                        </a:srgbClr>
                      </a:solidFill>
                      <a:prstDash val="solid"/>
                    </a:lnR>
                    <a:lnT w="6350">
                      <a:solidFill>
                        <a:srgbClr val="1A1A1C">
                          <a:alpha val="100000"/>
                        </a:srgbClr>
                      </a:solidFill>
                      <a:prstDash val="solid"/>
                    </a:lnT>
                    <a:lnB w="6350">
                      <a:solidFill>
                        <a:srgbClr val="1A1A1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 marL="0" marR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 u="none" spc="0">
                          <a:solidFill>
                            <a:srgbClr val="1A1A1C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 xml:space="preserve">完整源码 zip（买断）或云端执行文本（订阅）</a:t>
                      </a:r>
                      <a:endParaRPr/>
                    </a:p>
                  </a:txBody>
                  <a:tcPr marL="57150" marR="57150" marT="38100" marB="38100" anchor="t">
                    <a:lnL w="6350">
                      <a:solidFill>
                        <a:srgbClr val="1A1A1C">
                          <a:alpha val="100000"/>
                        </a:srgbClr>
                      </a:solidFill>
                      <a:prstDash val="solid"/>
                    </a:lnL>
                    <a:lnR w="6350">
                      <a:solidFill>
                        <a:srgbClr val="1A1A1C">
                          <a:alpha val="100000"/>
                        </a:srgbClr>
                      </a:solidFill>
                      <a:prstDash val="solid"/>
                    </a:lnR>
                    <a:lnT w="6350">
                      <a:solidFill>
                        <a:srgbClr val="1A1A1C">
                          <a:alpha val="100000"/>
                        </a:srgbClr>
                      </a:solidFill>
                      <a:prstDash val="solid"/>
                    </a:lnT>
                    <a:lnB w="6350">
                      <a:solidFill>
                        <a:srgbClr val="1A1A1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 marL="0" marR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 u="none" spc="0">
                          <a:solidFill>
                            <a:srgbClr val="1A1A1C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 xml:space="preserve">API 结果；支付后返回资源并回传履约</a:t>
                      </a:r>
                      <a:endParaRPr/>
                    </a:p>
                  </a:txBody>
                  <a:tcPr marL="57150" marR="57150" marT="38100" marB="38100" anchor="t">
                    <a:lnL w="6350">
                      <a:solidFill>
                        <a:srgbClr val="1A1A1C">
                          <a:alpha val="100000"/>
                        </a:srgbClr>
                      </a:solidFill>
                      <a:prstDash val="solid"/>
                    </a:lnL>
                    <a:lnR w="12700">
                      <a:solidFill>
                        <a:srgbClr val="1A1A1C">
                          <a:alpha val="100000"/>
                        </a:srgbClr>
                      </a:solidFill>
                      <a:prstDash val="solid"/>
                    </a:lnR>
                    <a:lnT w="6350">
                      <a:solidFill>
                        <a:srgbClr val="1A1A1C">
                          <a:alpha val="100000"/>
                        </a:srgbClr>
                      </a:solidFill>
                      <a:prstDash val="solid"/>
                    </a:lnT>
                    <a:lnB w="6350">
                      <a:solidFill>
                        <a:srgbClr val="1A1A1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231081">
                <a:tc>
                  <a:txBody>
                    <a:bodyPr wrap="none">
                      <a:noAutofit/>
                    </a:bodyPr>
                    <a:lstStyle/>
                    <a:p>
                      <a:pPr algn="l" marL="0" marR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1" i="0" u="none" spc="0">
                          <a:solidFill>
                            <a:srgbClr val="1A1A1C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 xml:space="preserve">资金路径</a:t>
                      </a:r>
                      <a:endParaRPr/>
                    </a:p>
                  </a:txBody>
                  <a:tcPr marL="57150" marR="57150" marT="38100" marB="38100" anchor="t">
                    <a:lnL w="12700">
                      <a:solidFill>
                        <a:srgbClr val="1A1A1C">
                          <a:alpha val="100000"/>
                        </a:srgbClr>
                      </a:solidFill>
                      <a:prstDash val="solid"/>
                    </a:lnL>
                    <a:lnR w="6350">
                      <a:solidFill>
                        <a:srgbClr val="1A1A1C">
                          <a:alpha val="100000"/>
                        </a:srgbClr>
                      </a:solidFill>
                      <a:prstDash val="solid"/>
                    </a:lnR>
                    <a:lnT w="6350">
                      <a:solidFill>
                        <a:srgbClr val="1A1A1C">
                          <a:alpha val="100000"/>
                        </a:srgbClr>
                      </a:solidFill>
                      <a:prstDash val="solid"/>
                    </a:lnT>
                    <a:lnB w="6350">
                      <a:solidFill>
                        <a:srgbClr val="1A1A1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 marL="0" marR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 u="none" spc="0">
                          <a:solidFill>
                            <a:srgbClr val="1A1A1C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 xml:space="preserve">成交即到账开发者支付宝；退款开发者发起</a:t>
                      </a:r>
                      <a:endParaRPr/>
                    </a:p>
                  </a:txBody>
                  <a:tcPr marL="57150" marR="57150" marT="38100" marB="38100" anchor="t">
                    <a:lnL w="6350">
                      <a:solidFill>
                        <a:srgbClr val="1A1A1C">
                          <a:alpha val="100000"/>
                        </a:srgbClr>
                      </a:solidFill>
                      <a:prstDash val="solid"/>
                    </a:lnL>
                    <a:lnR w="6350">
                      <a:solidFill>
                        <a:srgbClr val="1A1A1C">
                          <a:alpha val="100000"/>
                        </a:srgbClr>
                      </a:solidFill>
                      <a:prstDash val="solid"/>
                    </a:lnR>
                    <a:lnT w="6350">
                      <a:solidFill>
                        <a:srgbClr val="1A1A1C">
                          <a:alpha val="100000"/>
                        </a:srgbClr>
                      </a:solidFill>
                      <a:prstDash val="solid"/>
                    </a:lnT>
                    <a:lnB w="6350">
                      <a:solidFill>
                        <a:srgbClr val="1A1A1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 marL="0" marR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 u="none" spc="0">
                          <a:solidFill>
                            <a:srgbClr val="1A1A1C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 xml:space="preserve">支付宝收单/结算到商家账户</a:t>
                      </a:r>
                      <a:endParaRPr/>
                    </a:p>
                  </a:txBody>
                  <a:tcPr marL="57150" marR="57150" marT="38100" marB="38100" anchor="t">
                    <a:lnL w="6350">
                      <a:solidFill>
                        <a:srgbClr val="1A1A1C">
                          <a:alpha val="100000"/>
                        </a:srgbClr>
                      </a:solidFill>
                      <a:prstDash val="solid"/>
                    </a:lnL>
                    <a:lnR w="12700">
                      <a:solidFill>
                        <a:srgbClr val="1A1A1C">
                          <a:alpha val="100000"/>
                        </a:srgbClr>
                      </a:solidFill>
                      <a:prstDash val="solid"/>
                    </a:lnR>
                    <a:lnT w="6350">
                      <a:solidFill>
                        <a:srgbClr val="1A1A1C">
                          <a:alpha val="100000"/>
                        </a:srgbClr>
                      </a:solidFill>
                      <a:prstDash val="solid"/>
                    </a:lnT>
                    <a:lnB w="6350">
                      <a:solidFill>
                        <a:srgbClr val="1A1A1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231080">
                <a:tc>
                  <a:txBody>
                    <a:bodyPr wrap="none">
                      <a:noAutofit/>
                    </a:bodyPr>
                    <a:lstStyle/>
                    <a:p>
                      <a:pPr algn="l" marL="0" marR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1" i="0" u="none" spc="0">
                          <a:solidFill>
                            <a:srgbClr val="1A1A1C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 xml:space="preserve">信任机制</a:t>
                      </a:r>
                      <a:endParaRPr/>
                    </a:p>
                  </a:txBody>
                  <a:tcPr marL="57150" marR="57150" marT="38100" marB="38100" anchor="t">
                    <a:lnL w="12700">
                      <a:solidFill>
                        <a:srgbClr val="1A1A1C">
                          <a:alpha val="100000"/>
                        </a:srgbClr>
                      </a:solidFill>
                      <a:prstDash val="solid"/>
                    </a:lnL>
                    <a:lnR w="6350">
                      <a:solidFill>
                        <a:srgbClr val="1A1A1C">
                          <a:alpha val="100000"/>
                        </a:srgbClr>
                      </a:solidFill>
                      <a:prstDash val="solid"/>
                    </a:lnR>
                    <a:lnT w="6350">
                      <a:solidFill>
                        <a:srgbClr val="1A1A1C">
                          <a:alpha val="100000"/>
                        </a:srgbClr>
                      </a:solidFill>
                      <a:prstDash val="solid"/>
                    </a:lnT>
                    <a:lnB w="6350">
                      <a:solidFill>
                        <a:srgbClr val="1A1A1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 marL="0" marR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 u="none" spc="0">
                          <a:solidFill>
                            <a:srgbClr val="1A1A1C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 xml:space="preserve">安全检测 + 云端保护 + 支付宝支付</a:t>
                      </a:r>
                      <a:endParaRPr/>
                    </a:p>
                  </a:txBody>
                  <a:tcPr marL="57150" marR="57150" marT="38100" marB="38100" anchor="t">
                    <a:lnL w="6350">
                      <a:solidFill>
                        <a:srgbClr val="1A1A1C">
                          <a:alpha val="100000"/>
                        </a:srgbClr>
                      </a:solidFill>
                      <a:prstDash val="solid"/>
                    </a:lnL>
                    <a:lnR w="6350">
                      <a:solidFill>
                        <a:srgbClr val="1A1A1C">
                          <a:alpha val="100000"/>
                        </a:srgbClr>
                      </a:solidFill>
                      <a:prstDash val="solid"/>
                    </a:lnR>
                    <a:lnT w="6350">
                      <a:solidFill>
                        <a:srgbClr val="1A1A1C">
                          <a:alpha val="100000"/>
                        </a:srgbClr>
                      </a:solidFill>
                      <a:prstDash val="solid"/>
                    </a:lnT>
                    <a:lnB w="6350">
                      <a:solidFill>
                        <a:srgbClr val="1A1A1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 marL="0" marR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 u="none" spc="0">
                          <a:solidFill>
                            <a:srgbClr val="1A1A1C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 xml:space="preserve">RSA2 签名 + verify + 防重放 + 履约回执</a:t>
                      </a:r>
                      <a:endParaRPr/>
                    </a:p>
                  </a:txBody>
                  <a:tcPr marL="57150" marR="57150" marT="38100" marB="38100" anchor="t">
                    <a:lnL w="6350">
                      <a:solidFill>
                        <a:srgbClr val="1A1A1C">
                          <a:alpha val="100000"/>
                        </a:srgbClr>
                      </a:solidFill>
                      <a:prstDash val="solid"/>
                    </a:lnL>
                    <a:lnR w="12700">
                      <a:solidFill>
                        <a:srgbClr val="1A1A1C">
                          <a:alpha val="100000"/>
                        </a:srgbClr>
                      </a:solidFill>
                      <a:prstDash val="solid"/>
                    </a:lnR>
                    <a:lnT w="6350">
                      <a:solidFill>
                        <a:srgbClr val="1A1A1C">
                          <a:alpha val="100000"/>
                        </a:srgbClr>
                      </a:solidFill>
                      <a:prstDash val="solid"/>
                    </a:lnT>
                    <a:lnB w="6350">
                      <a:solidFill>
                        <a:srgbClr val="1A1A1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234255">
                <a:tc>
                  <a:txBody>
                    <a:bodyPr wrap="none">
                      <a:noAutofit/>
                    </a:bodyPr>
                    <a:lstStyle/>
                    <a:p>
                      <a:pPr algn="l" marL="0" marR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1" i="0" u="none" spc="0">
                          <a:solidFill>
                            <a:srgbClr val="1A1A1C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 xml:space="preserve">关键风险</a:t>
                      </a:r>
                      <a:endParaRPr/>
                    </a:p>
                  </a:txBody>
                  <a:tcPr marL="57150" marR="57150" marT="38100" marB="38100" anchor="t">
                    <a:lnL w="12700">
                      <a:solidFill>
                        <a:srgbClr val="1A1A1C">
                          <a:alpha val="100000"/>
                        </a:srgbClr>
                      </a:solidFill>
                      <a:prstDash val="solid"/>
                    </a:lnL>
                    <a:lnR w="6350">
                      <a:solidFill>
                        <a:srgbClr val="1A1A1C">
                          <a:alpha val="100000"/>
                        </a:srgbClr>
                      </a:solidFill>
                      <a:prstDash val="solid"/>
                    </a:lnR>
                    <a:lnT w="6350">
                      <a:solidFill>
                        <a:srgbClr val="1A1A1C">
                          <a:alpha val="100000"/>
                        </a:srgbClr>
                      </a:solidFill>
                      <a:prstDash val="solid"/>
                    </a:lnT>
                    <a:lnB w="12700">
                      <a:solidFill>
                        <a:srgbClr val="1A1A1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 marL="0" marR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 u="none" spc="0">
                          <a:solidFill>
                            <a:srgbClr val="1A1A1C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 xml:space="preserve">云端保护非绝对；退款靠协商；订阅不自动续费</a:t>
                      </a:r>
                      <a:endParaRPr/>
                    </a:p>
                  </a:txBody>
                  <a:tcPr marL="57150" marR="57150" marT="38100" marB="38100" anchor="t">
                    <a:lnL w="6350">
                      <a:solidFill>
                        <a:srgbClr val="1A1A1C">
                          <a:alpha val="100000"/>
                        </a:srgbClr>
                      </a:solidFill>
                      <a:prstDash val="solid"/>
                    </a:lnL>
                    <a:lnR w="6350">
                      <a:solidFill>
                        <a:srgbClr val="1A1A1C">
                          <a:alpha val="100000"/>
                        </a:srgbClr>
                      </a:solidFill>
                      <a:prstDash val="solid"/>
                    </a:lnR>
                    <a:lnT w="6350">
                      <a:solidFill>
                        <a:srgbClr val="1A1A1C">
                          <a:alpha val="100000"/>
                        </a:srgbClr>
                      </a:solidFill>
                      <a:prstDash val="solid"/>
                    </a:lnT>
                    <a:lnB w="12700">
                      <a:solidFill>
                        <a:srgbClr val="1A1A1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wrap="none">
                      <a:noAutofit/>
                    </a:bodyPr>
                    <a:lstStyle/>
                    <a:p>
                      <a:pPr algn="l" marL="0" marR="0" indent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 i="0" u="none" spc="0">
                          <a:solidFill>
                            <a:srgbClr val="1A1A1C">
                              <a:alpha val="100000"/>
                            </a:srgbClr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 xml:space="preserve">金额/资源校验；结算/退款规则未公开；逐笔授权</a:t>
                      </a:r>
                      <a:endParaRPr/>
                    </a:p>
                  </a:txBody>
                  <a:tcPr marL="57150" marR="57150" marT="38100" marB="38100" anchor="t">
                    <a:lnL w="6350">
                      <a:solidFill>
                        <a:srgbClr val="1A1A1C">
                          <a:alpha val="100000"/>
                        </a:srgbClr>
                      </a:solidFill>
                      <a:prstDash val="solid"/>
                    </a:lnL>
                    <a:lnR w="12700">
                      <a:solidFill>
                        <a:srgbClr val="1A1A1C">
                          <a:alpha val="100000"/>
                        </a:srgbClr>
                      </a:solidFill>
                      <a:prstDash val="solid"/>
                    </a:lnR>
                    <a:lnT w="6350">
                      <a:solidFill>
                        <a:srgbClr val="1A1A1C">
                          <a:alpha val="100000"/>
                        </a:srgbClr>
                      </a:solidFill>
                      <a:prstDash val="solid"/>
                    </a:lnT>
                    <a:lnB w="12700">
                      <a:solidFill>
                        <a:srgbClr val="1A1A1C">
                          <a:alpha val="100000"/>
                        </a:srgbClr>
                      </a:solidFill>
                      <a:prstDash val="soli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pic>
        <p:nvPicPr>
          <p:cNvPr id="9" name="slide-004-image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089374"/>
            <a:ext cx="2733675" cy="713581"/>
          </a:xfrm>
          <a:prstGeom prst="rect">
            <a:avLst/>
          </a:prstGeom>
        </p:spPr>
      </p:pic>
      <p:sp>
        <p:nvSpPr>
          <p:cNvPr id="10" name="文字 10"/>
          <p:cNvSpPr txBox="1"/>
          <p:nvPr/>
        </p:nvSpPr>
        <p:spPr>
          <a:xfrm>
            <a:off x="457200" y="3146524"/>
            <a:ext cx="127000" cy="1270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750" b="1" i="0" u="none" spc="0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01</a:t>
            </a:r>
            <a:endParaRPr/>
          </a:p>
        </p:txBody>
      </p:sp>
      <p:sp>
        <p:nvSpPr>
          <p:cNvPr id="11" name="文字 11"/>
          <p:cNvSpPr txBox="1"/>
          <p:nvPr/>
        </p:nvSpPr>
        <p:spPr>
          <a:xfrm>
            <a:off x="457200" y="3305274"/>
            <a:ext cx="1790204" cy="1841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402 是收费握手，不是支付本身</a:t>
            </a:r>
            <a:endParaRPr/>
          </a:p>
        </p:txBody>
      </p:sp>
      <p:sp>
        <p:nvSpPr>
          <p:cNvPr id="12" name="文字 12"/>
          <p:cNvSpPr txBox="1"/>
          <p:nvPr/>
        </p:nvSpPr>
        <p:spPr>
          <a:xfrm>
            <a:off x="457200" y="3495774"/>
            <a:ext cx="2681387" cy="1651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它让机器读懂价格；真正的支付仍由 AI 付钱包与用户</a:t>
            </a:r>
            <a:endParaRPr/>
          </a:p>
        </p:txBody>
      </p:sp>
      <p:sp>
        <p:nvSpPr>
          <p:cNvPr id="13" name="文字 13"/>
          <p:cNvSpPr txBox="1"/>
          <p:nvPr/>
        </p:nvSpPr>
        <p:spPr>
          <a:xfrm>
            <a:off x="457200" y="3655715"/>
            <a:ext cx="584200" cy="1651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确认完成。</a:t>
            </a:r>
            <a:endParaRPr/>
          </a:p>
        </p:txBody>
      </p:sp>
      <p:pic>
        <p:nvPicPr>
          <p:cNvPr id="14" name="slide-004-image-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5175" y="3089374"/>
            <a:ext cx="2733675" cy="713581"/>
          </a:xfrm>
          <a:prstGeom prst="rect">
            <a:avLst/>
          </a:prstGeom>
        </p:spPr>
      </p:pic>
      <p:sp>
        <p:nvSpPr>
          <p:cNvPr id="15" name="文字 15"/>
          <p:cNvSpPr txBox="1"/>
          <p:nvPr/>
        </p:nvSpPr>
        <p:spPr>
          <a:xfrm>
            <a:off x="3305175" y="3146524"/>
            <a:ext cx="127000" cy="1270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750" b="1" i="0" u="none" spc="0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02</a:t>
            </a:r>
            <a:endParaRPr/>
          </a:p>
        </p:txBody>
      </p:sp>
      <p:sp>
        <p:nvSpPr>
          <p:cNvPr id="16" name="文字 16"/>
          <p:cNvSpPr txBox="1"/>
          <p:nvPr/>
        </p:nvSpPr>
        <p:spPr>
          <a:xfrm>
            <a:off x="3305175" y="3305274"/>
            <a:ext cx="1304925" cy="1841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SkillPay 卖“交付权”</a:t>
            </a:r>
            <a:endParaRPr/>
          </a:p>
        </p:txBody>
      </p:sp>
      <p:sp>
        <p:nvSpPr>
          <p:cNvPr id="17" name="文字 17"/>
          <p:cNvSpPr txBox="1"/>
          <p:nvPr/>
        </p:nvSpPr>
        <p:spPr>
          <a:xfrm>
            <a:off x="3305175" y="3495774"/>
            <a:ext cx="2641600" cy="1651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一次性源码或周期云端；核心是商品、试用、交付与</a:t>
            </a:r>
            <a:endParaRPr/>
          </a:p>
        </p:txBody>
      </p:sp>
      <p:sp>
        <p:nvSpPr>
          <p:cNvPr id="18" name="文字 18"/>
          <p:cNvSpPr txBox="1"/>
          <p:nvPr/>
        </p:nvSpPr>
        <p:spPr>
          <a:xfrm>
            <a:off x="3305175" y="3655715"/>
            <a:ext cx="355600" cy="1651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退款。</a:t>
            </a:r>
            <a:endParaRPr/>
          </a:p>
        </p:txBody>
      </p:sp>
      <p:pic>
        <p:nvPicPr>
          <p:cNvPr id="19" name="slide-004-image-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3150" y="3089374"/>
            <a:ext cx="2733675" cy="713581"/>
          </a:xfrm>
          <a:prstGeom prst="rect">
            <a:avLst/>
          </a:prstGeom>
        </p:spPr>
      </p:pic>
      <p:sp>
        <p:nvSpPr>
          <p:cNvPr id="20" name="文字 20"/>
          <p:cNvSpPr txBox="1"/>
          <p:nvPr/>
        </p:nvSpPr>
        <p:spPr>
          <a:xfrm>
            <a:off x="6153150" y="3146524"/>
            <a:ext cx="127000" cy="1270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750" b="1" i="0" u="none" spc="0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03</a:t>
            </a:r>
            <a:endParaRPr/>
          </a:p>
        </p:txBody>
      </p:sp>
      <p:sp>
        <p:nvSpPr>
          <p:cNvPr id="21" name="文字 21"/>
          <p:cNvSpPr txBox="1"/>
          <p:nvPr/>
        </p:nvSpPr>
        <p:spPr>
          <a:xfrm>
            <a:off x="6153150" y="3305274"/>
            <a:ext cx="1682750" cy="1841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MachinePay 卖“按量调用”</a:t>
            </a:r>
            <a:endParaRPr/>
          </a:p>
        </p:txBody>
      </p:sp>
      <p:sp>
        <p:nvSpPr>
          <p:cNvPr id="22" name="文字 22"/>
          <p:cNvSpPr txBox="1"/>
          <p:nvPr/>
        </p:nvSpPr>
        <p:spPr>
          <a:xfrm>
            <a:off x="6153150" y="3495774"/>
            <a:ext cx="2641600" cy="1651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商家自签账单、按次计价；验单后交付，履约回执闭</a:t>
            </a:r>
            <a:endParaRPr/>
          </a:p>
        </p:txBody>
      </p:sp>
      <p:sp>
        <p:nvSpPr>
          <p:cNvPr id="23" name="文字 23"/>
          <p:cNvSpPr txBox="1"/>
          <p:nvPr/>
        </p:nvSpPr>
        <p:spPr>
          <a:xfrm>
            <a:off x="6153150" y="3655715"/>
            <a:ext cx="241300" cy="1651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环。</a:t>
            </a:r>
            <a:endParaRPr/>
          </a:p>
        </p:txBody>
      </p:sp>
      <p:pic>
        <p:nvPicPr>
          <p:cNvPr id="24" name="slide-004-image-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01125" y="3089374"/>
            <a:ext cx="2733676" cy="713581"/>
          </a:xfrm>
          <a:prstGeom prst="rect">
            <a:avLst/>
          </a:prstGeom>
        </p:spPr>
      </p:pic>
      <p:sp>
        <p:nvSpPr>
          <p:cNvPr id="25" name="文字 25"/>
          <p:cNvSpPr txBox="1"/>
          <p:nvPr/>
        </p:nvSpPr>
        <p:spPr>
          <a:xfrm>
            <a:off x="9001125" y="3146524"/>
            <a:ext cx="127001" cy="1270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750" b="1" i="0" u="none" spc="0">
                <a:solidFill>
                  <a:srgbClr val="B5333B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04</a:t>
            </a:r>
            <a:endParaRPr/>
          </a:p>
        </p:txBody>
      </p:sp>
      <p:sp>
        <p:nvSpPr>
          <p:cNvPr id="26" name="文字 26"/>
          <p:cNvSpPr txBox="1"/>
          <p:nvPr/>
        </p:nvSpPr>
        <p:spPr>
          <a:xfrm>
            <a:off x="9001125" y="3305274"/>
            <a:ext cx="1028700" cy="1841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壁垒在信任与结算</a:t>
            </a:r>
            <a:endParaRPr/>
          </a:p>
        </p:txBody>
      </p:sp>
      <p:sp>
        <p:nvSpPr>
          <p:cNvPr id="27" name="文字 27"/>
          <p:cNvSpPr txBox="1"/>
          <p:nvPr/>
        </p:nvSpPr>
        <p:spPr>
          <a:xfrm>
            <a:off x="9001125" y="3495774"/>
            <a:ext cx="2729409" cy="1651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钱包绑定、RSA2、防重放、退款/争议；自主支付仍靠</a:t>
            </a:r>
            <a:endParaRPr/>
          </a:p>
        </p:txBody>
      </p:sp>
      <p:sp>
        <p:nvSpPr>
          <p:cNvPr id="28" name="文字 28"/>
          <p:cNvSpPr txBox="1"/>
          <p:nvPr/>
        </p:nvSpPr>
        <p:spPr>
          <a:xfrm>
            <a:off x="9001125" y="3655715"/>
            <a:ext cx="984251" cy="1651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委托支付（邀测）。</a:t>
            </a:r>
            <a:endParaRPr/>
          </a:p>
        </p:txBody>
      </p:sp>
      <p:pic>
        <p:nvPicPr>
          <p:cNvPr id="29" name="slide-004-image-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3879156"/>
            <a:ext cx="3683000" cy="516731"/>
          </a:xfrm>
          <a:prstGeom prst="rect">
            <a:avLst/>
          </a:prstGeom>
        </p:spPr>
      </p:pic>
      <p:sp>
        <p:nvSpPr>
          <p:cNvPr id="30" name="文字 30"/>
          <p:cNvSpPr txBox="1"/>
          <p:nvPr/>
        </p:nvSpPr>
        <p:spPr>
          <a:xfrm>
            <a:off x="558800" y="3898206"/>
            <a:ext cx="852984" cy="1841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对 Skill 创作者</a:t>
            </a:r>
            <a:endParaRPr/>
          </a:p>
        </p:txBody>
      </p:sp>
      <p:sp>
        <p:nvSpPr>
          <p:cNvPr id="31" name="文字 31"/>
          <p:cNvSpPr txBox="1"/>
          <p:nvPr/>
        </p:nvSpPr>
        <p:spPr>
          <a:xfrm>
            <a:off x="558800" y="4088706"/>
            <a:ext cx="3328293" cy="1651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定价 + 试用 + 交付 + 退款；用云端保护守住核心方法，而不是只卖</a:t>
            </a:r>
            <a:endParaRPr/>
          </a:p>
        </p:txBody>
      </p:sp>
      <p:sp>
        <p:nvSpPr>
          <p:cNvPr id="32" name="文字 32"/>
          <p:cNvSpPr txBox="1"/>
          <p:nvPr/>
        </p:nvSpPr>
        <p:spPr>
          <a:xfrm>
            <a:off x="558800" y="4248646"/>
            <a:ext cx="528638" cy="1651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Prompt。</a:t>
            </a:r>
            <a:endParaRPr/>
          </a:p>
        </p:txBody>
      </p:sp>
      <p:pic>
        <p:nvPicPr>
          <p:cNvPr id="33" name="slide-004-image-6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54500" y="3879156"/>
            <a:ext cx="3683000" cy="516731"/>
          </a:xfrm>
          <a:prstGeom prst="rect">
            <a:avLst/>
          </a:prstGeom>
        </p:spPr>
      </p:pic>
      <p:sp>
        <p:nvSpPr>
          <p:cNvPr id="34" name="文字 34"/>
          <p:cNvSpPr txBox="1"/>
          <p:nvPr/>
        </p:nvSpPr>
        <p:spPr>
          <a:xfrm>
            <a:off x="4356100" y="3898206"/>
            <a:ext cx="737493" cy="1841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对 API / 商家</a:t>
            </a:r>
            <a:endParaRPr/>
          </a:p>
        </p:txBody>
      </p:sp>
      <p:sp>
        <p:nvSpPr>
          <p:cNvPr id="35" name="文字 35"/>
          <p:cNvSpPr txBox="1"/>
          <p:nvPr/>
        </p:nvSpPr>
        <p:spPr>
          <a:xfrm>
            <a:off x="4356100" y="4088706"/>
            <a:ext cx="3568998" cy="1651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把 402 当收费网关：先报价后交付；验单、防重放、履约回执一个不能</a:t>
            </a:r>
            <a:endParaRPr/>
          </a:p>
        </p:txBody>
      </p:sp>
      <p:sp>
        <p:nvSpPr>
          <p:cNvPr id="36" name="文字 36"/>
          <p:cNvSpPr txBox="1"/>
          <p:nvPr/>
        </p:nvSpPr>
        <p:spPr>
          <a:xfrm>
            <a:off x="4356100" y="4248646"/>
            <a:ext cx="241300" cy="1651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少。</a:t>
            </a:r>
            <a:endParaRPr/>
          </a:p>
        </p:txBody>
      </p:sp>
      <p:pic>
        <p:nvPicPr>
          <p:cNvPr id="37" name="slide-004-image-7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51800" y="3879156"/>
            <a:ext cx="3683000" cy="516731"/>
          </a:xfrm>
          <a:prstGeom prst="rect">
            <a:avLst/>
          </a:prstGeom>
        </p:spPr>
      </p:pic>
      <p:sp>
        <p:nvSpPr>
          <p:cNvPr id="38" name="文字 38"/>
          <p:cNvSpPr txBox="1"/>
          <p:nvPr/>
        </p:nvSpPr>
        <p:spPr>
          <a:xfrm>
            <a:off x="8153400" y="3898206"/>
            <a:ext cx="814090" cy="1841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对 Agent 平台</a:t>
            </a:r>
            <a:endParaRPr/>
          </a:p>
        </p:txBody>
      </p:sp>
      <p:sp>
        <p:nvSpPr>
          <p:cNvPr id="39" name="文字 39"/>
          <p:cNvSpPr txBox="1"/>
          <p:nvPr/>
        </p:nvSpPr>
        <p:spPr>
          <a:xfrm>
            <a:off x="8153400" y="4088706"/>
            <a:ext cx="3532088" cy="1651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钱包绑定 + 逐笔授权 + 限额/委托 + 退款/争议；自主支付不是“静默扣</a:t>
            </a:r>
            <a:endParaRPr/>
          </a:p>
        </p:txBody>
      </p:sp>
      <p:sp>
        <p:nvSpPr>
          <p:cNvPr id="40" name="文字 40"/>
          <p:cNvSpPr txBox="1"/>
          <p:nvPr/>
        </p:nvSpPr>
        <p:spPr>
          <a:xfrm>
            <a:off x="8153400" y="4248646"/>
            <a:ext cx="355600" cy="1651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款”。</a:t>
            </a:r>
            <a:endParaRPr/>
          </a:p>
        </p:txBody>
      </p:sp>
      <p:pic>
        <p:nvPicPr>
          <p:cNvPr id="41" name="slide-004-image-8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7200" y="4472087"/>
            <a:ext cx="3683000" cy="436860"/>
          </a:xfrm>
          <a:prstGeom prst="rect">
            <a:avLst/>
          </a:prstGeom>
        </p:spPr>
      </p:pic>
      <p:sp>
        <p:nvSpPr>
          <p:cNvPr id="42" name="文字 42"/>
          <p:cNvSpPr txBox="1"/>
          <p:nvPr/>
        </p:nvSpPr>
        <p:spPr>
          <a:xfrm>
            <a:off x="558800" y="4541937"/>
            <a:ext cx="615950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账单即协议</a:t>
            </a:r>
            <a:endParaRPr/>
          </a:p>
        </p:txBody>
      </p:sp>
      <p:sp>
        <p:nvSpPr>
          <p:cNvPr id="43" name="文字 43"/>
          <p:cNvSpPr txBox="1"/>
          <p:nvPr/>
        </p:nvSpPr>
        <p:spPr>
          <a:xfrm>
            <a:off x="558800" y="4719737"/>
            <a:ext cx="2723654" cy="1587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价格、资源、过期时间与签名写进 402 响应，机器可读。</a:t>
            </a:r>
            <a:endParaRPr/>
          </a:p>
        </p:txBody>
      </p:sp>
      <p:pic>
        <p:nvPicPr>
          <p:cNvPr id="44" name="slide-004-image-9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254500" y="4472087"/>
            <a:ext cx="3683000" cy="436860"/>
          </a:xfrm>
          <a:prstGeom prst="rect">
            <a:avLst/>
          </a:prstGeom>
        </p:spPr>
      </p:pic>
      <p:sp>
        <p:nvSpPr>
          <p:cNvPr id="45" name="文字 45"/>
          <p:cNvSpPr txBox="1"/>
          <p:nvPr/>
        </p:nvSpPr>
        <p:spPr>
          <a:xfrm>
            <a:off x="4356100" y="4541937"/>
            <a:ext cx="615950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凭证即收据</a:t>
            </a:r>
            <a:endParaRPr/>
          </a:p>
        </p:txBody>
      </p:sp>
      <p:sp>
        <p:nvSpPr>
          <p:cNvPr id="46" name="文字 46"/>
          <p:cNvSpPr txBox="1"/>
          <p:nvPr/>
        </p:nvSpPr>
        <p:spPr>
          <a:xfrm>
            <a:off x="4356100" y="4719737"/>
            <a:ext cx="2711450" cy="1587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一次一证、验单后交付、履约回执；防重放与重复履约。</a:t>
            </a:r>
            <a:endParaRPr/>
          </a:p>
        </p:txBody>
      </p:sp>
      <p:pic>
        <p:nvPicPr>
          <p:cNvPr id="47" name="slide-004-image-10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51800" y="4472087"/>
            <a:ext cx="3683000" cy="436860"/>
          </a:xfrm>
          <a:prstGeom prst="rect">
            <a:avLst/>
          </a:prstGeom>
        </p:spPr>
      </p:pic>
      <p:sp>
        <p:nvSpPr>
          <p:cNvPr id="48" name="文字 48"/>
          <p:cNvSpPr txBox="1"/>
          <p:nvPr/>
        </p:nvSpPr>
        <p:spPr>
          <a:xfrm>
            <a:off x="8153400" y="4541937"/>
            <a:ext cx="615950" cy="1714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权益即商品</a:t>
            </a:r>
            <a:endParaRPr/>
          </a:p>
        </p:txBody>
      </p:sp>
      <p:sp>
        <p:nvSpPr>
          <p:cNvPr id="49" name="文字 49"/>
          <p:cNvSpPr txBox="1"/>
          <p:nvPr/>
        </p:nvSpPr>
        <p:spPr>
          <a:xfrm>
            <a:off x="8153400" y="4719737"/>
            <a:ext cx="2364283" cy="1587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5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买断/订阅/试用都必须有明确交付物与退款出口。</a:t>
            </a:r>
            <a:endParaRPr/>
          </a:p>
        </p:txBody>
      </p:sp>
      <p:pic>
        <p:nvPicPr>
          <p:cNvPr id="50" name="slide-004-image-11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7200" y="6356350"/>
            <a:ext cx="11277600" cy="222250"/>
          </a:xfrm>
          <a:prstGeom prst="rect">
            <a:avLst/>
          </a:prstGeom>
        </p:spPr>
      </p:pic>
      <p:sp>
        <p:nvSpPr>
          <p:cNvPr id="51" name="文字 51"/>
          <p:cNvSpPr txBox="1"/>
          <p:nvPr/>
        </p:nvSpPr>
        <p:spPr>
          <a:xfrm>
            <a:off x="457200" y="6432550"/>
            <a:ext cx="469900" cy="1651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u="none" spc="0">
                <a:solidFill>
                  <a:srgbClr val="1A1A1C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待回答：</a:t>
            </a:r>
            <a:endParaRPr/>
          </a:p>
        </p:txBody>
      </p:sp>
      <p:sp>
        <p:nvSpPr>
          <p:cNvPr id="52" name="文字 52"/>
          <p:cNvSpPr txBox="1"/>
          <p:nvPr/>
        </p:nvSpPr>
        <p:spPr>
          <a:xfrm>
            <a:off x="1028700" y="6432550"/>
            <a:ext cx="743347" cy="1651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平台佣金/费率</a:t>
            </a:r>
            <a:endParaRPr/>
          </a:p>
        </p:txBody>
      </p:sp>
      <p:sp>
        <p:nvSpPr>
          <p:cNvPr id="53" name="文字 53"/>
          <p:cNvSpPr txBox="1"/>
          <p:nvPr/>
        </p:nvSpPr>
        <p:spPr>
          <a:xfrm>
            <a:off x="1873647" y="6432550"/>
            <a:ext cx="584200" cy="1651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退款与争议</a:t>
            </a:r>
            <a:endParaRPr/>
          </a:p>
        </p:txBody>
      </p:sp>
      <p:sp>
        <p:nvSpPr>
          <p:cNvPr id="54" name="文字 54"/>
          <p:cNvSpPr txBox="1"/>
          <p:nvPr/>
        </p:nvSpPr>
        <p:spPr>
          <a:xfrm>
            <a:off x="2559447" y="6432550"/>
            <a:ext cx="584200" cy="1651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跨境与合规</a:t>
            </a:r>
            <a:endParaRPr/>
          </a:p>
        </p:txBody>
      </p:sp>
      <p:sp>
        <p:nvSpPr>
          <p:cNvPr id="55" name="文字 55"/>
          <p:cNvSpPr txBox="1"/>
          <p:nvPr/>
        </p:nvSpPr>
        <p:spPr>
          <a:xfrm>
            <a:off x="3245247" y="6432550"/>
            <a:ext cx="917774" cy="1651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Agent 限额与责任</a:t>
            </a:r>
            <a:endParaRPr/>
          </a:p>
        </p:txBody>
      </p:sp>
      <p:sp>
        <p:nvSpPr>
          <p:cNvPr id="56" name="文字 56"/>
          <p:cNvSpPr txBox="1"/>
          <p:nvPr/>
        </p:nvSpPr>
        <p:spPr>
          <a:xfrm>
            <a:off x="4264620" y="6432550"/>
            <a:ext cx="723106" cy="16510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spc="0">
                <a:solidFill>
                  <a:srgbClr val="58586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Skill 质量评测</a:t>
            </a:r>
            <a:endParaRPr/>
          </a:p>
        </p:txBody>
      </p:sp>
      <p:sp>
        <p:nvSpPr>
          <p:cNvPr id="57" name="文字 57"/>
          <p:cNvSpPr txBox="1"/>
          <p:nvPr/>
        </p:nvSpPr>
        <p:spPr>
          <a:xfrm>
            <a:off x="457200" y="6635750"/>
            <a:ext cx="3560068" cy="120650"/>
          </a:xfrm>
          <a:prstGeom prst="rect">
            <a:avLst/>
          </a:prstGeom>
          <a:noFill/>
          <a:ln>
            <a:noFill/>
          </a:ln>
        </p:spPr>
        <p:txBody>
          <a:bodyPr wrap="none" anchor="t" lIns="0" tIns="0" rIns="0" bIns="0">
            <a:noAutofit/>
          </a:bodyPr>
          <a:lstStyle/>
          <a:p>
            <a:pPr algn="l" marL="0" marR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650" b="0" i="0" u="none" spc="0">
                <a:solidFill>
                  <a:srgbClr val="8B8E94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 xml:space="preserve">来源：支付宝 AI 付文档、SkillPay 官网/博客、官方 alipay/ai skills 仓库；2026-10-19 只读核查。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!-- 空白母版、版式与主题取自 python-pptx 1.0.2 的默认有效文稿；母版只保留空白版式。 --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