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g" ContentType="image/jpeg"/>
  <Default Extension="pn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 xmlns:a="http://schemas.openxmlformats.org/drawingml/2006/main" xmlns:r="http://schemas.openxmlformats.org/officeDocument/2006/relationships" autoCompressPictures="0">
  <p:sldMasterIdLst>
    <p:sldMasterId id="2147483648" r:id="rId1"/>
  </p:sldMasterIdLst>
  <p:sldIdLst>
    <p:sldId id="256" r:id="rId2"/>
  </p:sldIdLst>
  <p:sldSz cx="12192000" cy="6858000"/>
  <p:notesSz cx="6858000" cy="9144000"/>
</p:presentation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/Relationship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!-- 空白母版、版式与主题取自 python-pptx 1.0.2 的默认有效文稿；母版只保留空白版式。 --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!-- 空白母版、版式与主题取自 python-pptx 1.0.2 的默认有效文稿；母版只保留空白版式。 -->
<p:sldMaster xmlns:a="http://schemas.openxmlformats.org/drawingml/2006/main" xmlns:ns2="http://schemas.microsoft.com/office/powerpoint/2010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ns2:creationId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 name="魔搭 Skills 洞察">
    <p:spTree>
      <p:nvGrpSpPr>
        <p:cNvPr id="1" name=""/>
        <p:cNvGrpSpPr/>
        <p:nvPr/>
      </p:nvGrpSpPr>
      <p:grpSpPr/>
      <p:sp>
        <p:nvSpPr>
          <p:cNvPr id="2" name="形状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100000"/>
            </a:srgbClr>
          </a:solidFill>
          <a:ln>
            <a:noFill/>
          </a:ln>
        </p:spPr>
      </p:sp>
      <p:sp>
        <p:nvSpPr>
          <p:cNvPr id="3" name="形状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100000"/>
            </a:srgbClr>
          </a:solidFill>
          <a:ln>
            <a:noFill/>
          </a:ln>
        </p:spPr>
      </p:sp>
      <p:sp>
        <p:nvSpPr>
          <p:cNvPr id="4" name="形状 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A">
              <a:alpha val="100000"/>
            </a:srgbClr>
          </a:solidFill>
          <a:ln>
            <a:noFill/>
          </a:ln>
        </p:spPr>
      </p:sp>
      <p:sp>
        <p:nvSpPr>
          <p:cNvPr id="5" name="文字 5"/>
          <p:cNvSpPr txBox="1"/>
          <p:nvPr/>
        </p:nvSpPr>
        <p:spPr>
          <a:xfrm>
            <a:off x="508000" y="311150"/>
            <a:ext cx="2959398" cy="1460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 u="none" spc="162">
                <a:solidFill>
                  <a:srgbClr val="B5333B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MODELSCOPE SKILLS CENTER / 生态洞察</a:t>
            </a:r>
            <a:endParaRPr/>
          </a:p>
        </p:txBody>
      </p:sp>
      <p:sp>
        <p:nvSpPr>
          <p:cNvPr id="6" name="文字 6"/>
          <p:cNvSpPr txBox="1"/>
          <p:nvPr/>
        </p:nvSpPr>
        <p:spPr>
          <a:xfrm>
            <a:off x="508000" y="527050"/>
            <a:ext cx="7727057" cy="4064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2200" b="1" i="0" u="none" spc="-44">
                <a:solidFill>
                  <a:srgbClr val="1A1A1C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魔搭 Skills 中心：8.35 万技能撑起四层框架，验证闭环仍缺一环</a:t>
            </a:r>
            <a:endParaRPr/>
          </a:p>
        </p:txBody>
      </p:sp>
      <p:sp>
        <p:nvSpPr>
          <p:cNvPr id="7" name="文字 7"/>
          <p:cNvSpPr txBox="1"/>
          <p:nvPr/>
        </p:nvSpPr>
        <p:spPr>
          <a:xfrm>
            <a:off x="508000" y="932160"/>
            <a:ext cx="7394575" cy="1905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0" u="none" spc="0">
                <a:solidFill>
                  <a:srgbClr val="58586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Skill 是模型与 Agent 之间的方法资产层。魔搭已跑通来源、发布、安装与多宿主消费，但技能级试运行与质量信号仍未成形。</a:t>
            </a:r>
            <a:endParaRPr/>
          </a:p>
        </p:txBody>
      </p:sp>
      <p:sp>
        <p:nvSpPr>
          <p:cNvPr id="8" name="文字 8"/>
          <p:cNvSpPr txBox="1"/>
          <p:nvPr/>
        </p:nvSpPr>
        <p:spPr>
          <a:xfrm>
            <a:off x="10534849" y="330200"/>
            <a:ext cx="1161851" cy="1079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650" b="0" i="0" u="none" spc="78">
                <a:solidFill>
                  <a:srgbClr val="9A9AA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2026.10 · 公开数据快照</a:t>
            </a:r>
            <a:endParaRPr/>
          </a:p>
        </p:txBody>
      </p:sp>
      <p:sp>
        <p:nvSpPr>
          <p:cNvPr id="9" name="文字 9"/>
          <p:cNvSpPr txBox="1"/>
          <p:nvPr/>
        </p:nvSpPr>
        <p:spPr>
          <a:xfrm>
            <a:off x="10508457" y="476250"/>
            <a:ext cx="1188243" cy="1079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650" b="0" i="0" u="none" spc="52">
                <a:solidFill>
                  <a:srgbClr val="9A9AA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国际站 328 · 样本 2,400</a:t>
            </a:r>
            <a:endParaRPr/>
          </a:p>
        </p:txBody>
      </p:sp>
      <p:sp>
        <p:nvSpPr>
          <p:cNvPr id="10" name="文字 10"/>
          <p:cNvSpPr txBox="1"/>
          <p:nvPr/>
        </p:nvSpPr>
        <p:spPr>
          <a:xfrm>
            <a:off x="10498535" y="609600"/>
            <a:ext cx="1198166" cy="1079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650" b="0" i="0" u="none" spc="52">
                <a:solidFill>
                  <a:srgbClr val="9A9AA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来源：OpenAPI / 官方文档</a:t>
            </a:r>
            <a:endParaRPr/>
          </a:p>
        </p:txBody>
      </p:sp>
      <p:sp>
        <p:nvSpPr>
          <p:cNvPr id="11" name="形状 11"/>
          <p:cNvSpPr/>
          <p:nvPr/>
        </p:nvSpPr>
        <p:spPr>
          <a:xfrm>
            <a:off x="508000" y="1207691"/>
            <a:ext cx="11176001" cy="531416"/>
          </a:xfrm>
          <a:prstGeom prst="roundRect">
            <a:avLst>
              <a:gd name="adj" fmla="val 14339"/>
            </a:avLst>
          </a:prstGeom>
          <a:solidFill>
            <a:srgbClr val="FFFFFF">
              <a:alpha val="100000"/>
            </a:srgbClr>
          </a:solidFill>
          <a:ln w="6350">
            <a:solidFill>
              <a:srgbClr val="D5D9DE">
                <a:alpha val="100000"/>
              </a:srgbClr>
            </a:solidFill>
            <a:prstDash val="solid"/>
          </a:ln>
        </p:spPr>
      </p:sp>
      <p:pic>
        <p:nvPicPr>
          <p:cNvPr id="12" name="slide-001-image-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4350" y="1214041"/>
            <a:ext cx="2790825" cy="518716"/>
          </a:xfrm>
          <a:prstGeom prst="rect">
            <a:avLst/>
          </a:prstGeom>
        </p:spPr>
      </p:pic>
      <p:sp>
        <p:nvSpPr>
          <p:cNvPr id="13" name="文字 13"/>
          <p:cNvSpPr txBox="1"/>
          <p:nvPr/>
        </p:nvSpPr>
        <p:spPr>
          <a:xfrm>
            <a:off x="641350" y="1258491"/>
            <a:ext cx="789980" cy="2857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700" b="1" i="0" u="none" spc="0">
                <a:solidFill>
                  <a:srgbClr val="1A1A1C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83,509</a:t>
            </a:r>
            <a:endParaRPr/>
          </a:p>
        </p:txBody>
      </p:sp>
      <p:sp>
        <p:nvSpPr>
          <p:cNvPr id="14" name="文字 14"/>
          <p:cNvSpPr txBox="1"/>
          <p:nvPr/>
        </p:nvSpPr>
        <p:spPr>
          <a:xfrm>
            <a:off x="641350" y="1542256"/>
            <a:ext cx="393700" cy="1333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750" b="0" i="0" u="none" spc="0">
                <a:solidFill>
                  <a:srgbClr val="58586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技能总数</a:t>
            </a:r>
            <a:endParaRPr/>
          </a:p>
        </p:txBody>
      </p:sp>
      <p:pic>
        <p:nvPicPr>
          <p:cNvPr id="15" name="slide-001-image-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05175" y="1214041"/>
            <a:ext cx="2790825" cy="518716"/>
          </a:xfrm>
          <a:prstGeom prst="rect">
            <a:avLst/>
          </a:prstGeom>
        </p:spPr>
      </p:pic>
      <p:sp>
        <p:nvSpPr>
          <p:cNvPr id="16" name="文字 16"/>
          <p:cNvSpPr txBox="1"/>
          <p:nvPr/>
        </p:nvSpPr>
        <p:spPr>
          <a:xfrm>
            <a:off x="3432175" y="1258491"/>
            <a:ext cx="660400" cy="2857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700" b="1" i="0" u="none" spc="0">
                <a:solidFill>
                  <a:srgbClr val="1A1A1C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30.9%</a:t>
            </a:r>
            <a:endParaRPr/>
          </a:p>
        </p:txBody>
      </p:sp>
      <p:sp>
        <p:nvSpPr>
          <p:cNvPr id="17" name="文字 17"/>
          <p:cNvSpPr txBox="1"/>
          <p:nvPr/>
        </p:nvSpPr>
        <p:spPr>
          <a:xfrm>
            <a:off x="3432175" y="1542256"/>
            <a:ext cx="584200" cy="1333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750" b="0" i="0" u="none" spc="0">
                <a:solidFill>
                  <a:srgbClr val="58586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聚合镜像占比</a:t>
            </a:r>
            <a:endParaRPr/>
          </a:p>
        </p:txBody>
      </p:sp>
      <p:pic>
        <p:nvPicPr>
          <p:cNvPr id="18" name="slide-001-image-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1214041"/>
            <a:ext cx="2790825" cy="518716"/>
          </a:xfrm>
          <a:prstGeom prst="rect">
            <a:avLst/>
          </a:prstGeom>
        </p:spPr>
      </p:pic>
      <p:sp>
        <p:nvSpPr>
          <p:cNvPr id="19" name="文字 19"/>
          <p:cNvSpPr txBox="1"/>
          <p:nvPr/>
        </p:nvSpPr>
        <p:spPr>
          <a:xfrm>
            <a:off x="6223000" y="1258491"/>
            <a:ext cx="530919" cy="2857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700" b="1" i="0" u="none" spc="0">
                <a:solidFill>
                  <a:srgbClr val="B5333B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0.4%</a:t>
            </a:r>
            <a:endParaRPr/>
          </a:p>
        </p:txBody>
      </p:sp>
      <p:sp>
        <p:nvSpPr>
          <p:cNvPr id="20" name="文字 20"/>
          <p:cNvSpPr txBox="1"/>
          <p:nvPr/>
        </p:nvSpPr>
        <p:spPr>
          <a:xfrm>
            <a:off x="6223000" y="1542256"/>
            <a:ext cx="1007864" cy="1333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750" b="0" i="0" u="none" spc="0">
                <a:solidFill>
                  <a:srgbClr val="58586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平台官方占比 · 阿里系</a:t>
            </a:r>
            <a:endParaRPr/>
          </a:p>
        </p:txBody>
      </p:sp>
      <p:sp>
        <p:nvSpPr>
          <p:cNvPr id="21" name="文字 21"/>
          <p:cNvSpPr txBox="1"/>
          <p:nvPr/>
        </p:nvSpPr>
        <p:spPr>
          <a:xfrm>
            <a:off x="9013825" y="1258491"/>
            <a:ext cx="660400" cy="2857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700" b="1" i="0" u="none" spc="0">
                <a:solidFill>
                  <a:srgbClr val="1A1A1C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65.9%</a:t>
            </a:r>
            <a:endParaRPr/>
          </a:p>
        </p:txBody>
      </p:sp>
      <p:sp>
        <p:nvSpPr>
          <p:cNvPr id="22" name="文字 22"/>
          <p:cNvSpPr txBox="1"/>
          <p:nvPr/>
        </p:nvSpPr>
        <p:spPr>
          <a:xfrm>
            <a:off x="9013825" y="1542256"/>
            <a:ext cx="912713" cy="1333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750" b="0" i="0" u="none" spc="0">
                <a:solidFill>
                  <a:srgbClr val="58586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Top1% 技能下载占比</a:t>
            </a:r>
            <a:endParaRPr/>
          </a:p>
        </p:txBody>
      </p:sp>
      <p:sp>
        <p:nvSpPr>
          <p:cNvPr id="23" name="文字 23"/>
          <p:cNvSpPr txBox="1"/>
          <p:nvPr/>
        </p:nvSpPr>
        <p:spPr>
          <a:xfrm>
            <a:off x="508000" y="1872456"/>
            <a:ext cx="2152352" cy="1397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850" b="0" i="0" u="none" spc="119">
                <a:solidFill>
                  <a:srgbClr val="B5333B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01 · 资产定位与结构 / 4 LAYERS</a:t>
            </a:r>
            <a:endParaRPr/>
          </a:p>
        </p:txBody>
      </p:sp>
      <p:sp>
        <p:nvSpPr>
          <p:cNvPr id="24" name="文字 24"/>
          <p:cNvSpPr txBox="1"/>
          <p:nvPr/>
        </p:nvSpPr>
        <p:spPr>
          <a:xfrm>
            <a:off x="508000" y="2062956"/>
            <a:ext cx="3660775" cy="1905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0" u="none" spc="0">
                <a:solidFill>
                  <a:srgbClr val="58586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Skill 不是模型，也不是 Agent 运行时；它是可加载的方法层。</a:t>
            </a:r>
            <a:endParaRPr/>
          </a:p>
        </p:txBody>
      </p:sp>
      <p:sp>
        <p:nvSpPr>
          <p:cNvPr id="25" name="文字 25"/>
          <p:cNvSpPr txBox="1"/>
          <p:nvPr/>
        </p:nvSpPr>
        <p:spPr>
          <a:xfrm>
            <a:off x="508000" y="2253258"/>
            <a:ext cx="1577876" cy="1206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650" b="0" i="0" u="none" spc="0">
                <a:solidFill>
                  <a:srgbClr val="9A9AA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4 层为分析框架，非 ModelScope 官方定义</a:t>
            </a:r>
            <a:endParaRPr/>
          </a:p>
        </p:txBody>
      </p:sp>
      <p:sp>
        <p:nvSpPr>
          <p:cNvPr id="26" name="形状 26"/>
          <p:cNvSpPr/>
          <p:nvPr/>
        </p:nvSpPr>
        <p:spPr>
          <a:xfrm>
            <a:off x="508000" y="2424013"/>
            <a:ext cx="3743524" cy="720626"/>
          </a:xfrm>
          <a:prstGeom prst="roundRect">
            <a:avLst>
              <a:gd name="adj" fmla="val 10574"/>
            </a:avLst>
          </a:prstGeom>
          <a:solidFill>
            <a:srgbClr val="FFFFFF">
              <a:alpha val="100000"/>
            </a:srgbClr>
          </a:solidFill>
          <a:ln w="6350">
            <a:solidFill>
              <a:srgbClr val="D5D9DE">
                <a:alpha val="100000"/>
              </a:srgbClr>
            </a:solidFill>
            <a:prstDash val="solid"/>
          </a:ln>
        </p:spPr>
      </p:sp>
      <p:sp>
        <p:nvSpPr>
          <p:cNvPr id="27" name="文字 27"/>
          <p:cNvSpPr txBox="1"/>
          <p:nvPr/>
        </p:nvSpPr>
        <p:spPr>
          <a:xfrm>
            <a:off x="670520" y="2739827"/>
            <a:ext cx="119459" cy="1143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700" b="1" i="0" u="none" spc="0">
                <a:solidFill>
                  <a:srgbClr val="56647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L4</a:t>
            </a:r>
            <a:endParaRPr/>
          </a:p>
        </p:txBody>
      </p:sp>
      <p:sp>
        <p:nvSpPr>
          <p:cNvPr id="28" name="文字 28"/>
          <p:cNvSpPr txBox="1"/>
          <p:nvPr/>
        </p:nvSpPr>
        <p:spPr>
          <a:xfrm>
            <a:off x="920750" y="2595860"/>
            <a:ext cx="774700" cy="2222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 u="none" spc="0">
                <a:solidFill>
                  <a:srgbClr val="1A1A1C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应用交付层</a:t>
            </a:r>
            <a:endParaRPr/>
          </a:p>
        </p:txBody>
      </p:sp>
      <p:sp>
        <p:nvSpPr>
          <p:cNvPr id="29" name="文字 29"/>
          <p:cNvSpPr txBox="1"/>
          <p:nvPr/>
        </p:nvSpPr>
        <p:spPr>
          <a:xfrm>
            <a:off x="1733550" y="2646660"/>
            <a:ext cx="593824" cy="1524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800" b="0" i="0" u="none" spc="0">
                <a:solidFill>
                  <a:srgbClr val="56647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创空间 17.3k</a:t>
            </a:r>
            <a:endParaRPr/>
          </a:p>
        </p:txBody>
      </p:sp>
      <p:sp>
        <p:nvSpPr>
          <p:cNvPr id="30" name="文字 30"/>
          <p:cNvSpPr txBox="1"/>
          <p:nvPr/>
        </p:nvSpPr>
        <p:spPr>
          <a:xfrm>
            <a:off x="920750" y="2811760"/>
            <a:ext cx="2727325" cy="1905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0" u="none" spc="0">
                <a:solidFill>
                  <a:srgbClr val="58586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Agent 调用 Skill 完成任务；实验场可直接对话</a:t>
            </a:r>
            <a:endParaRPr/>
          </a:p>
        </p:txBody>
      </p:sp>
      <p:pic>
        <p:nvPicPr>
          <p:cNvPr id="31" name="slide-001-image-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8000" y="3201789"/>
            <a:ext cx="3743524" cy="720725"/>
          </a:xfrm>
          <a:prstGeom prst="rect">
            <a:avLst/>
          </a:prstGeom>
        </p:spPr>
      </p:pic>
      <p:sp>
        <p:nvSpPr>
          <p:cNvPr id="32" name="文字 32"/>
          <p:cNvSpPr txBox="1"/>
          <p:nvPr/>
        </p:nvSpPr>
        <p:spPr>
          <a:xfrm>
            <a:off x="689570" y="3517702"/>
            <a:ext cx="119459" cy="1143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700" b="1" i="0" u="none" spc="0">
                <a:solidFill>
                  <a:srgbClr val="B5333B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L3</a:t>
            </a:r>
            <a:endParaRPr/>
          </a:p>
        </p:txBody>
      </p:sp>
      <p:sp>
        <p:nvSpPr>
          <p:cNvPr id="33" name="文字 33"/>
          <p:cNvSpPr txBox="1"/>
          <p:nvPr/>
        </p:nvSpPr>
        <p:spPr>
          <a:xfrm>
            <a:off x="939800" y="3373735"/>
            <a:ext cx="774700" cy="2222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 u="none" spc="0">
                <a:solidFill>
                  <a:srgbClr val="1A1A1C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方法资产层</a:t>
            </a:r>
            <a:endParaRPr/>
          </a:p>
        </p:txBody>
      </p:sp>
      <p:sp>
        <p:nvSpPr>
          <p:cNvPr id="34" name="文字 34"/>
          <p:cNvSpPr txBox="1"/>
          <p:nvPr/>
        </p:nvSpPr>
        <p:spPr>
          <a:xfrm>
            <a:off x="1752600" y="3424535"/>
            <a:ext cx="538857" cy="1524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800" b="0" i="0" u="none" spc="0">
                <a:solidFill>
                  <a:srgbClr val="56647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Skills 83.5k</a:t>
            </a:r>
            <a:endParaRPr/>
          </a:p>
        </p:txBody>
      </p:sp>
      <p:sp>
        <p:nvSpPr>
          <p:cNvPr id="35" name="文字 35"/>
          <p:cNvSpPr txBox="1"/>
          <p:nvPr/>
        </p:nvSpPr>
        <p:spPr>
          <a:xfrm>
            <a:off x="2380357" y="3430885"/>
            <a:ext cx="488950" cy="1333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750" b="1" i="0" u="none" spc="0">
                <a:solidFill>
                  <a:srgbClr val="B5333B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核心资产层</a:t>
            </a:r>
            <a:endParaRPr/>
          </a:p>
        </p:txBody>
      </p:sp>
      <p:sp>
        <p:nvSpPr>
          <p:cNvPr id="36" name="文字 36"/>
          <p:cNvSpPr txBox="1"/>
          <p:nvPr/>
        </p:nvSpPr>
        <p:spPr>
          <a:xfrm>
            <a:off x="939800" y="3589635"/>
            <a:ext cx="2442667" cy="1905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0" u="none" spc="0">
                <a:solidFill>
                  <a:srgbClr val="58586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SKILL.md + scripts + references + assets</a:t>
            </a:r>
            <a:endParaRPr/>
          </a:p>
        </p:txBody>
      </p:sp>
      <p:sp>
        <p:nvSpPr>
          <p:cNvPr id="37" name="形状 37"/>
          <p:cNvSpPr/>
          <p:nvPr/>
        </p:nvSpPr>
        <p:spPr>
          <a:xfrm>
            <a:off x="508000" y="3979664"/>
            <a:ext cx="3743524" cy="720725"/>
          </a:xfrm>
          <a:prstGeom prst="roundRect">
            <a:avLst>
              <a:gd name="adj" fmla="val 10573"/>
            </a:avLst>
          </a:prstGeom>
          <a:solidFill>
            <a:srgbClr val="FFFFFF">
              <a:alpha val="100000"/>
            </a:srgbClr>
          </a:solidFill>
          <a:ln w="6350">
            <a:solidFill>
              <a:srgbClr val="D5D9DE">
                <a:alpha val="100000"/>
              </a:srgbClr>
            </a:solidFill>
            <a:prstDash val="solid"/>
          </a:ln>
        </p:spPr>
      </p:sp>
      <p:sp>
        <p:nvSpPr>
          <p:cNvPr id="38" name="文字 38"/>
          <p:cNvSpPr txBox="1"/>
          <p:nvPr/>
        </p:nvSpPr>
        <p:spPr>
          <a:xfrm>
            <a:off x="670520" y="4295577"/>
            <a:ext cx="119459" cy="1143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700" b="1" i="0" u="none" spc="0">
                <a:solidFill>
                  <a:srgbClr val="56647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L2</a:t>
            </a:r>
            <a:endParaRPr/>
          </a:p>
        </p:txBody>
      </p:sp>
      <p:sp>
        <p:nvSpPr>
          <p:cNvPr id="39" name="文字 39"/>
          <p:cNvSpPr txBox="1"/>
          <p:nvPr/>
        </p:nvSpPr>
        <p:spPr>
          <a:xfrm>
            <a:off x="920750" y="4151610"/>
            <a:ext cx="774700" cy="2222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 u="none" spc="0">
                <a:solidFill>
                  <a:srgbClr val="1A1A1C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工具连接层</a:t>
            </a:r>
            <a:endParaRPr/>
          </a:p>
        </p:txBody>
      </p:sp>
      <p:sp>
        <p:nvSpPr>
          <p:cNvPr id="40" name="文字 40"/>
          <p:cNvSpPr txBox="1"/>
          <p:nvPr/>
        </p:nvSpPr>
        <p:spPr>
          <a:xfrm>
            <a:off x="1733550" y="4202410"/>
            <a:ext cx="500559" cy="1524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800" b="0" i="0" u="none" spc="0">
                <a:solidFill>
                  <a:srgbClr val="56647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MCP 12.7k</a:t>
            </a:r>
            <a:endParaRPr/>
          </a:p>
        </p:txBody>
      </p:sp>
      <p:sp>
        <p:nvSpPr>
          <p:cNvPr id="41" name="文字 41"/>
          <p:cNvSpPr txBox="1"/>
          <p:nvPr/>
        </p:nvSpPr>
        <p:spPr>
          <a:xfrm>
            <a:off x="920750" y="4367510"/>
            <a:ext cx="2431951" cy="1905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0" u="none" spc="0">
                <a:solidFill>
                  <a:srgbClr val="58586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把外部工具与模型服务接进 Agent 运行时</a:t>
            </a:r>
            <a:endParaRPr/>
          </a:p>
        </p:txBody>
      </p:sp>
      <p:sp>
        <p:nvSpPr>
          <p:cNvPr id="42" name="形状 42"/>
          <p:cNvSpPr/>
          <p:nvPr/>
        </p:nvSpPr>
        <p:spPr>
          <a:xfrm>
            <a:off x="508000" y="4757539"/>
            <a:ext cx="3743524" cy="720725"/>
          </a:xfrm>
          <a:prstGeom prst="roundRect">
            <a:avLst>
              <a:gd name="adj" fmla="val 10573"/>
            </a:avLst>
          </a:prstGeom>
          <a:solidFill>
            <a:srgbClr val="FFFFFF">
              <a:alpha val="100000"/>
            </a:srgbClr>
          </a:solidFill>
          <a:ln w="6350">
            <a:solidFill>
              <a:srgbClr val="D5D9DE">
                <a:alpha val="100000"/>
              </a:srgbClr>
            </a:solidFill>
            <a:prstDash val="solid"/>
          </a:ln>
        </p:spPr>
      </p:sp>
      <p:sp>
        <p:nvSpPr>
          <p:cNvPr id="43" name="文字 43"/>
          <p:cNvSpPr txBox="1"/>
          <p:nvPr/>
        </p:nvSpPr>
        <p:spPr>
          <a:xfrm>
            <a:off x="670520" y="5073452"/>
            <a:ext cx="119459" cy="1143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700" b="1" i="0" u="none" spc="0">
                <a:solidFill>
                  <a:srgbClr val="56647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L1</a:t>
            </a:r>
            <a:endParaRPr/>
          </a:p>
        </p:txBody>
      </p:sp>
      <p:sp>
        <p:nvSpPr>
          <p:cNvPr id="44" name="文字 44"/>
          <p:cNvSpPr txBox="1"/>
          <p:nvPr/>
        </p:nvSpPr>
        <p:spPr>
          <a:xfrm>
            <a:off x="920750" y="4929485"/>
            <a:ext cx="774700" cy="2222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 u="none" spc="0">
                <a:solidFill>
                  <a:srgbClr val="1A1A1C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基础资源层</a:t>
            </a:r>
            <a:endParaRPr/>
          </a:p>
        </p:txBody>
      </p:sp>
      <p:sp>
        <p:nvSpPr>
          <p:cNvPr id="45" name="文字 45"/>
          <p:cNvSpPr txBox="1"/>
          <p:nvPr/>
        </p:nvSpPr>
        <p:spPr>
          <a:xfrm>
            <a:off x="1733550" y="4980285"/>
            <a:ext cx="1192014" cy="1524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800" b="0" i="0" u="none" spc="0">
                <a:solidFill>
                  <a:srgbClr val="56647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模型 273k · 数据集 44.7k</a:t>
            </a:r>
            <a:endParaRPr/>
          </a:p>
        </p:txBody>
      </p:sp>
      <p:sp>
        <p:nvSpPr>
          <p:cNvPr id="46" name="文字 46"/>
          <p:cNvSpPr txBox="1"/>
          <p:nvPr/>
        </p:nvSpPr>
        <p:spPr>
          <a:xfrm>
            <a:off x="920750" y="5145385"/>
            <a:ext cx="1612900" cy="1905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0" u="none" spc="0">
                <a:solidFill>
                  <a:srgbClr val="58586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模型与数据，提供能力原料</a:t>
            </a:r>
            <a:endParaRPr/>
          </a:p>
        </p:txBody>
      </p:sp>
      <p:sp>
        <p:nvSpPr>
          <p:cNvPr id="47" name="文字 47"/>
          <p:cNvSpPr txBox="1"/>
          <p:nvPr/>
        </p:nvSpPr>
        <p:spPr>
          <a:xfrm>
            <a:off x="4391224" y="1872456"/>
            <a:ext cx="1426865" cy="1397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850" b="0" i="0" u="none" spc="119">
                <a:solidFill>
                  <a:srgbClr val="B5333B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02 · 资产消费 / 4 环</a:t>
            </a:r>
            <a:endParaRPr/>
          </a:p>
        </p:txBody>
      </p:sp>
      <p:sp>
        <p:nvSpPr>
          <p:cNvPr id="48" name="文字 48"/>
          <p:cNvSpPr txBox="1"/>
          <p:nvPr/>
        </p:nvSpPr>
        <p:spPr>
          <a:xfrm>
            <a:off x="4391224" y="2062956"/>
            <a:ext cx="2946400" cy="1905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0" u="none" spc="0">
                <a:solidFill>
                  <a:srgbClr val="58586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来源、发布、消费已通；试运行有入口、无沙箱。</a:t>
            </a:r>
            <a:endParaRPr/>
          </a:p>
        </p:txBody>
      </p:sp>
      <p:sp>
        <p:nvSpPr>
          <p:cNvPr id="49" name="形状 49"/>
          <p:cNvSpPr/>
          <p:nvPr/>
        </p:nvSpPr>
        <p:spPr>
          <a:xfrm>
            <a:off x="4391224" y="2310408"/>
            <a:ext cx="215900" cy="215900"/>
          </a:xfrm>
          <a:prstGeom prst="ellipse">
            <a:avLst/>
          </a:prstGeom>
          <a:solidFill>
            <a:srgbClr val="FDF0F1">
              <a:alpha val="100000"/>
            </a:srgbClr>
          </a:solidFill>
          <a:ln w="6350">
            <a:solidFill>
              <a:srgbClr val="EFC9CC">
                <a:alpha val="100000"/>
              </a:srgbClr>
            </a:solidFill>
            <a:prstDash val="solid"/>
          </a:ln>
        </p:spPr>
      </p:sp>
      <p:sp>
        <p:nvSpPr>
          <p:cNvPr id="50" name="文字 50"/>
          <p:cNvSpPr txBox="1"/>
          <p:nvPr/>
        </p:nvSpPr>
        <p:spPr>
          <a:xfrm>
            <a:off x="4438154" y="2351683"/>
            <a:ext cx="134640" cy="1333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800" b="1" i="0" u="none" spc="0">
                <a:solidFill>
                  <a:srgbClr val="B5333B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01</a:t>
            </a:r>
            <a:endParaRPr/>
          </a:p>
        </p:txBody>
      </p:sp>
      <p:sp>
        <p:nvSpPr>
          <p:cNvPr id="51" name="文字 51"/>
          <p:cNvSpPr txBox="1"/>
          <p:nvPr/>
        </p:nvSpPr>
        <p:spPr>
          <a:xfrm>
            <a:off x="4683324" y="2310408"/>
            <a:ext cx="304800" cy="2159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150" b="1" i="0" u="none" spc="0">
                <a:solidFill>
                  <a:srgbClr val="1A1A1C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来源</a:t>
            </a:r>
            <a:endParaRPr/>
          </a:p>
        </p:txBody>
      </p:sp>
      <p:sp>
        <p:nvSpPr>
          <p:cNvPr id="52" name="文字 52"/>
          <p:cNvSpPr txBox="1"/>
          <p:nvPr/>
        </p:nvSpPr>
        <p:spPr>
          <a:xfrm>
            <a:off x="5026224" y="2367558"/>
            <a:ext cx="386159" cy="1143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700" b="0" i="0" u="none" spc="70">
                <a:solidFill>
                  <a:srgbClr val="9A9AA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SOURCE</a:t>
            </a:r>
            <a:endParaRPr/>
          </a:p>
        </p:txBody>
      </p:sp>
      <p:sp>
        <p:nvSpPr>
          <p:cNvPr id="53" name="文字 53"/>
          <p:cNvSpPr txBox="1"/>
          <p:nvPr/>
        </p:nvSpPr>
        <p:spPr>
          <a:xfrm>
            <a:off x="4683324" y="2517378"/>
            <a:ext cx="2313582" cy="1905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0" u="none" spc="0">
                <a:solidFill>
                  <a:srgbClr val="1A1A1C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GitHub 占 74% · 6 月批量入库占 47%</a:t>
            </a:r>
            <a:endParaRPr/>
          </a:p>
        </p:txBody>
      </p:sp>
      <p:sp>
        <p:nvSpPr>
          <p:cNvPr id="54" name="文字 54"/>
          <p:cNvSpPr txBox="1"/>
          <p:nvPr/>
        </p:nvSpPr>
        <p:spPr>
          <a:xfrm>
            <a:off x="4683324" y="2707680"/>
            <a:ext cx="2674243" cy="1905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0" u="none" spc="0">
                <a:solidFill>
                  <a:srgbClr val="58586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source_url 关联原作；官方仓库提供 ms-hub</a:t>
            </a:r>
            <a:endParaRPr/>
          </a:p>
        </p:txBody>
      </p:sp>
      <p:sp>
        <p:nvSpPr>
          <p:cNvPr id="55" name="形状 55"/>
          <p:cNvSpPr/>
          <p:nvPr/>
        </p:nvSpPr>
        <p:spPr>
          <a:xfrm>
            <a:off x="4391224" y="3105547"/>
            <a:ext cx="215900" cy="215900"/>
          </a:xfrm>
          <a:prstGeom prst="ellipse">
            <a:avLst/>
          </a:prstGeom>
          <a:solidFill>
            <a:srgbClr val="FDF0F1">
              <a:alpha val="100000"/>
            </a:srgbClr>
          </a:solidFill>
          <a:ln w="6350">
            <a:solidFill>
              <a:srgbClr val="EFC9CC">
                <a:alpha val="100000"/>
              </a:srgbClr>
            </a:solidFill>
            <a:prstDash val="solid"/>
          </a:ln>
        </p:spPr>
      </p:sp>
      <p:sp>
        <p:nvSpPr>
          <p:cNvPr id="56" name="文字 56"/>
          <p:cNvSpPr txBox="1"/>
          <p:nvPr/>
        </p:nvSpPr>
        <p:spPr>
          <a:xfrm>
            <a:off x="4438154" y="3146822"/>
            <a:ext cx="134640" cy="1333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800" b="1" i="0" u="none" spc="0">
                <a:solidFill>
                  <a:srgbClr val="B5333B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02</a:t>
            </a:r>
            <a:endParaRPr/>
          </a:p>
        </p:txBody>
      </p:sp>
      <p:sp>
        <p:nvSpPr>
          <p:cNvPr id="57" name="文字 57"/>
          <p:cNvSpPr txBox="1"/>
          <p:nvPr/>
        </p:nvSpPr>
        <p:spPr>
          <a:xfrm>
            <a:off x="4683324" y="3105547"/>
            <a:ext cx="304800" cy="2159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150" b="1" i="0" u="none" spc="0">
                <a:solidFill>
                  <a:srgbClr val="1A1A1C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发布</a:t>
            </a:r>
            <a:endParaRPr/>
          </a:p>
        </p:txBody>
      </p:sp>
      <p:sp>
        <p:nvSpPr>
          <p:cNvPr id="58" name="文字 58"/>
          <p:cNvSpPr txBox="1"/>
          <p:nvPr/>
        </p:nvSpPr>
        <p:spPr>
          <a:xfrm>
            <a:off x="5026224" y="3162697"/>
            <a:ext cx="448370" cy="1143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700" b="0" i="0" u="none" spc="70">
                <a:solidFill>
                  <a:srgbClr val="9A9AA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PUBLISH</a:t>
            </a:r>
            <a:endParaRPr/>
          </a:p>
        </p:txBody>
      </p:sp>
      <p:sp>
        <p:nvSpPr>
          <p:cNvPr id="59" name="文字 59"/>
          <p:cNvSpPr txBox="1"/>
          <p:nvPr/>
        </p:nvSpPr>
        <p:spPr>
          <a:xfrm>
            <a:off x="4683324" y="3312517"/>
            <a:ext cx="1246783" cy="1905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0" u="none" spc="0">
                <a:solidFill>
                  <a:srgbClr val="1A1A1C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上传 zip → 创建 Skill</a:t>
            </a:r>
            <a:endParaRPr/>
          </a:p>
        </p:txBody>
      </p:sp>
      <p:sp>
        <p:nvSpPr>
          <p:cNvPr id="60" name="文字 60"/>
          <p:cNvSpPr txBox="1"/>
          <p:nvPr/>
        </p:nvSpPr>
        <p:spPr>
          <a:xfrm>
            <a:off x="4683324" y="3502819"/>
            <a:ext cx="2105720" cy="1905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0" u="none" spc="0">
                <a:solidFill>
                  <a:srgbClr val="58586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根目录仅 1 个 SKILL.md、≤5MB；</a:t>
            </a:r>
            <a:endParaRPr/>
          </a:p>
        </p:txBody>
      </p:sp>
      <p:sp>
        <p:nvSpPr>
          <p:cNvPr id="61" name="文字 61"/>
          <p:cNvSpPr txBox="1"/>
          <p:nvPr/>
        </p:nvSpPr>
        <p:spPr>
          <a:xfrm>
            <a:off x="4683324" y="3686770"/>
            <a:ext cx="1237159" cy="1905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0" u="none" spc="0">
                <a:solidFill>
                  <a:srgbClr val="58586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owner/name 不可改</a:t>
            </a:r>
            <a:endParaRPr/>
          </a:p>
        </p:txBody>
      </p:sp>
      <p:sp>
        <p:nvSpPr>
          <p:cNvPr id="62" name="形状 62"/>
          <p:cNvSpPr/>
          <p:nvPr/>
        </p:nvSpPr>
        <p:spPr>
          <a:xfrm>
            <a:off x="4391224" y="3900686"/>
            <a:ext cx="215900" cy="215900"/>
          </a:xfrm>
          <a:prstGeom prst="ellipse">
            <a:avLst/>
          </a:prstGeom>
          <a:solidFill>
            <a:srgbClr val="FDF0F1">
              <a:alpha val="100000"/>
            </a:srgbClr>
          </a:solidFill>
          <a:ln w="6350">
            <a:solidFill>
              <a:srgbClr val="EFC9CC">
                <a:alpha val="100000"/>
              </a:srgbClr>
            </a:solidFill>
            <a:prstDash val="solid"/>
          </a:ln>
        </p:spPr>
      </p:sp>
      <p:sp>
        <p:nvSpPr>
          <p:cNvPr id="63" name="文字 63"/>
          <p:cNvSpPr txBox="1"/>
          <p:nvPr/>
        </p:nvSpPr>
        <p:spPr>
          <a:xfrm>
            <a:off x="4438154" y="3941961"/>
            <a:ext cx="134640" cy="1333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800" b="1" i="0" u="none" spc="0">
                <a:solidFill>
                  <a:srgbClr val="B5333B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03</a:t>
            </a:r>
            <a:endParaRPr/>
          </a:p>
        </p:txBody>
      </p:sp>
      <p:sp>
        <p:nvSpPr>
          <p:cNvPr id="64" name="文字 64"/>
          <p:cNvSpPr txBox="1"/>
          <p:nvPr/>
        </p:nvSpPr>
        <p:spPr>
          <a:xfrm>
            <a:off x="4683324" y="3900686"/>
            <a:ext cx="304800" cy="2159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150" b="1" i="0" u="none" spc="0">
                <a:solidFill>
                  <a:srgbClr val="1A1A1C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消费</a:t>
            </a:r>
            <a:endParaRPr/>
          </a:p>
        </p:txBody>
      </p:sp>
      <p:sp>
        <p:nvSpPr>
          <p:cNvPr id="65" name="文字 65"/>
          <p:cNvSpPr txBox="1"/>
          <p:nvPr/>
        </p:nvSpPr>
        <p:spPr>
          <a:xfrm>
            <a:off x="5026224" y="3957836"/>
            <a:ext cx="448370" cy="1143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700" b="0" i="0" u="none" spc="70">
                <a:solidFill>
                  <a:srgbClr val="9A9AA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CONSUME</a:t>
            </a:r>
            <a:endParaRPr/>
          </a:p>
        </p:txBody>
      </p:sp>
      <p:sp>
        <p:nvSpPr>
          <p:cNvPr id="66" name="文字 66"/>
          <p:cNvSpPr txBox="1"/>
          <p:nvPr/>
        </p:nvSpPr>
        <p:spPr>
          <a:xfrm>
            <a:off x="4683324" y="4107656"/>
            <a:ext cx="1831479" cy="1905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0" u="none" spc="0">
                <a:solidFill>
                  <a:srgbClr val="1A1A1C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npx / curl / CLI / SDK 四种方式</a:t>
            </a:r>
            <a:endParaRPr/>
          </a:p>
        </p:txBody>
      </p:sp>
      <p:sp>
        <p:nvSpPr>
          <p:cNvPr id="67" name="文字 67"/>
          <p:cNvSpPr txBox="1"/>
          <p:nvPr/>
        </p:nvSpPr>
        <p:spPr>
          <a:xfrm>
            <a:off x="4683324" y="4297958"/>
            <a:ext cx="2361605" cy="1905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0" u="none" spc="0">
                <a:solidFill>
                  <a:srgbClr val="58586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装到 ~/.agents/skills；Cursor、Claude</a:t>
            </a:r>
            <a:endParaRPr/>
          </a:p>
        </p:txBody>
      </p:sp>
      <p:sp>
        <p:nvSpPr>
          <p:cNvPr id="68" name="文字 68"/>
          <p:cNvSpPr txBox="1"/>
          <p:nvPr/>
        </p:nvSpPr>
        <p:spPr>
          <a:xfrm>
            <a:off x="4683324" y="4481910"/>
            <a:ext cx="1285577" cy="1905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0" u="none" spc="0">
                <a:solidFill>
                  <a:srgbClr val="58586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Code、Codex 可发现</a:t>
            </a:r>
            <a:endParaRPr/>
          </a:p>
        </p:txBody>
      </p:sp>
      <p:sp>
        <p:nvSpPr>
          <p:cNvPr id="69" name="形状 69"/>
          <p:cNvSpPr/>
          <p:nvPr/>
        </p:nvSpPr>
        <p:spPr>
          <a:xfrm>
            <a:off x="4391224" y="4695825"/>
            <a:ext cx="215900" cy="215900"/>
          </a:xfrm>
          <a:prstGeom prst="ellipse">
            <a:avLst/>
          </a:prstGeom>
          <a:solidFill>
            <a:srgbClr val="FDF0F1">
              <a:alpha val="100000"/>
            </a:srgbClr>
          </a:solidFill>
          <a:ln w="6350">
            <a:solidFill>
              <a:srgbClr val="EFC9CC">
                <a:alpha val="100000"/>
              </a:srgbClr>
            </a:solidFill>
            <a:prstDash val="solid"/>
          </a:ln>
        </p:spPr>
      </p:sp>
      <p:sp>
        <p:nvSpPr>
          <p:cNvPr id="70" name="文字 70"/>
          <p:cNvSpPr txBox="1"/>
          <p:nvPr/>
        </p:nvSpPr>
        <p:spPr>
          <a:xfrm>
            <a:off x="4438154" y="4737100"/>
            <a:ext cx="134640" cy="1333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800" b="1" i="0" u="none" spc="0">
                <a:solidFill>
                  <a:srgbClr val="B5333B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04</a:t>
            </a:r>
            <a:endParaRPr/>
          </a:p>
        </p:txBody>
      </p:sp>
      <p:sp>
        <p:nvSpPr>
          <p:cNvPr id="71" name="文字 71"/>
          <p:cNvSpPr txBox="1"/>
          <p:nvPr/>
        </p:nvSpPr>
        <p:spPr>
          <a:xfrm>
            <a:off x="4683324" y="4695825"/>
            <a:ext cx="450850" cy="2159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150" b="1" i="0" u="none" spc="0">
                <a:solidFill>
                  <a:srgbClr val="1A1A1C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试运行</a:t>
            </a:r>
            <a:endParaRPr/>
          </a:p>
        </p:txBody>
      </p:sp>
      <p:sp>
        <p:nvSpPr>
          <p:cNvPr id="72" name="文字 72"/>
          <p:cNvSpPr txBox="1"/>
          <p:nvPr/>
        </p:nvSpPr>
        <p:spPr>
          <a:xfrm>
            <a:off x="5172274" y="4752975"/>
            <a:ext cx="199430" cy="1143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700" b="0" i="0" u="none" spc="70">
                <a:solidFill>
                  <a:srgbClr val="9A9AA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TRY</a:t>
            </a:r>
            <a:endParaRPr/>
          </a:p>
        </p:txBody>
      </p:sp>
      <p:sp>
        <p:nvSpPr>
          <p:cNvPr id="73" name="文字 73"/>
          <p:cNvSpPr txBox="1"/>
          <p:nvPr/>
        </p:nvSpPr>
        <p:spPr>
          <a:xfrm>
            <a:off x="4683324" y="4902795"/>
            <a:ext cx="2565301" cy="1905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0" u="none" spc="0">
                <a:solidFill>
                  <a:srgbClr val="1A1A1C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详情页「前往实验场试用」→ Agent 实验场</a:t>
            </a:r>
            <a:endParaRPr/>
          </a:p>
        </p:txBody>
      </p:sp>
      <p:sp>
        <p:nvSpPr>
          <p:cNvPr id="74" name="文字 74"/>
          <p:cNvSpPr txBox="1"/>
          <p:nvPr/>
        </p:nvSpPr>
        <p:spPr>
          <a:xfrm>
            <a:off x="4683324" y="5093097"/>
            <a:ext cx="2482453" cy="1905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0" u="none" spc="0">
                <a:solidFill>
                  <a:srgbClr val="58586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需登录；MCP 有实验场，Skill 侧没有沙箱</a:t>
            </a:r>
            <a:endParaRPr/>
          </a:p>
        </p:txBody>
      </p:sp>
      <p:sp>
        <p:nvSpPr>
          <p:cNvPr id="75" name="文字 75"/>
          <p:cNvSpPr txBox="1"/>
          <p:nvPr/>
        </p:nvSpPr>
        <p:spPr>
          <a:xfrm>
            <a:off x="7606110" y="1872456"/>
            <a:ext cx="2361704" cy="1397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850" b="0" i="0" u="none" spc="119">
                <a:solidFill>
                  <a:srgbClr val="B5333B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03 · 生态画像 / 规模 · 供给 · 消费</a:t>
            </a:r>
            <a:endParaRPr/>
          </a:p>
        </p:txBody>
      </p:sp>
      <p:sp>
        <p:nvSpPr>
          <p:cNvPr id="76" name="文字 76"/>
          <p:cNvSpPr txBox="1"/>
          <p:nvPr/>
        </p:nvSpPr>
        <p:spPr>
          <a:xfrm>
            <a:off x="7606110" y="2062956"/>
            <a:ext cx="2679700" cy="1905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0" u="none" spc="0">
                <a:solidFill>
                  <a:srgbClr val="58586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开发者工具供给最厚，官方与垂直供给最薄。</a:t>
            </a:r>
            <a:endParaRPr/>
          </a:p>
        </p:txBody>
      </p:sp>
      <p:sp>
        <p:nvSpPr>
          <p:cNvPr id="77" name="文字 77"/>
          <p:cNvSpPr txBox="1"/>
          <p:nvPr/>
        </p:nvSpPr>
        <p:spPr>
          <a:xfrm>
            <a:off x="7606110" y="2304058"/>
            <a:ext cx="812800" cy="1905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50" b="1" i="0" u="none" spc="0">
                <a:solidFill>
                  <a:srgbClr val="1A1A1C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一级分类供给</a:t>
            </a:r>
            <a:endParaRPr/>
          </a:p>
        </p:txBody>
      </p:sp>
      <p:sp>
        <p:nvSpPr>
          <p:cNvPr id="78" name="文字 78"/>
          <p:cNvSpPr txBox="1"/>
          <p:nvPr/>
        </p:nvSpPr>
        <p:spPr>
          <a:xfrm>
            <a:off x="10656491" y="2342158"/>
            <a:ext cx="1040210" cy="1333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750" b="0" i="0" u="none" spc="0">
                <a:solidFill>
                  <a:srgbClr val="9A9AA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共 10 类 · Top3 占 66%</a:t>
            </a:r>
            <a:endParaRPr/>
          </a:p>
        </p:txBody>
      </p:sp>
      <p:sp>
        <p:nvSpPr>
          <p:cNvPr id="79" name="文字 79"/>
          <p:cNvSpPr txBox="1"/>
          <p:nvPr/>
        </p:nvSpPr>
        <p:spPr>
          <a:xfrm>
            <a:off x="7606110" y="2539008"/>
            <a:ext cx="495300" cy="1714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950" b="0" i="0" u="none" spc="0">
                <a:solidFill>
                  <a:srgbClr val="1A1A1C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开发工具</a:t>
            </a:r>
            <a:endParaRPr/>
          </a:p>
        </p:txBody>
      </p:sp>
      <p:sp>
        <p:nvSpPr>
          <p:cNvPr id="80" name="形状 80"/>
          <p:cNvSpPr/>
          <p:nvPr/>
        </p:nvSpPr>
        <p:spPr>
          <a:xfrm>
            <a:off x="8330010" y="2564408"/>
            <a:ext cx="2896790" cy="82550"/>
          </a:xfrm>
          <a:prstGeom prst="roundRect">
            <a:avLst>
              <a:gd name="adj" fmla="val 23077"/>
            </a:avLst>
          </a:prstGeom>
          <a:solidFill>
            <a:srgbClr val="F0F0F2">
              <a:alpha val="100000"/>
            </a:srgbClr>
          </a:solidFill>
          <a:ln>
            <a:noFill/>
          </a:ln>
        </p:spPr>
      </p:sp>
      <p:sp>
        <p:nvSpPr>
          <p:cNvPr id="81" name="形状 81"/>
          <p:cNvSpPr/>
          <p:nvPr/>
        </p:nvSpPr>
        <p:spPr>
          <a:xfrm>
            <a:off x="8330010" y="2564408"/>
            <a:ext cx="2896790" cy="82550"/>
          </a:xfrm>
          <a:prstGeom prst="rect">
            <a:avLst/>
          </a:prstGeom>
          <a:solidFill>
            <a:srgbClr val="B5333B">
              <a:alpha val="100000"/>
            </a:srgbClr>
          </a:solidFill>
          <a:ln>
            <a:noFill/>
          </a:ln>
        </p:spPr>
      </p:sp>
      <p:sp>
        <p:nvSpPr>
          <p:cNvPr id="82" name="文字 82"/>
          <p:cNvSpPr txBox="1"/>
          <p:nvPr/>
        </p:nvSpPr>
        <p:spPr>
          <a:xfrm>
            <a:off x="11290300" y="2532658"/>
            <a:ext cx="424259" cy="1460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 u="none" spc="0">
                <a:solidFill>
                  <a:srgbClr val="1A1A1C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27,928</a:t>
            </a:r>
            <a:endParaRPr/>
          </a:p>
        </p:txBody>
      </p:sp>
      <p:sp>
        <p:nvSpPr>
          <p:cNvPr id="83" name="文字 83"/>
          <p:cNvSpPr txBox="1"/>
          <p:nvPr/>
        </p:nvSpPr>
        <p:spPr>
          <a:xfrm>
            <a:off x="7606110" y="2754908"/>
            <a:ext cx="495300" cy="1714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950" b="0" i="0" u="none" spc="0">
                <a:solidFill>
                  <a:srgbClr val="1A1A1C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代码质检</a:t>
            </a:r>
            <a:endParaRPr/>
          </a:p>
        </p:txBody>
      </p:sp>
      <p:sp>
        <p:nvSpPr>
          <p:cNvPr id="84" name="形状 84"/>
          <p:cNvSpPr/>
          <p:nvPr/>
        </p:nvSpPr>
        <p:spPr>
          <a:xfrm>
            <a:off x="8330010" y="2780308"/>
            <a:ext cx="2896790" cy="82550"/>
          </a:xfrm>
          <a:prstGeom prst="roundRect">
            <a:avLst>
              <a:gd name="adj" fmla="val 23077"/>
            </a:avLst>
          </a:prstGeom>
          <a:solidFill>
            <a:srgbClr val="F0F0F2">
              <a:alpha val="100000"/>
            </a:srgbClr>
          </a:solidFill>
          <a:ln>
            <a:noFill/>
          </a:ln>
        </p:spPr>
      </p:sp>
      <p:sp>
        <p:nvSpPr>
          <p:cNvPr id="85" name="形状 85"/>
          <p:cNvSpPr/>
          <p:nvPr/>
        </p:nvSpPr>
        <p:spPr>
          <a:xfrm>
            <a:off x="8330010" y="2780308"/>
            <a:ext cx="1748135" cy="82550"/>
          </a:xfrm>
          <a:prstGeom prst="rect">
            <a:avLst/>
          </a:prstGeom>
          <a:solidFill>
            <a:srgbClr val="566472">
              <a:alpha val="100000"/>
            </a:srgbClr>
          </a:solidFill>
          <a:ln>
            <a:noFill/>
          </a:ln>
        </p:spPr>
      </p:sp>
      <p:sp>
        <p:nvSpPr>
          <p:cNvPr id="86" name="文字 86"/>
          <p:cNvSpPr txBox="1"/>
          <p:nvPr/>
        </p:nvSpPr>
        <p:spPr>
          <a:xfrm>
            <a:off x="11290300" y="2748558"/>
            <a:ext cx="424259" cy="1460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 u="none" spc="0">
                <a:solidFill>
                  <a:srgbClr val="1A1A1C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16,854</a:t>
            </a:r>
            <a:endParaRPr/>
          </a:p>
        </p:txBody>
      </p:sp>
      <p:sp>
        <p:nvSpPr>
          <p:cNvPr id="87" name="文字 87"/>
          <p:cNvSpPr txBox="1"/>
          <p:nvPr/>
        </p:nvSpPr>
        <p:spPr>
          <a:xfrm>
            <a:off x="7606110" y="2970808"/>
            <a:ext cx="495300" cy="1714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950" b="0" i="0" u="none" spc="0">
                <a:solidFill>
                  <a:srgbClr val="1A1A1C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媒体处理</a:t>
            </a:r>
            <a:endParaRPr/>
          </a:p>
        </p:txBody>
      </p:sp>
      <p:sp>
        <p:nvSpPr>
          <p:cNvPr id="88" name="形状 88"/>
          <p:cNvSpPr/>
          <p:nvPr/>
        </p:nvSpPr>
        <p:spPr>
          <a:xfrm>
            <a:off x="8330010" y="2996208"/>
            <a:ext cx="2896790" cy="82550"/>
          </a:xfrm>
          <a:prstGeom prst="roundRect">
            <a:avLst>
              <a:gd name="adj" fmla="val 23077"/>
            </a:avLst>
          </a:prstGeom>
          <a:solidFill>
            <a:srgbClr val="F0F0F2">
              <a:alpha val="100000"/>
            </a:srgbClr>
          </a:solidFill>
          <a:ln>
            <a:noFill/>
          </a:ln>
        </p:spPr>
      </p:sp>
      <p:sp>
        <p:nvSpPr>
          <p:cNvPr id="89" name="形状 89"/>
          <p:cNvSpPr/>
          <p:nvPr/>
        </p:nvSpPr>
        <p:spPr>
          <a:xfrm>
            <a:off x="8330010" y="2996208"/>
            <a:ext cx="1096069" cy="82550"/>
          </a:xfrm>
          <a:prstGeom prst="rect">
            <a:avLst/>
          </a:prstGeom>
          <a:solidFill>
            <a:srgbClr val="566472">
              <a:alpha val="100000"/>
            </a:srgbClr>
          </a:solidFill>
          <a:ln>
            <a:noFill/>
          </a:ln>
        </p:spPr>
      </p:sp>
      <p:sp>
        <p:nvSpPr>
          <p:cNvPr id="90" name="文字 90"/>
          <p:cNvSpPr txBox="1"/>
          <p:nvPr/>
        </p:nvSpPr>
        <p:spPr>
          <a:xfrm>
            <a:off x="11290300" y="2964458"/>
            <a:ext cx="424259" cy="1460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 u="none" spc="0">
                <a:solidFill>
                  <a:srgbClr val="1A1A1C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10,569</a:t>
            </a:r>
            <a:endParaRPr/>
          </a:p>
        </p:txBody>
      </p:sp>
      <p:sp>
        <p:nvSpPr>
          <p:cNvPr id="91" name="文字 91"/>
          <p:cNvSpPr txBox="1"/>
          <p:nvPr/>
        </p:nvSpPr>
        <p:spPr>
          <a:xfrm>
            <a:off x="7606110" y="3186708"/>
            <a:ext cx="495300" cy="1714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950" b="0" i="0" u="none" spc="0">
                <a:solidFill>
                  <a:srgbClr val="1A1A1C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前端开发</a:t>
            </a:r>
            <a:endParaRPr/>
          </a:p>
        </p:txBody>
      </p:sp>
      <p:sp>
        <p:nvSpPr>
          <p:cNvPr id="92" name="形状 92"/>
          <p:cNvSpPr/>
          <p:nvPr/>
        </p:nvSpPr>
        <p:spPr>
          <a:xfrm>
            <a:off x="8330010" y="3212108"/>
            <a:ext cx="2896790" cy="82550"/>
          </a:xfrm>
          <a:prstGeom prst="roundRect">
            <a:avLst>
              <a:gd name="adj" fmla="val 23077"/>
            </a:avLst>
          </a:prstGeom>
          <a:solidFill>
            <a:srgbClr val="F0F0F2">
              <a:alpha val="100000"/>
            </a:srgbClr>
          </a:solidFill>
          <a:ln>
            <a:noFill/>
          </a:ln>
        </p:spPr>
      </p:sp>
      <p:sp>
        <p:nvSpPr>
          <p:cNvPr id="93" name="形状 93"/>
          <p:cNvSpPr/>
          <p:nvPr/>
        </p:nvSpPr>
        <p:spPr>
          <a:xfrm>
            <a:off x="8330010" y="3212108"/>
            <a:ext cx="693439" cy="82550"/>
          </a:xfrm>
          <a:prstGeom prst="rect">
            <a:avLst/>
          </a:prstGeom>
          <a:solidFill>
            <a:srgbClr val="566472">
              <a:alpha val="100000"/>
            </a:srgbClr>
          </a:solidFill>
          <a:ln>
            <a:noFill/>
          </a:ln>
        </p:spPr>
      </p:sp>
      <p:sp>
        <p:nvSpPr>
          <p:cNvPr id="94" name="文字 94"/>
          <p:cNvSpPr txBox="1"/>
          <p:nvPr/>
        </p:nvSpPr>
        <p:spPr>
          <a:xfrm>
            <a:off x="11341100" y="3180358"/>
            <a:ext cx="355600" cy="1460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 u="none" spc="0">
                <a:solidFill>
                  <a:srgbClr val="1A1A1C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6,686</a:t>
            </a:r>
            <a:endParaRPr/>
          </a:p>
        </p:txBody>
      </p:sp>
      <p:sp>
        <p:nvSpPr>
          <p:cNvPr id="95" name="文字 95"/>
          <p:cNvSpPr txBox="1"/>
          <p:nvPr/>
        </p:nvSpPr>
        <p:spPr>
          <a:xfrm>
            <a:off x="7606110" y="3402608"/>
            <a:ext cx="495300" cy="1714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950" b="0" i="0" u="none" spc="0">
                <a:solidFill>
                  <a:srgbClr val="1A1A1C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云效工具</a:t>
            </a:r>
            <a:endParaRPr/>
          </a:p>
        </p:txBody>
      </p:sp>
      <p:sp>
        <p:nvSpPr>
          <p:cNvPr id="96" name="形状 96"/>
          <p:cNvSpPr/>
          <p:nvPr/>
        </p:nvSpPr>
        <p:spPr>
          <a:xfrm>
            <a:off x="8330010" y="3428008"/>
            <a:ext cx="2896790" cy="82550"/>
          </a:xfrm>
          <a:prstGeom prst="roundRect">
            <a:avLst>
              <a:gd name="adj" fmla="val 23077"/>
            </a:avLst>
          </a:prstGeom>
          <a:solidFill>
            <a:srgbClr val="F0F0F2">
              <a:alpha val="100000"/>
            </a:srgbClr>
          </a:solidFill>
          <a:ln>
            <a:noFill/>
          </a:ln>
        </p:spPr>
      </p:sp>
      <p:sp>
        <p:nvSpPr>
          <p:cNvPr id="97" name="形状 97"/>
          <p:cNvSpPr/>
          <p:nvPr/>
        </p:nvSpPr>
        <p:spPr>
          <a:xfrm>
            <a:off x="8330010" y="3428008"/>
            <a:ext cx="574972" cy="82550"/>
          </a:xfrm>
          <a:prstGeom prst="rect">
            <a:avLst/>
          </a:prstGeom>
          <a:solidFill>
            <a:srgbClr val="566472">
              <a:alpha val="100000"/>
            </a:srgbClr>
          </a:solidFill>
          <a:ln>
            <a:noFill/>
          </a:ln>
        </p:spPr>
      </p:sp>
      <p:sp>
        <p:nvSpPr>
          <p:cNvPr id="98" name="文字 98"/>
          <p:cNvSpPr txBox="1"/>
          <p:nvPr/>
        </p:nvSpPr>
        <p:spPr>
          <a:xfrm>
            <a:off x="11341100" y="3396258"/>
            <a:ext cx="355600" cy="1460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 u="none" spc="0">
                <a:solidFill>
                  <a:srgbClr val="1A1A1C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5,544</a:t>
            </a:r>
            <a:endParaRPr/>
          </a:p>
        </p:txBody>
      </p:sp>
      <p:sp>
        <p:nvSpPr>
          <p:cNvPr id="99" name="文字 99"/>
          <p:cNvSpPr txBox="1"/>
          <p:nvPr/>
        </p:nvSpPr>
        <p:spPr>
          <a:xfrm>
            <a:off x="7606110" y="3618508"/>
            <a:ext cx="495300" cy="1714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950" b="0" i="0" u="none" spc="0">
                <a:solidFill>
                  <a:srgbClr val="1A1A1C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市场推广</a:t>
            </a:r>
            <a:endParaRPr/>
          </a:p>
        </p:txBody>
      </p:sp>
      <p:sp>
        <p:nvSpPr>
          <p:cNvPr id="100" name="形状 100"/>
          <p:cNvSpPr/>
          <p:nvPr/>
        </p:nvSpPr>
        <p:spPr>
          <a:xfrm>
            <a:off x="8330010" y="3643908"/>
            <a:ext cx="2896790" cy="82550"/>
          </a:xfrm>
          <a:prstGeom prst="roundRect">
            <a:avLst>
              <a:gd name="adj" fmla="val 23077"/>
            </a:avLst>
          </a:prstGeom>
          <a:solidFill>
            <a:srgbClr val="F0F0F2">
              <a:alpha val="100000"/>
            </a:srgbClr>
          </a:solidFill>
          <a:ln>
            <a:noFill/>
          </a:ln>
        </p:spPr>
      </p:sp>
      <p:sp>
        <p:nvSpPr>
          <p:cNvPr id="101" name="形状 101"/>
          <p:cNvSpPr/>
          <p:nvPr/>
        </p:nvSpPr>
        <p:spPr>
          <a:xfrm>
            <a:off x="8330010" y="3643908"/>
            <a:ext cx="561082" cy="82550"/>
          </a:xfrm>
          <a:prstGeom prst="rect">
            <a:avLst/>
          </a:prstGeom>
          <a:solidFill>
            <a:srgbClr val="566472">
              <a:alpha val="100000"/>
            </a:srgbClr>
          </a:solidFill>
          <a:ln>
            <a:noFill/>
          </a:ln>
        </p:spPr>
      </p:sp>
      <p:sp>
        <p:nvSpPr>
          <p:cNvPr id="102" name="文字 102"/>
          <p:cNvSpPr txBox="1"/>
          <p:nvPr/>
        </p:nvSpPr>
        <p:spPr>
          <a:xfrm>
            <a:off x="11341100" y="3612158"/>
            <a:ext cx="355600" cy="1460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 u="none" spc="0">
                <a:solidFill>
                  <a:srgbClr val="1A1A1C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5,409</a:t>
            </a:r>
            <a:endParaRPr/>
          </a:p>
        </p:txBody>
      </p:sp>
      <p:sp>
        <p:nvSpPr>
          <p:cNvPr id="103" name="文字 103"/>
          <p:cNvSpPr txBox="1"/>
          <p:nvPr/>
        </p:nvSpPr>
        <p:spPr>
          <a:xfrm>
            <a:off x="7606110" y="3834408"/>
            <a:ext cx="495598" cy="1714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950" b="0" i="0" u="none" spc="0">
                <a:solidFill>
                  <a:srgbClr val="1A1A1C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其他 5 类</a:t>
            </a:r>
            <a:endParaRPr/>
          </a:p>
        </p:txBody>
      </p:sp>
      <p:sp>
        <p:nvSpPr>
          <p:cNvPr id="104" name="形状 104"/>
          <p:cNvSpPr/>
          <p:nvPr/>
        </p:nvSpPr>
        <p:spPr>
          <a:xfrm>
            <a:off x="8330010" y="3859808"/>
            <a:ext cx="2896790" cy="82550"/>
          </a:xfrm>
          <a:prstGeom prst="roundRect">
            <a:avLst>
              <a:gd name="adj" fmla="val 23077"/>
            </a:avLst>
          </a:prstGeom>
          <a:solidFill>
            <a:srgbClr val="F0F0F2">
              <a:alpha val="100000"/>
            </a:srgbClr>
          </a:solidFill>
          <a:ln>
            <a:noFill/>
          </a:ln>
        </p:spPr>
      </p:sp>
      <p:sp>
        <p:nvSpPr>
          <p:cNvPr id="105" name="形状 105"/>
          <p:cNvSpPr/>
          <p:nvPr/>
        </p:nvSpPr>
        <p:spPr>
          <a:xfrm>
            <a:off x="8330010" y="3859808"/>
            <a:ext cx="1090910" cy="82550"/>
          </a:xfrm>
          <a:prstGeom prst="rect">
            <a:avLst/>
          </a:prstGeom>
          <a:solidFill>
            <a:srgbClr val="B9BEC5">
              <a:alpha val="100000"/>
            </a:srgbClr>
          </a:solidFill>
          <a:ln>
            <a:noFill/>
          </a:ln>
        </p:spPr>
      </p:sp>
      <p:sp>
        <p:nvSpPr>
          <p:cNvPr id="106" name="文字 106"/>
          <p:cNvSpPr txBox="1"/>
          <p:nvPr/>
        </p:nvSpPr>
        <p:spPr>
          <a:xfrm>
            <a:off x="11290300" y="3828058"/>
            <a:ext cx="424259" cy="1460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 u="none" spc="0">
                <a:solidFill>
                  <a:srgbClr val="1A1A1C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10,519</a:t>
            </a:r>
            <a:endParaRPr/>
          </a:p>
        </p:txBody>
      </p:sp>
      <p:sp>
        <p:nvSpPr>
          <p:cNvPr id="107" name="文字 107"/>
          <p:cNvSpPr txBox="1"/>
          <p:nvPr/>
        </p:nvSpPr>
        <p:spPr>
          <a:xfrm>
            <a:off x="7606110" y="4088408"/>
            <a:ext cx="812800" cy="1905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50" b="1" i="0" u="none" spc="0">
                <a:solidFill>
                  <a:srgbClr val="1A1A1C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三类供给角色</a:t>
            </a:r>
            <a:endParaRPr/>
          </a:p>
        </p:txBody>
      </p:sp>
      <p:sp>
        <p:nvSpPr>
          <p:cNvPr id="108" name="文字 108"/>
          <p:cNvSpPr txBox="1"/>
          <p:nvPr/>
        </p:nvSpPr>
        <p:spPr>
          <a:xfrm>
            <a:off x="11303000" y="4126508"/>
            <a:ext cx="393700" cy="1333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750" b="0" i="0" u="none" spc="0">
                <a:solidFill>
                  <a:srgbClr val="9A9AA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账号口径</a:t>
            </a:r>
            <a:endParaRPr/>
          </a:p>
        </p:txBody>
      </p:sp>
      <p:graphicFrame>
        <p:nvGraphicFramePr>
          <p:cNvPr id="109" name="表格 109"/>
          <p:cNvGraphicFramePr/>
          <p:nvPr/>
        </p:nvGraphicFramePr>
        <p:xfrm>
          <a:off x="7606110" y="4297958"/>
          <a:ext cx="4077891" cy="892175"/>
        </p:xfrm>
        <a:graphic>
          <a:graphicData uri="http://schemas.openxmlformats.org/drawingml/2006/table">
            <a:tbl>
              <a:tblPr firstRow="0" bandRow="0"/>
              <a:tblGrid>
                <a:gridCol w="650379"/>
                <a:gridCol w="894259"/>
                <a:gridCol w="1382117"/>
                <a:gridCol w="1138436"/>
              </a:tblGrid>
              <a:tr h="238125">
                <a:tc>
                  <a:txBody>
                    <a:bodyPr wrap="none">
                      <a:noAutofit/>
                    </a:bodyPr>
                    <a:lstStyle/>
                    <a:p>
                      <a:pPr algn="ctr" marL="0" marR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900" b="1" i="0" u="none" spc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 xml:space="preserve">角色</a:t>
                      </a:r>
                      <a:endParaRPr/>
                    </a:p>
                  </a:txBody>
                  <a:tcPr marL="38100" marR="38100" marT="31750" marB="31750" anchor="ctr">
                    <a:lnL w="12700">
                      <a:solidFill>
                        <a:srgbClr val="1A1A1C">
                          <a:alpha val="100000"/>
                        </a:srgbClr>
                      </a:solidFill>
                      <a:prstDash val="solid"/>
                    </a:lnL>
                    <a:lnR w="6350">
                      <a:solidFill>
                        <a:srgbClr val="1A1A1C">
                          <a:alpha val="100000"/>
                        </a:srgbClr>
                      </a:solidFill>
                      <a:prstDash val="solid"/>
                    </a:lnR>
                    <a:lnT w="12700">
                      <a:solidFill>
                        <a:srgbClr val="1A1A1C">
                          <a:alpha val="100000"/>
                        </a:srgbClr>
                      </a:solidFill>
                      <a:prstDash val="solid"/>
                    </a:lnT>
                    <a:lnB w="6350">
                      <a:solidFill>
                        <a:srgbClr val="1A1A1C">
                          <a:alpha val="100000"/>
                        </a:srgbClr>
                      </a:solidFill>
                      <a:prstDash val="solid"/>
                    </a:lnB>
                    <a:solidFill>
                      <a:srgbClr val="B5333B">
                        <a:alpha val="100000"/>
                      </a:srgbClr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algn="ctr" marL="0" marR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900" b="1" i="0" u="none" spc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 xml:space="preserve">规模</a:t>
                      </a:r>
                      <a:endParaRPr/>
                    </a:p>
                  </a:txBody>
                  <a:tcPr marL="38100" marR="38100" marT="31750" marB="31750" anchor="ctr">
                    <a:lnL w="6350">
                      <a:solidFill>
                        <a:srgbClr val="1A1A1C">
                          <a:alpha val="100000"/>
                        </a:srgbClr>
                      </a:solidFill>
                      <a:prstDash val="solid"/>
                    </a:lnL>
                    <a:lnR w="6350">
                      <a:solidFill>
                        <a:srgbClr val="1A1A1C">
                          <a:alpha val="100000"/>
                        </a:srgbClr>
                      </a:solidFill>
                      <a:prstDash val="solid"/>
                    </a:lnR>
                    <a:lnT w="12700">
                      <a:solidFill>
                        <a:srgbClr val="1A1A1C">
                          <a:alpha val="100000"/>
                        </a:srgbClr>
                      </a:solidFill>
                      <a:prstDash val="solid"/>
                    </a:lnT>
                    <a:lnB w="6350">
                      <a:solidFill>
                        <a:srgbClr val="1A1A1C">
                          <a:alpha val="100000"/>
                        </a:srgbClr>
                      </a:solidFill>
                      <a:prstDash val="solid"/>
                    </a:lnB>
                    <a:solidFill>
                      <a:srgbClr val="B5333B">
                        <a:alpha val="100000"/>
                      </a:srgbClr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algn="ctr" marL="0" marR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900" b="1" i="0" u="none" spc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 xml:space="preserve">代表</a:t>
                      </a:r>
                      <a:endParaRPr/>
                    </a:p>
                  </a:txBody>
                  <a:tcPr marL="38100" marR="38100" marT="31750" marB="31750" anchor="ctr">
                    <a:lnL w="6350">
                      <a:solidFill>
                        <a:srgbClr val="1A1A1C">
                          <a:alpha val="100000"/>
                        </a:srgbClr>
                      </a:solidFill>
                      <a:prstDash val="solid"/>
                    </a:lnL>
                    <a:lnR w="6350">
                      <a:solidFill>
                        <a:srgbClr val="1A1A1C">
                          <a:alpha val="100000"/>
                        </a:srgbClr>
                      </a:solidFill>
                      <a:prstDash val="solid"/>
                    </a:lnR>
                    <a:lnT w="12700">
                      <a:solidFill>
                        <a:srgbClr val="1A1A1C">
                          <a:alpha val="100000"/>
                        </a:srgbClr>
                      </a:solidFill>
                      <a:prstDash val="solid"/>
                    </a:lnT>
                    <a:lnB w="6350">
                      <a:solidFill>
                        <a:srgbClr val="1A1A1C">
                          <a:alpha val="100000"/>
                        </a:srgbClr>
                      </a:solidFill>
                      <a:prstDash val="solid"/>
                    </a:lnB>
                    <a:solidFill>
                      <a:srgbClr val="B5333B">
                        <a:alpha val="100000"/>
                      </a:srgbClr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algn="ctr" marL="0" marR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900" b="1" i="0" u="none" spc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 xml:space="preserve">中位下载</a:t>
                      </a:r>
                      <a:endParaRPr/>
                    </a:p>
                  </a:txBody>
                  <a:tcPr marL="38100" marR="38100" marT="31750" marB="31750" anchor="ctr">
                    <a:lnL w="6350">
                      <a:solidFill>
                        <a:srgbClr val="1A1A1C">
                          <a:alpha val="100000"/>
                        </a:srgbClr>
                      </a:solidFill>
                      <a:prstDash val="solid"/>
                    </a:lnL>
                    <a:lnR w="12700">
                      <a:solidFill>
                        <a:srgbClr val="1A1A1C">
                          <a:alpha val="100000"/>
                        </a:srgbClr>
                      </a:solidFill>
                      <a:prstDash val="solid"/>
                    </a:lnR>
                    <a:lnT w="12700">
                      <a:solidFill>
                        <a:srgbClr val="1A1A1C">
                          <a:alpha val="100000"/>
                        </a:srgbClr>
                      </a:solidFill>
                      <a:prstDash val="solid"/>
                    </a:lnT>
                    <a:lnB w="6350">
                      <a:solidFill>
                        <a:srgbClr val="1A1A1C">
                          <a:alpha val="100000"/>
                        </a:srgbClr>
                      </a:solidFill>
                      <a:prstDash val="solid"/>
                    </a:lnB>
                    <a:solidFill>
                      <a:srgbClr val="B5333B">
                        <a:alpha val="100000"/>
                      </a:srgbClr>
                    </a:solidFill>
                  </a:tcPr>
                </a:tc>
              </a:tr>
              <a:tr h="212725">
                <a:tc>
                  <a:txBody>
                    <a:bodyPr wrap="none">
                      <a:noAutofit/>
                    </a:bodyPr>
                    <a:lstStyle/>
                    <a:p>
                      <a:pPr algn="l" marL="0" marR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900" b="1" i="0" u="none" spc="0">
                          <a:solidFill>
                            <a:srgbClr val="1A1A1C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 xml:space="preserve">平台官方</a:t>
                      </a:r>
                      <a:endParaRPr/>
                    </a:p>
                  </a:txBody>
                  <a:tcPr marL="38100" marR="38100" marT="31750" marB="31750" anchor="ctr">
                    <a:lnL w="12700">
                      <a:solidFill>
                        <a:srgbClr val="1A1A1C">
                          <a:alpha val="100000"/>
                        </a:srgbClr>
                      </a:solidFill>
                      <a:prstDash val="solid"/>
                    </a:lnL>
                    <a:lnR w="6350">
                      <a:solidFill>
                        <a:srgbClr val="1A1A1C">
                          <a:alpha val="100000"/>
                        </a:srgbClr>
                      </a:solidFill>
                      <a:prstDash val="solid"/>
                    </a:lnR>
                    <a:lnT w="6350">
                      <a:solidFill>
                        <a:srgbClr val="1A1A1C">
                          <a:alpha val="100000"/>
                        </a:srgbClr>
                      </a:solidFill>
                      <a:prstDash val="solid"/>
                    </a:lnT>
                    <a:lnB w="6350">
                      <a:solidFill>
                        <a:srgbClr val="1A1A1C">
                          <a:alpha val="100000"/>
                        </a:srgbClr>
                      </a:solidFill>
                      <a:prstDash val="solid"/>
                    </a:lnB>
                    <a:solidFill>
                      <a:srgbClr val="FAFAFA">
                        <a:alpha val="100000"/>
                      </a:srgbClr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algn="l" marL="0" marR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900" b="0" i="0" u="none" spc="0">
                          <a:solidFill>
                            <a:srgbClr val="1A1A1C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 xml:space="preserve">337 · 0.4%</a:t>
                      </a:r>
                      <a:endParaRPr/>
                    </a:p>
                  </a:txBody>
                  <a:tcPr marL="38100" marR="38100" marT="31750" marB="31750" anchor="ctr">
                    <a:lnL w="6350">
                      <a:solidFill>
                        <a:srgbClr val="1A1A1C">
                          <a:alpha val="100000"/>
                        </a:srgbClr>
                      </a:solidFill>
                      <a:prstDash val="solid"/>
                    </a:lnL>
                    <a:lnR w="6350">
                      <a:solidFill>
                        <a:srgbClr val="1A1A1C">
                          <a:alpha val="100000"/>
                        </a:srgbClr>
                      </a:solidFill>
                      <a:prstDash val="solid"/>
                    </a:lnR>
                    <a:lnT w="6350">
                      <a:solidFill>
                        <a:srgbClr val="1A1A1C">
                          <a:alpha val="100000"/>
                        </a:srgbClr>
                      </a:solidFill>
                      <a:prstDash val="solid"/>
                    </a:lnT>
                    <a:lnB w="6350">
                      <a:solidFill>
                        <a:srgbClr val="1A1A1C">
                          <a:alpha val="100000"/>
                        </a:srgbClr>
                      </a:solidFill>
                      <a:prstDash val="solid"/>
                    </a:lnB>
                    <a:solidFill>
                      <a:srgbClr val="FAFAFA">
                        <a:alpha val="100000"/>
                      </a:srgbClr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algn="l" marL="0" marR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900" b="0" i="0" u="none" spc="0">
                          <a:solidFill>
                            <a:srgbClr val="1A1A1C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 xml:space="preserve">ModelScope / 阿里云</a:t>
                      </a:r>
                      <a:endParaRPr/>
                    </a:p>
                  </a:txBody>
                  <a:tcPr marL="38100" marR="38100" marT="31750" marB="31750" anchor="ctr">
                    <a:lnL w="6350">
                      <a:solidFill>
                        <a:srgbClr val="1A1A1C">
                          <a:alpha val="100000"/>
                        </a:srgbClr>
                      </a:solidFill>
                      <a:prstDash val="solid"/>
                    </a:lnL>
                    <a:lnR w="6350">
                      <a:solidFill>
                        <a:srgbClr val="1A1A1C">
                          <a:alpha val="100000"/>
                        </a:srgbClr>
                      </a:solidFill>
                      <a:prstDash val="solid"/>
                    </a:lnR>
                    <a:lnT w="6350">
                      <a:solidFill>
                        <a:srgbClr val="1A1A1C">
                          <a:alpha val="100000"/>
                        </a:srgbClr>
                      </a:solidFill>
                      <a:prstDash val="solid"/>
                    </a:lnT>
                    <a:lnB w="6350">
                      <a:solidFill>
                        <a:srgbClr val="1A1A1C">
                          <a:alpha val="100000"/>
                        </a:srgbClr>
                      </a:solidFill>
                      <a:prstDash val="solid"/>
                    </a:lnB>
                    <a:solidFill>
                      <a:srgbClr val="FAFAFA">
                        <a:alpha val="100000"/>
                      </a:srgbClr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algn="l" marL="0" marR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900" b="0" i="0" u="none" spc="0">
                          <a:solidFill>
                            <a:srgbClr val="1A1A1C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 xml:space="preserve">374（2.5×）</a:t>
                      </a:r>
                      <a:endParaRPr/>
                    </a:p>
                  </a:txBody>
                  <a:tcPr marL="38100" marR="38100" marT="31750" marB="31750" anchor="ctr">
                    <a:lnL w="6350">
                      <a:solidFill>
                        <a:srgbClr val="1A1A1C">
                          <a:alpha val="100000"/>
                        </a:srgbClr>
                      </a:solidFill>
                      <a:prstDash val="solid"/>
                    </a:lnL>
                    <a:lnR w="12700">
                      <a:solidFill>
                        <a:srgbClr val="1A1A1C">
                          <a:alpha val="100000"/>
                        </a:srgbClr>
                      </a:solidFill>
                      <a:prstDash val="solid"/>
                    </a:lnR>
                    <a:lnT w="6350">
                      <a:solidFill>
                        <a:srgbClr val="1A1A1C">
                          <a:alpha val="100000"/>
                        </a:srgbClr>
                      </a:solidFill>
                      <a:prstDash val="solid"/>
                    </a:lnT>
                    <a:lnB w="6350">
                      <a:solidFill>
                        <a:srgbClr val="1A1A1C">
                          <a:alpha val="100000"/>
                        </a:srgbClr>
                      </a:solidFill>
                      <a:prstDash val="solid"/>
                    </a:lnB>
                    <a:solidFill>
                      <a:srgbClr val="FAFAFA">
                        <a:alpha val="100000"/>
                      </a:srgbClr>
                    </a:solidFill>
                  </a:tcPr>
                </a:tc>
              </a:tr>
              <a:tr h="212725">
                <a:tc>
                  <a:txBody>
                    <a:bodyPr wrap="none">
                      <a:noAutofit/>
                    </a:bodyPr>
                    <a:lstStyle/>
                    <a:p>
                      <a:pPr algn="l" marL="0" marR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900" b="1" i="0" u="none" spc="0">
                          <a:solidFill>
                            <a:srgbClr val="1A1A1C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 xml:space="preserve">品牌垂直</a:t>
                      </a:r>
                      <a:endParaRPr/>
                    </a:p>
                  </a:txBody>
                  <a:tcPr marL="38100" marR="38100" marT="31750" marB="31750" anchor="ctr">
                    <a:lnL w="12700">
                      <a:solidFill>
                        <a:srgbClr val="1A1A1C">
                          <a:alpha val="100000"/>
                        </a:srgbClr>
                      </a:solidFill>
                      <a:prstDash val="solid"/>
                    </a:lnL>
                    <a:lnR w="6350">
                      <a:solidFill>
                        <a:srgbClr val="1A1A1C">
                          <a:alpha val="100000"/>
                        </a:srgbClr>
                      </a:solidFill>
                      <a:prstDash val="solid"/>
                    </a:lnR>
                    <a:lnT w="6350">
                      <a:solidFill>
                        <a:srgbClr val="1A1A1C">
                          <a:alpha val="100000"/>
                        </a:srgbClr>
                      </a:solidFill>
                      <a:prstDash val="solid"/>
                    </a:lnT>
                    <a:lnB w="6350">
                      <a:solidFill>
                        <a:srgbClr val="1A1A1C">
                          <a:alpha val="100000"/>
                        </a:srgbClr>
                      </a:solidFill>
                      <a:prstDash val="solid"/>
                    </a:lnB>
                    <a:solidFill>
                      <a:srgbClr val="FAFAFA">
                        <a:alpha val="100000"/>
                      </a:srgbClr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algn="l" marL="0" marR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900" b="0" i="0" u="none" spc="0">
                          <a:solidFill>
                            <a:srgbClr val="1A1A1C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 xml:space="preserve">~550 · &lt;1%</a:t>
                      </a:r>
                      <a:endParaRPr/>
                    </a:p>
                  </a:txBody>
                  <a:tcPr marL="38100" marR="38100" marT="31750" marB="31750" anchor="ctr">
                    <a:lnL w="6350">
                      <a:solidFill>
                        <a:srgbClr val="1A1A1C">
                          <a:alpha val="100000"/>
                        </a:srgbClr>
                      </a:solidFill>
                      <a:prstDash val="solid"/>
                    </a:lnL>
                    <a:lnR w="6350">
                      <a:solidFill>
                        <a:srgbClr val="1A1A1C">
                          <a:alpha val="100000"/>
                        </a:srgbClr>
                      </a:solidFill>
                      <a:prstDash val="solid"/>
                    </a:lnR>
                    <a:lnT w="6350">
                      <a:solidFill>
                        <a:srgbClr val="1A1A1C">
                          <a:alpha val="100000"/>
                        </a:srgbClr>
                      </a:solidFill>
                      <a:prstDash val="solid"/>
                    </a:lnT>
                    <a:lnB w="6350">
                      <a:solidFill>
                        <a:srgbClr val="1A1A1C">
                          <a:alpha val="100000"/>
                        </a:srgbClr>
                      </a:solidFill>
                      <a:prstDash val="solid"/>
                    </a:lnB>
                    <a:solidFill>
                      <a:srgbClr val="FAFAFA">
                        <a:alpha val="100000"/>
                      </a:srgbClr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algn="l" marL="0" marR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900" b="0" i="0" u="none" spc="0">
                          <a:solidFill>
                            <a:srgbClr val="1A1A1C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 xml:space="preserve">Anthropic / 小包公 / 网盘</a:t>
                      </a:r>
                      <a:endParaRPr/>
                    </a:p>
                  </a:txBody>
                  <a:tcPr marL="38100" marR="38100" marT="31750" marB="31750" anchor="ctr">
                    <a:lnL w="6350">
                      <a:solidFill>
                        <a:srgbClr val="1A1A1C">
                          <a:alpha val="100000"/>
                        </a:srgbClr>
                      </a:solidFill>
                      <a:prstDash val="solid"/>
                    </a:lnL>
                    <a:lnR w="6350">
                      <a:solidFill>
                        <a:srgbClr val="1A1A1C">
                          <a:alpha val="100000"/>
                        </a:srgbClr>
                      </a:solidFill>
                      <a:prstDash val="solid"/>
                    </a:lnR>
                    <a:lnT w="6350">
                      <a:solidFill>
                        <a:srgbClr val="1A1A1C">
                          <a:alpha val="100000"/>
                        </a:srgbClr>
                      </a:solidFill>
                      <a:prstDash val="solid"/>
                    </a:lnT>
                    <a:lnB w="6350">
                      <a:solidFill>
                        <a:srgbClr val="1A1A1C">
                          <a:alpha val="100000"/>
                        </a:srgbClr>
                      </a:solidFill>
                      <a:prstDash val="solid"/>
                    </a:lnB>
                    <a:solidFill>
                      <a:srgbClr val="FAFAFA">
                        <a:alpha val="100000"/>
                      </a:srgbClr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algn="l" marL="0" marR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900" b="0" i="0" u="none" spc="0">
                          <a:solidFill>
                            <a:srgbClr val="1A1A1C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 xml:space="preserve">516（3.5×）</a:t>
                      </a:r>
                      <a:endParaRPr/>
                    </a:p>
                  </a:txBody>
                  <a:tcPr marL="38100" marR="38100" marT="31750" marB="31750" anchor="ctr">
                    <a:lnL w="6350">
                      <a:solidFill>
                        <a:srgbClr val="1A1A1C">
                          <a:alpha val="100000"/>
                        </a:srgbClr>
                      </a:solidFill>
                      <a:prstDash val="solid"/>
                    </a:lnL>
                    <a:lnR w="12700">
                      <a:solidFill>
                        <a:srgbClr val="1A1A1C">
                          <a:alpha val="100000"/>
                        </a:srgbClr>
                      </a:solidFill>
                      <a:prstDash val="solid"/>
                    </a:lnR>
                    <a:lnT w="6350">
                      <a:solidFill>
                        <a:srgbClr val="1A1A1C">
                          <a:alpha val="100000"/>
                        </a:srgbClr>
                      </a:solidFill>
                      <a:prstDash val="solid"/>
                    </a:lnT>
                    <a:lnB w="6350">
                      <a:solidFill>
                        <a:srgbClr val="1A1A1C">
                          <a:alpha val="100000"/>
                        </a:srgbClr>
                      </a:solidFill>
                      <a:prstDash val="solid"/>
                    </a:lnB>
                    <a:solidFill>
                      <a:srgbClr val="FAFAFA">
                        <a:alpha val="100000"/>
                      </a:srgbClr>
                    </a:solidFill>
                  </a:tcPr>
                </a:tc>
              </a:tr>
              <a:tr h="215900">
                <a:tc>
                  <a:txBody>
                    <a:bodyPr wrap="none">
                      <a:noAutofit/>
                    </a:bodyPr>
                    <a:lstStyle/>
                    <a:p>
                      <a:pPr algn="l" marL="0" marR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900" b="1" i="0" u="none" spc="0">
                          <a:solidFill>
                            <a:srgbClr val="1A1A1C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 xml:space="preserve">社区泛用</a:t>
                      </a:r>
                      <a:endParaRPr/>
                    </a:p>
                  </a:txBody>
                  <a:tcPr marL="38100" marR="38100" marT="31750" marB="31750" anchor="ctr">
                    <a:lnL w="12700">
                      <a:solidFill>
                        <a:srgbClr val="1A1A1C">
                          <a:alpha val="100000"/>
                        </a:srgbClr>
                      </a:solidFill>
                      <a:prstDash val="solid"/>
                    </a:lnL>
                    <a:lnR w="6350">
                      <a:solidFill>
                        <a:srgbClr val="1A1A1C">
                          <a:alpha val="100000"/>
                        </a:srgbClr>
                      </a:solidFill>
                      <a:prstDash val="solid"/>
                    </a:lnR>
                    <a:lnT w="6350">
                      <a:solidFill>
                        <a:srgbClr val="1A1A1C">
                          <a:alpha val="100000"/>
                        </a:srgbClr>
                      </a:solidFill>
                      <a:prstDash val="solid"/>
                    </a:lnT>
                    <a:lnB w="12700">
                      <a:solidFill>
                        <a:srgbClr val="1A1A1C">
                          <a:alpha val="100000"/>
                        </a:srgbClr>
                      </a:solidFill>
                      <a:prstDash val="solid"/>
                    </a:lnB>
                    <a:solidFill>
                      <a:srgbClr val="FAFAFA">
                        <a:alpha val="100000"/>
                      </a:srgbClr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algn="l" marL="0" marR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900" b="0" i="0" u="none" spc="0">
                          <a:solidFill>
                            <a:srgbClr val="1A1A1C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 xml:space="preserve">8.26 万</a:t>
                      </a:r>
                      <a:endParaRPr/>
                    </a:p>
                  </a:txBody>
                  <a:tcPr marL="38100" marR="38100" marT="31750" marB="31750" anchor="ctr">
                    <a:lnL w="6350">
                      <a:solidFill>
                        <a:srgbClr val="1A1A1C">
                          <a:alpha val="100000"/>
                        </a:srgbClr>
                      </a:solidFill>
                      <a:prstDash val="solid"/>
                    </a:lnL>
                    <a:lnR w="6350">
                      <a:solidFill>
                        <a:srgbClr val="1A1A1C">
                          <a:alpha val="100000"/>
                        </a:srgbClr>
                      </a:solidFill>
                      <a:prstDash val="solid"/>
                    </a:lnR>
                    <a:lnT w="6350">
                      <a:solidFill>
                        <a:srgbClr val="1A1A1C">
                          <a:alpha val="100000"/>
                        </a:srgbClr>
                      </a:solidFill>
                      <a:prstDash val="solid"/>
                    </a:lnT>
                    <a:lnB w="12700">
                      <a:solidFill>
                        <a:srgbClr val="1A1A1C">
                          <a:alpha val="100000"/>
                        </a:srgbClr>
                      </a:solidFill>
                      <a:prstDash val="solid"/>
                    </a:lnB>
                    <a:solidFill>
                      <a:srgbClr val="FAFAFA">
                        <a:alpha val="100000"/>
                      </a:srgbClr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algn="l" marL="0" marR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900" b="0" i="0" u="none" spc="0">
                          <a:solidFill>
                            <a:srgbClr val="1A1A1C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 xml:space="preserve">个人 / 开源 / 聚合镜像</a:t>
                      </a:r>
                      <a:endParaRPr/>
                    </a:p>
                  </a:txBody>
                  <a:tcPr marL="38100" marR="38100" marT="31750" marB="31750" anchor="ctr">
                    <a:lnL w="6350">
                      <a:solidFill>
                        <a:srgbClr val="1A1A1C">
                          <a:alpha val="100000"/>
                        </a:srgbClr>
                      </a:solidFill>
                      <a:prstDash val="solid"/>
                    </a:lnL>
                    <a:lnR w="6350">
                      <a:solidFill>
                        <a:srgbClr val="1A1A1C">
                          <a:alpha val="100000"/>
                        </a:srgbClr>
                      </a:solidFill>
                      <a:prstDash val="solid"/>
                    </a:lnR>
                    <a:lnT w="6350">
                      <a:solidFill>
                        <a:srgbClr val="1A1A1C">
                          <a:alpha val="100000"/>
                        </a:srgbClr>
                      </a:solidFill>
                      <a:prstDash val="solid"/>
                    </a:lnT>
                    <a:lnB w="12700">
                      <a:solidFill>
                        <a:srgbClr val="1A1A1C">
                          <a:alpha val="100000"/>
                        </a:srgbClr>
                      </a:solidFill>
                      <a:prstDash val="solid"/>
                    </a:lnB>
                    <a:solidFill>
                      <a:srgbClr val="FAFAFA">
                        <a:alpha val="100000"/>
                      </a:srgbClr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algn="l" marL="0" marR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900" b="0" i="0" u="none" spc="0">
                          <a:solidFill>
                            <a:srgbClr val="1A1A1C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 xml:space="preserve">148（镜像 145）</a:t>
                      </a:r>
                      <a:endParaRPr/>
                    </a:p>
                  </a:txBody>
                  <a:tcPr marL="38100" marR="38100" marT="31750" marB="31750" anchor="ctr">
                    <a:lnL w="6350">
                      <a:solidFill>
                        <a:srgbClr val="1A1A1C">
                          <a:alpha val="100000"/>
                        </a:srgbClr>
                      </a:solidFill>
                      <a:prstDash val="solid"/>
                    </a:lnL>
                    <a:lnR w="12700">
                      <a:solidFill>
                        <a:srgbClr val="1A1A1C">
                          <a:alpha val="100000"/>
                        </a:srgbClr>
                      </a:solidFill>
                      <a:prstDash val="solid"/>
                    </a:lnR>
                    <a:lnT w="6350">
                      <a:solidFill>
                        <a:srgbClr val="1A1A1C">
                          <a:alpha val="100000"/>
                        </a:srgbClr>
                      </a:solidFill>
                      <a:prstDash val="solid"/>
                    </a:lnT>
                    <a:lnB w="12700">
                      <a:solidFill>
                        <a:srgbClr val="1A1A1C">
                          <a:alpha val="100000"/>
                        </a:srgbClr>
                      </a:solidFill>
                      <a:prstDash val="solid"/>
                    </a:lnB>
                    <a:solidFill>
                      <a:srgbClr val="FAFAFA">
                        <a:alpha val="100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110" name="文字 110"/>
          <p:cNvSpPr txBox="1"/>
          <p:nvPr/>
        </p:nvSpPr>
        <p:spPr>
          <a:xfrm>
            <a:off x="7606110" y="5247283"/>
            <a:ext cx="615950" cy="1714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950" b="0" i="0" u="none" spc="0">
                <a:solidFill>
                  <a:srgbClr val="1A1A1C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下载分布：</a:t>
            </a:r>
            <a:endParaRPr/>
          </a:p>
        </p:txBody>
      </p:sp>
      <p:sp>
        <p:nvSpPr>
          <p:cNvPr id="111" name="文字 111"/>
          <p:cNvSpPr txBox="1"/>
          <p:nvPr/>
        </p:nvSpPr>
        <p:spPr>
          <a:xfrm>
            <a:off x="8209359" y="5247283"/>
            <a:ext cx="1267520" cy="1587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950" b="0" i="0" u="none" spc="0">
                <a:solidFill>
                  <a:srgbClr val="1A1A1C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中位 158 · P90 673</a:t>
            </a:r>
            <a:endParaRPr/>
          </a:p>
        </p:txBody>
      </p:sp>
      <p:sp>
        <p:nvSpPr>
          <p:cNvPr id="112" name="文字 112"/>
          <p:cNvSpPr txBox="1"/>
          <p:nvPr/>
        </p:nvSpPr>
        <p:spPr>
          <a:xfrm>
            <a:off x="508000" y="5598914"/>
            <a:ext cx="1426865" cy="1397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850" b="0" i="0" u="none" spc="119">
                <a:solidFill>
                  <a:srgbClr val="B5333B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04 · 结论 / 3 个判断</a:t>
            </a:r>
            <a:endParaRPr/>
          </a:p>
        </p:txBody>
      </p:sp>
      <p:sp>
        <p:nvSpPr>
          <p:cNvPr id="113" name="形状 113"/>
          <p:cNvSpPr/>
          <p:nvPr/>
        </p:nvSpPr>
        <p:spPr>
          <a:xfrm>
            <a:off x="508000" y="5789414"/>
            <a:ext cx="3657600" cy="725686"/>
          </a:xfrm>
          <a:prstGeom prst="roundRect">
            <a:avLst>
              <a:gd name="adj" fmla="val 10500"/>
            </a:avLst>
          </a:prstGeom>
          <a:solidFill>
            <a:srgbClr val="FFFFFF">
              <a:alpha val="100000"/>
            </a:srgbClr>
          </a:solidFill>
          <a:ln w="6350">
            <a:solidFill>
              <a:srgbClr val="D5D9DE">
                <a:alpha val="100000"/>
              </a:srgbClr>
            </a:solidFill>
            <a:prstDash val="solid"/>
          </a:ln>
        </p:spPr>
      </p:sp>
      <p:sp>
        <p:nvSpPr>
          <p:cNvPr id="114" name="文字 114"/>
          <p:cNvSpPr txBox="1"/>
          <p:nvPr/>
        </p:nvSpPr>
        <p:spPr>
          <a:xfrm>
            <a:off x="615950" y="5871964"/>
            <a:ext cx="134640" cy="1333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800" b="1" i="0" u="none" spc="0">
                <a:solidFill>
                  <a:srgbClr val="B5333B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01</a:t>
            </a:r>
            <a:endParaRPr/>
          </a:p>
        </p:txBody>
      </p:sp>
      <p:sp>
        <p:nvSpPr>
          <p:cNvPr id="115" name="文字 115"/>
          <p:cNvSpPr txBox="1"/>
          <p:nvPr/>
        </p:nvSpPr>
        <p:spPr>
          <a:xfrm>
            <a:off x="814090" y="5884664"/>
            <a:ext cx="1479550" cy="1905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50" b="1" i="0" u="none" spc="0">
                <a:solidFill>
                  <a:srgbClr val="1A1A1C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框架已成立，供给靠聚合</a:t>
            </a:r>
            <a:endParaRPr/>
          </a:p>
        </p:txBody>
      </p:sp>
      <p:sp>
        <p:nvSpPr>
          <p:cNvPr id="116" name="文字 116"/>
          <p:cNvSpPr txBox="1"/>
          <p:nvPr/>
        </p:nvSpPr>
        <p:spPr>
          <a:xfrm>
            <a:off x="814090" y="6077347"/>
            <a:ext cx="3133725" cy="1905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0" u="none" spc="0">
                <a:solidFill>
                  <a:srgbClr val="58586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官方仅 0.4%，聚合镜像占 30.9%；Top3 分类 66%，</a:t>
            </a:r>
            <a:endParaRPr/>
          </a:p>
        </p:txBody>
      </p:sp>
      <p:sp>
        <p:nvSpPr>
          <p:cNvPr id="117" name="文字 117"/>
          <p:cNvSpPr txBox="1"/>
          <p:nvPr/>
        </p:nvSpPr>
        <p:spPr>
          <a:xfrm>
            <a:off x="814090" y="6261299"/>
            <a:ext cx="1257499" cy="1905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0" u="none" spc="0">
                <a:solidFill>
                  <a:srgbClr val="58586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24 个二级类目为空。</a:t>
            </a:r>
            <a:endParaRPr/>
          </a:p>
        </p:txBody>
      </p:sp>
      <p:sp>
        <p:nvSpPr>
          <p:cNvPr id="118" name="形状 118"/>
          <p:cNvSpPr/>
          <p:nvPr/>
        </p:nvSpPr>
        <p:spPr>
          <a:xfrm>
            <a:off x="4267200" y="5789414"/>
            <a:ext cx="3657600" cy="725686"/>
          </a:xfrm>
          <a:prstGeom prst="roundRect">
            <a:avLst>
              <a:gd name="adj" fmla="val 10500"/>
            </a:avLst>
          </a:prstGeom>
          <a:solidFill>
            <a:srgbClr val="FFFFFF">
              <a:alpha val="100000"/>
            </a:srgbClr>
          </a:solidFill>
          <a:ln w="6350">
            <a:solidFill>
              <a:srgbClr val="D5D9DE">
                <a:alpha val="100000"/>
              </a:srgbClr>
            </a:solidFill>
            <a:prstDash val="solid"/>
          </a:ln>
        </p:spPr>
      </p:sp>
      <p:sp>
        <p:nvSpPr>
          <p:cNvPr id="119" name="文字 119"/>
          <p:cNvSpPr txBox="1"/>
          <p:nvPr/>
        </p:nvSpPr>
        <p:spPr>
          <a:xfrm>
            <a:off x="4375150" y="5871964"/>
            <a:ext cx="134640" cy="1333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800" b="1" i="0" u="none" spc="0">
                <a:solidFill>
                  <a:srgbClr val="B5333B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02</a:t>
            </a:r>
            <a:endParaRPr/>
          </a:p>
        </p:txBody>
      </p:sp>
      <p:sp>
        <p:nvSpPr>
          <p:cNvPr id="120" name="文字 120"/>
          <p:cNvSpPr txBox="1"/>
          <p:nvPr/>
        </p:nvSpPr>
        <p:spPr>
          <a:xfrm>
            <a:off x="4573290" y="5884664"/>
            <a:ext cx="1612900" cy="1905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50" b="1" i="0" u="none" spc="0">
                <a:solidFill>
                  <a:srgbClr val="1A1A1C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消费头部化，垂直更易破圈</a:t>
            </a:r>
            <a:endParaRPr/>
          </a:p>
        </p:txBody>
      </p:sp>
      <p:sp>
        <p:nvSpPr>
          <p:cNvPr id="121" name="文字 121"/>
          <p:cNvSpPr txBox="1"/>
          <p:nvPr/>
        </p:nvSpPr>
        <p:spPr>
          <a:xfrm>
            <a:off x="4573290" y="6077347"/>
            <a:ext cx="3228677" cy="1905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0" u="none" spc="0">
                <a:solidFill>
                  <a:srgbClr val="58586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品牌/垂直中位 516 下载（长尾 3.5×）；聚合镜像中位</a:t>
            </a:r>
            <a:endParaRPr/>
          </a:p>
        </p:txBody>
      </p:sp>
      <p:sp>
        <p:nvSpPr>
          <p:cNvPr id="122" name="文字 122"/>
          <p:cNvSpPr txBox="1"/>
          <p:nvPr/>
        </p:nvSpPr>
        <p:spPr>
          <a:xfrm>
            <a:off x="4573290" y="6261299"/>
            <a:ext cx="531416" cy="1905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0" u="none" spc="0">
                <a:solidFill>
                  <a:srgbClr val="58586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仅 145。</a:t>
            </a:r>
            <a:endParaRPr/>
          </a:p>
        </p:txBody>
      </p:sp>
      <p:sp>
        <p:nvSpPr>
          <p:cNvPr id="123" name="形状 123"/>
          <p:cNvSpPr/>
          <p:nvPr/>
        </p:nvSpPr>
        <p:spPr>
          <a:xfrm>
            <a:off x="8026401" y="5789414"/>
            <a:ext cx="3657600" cy="725686"/>
          </a:xfrm>
          <a:prstGeom prst="roundRect">
            <a:avLst>
              <a:gd name="adj" fmla="val 10500"/>
            </a:avLst>
          </a:prstGeom>
          <a:solidFill>
            <a:srgbClr val="FFFFFF">
              <a:alpha val="100000"/>
            </a:srgbClr>
          </a:solidFill>
          <a:ln w="6350">
            <a:solidFill>
              <a:srgbClr val="D5D9DE">
                <a:alpha val="100000"/>
              </a:srgbClr>
            </a:solidFill>
            <a:prstDash val="solid"/>
          </a:ln>
        </p:spPr>
      </p:sp>
      <p:sp>
        <p:nvSpPr>
          <p:cNvPr id="124" name="文字 124"/>
          <p:cNvSpPr txBox="1"/>
          <p:nvPr/>
        </p:nvSpPr>
        <p:spPr>
          <a:xfrm>
            <a:off x="8134350" y="5871964"/>
            <a:ext cx="134639" cy="1333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800" b="1" i="0" u="none" spc="0">
                <a:solidFill>
                  <a:srgbClr val="B5333B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03</a:t>
            </a:r>
            <a:endParaRPr/>
          </a:p>
        </p:txBody>
      </p:sp>
      <p:sp>
        <p:nvSpPr>
          <p:cNvPr id="125" name="文字 125"/>
          <p:cNvSpPr txBox="1"/>
          <p:nvPr/>
        </p:nvSpPr>
        <p:spPr>
          <a:xfrm>
            <a:off x="8332490" y="5884664"/>
            <a:ext cx="1212850" cy="1905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50" b="1" i="0" u="none" spc="0">
                <a:solidFill>
                  <a:srgbClr val="1A1A1C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验证与治理是下一环</a:t>
            </a:r>
            <a:endParaRPr/>
          </a:p>
        </p:txBody>
      </p:sp>
      <p:sp>
        <p:nvSpPr>
          <p:cNvPr id="126" name="文字 126"/>
          <p:cNvSpPr txBox="1"/>
          <p:nvPr/>
        </p:nvSpPr>
        <p:spPr>
          <a:xfrm>
            <a:off x="8332490" y="6077347"/>
            <a:ext cx="3166071" cy="1905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0" u="none" spc="0">
                <a:solidFill>
                  <a:srgbClr val="58586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发布/安装已通；但无技能级沙箱、无版本号，34% 未</a:t>
            </a:r>
            <a:endParaRPr/>
          </a:p>
        </p:txBody>
      </p:sp>
      <p:sp>
        <p:nvSpPr>
          <p:cNvPr id="127" name="文字 127"/>
          <p:cNvSpPr txBox="1"/>
          <p:nvPr/>
        </p:nvSpPr>
        <p:spPr>
          <a:xfrm>
            <a:off x="8332490" y="6261299"/>
            <a:ext cx="774204" cy="1905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0" u="none" spc="0">
                <a:solidFill>
                  <a:srgbClr val="58586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标 License。</a:t>
            </a:r>
            <a:endParaRPr/>
          </a:p>
        </p:txBody>
      </p:sp>
      <p:pic>
        <p:nvPicPr>
          <p:cNvPr id="128" name="slide-001-image-5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498678" y="6590135"/>
            <a:ext cx="680240" cy="153402"/>
          </a:xfrm>
          <a:prstGeom prst="rect">
            <a:avLst/>
          </a:prstGeom>
        </p:spPr>
      </p:pic>
      <p:sp>
        <p:nvSpPr>
          <p:cNvPr id="129" name="文字 129"/>
          <p:cNvSpPr txBox="1"/>
          <p:nvPr/>
        </p:nvSpPr>
        <p:spPr>
          <a:xfrm>
            <a:off x="26163" y="6619262"/>
            <a:ext cx="867599" cy="124275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670" b="0" i="0" u="none" spc="20">
                <a:solidFill>
                  <a:srgbClr val="9A9AA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Huawei Confidential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!-- 空白母版、版式与主题取自 python-pptx 1.0.2 的默认有效文稿；母版只保留空白版式。 --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